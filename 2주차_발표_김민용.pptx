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27"/>
  </p:notesMasterIdLst>
  <p:sldIdLst>
    <p:sldId id="274" r:id="rId2"/>
    <p:sldId id="275" r:id="rId3"/>
    <p:sldId id="278" r:id="rId4"/>
    <p:sldId id="293" r:id="rId5"/>
    <p:sldId id="294" r:id="rId6"/>
    <p:sldId id="297" r:id="rId7"/>
    <p:sldId id="302" r:id="rId8"/>
    <p:sldId id="306" r:id="rId9"/>
    <p:sldId id="307" r:id="rId10"/>
    <p:sldId id="308" r:id="rId11"/>
    <p:sldId id="311" r:id="rId12"/>
    <p:sldId id="315" r:id="rId13"/>
    <p:sldId id="318" r:id="rId14"/>
    <p:sldId id="325" r:id="rId15"/>
    <p:sldId id="326" r:id="rId16"/>
    <p:sldId id="330" r:id="rId17"/>
    <p:sldId id="331" r:id="rId18"/>
    <p:sldId id="332" r:id="rId19"/>
    <p:sldId id="335" r:id="rId20"/>
    <p:sldId id="336" r:id="rId21"/>
    <p:sldId id="338" r:id="rId22"/>
    <p:sldId id="339" r:id="rId23"/>
    <p:sldId id="337" r:id="rId24"/>
    <p:sldId id="342" r:id="rId25"/>
    <p:sldId id="343" r:id="rId26"/>
  </p:sldIdLst>
  <p:sldSz cx="12192000" cy="6858000"/>
  <p:notesSz cx="6858000" cy="9144000"/>
  <p:embeddedFontLst>
    <p:embeddedFont>
      <p:font typeface="나눔스퀘어" panose="020B0600000101010101" pitchFamily="50" charset="-127"/>
      <p:regular r:id="rId28"/>
    </p:embeddedFont>
    <p:embeddedFont>
      <p:font typeface="나눔스퀘어 Bold" panose="020B0600000101010101" pitchFamily="50" charset="-127"/>
      <p:bold r:id="rId29"/>
    </p:embeddedFont>
    <p:embeddedFont>
      <p:font typeface="맑은 고딕" panose="020B0503020000020004" pitchFamily="50" charset="-127"/>
      <p:regular r:id="rId30"/>
      <p:bold r:id="rId31"/>
    </p:embeddedFont>
    <p:embeddedFont>
      <p:font typeface="페이퍼로지 4 Regular" pitchFamily="2" charset="-127"/>
      <p:regular r:id="rId32"/>
    </p:embeddedFont>
    <p:embeddedFont>
      <p:font typeface="페이퍼로지 7 Bold" pitchFamily="2" charset="-127"/>
      <p:bold r:id="rId33"/>
    </p:embeddedFont>
    <p:embeddedFont>
      <p:font typeface="Calibri" panose="020F0502020204030204" pitchFamily="34" charset="0"/>
      <p:regular r:id="rId34"/>
      <p:bold r:id="rId35"/>
      <p:italic r:id="rId36"/>
      <p:boldItalic r:id="rId37"/>
    </p:embeddedFont>
    <p:embeddedFont>
      <p:font typeface="Cambria Math" panose="02040503050406030204" pitchFamily="18" charset="0"/>
      <p:regular r:id="rId3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5A11"/>
    <a:srgbClr val="3366FF"/>
    <a:srgbClr val="CC3300"/>
    <a:srgbClr val="F2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98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18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font" Target="fonts/font7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schemas.openxmlformats.org/officeDocument/2006/relationships/font" Target="fonts/font10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36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35" Type="http://schemas.openxmlformats.org/officeDocument/2006/relationships/font" Target="fonts/font8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font" Target="fonts/font11.fntdata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oleObject" Target="file:///C:\Users\mykim06\Downloads\ParticleReport%20(1)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en-US" sz="1100" b="1" strike="noStrike" spc="-1" dirty="0">
                <a:solidFill>
                  <a:srgbClr val="1F2937"/>
                </a:solidFill>
                <a:latin typeface="Calibri"/>
              </a:rPr>
              <a:t>Update</a:t>
            </a:r>
            <a:endParaRPr lang="en-US" altLang="ko-KR" sz="1100" b="1" strike="noStrike" spc="-1" dirty="0">
              <a:solidFill>
                <a:srgbClr val="1F2937"/>
              </a:solidFill>
              <a:latin typeface="Calibri"/>
            </a:endParaRP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AliveDirect</c:v>
          </c:tx>
          <c:spPr>
            <a:ln w="25560">
              <a:solidFill>
                <a:srgbClr val="2A78D6"/>
              </a:solidFill>
              <a:round/>
            </a:ln>
          </c:spPr>
          <c:invertIfNegative val="0"/>
          <c:cat>
            <c:numRef>
              <c:f>Dashboard!$A$32:$A$36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Dashboard!$C$32:$C$36</c:f>
              <c:numCache>
                <c:formatCode>0.000</c:formatCode>
                <c:ptCount val="5"/>
                <c:pt idx="0">
                  <c:v>5.8200000000000002E-2</c:v>
                </c:pt>
                <c:pt idx="1">
                  <c:v>0.19589999999999999</c:v>
                </c:pt>
                <c:pt idx="2">
                  <c:v>0.45641999999999994</c:v>
                </c:pt>
                <c:pt idx="3">
                  <c:v>0.71919999999999995</c:v>
                </c:pt>
                <c:pt idx="4">
                  <c:v>1.0027999999999999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8BD-4A91-B485-D3A43688494D}"/>
            </c:ext>
          </c:extLst>
        </c:ser>
        <c:ser>
          <c:idx val="1"/>
          <c:order val="1"/>
          <c:tx>
            <c:v>AliveIndirect</c:v>
          </c:tx>
          <c:spPr>
            <a:ln w="25560">
              <a:solidFill>
                <a:srgbClr val="EB6834"/>
              </a:solidFill>
              <a:round/>
            </a:ln>
          </c:spPr>
          <c:invertIfNegative val="0"/>
          <c:cat>
            <c:numRef>
              <c:f>Dashboard!$A$32:$A$36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Dashboard!$D$32:$D$36</c:f>
              <c:numCache>
                <c:formatCode>0.000</c:formatCode>
                <c:ptCount val="5"/>
                <c:pt idx="0">
                  <c:v>4.9299999999999997E-2</c:v>
                </c:pt>
                <c:pt idx="1">
                  <c:v>0.1855</c:v>
                </c:pt>
                <c:pt idx="2">
                  <c:v>0.45040000000000002</c:v>
                </c:pt>
                <c:pt idx="3">
                  <c:v>0.57230000000000003</c:v>
                </c:pt>
                <c:pt idx="4">
                  <c:v>1.0035000000000001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8BD-4A91-B485-D3A43688494D}"/>
            </c:ext>
          </c:extLst>
        </c:ser>
        <c:ser>
          <c:idx val="3"/>
          <c:order val="3"/>
          <c:tx>
            <c:v>SlotReuse</c:v>
          </c:tx>
          <c:spPr>
            <a:ln w="25560">
              <a:solidFill>
                <a:srgbClr val="EDA100"/>
              </a:solidFill>
              <a:round/>
            </a:ln>
          </c:spPr>
          <c:invertIfNegative val="0"/>
          <c:cat>
            <c:numRef>
              <c:f>Dashboard!$A$32:$A$36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Dashboard!$F$32:$F$36</c:f>
              <c:numCache>
                <c:formatCode>0.000</c:formatCode>
                <c:ptCount val="5"/>
                <c:pt idx="0">
                  <c:v>0.19020000000000001</c:v>
                </c:pt>
                <c:pt idx="1">
                  <c:v>0.25140000000000001</c:v>
                </c:pt>
                <c:pt idx="2">
                  <c:v>0.31775999999999999</c:v>
                </c:pt>
                <c:pt idx="3">
                  <c:v>0.41399999999999998</c:v>
                </c:pt>
                <c:pt idx="4">
                  <c:v>0.45760000000000001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8BD-4A91-B485-D3A43688494D}"/>
            </c:ext>
          </c:extLst>
        </c:ser>
        <c:ser>
          <c:idx val="5"/>
          <c:order val="5"/>
          <c:tx>
            <c:v>FullScan</c:v>
          </c:tx>
          <c:spPr>
            <a:ln w="25560">
              <a:solidFill>
                <a:srgbClr val="008300"/>
              </a:solidFill>
              <a:round/>
            </a:ln>
          </c:spPr>
          <c:invertIfNegative val="0"/>
          <c:cat>
            <c:numRef>
              <c:f>Dashboard!$A$32:$A$36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Dashboard!$H$32:$H$36</c:f>
              <c:numCache>
                <c:formatCode>0.000</c:formatCode>
                <c:ptCount val="5"/>
                <c:pt idx="0">
                  <c:v>0.49559999999999998</c:v>
                </c:pt>
                <c:pt idx="1">
                  <c:v>0.53349999999999997</c:v>
                </c:pt>
                <c:pt idx="2">
                  <c:v>0.57401999999999997</c:v>
                </c:pt>
                <c:pt idx="3">
                  <c:v>0.63100000000000001</c:v>
                </c:pt>
                <c:pt idx="4">
                  <c:v>0.59799999999999998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E8BD-4A91-B485-D3A4368849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83492208"/>
        <c:axId val="16480980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v>AliveIndirectWave</c:v>
                </c:tx>
                <c:spPr>
                  <a:ln w="25560">
                    <a:solidFill>
                      <a:srgbClr val="1BAF7A"/>
                    </a:solidFill>
                    <a:round/>
                  </a:ln>
                </c:spPr>
                <c:invertIfNegative val="0"/>
                <c:cat>
                  <c:numRef>
                    <c:extLst>
                      <c:ext uri="{02D57815-91ED-43cb-92C2-25804820EDAC}">
                        <c15:formulaRef>
                          <c15:sqref>Dashboard!$A$32:$A$36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Dashboard!$E$32:$E$36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4.9599999999999998E-2</c:v>
                      </c:pt>
                      <c:pt idx="1">
                        <c:v>0.15379999999999999</c:v>
                      </c:pt>
                      <c:pt idx="2">
                        <c:v>0.45107999999999998</c:v>
                      </c:pt>
                      <c:pt idx="3">
                        <c:v>0.72399999999999998</c:v>
                      </c:pt>
                      <c:pt idx="4">
                        <c:v>1.0027999999999999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E8BD-4A91-B485-D3A43688494D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v>SlotReuseFlags</c:v>
                </c:tx>
                <c:spPr>
                  <a:ln w="25560">
                    <a:solidFill>
                      <a:srgbClr val="E87BA4"/>
                    </a:solidFill>
                    <a:round/>
                  </a:ln>
                </c:spPr>
                <c:invertIfNegative val="0"/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Dashboard!$A$32:$A$36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Dashboard!$G$32:$G$36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3.44E-2</c:v>
                      </c:pt>
                      <c:pt idx="1">
                        <c:v>0.1439</c:v>
                      </c:pt>
                      <c:pt idx="2">
                        <c:v>0.25750000000000001</c:v>
                      </c:pt>
                      <c:pt idx="3">
                        <c:v>0.35649999999999998</c:v>
                      </c:pt>
                      <c:pt idx="4">
                        <c:v>0.45619999999999999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E8BD-4A91-B485-D3A43688494D}"/>
                  </c:ext>
                </c:extLst>
              </c15:ser>
            </c15:filteredBarSeries>
          </c:ext>
        </c:extLst>
      </c:barChart>
      <c:catAx>
        <c:axId val="83492208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alive </a:t>
                </a:r>
                <a:r>
                  <a:rPr lang="ko-KR" altLang="en-US" sz="900" b="0" strike="noStrike" spc="-1">
                    <a:solidFill>
                      <a:srgbClr val="52514E"/>
                    </a:solidFill>
                    <a:latin typeface="Calibri"/>
                  </a:rPr>
                  <a:t>비율 </a:t>
                </a:r>
                <a:r>
                  <a:rPr lang="en-US" altLang="ko-KR" sz="900" b="0" strike="noStrike" spc="-1">
                    <a:solidFill>
                      <a:srgbClr val="52514E"/>
                    </a:solidFill>
                    <a:latin typeface="Calibri"/>
                  </a:rPr>
                  <a:t>(</a:t>
                </a: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steadyRatio)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%" sourceLinked="1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16480980"/>
        <c:crosses val="autoZero"/>
        <c:auto val="1"/>
        <c:lblAlgn val="ctr"/>
        <c:lblOffset val="100"/>
        <c:noMultiLvlLbl val="1"/>
      </c:catAx>
      <c:valAx>
        <c:axId val="16480980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ms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#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83492208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en-US" sz="1100" b="1" strike="noStrike" spc="-1" dirty="0">
                <a:solidFill>
                  <a:srgbClr val="1F2937"/>
                </a:solidFill>
                <a:latin typeface="Calibri"/>
              </a:rPr>
              <a:t>Simulate</a:t>
            </a:r>
            <a:endParaRPr lang="en-US" altLang="ko-KR" sz="1100" b="1" strike="noStrike" spc="-1" dirty="0">
              <a:solidFill>
                <a:srgbClr val="1F2937"/>
              </a:solidFill>
              <a:latin typeface="Calibri"/>
            </a:endParaRP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AliveDirect</c:v>
          </c:tx>
          <c:spPr>
            <a:ln w="25560">
              <a:solidFill>
                <a:srgbClr val="2A78D6"/>
              </a:solidFill>
              <a:round/>
            </a:ln>
          </c:spPr>
          <c:invertIfNegative val="0"/>
          <c:cat>
            <c:numRef>
              <c:f>Dashboard!$A$48:$A$52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Dashboard!$C$48:$C$52</c:f>
              <c:numCache>
                <c:formatCode>0.000</c:formatCode>
                <c:ptCount val="5"/>
                <c:pt idx="0">
                  <c:v>4.8399999999999999E-2</c:v>
                </c:pt>
                <c:pt idx="1">
                  <c:v>0.18640000000000001</c:v>
                </c:pt>
                <c:pt idx="2">
                  <c:v>0.44647999999999993</c:v>
                </c:pt>
                <c:pt idx="3">
                  <c:v>0.70899999999999996</c:v>
                </c:pt>
                <c:pt idx="4">
                  <c:v>0.99219999999999997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34A-48D9-9C3F-321DA1A5B8AF}"/>
            </c:ext>
          </c:extLst>
        </c:ser>
        <c:ser>
          <c:idx val="1"/>
          <c:order val="1"/>
          <c:tx>
            <c:v>AliveIndirect</c:v>
          </c:tx>
          <c:spPr>
            <a:ln w="25560">
              <a:solidFill>
                <a:srgbClr val="EB6834"/>
              </a:solidFill>
              <a:round/>
            </a:ln>
          </c:spPr>
          <c:invertIfNegative val="0"/>
          <c:cat>
            <c:numRef>
              <c:f>Dashboard!$A$48:$A$52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Dashboard!$D$48:$D$52</c:f>
              <c:numCache>
                <c:formatCode>0.000</c:formatCode>
                <c:ptCount val="5"/>
                <c:pt idx="0">
                  <c:v>3.7699999999999997E-2</c:v>
                </c:pt>
                <c:pt idx="1">
                  <c:v>0.17369999999999999</c:v>
                </c:pt>
                <c:pt idx="2">
                  <c:v>0.43791999999999998</c:v>
                </c:pt>
                <c:pt idx="3">
                  <c:v>0.55940000000000001</c:v>
                </c:pt>
                <c:pt idx="4">
                  <c:v>0.99009999999999998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34A-48D9-9C3F-321DA1A5B8AF}"/>
            </c:ext>
          </c:extLst>
        </c:ser>
        <c:ser>
          <c:idx val="3"/>
          <c:order val="3"/>
          <c:tx>
            <c:v>SlotReuse</c:v>
          </c:tx>
          <c:spPr>
            <a:ln w="25560">
              <a:solidFill>
                <a:srgbClr val="EDA100"/>
              </a:solidFill>
              <a:round/>
            </a:ln>
          </c:spPr>
          <c:invertIfNegative val="0"/>
          <c:cat>
            <c:numRef>
              <c:f>Dashboard!$A$48:$A$52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Dashboard!$F$48:$F$52</c:f>
              <c:numCache>
                <c:formatCode>0.000</c:formatCode>
                <c:ptCount val="5"/>
                <c:pt idx="0">
                  <c:v>0.1827</c:v>
                </c:pt>
                <c:pt idx="1">
                  <c:v>0.2437</c:v>
                </c:pt>
                <c:pt idx="2">
                  <c:v>0.30944000000000005</c:v>
                </c:pt>
                <c:pt idx="3">
                  <c:v>0.4052</c:v>
                </c:pt>
                <c:pt idx="4">
                  <c:v>0.44890000000000002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34A-48D9-9C3F-321DA1A5B8AF}"/>
            </c:ext>
          </c:extLst>
        </c:ser>
        <c:ser>
          <c:idx val="5"/>
          <c:order val="5"/>
          <c:tx>
            <c:v>FullScan</c:v>
          </c:tx>
          <c:spPr>
            <a:ln w="25560">
              <a:solidFill>
                <a:srgbClr val="008300"/>
              </a:solidFill>
              <a:round/>
            </a:ln>
          </c:spPr>
          <c:invertIfNegative val="0"/>
          <c:cat>
            <c:numRef>
              <c:f>Dashboard!$A$48:$A$52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Dashboard!$H$48:$H$52</c:f>
              <c:numCache>
                <c:formatCode>0.000</c:formatCode>
                <c:ptCount val="5"/>
                <c:pt idx="0">
                  <c:v>0.25069999999999998</c:v>
                </c:pt>
                <c:pt idx="1">
                  <c:v>0.28870000000000001</c:v>
                </c:pt>
                <c:pt idx="2">
                  <c:v>0.32729999999999998</c:v>
                </c:pt>
                <c:pt idx="3">
                  <c:v>0.38159999999999999</c:v>
                </c:pt>
                <c:pt idx="4">
                  <c:v>0.42359999999999998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34A-48D9-9C3F-321DA1A5B8A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93341561"/>
        <c:axId val="18169737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v>AliveIndirectWave</c:v>
                </c:tx>
                <c:spPr>
                  <a:ln w="25560">
                    <a:solidFill>
                      <a:srgbClr val="1BAF7A"/>
                    </a:solidFill>
                    <a:round/>
                  </a:ln>
                </c:spPr>
                <c:invertIfNegative val="0"/>
                <c:cat>
                  <c:numRef>
                    <c:extLst>
                      <c:ext uri="{02D57815-91ED-43cb-92C2-25804820EDAC}">
                        <c15:formulaRef>
                          <c15:sqref>Dashboard!$A$48:$A$52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Dashboard!$E$48:$E$52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3.7999999999999999E-2</c:v>
                      </c:pt>
                      <c:pt idx="1">
                        <c:v>0.14119999999999999</c:v>
                      </c:pt>
                      <c:pt idx="2">
                        <c:v>0.43852000000000002</c:v>
                      </c:pt>
                      <c:pt idx="3">
                        <c:v>0.71040000000000003</c:v>
                      </c:pt>
                      <c:pt idx="4">
                        <c:v>0.98909999999999998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334A-48D9-9C3F-321DA1A5B8AF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v>SlotReuseFlags</c:v>
                </c:tx>
                <c:spPr>
                  <a:ln w="25560">
                    <a:solidFill>
                      <a:srgbClr val="E87BA4"/>
                    </a:solidFill>
                    <a:round/>
                  </a:ln>
                </c:spPr>
                <c:invertIfNegative val="0"/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Dashboard!$A$48:$A$52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Dashboard!$G$48:$G$52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2.6800000000000001E-2</c:v>
                      </c:pt>
                      <c:pt idx="1">
                        <c:v>0.13619999999999999</c:v>
                      </c:pt>
                      <c:pt idx="2">
                        <c:v>0.24934000000000003</c:v>
                      </c:pt>
                      <c:pt idx="3">
                        <c:v>0.3478</c:v>
                      </c:pt>
                      <c:pt idx="4">
                        <c:v>0.44769999999999999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334A-48D9-9C3F-321DA1A5B8AF}"/>
                  </c:ext>
                </c:extLst>
              </c15:ser>
            </c15:filteredBarSeries>
          </c:ext>
        </c:extLst>
      </c:barChart>
      <c:catAx>
        <c:axId val="93341561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alive </a:t>
                </a:r>
                <a:r>
                  <a:rPr lang="ko-KR" altLang="en-US" sz="900" b="0" strike="noStrike" spc="-1">
                    <a:solidFill>
                      <a:srgbClr val="52514E"/>
                    </a:solidFill>
                    <a:latin typeface="Calibri"/>
                  </a:rPr>
                  <a:t>비율 </a:t>
                </a:r>
                <a:r>
                  <a:rPr lang="en-US" altLang="ko-KR" sz="900" b="0" strike="noStrike" spc="-1">
                    <a:solidFill>
                      <a:srgbClr val="52514E"/>
                    </a:solidFill>
                    <a:latin typeface="Calibri"/>
                  </a:rPr>
                  <a:t>(</a:t>
                </a: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steadyRatio)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%" sourceLinked="1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18169737"/>
        <c:crosses val="autoZero"/>
        <c:auto val="1"/>
        <c:lblAlgn val="ctr"/>
        <c:lblOffset val="100"/>
        <c:noMultiLvlLbl val="1"/>
      </c:catAx>
      <c:valAx>
        <c:axId val="18169737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ms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#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93341561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en-US" sz="1100" b="1" strike="noStrike" spc="-1" dirty="0">
                <a:solidFill>
                  <a:srgbClr val="1F2937"/>
                </a:solidFill>
                <a:latin typeface="Calibri"/>
              </a:rPr>
              <a:t>Draw</a:t>
            </a:r>
            <a:endParaRPr lang="en-US" altLang="ko-KR" sz="1100" b="1" strike="noStrike" spc="-1" dirty="0">
              <a:solidFill>
                <a:srgbClr val="1F2937"/>
              </a:solidFill>
              <a:latin typeface="Calibri"/>
            </a:endParaRP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AliveDirect</c:v>
          </c:tx>
          <c:spPr>
            <a:ln w="25560">
              <a:solidFill>
                <a:srgbClr val="2A78D6"/>
              </a:solidFill>
              <a:round/>
            </a:ln>
          </c:spPr>
          <c:invertIfNegative val="0"/>
          <c:cat>
            <c:numRef>
              <c:f>Dashboard!$A$40:$A$44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Dashboard!$C$40:$C$44</c:f>
              <c:numCache>
                <c:formatCode>0.000</c:formatCode>
                <c:ptCount val="5"/>
                <c:pt idx="0">
                  <c:v>0.51849999999999996</c:v>
                </c:pt>
                <c:pt idx="1">
                  <c:v>0.75029999999999997</c:v>
                </c:pt>
                <c:pt idx="2">
                  <c:v>0.67292000000000007</c:v>
                </c:pt>
                <c:pt idx="3">
                  <c:v>0.74909999999999999</c:v>
                </c:pt>
                <c:pt idx="4">
                  <c:v>0.82630000000000003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E1B-49C7-A99B-691F67C7837D}"/>
            </c:ext>
          </c:extLst>
        </c:ser>
        <c:ser>
          <c:idx val="1"/>
          <c:order val="1"/>
          <c:tx>
            <c:v>AliveIndirect</c:v>
          </c:tx>
          <c:spPr>
            <a:ln w="25560">
              <a:solidFill>
                <a:srgbClr val="EB6834"/>
              </a:solidFill>
              <a:round/>
            </a:ln>
          </c:spPr>
          <c:invertIfNegative val="0"/>
          <c:cat>
            <c:numRef>
              <c:f>Dashboard!$A$40:$A$44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Dashboard!$D$40:$D$44</c:f>
              <c:numCache>
                <c:formatCode>0.000</c:formatCode>
                <c:ptCount val="5"/>
                <c:pt idx="0">
                  <c:v>9.6199999999999994E-2</c:v>
                </c:pt>
                <c:pt idx="1">
                  <c:v>0.26879999999999998</c:v>
                </c:pt>
                <c:pt idx="2">
                  <c:v>0.44454000000000005</c:v>
                </c:pt>
                <c:pt idx="3">
                  <c:v>0.61619999999999997</c:v>
                </c:pt>
                <c:pt idx="4">
                  <c:v>0.78879999999999995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E1B-49C7-A99B-691F67C7837D}"/>
            </c:ext>
          </c:extLst>
        </c:ser>
        <c:ser>
          <c:idx val="3"/>
          <c:order val="3"/>
          <c:tx>
            <c:v>SlotReuse</c:v>
          </c:tx>
          <c:spPr>
            <a:ln w="25560">
              <a:solidFill>
                <a:srgbClr val="EDA100"/>
              </a:solidFill>
              <a:round/>
            </a:ln>
          </c:spPr>
          <c:invertIfNegative val="0"/>
          <c:cat>
            <c:numRef>
              <c:f>Dashboard!$A$40:$A$44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Dashboard!$F$40:$F$44</c:f>
              <c:numCache>
                <c:formatCode>0.000</c:formatCode>
                <c:ptCount val="5"/>
                <c:pt idx="0">
                  <c:v>0.51970000000000005</c:v>
                </c:pt>
                <c:pt idx="1">
                  <c:v>0.752</c:v>
                </c:pt>
                <c:pt idx="2">
                  <c:v>0.70728000000000002</c:v>
                </c:pt>
                <c:pt idx="3">
                  <c:v>0.74119999999999997</c:v>
                </c:pt>
                <c:pt idx="4">
                  <c:v>0.81630000000000003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E1B-49C7-A99B-691F67C7837D}"/>
            </c:ext>
          </c:extLst>
        </c:ser>
        <c:ser>
          <c:idx val="5"/>
          <c:order val="5"/>
          <c:tx>
            <c:v>FullScan</c:v>
          </c:tx>
          <c:spPr>
            <a:ln w="25560">
              <a:solidFill>
                <a:srgbClr val="008300"/>
              </a:solidFill>
              <a:round/>
            </a:ln>
          </c:spPr>
          <c:invertIfNegative val="0"/>
          <c:cat>
            <c:numRef>
              <c:f>Dashboard!$A$40:$A$44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Dashboard!$H$40:$H$44</c:f>
              <c:numCache>
                <c:formatCode>0.000</c:formatCode>
                <c:ptCount val="5"/>
                <c:pt idx="0">
                  <c:v>0.52400000000000002</c:v>
                </c:pt>
                <c:pt idx="1">
                  <c:v>0.61270000000000002</c:v>
                </c:pt>
                <c:pt idx="2">
                  <c:v>0.69535999999999998</c:v>
                </c:pt>
                <c:pt idx="3">
                  <c:v>0.77449999999999997</c:v>
                </c:pt>
                <c:pt idx="4">
                  <c:v>0.85660000000000003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4E1B-49C7-A99B-691F67C7837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32042216"/>
        <c:axId val="80689297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v>AliveIndirectWave</c:v>
                </c:tx>
                <c:spPr>
                  <a:ln w="25560">
                    <a:solidFill>
                      <a:srgbClr val="1BAF7A"/>
                    </a:solidFill>
                    <a:round/>
                  </a:ln>
                </c:spPr>
                <c:invertIfNegative val="0"/>
                <c:cat>
                  <c:numRef>
                    <c:extLst>
                      <c:ext uri="{02D57815-91ED-43cb-92C2-25804820EDAC}">
                        <c15:formulaRef>
                          <c15:sqref>Dashboard!$A$40:$A$44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Dashboard!$E$40:$E$44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9.64E-2</c:v>
                      </c:pt>
                      <c:pt idx="1">
                        <c:v>0.26919999999999999</c:v>
                      </c:pt>
                      <c:pt idx="2">
                        <c:v>0.44411999999999996</c:v>
                      </c:pt>
                      <c:pt idx="3">
                        <c:v>0.61839999999999995</c:v>
                      </c:pt>
                      <c:pt idx="4">
                        <c:v>0.78990000000000005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4E1B-49C7-A99B-691F67C7837D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v>SlotReuseFlags</c:v>
                </c:tx>
                <c:spPr>
                  <a:ln w="25560">
                    <a:solidFill>
                      <a:srgbClr val="E87BA4"/>
                    </a:solidFill>
                    <a:round/>
                  </a:ln>
                </c:spPr>
                <c:invertIfNegative val="0"/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Dashboard!$A$40:$A$44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Dashboard!$G$40:$G$44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0.51880000000000004</c:v>
                      </c:pt>
                      <c:pt idx="1">
                        <c:v>0.59599999999999997</c:v>
                      </c:pt>
                      <c:pt idx="2">
                        <c:v>0.79365999999999992</c:v>
                      </c:pt>
                      <c:pt idx="3">
                        <c:v>0.75229999999999997</c:v>
                      </c:pt>
                      <c:pt idx="4">
                        <c:v>0.81899999999999995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4E1B-49C7-A99B-691F67C7837D}"/>
                  </c:ext>
                </c:extLst>
              </c15:ser>
            </c15:filteredBarSeries>
          </c:ext>
        </c:extLst>
      </c:barChart>
      <c:catAx>
        <c:axId val="32042216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alive </a:t>
                </a:r>
                <a:r>
                  <a:rPr lang="ko-KR" altLang="en-US" sz="900" b="0" strike="noStrike" spc="-1">
                    <a:solidFill>
                      <a:srgbClr val="52514E"/>
                    </a:solidFill>
                    <a:latin typeface="Calibri"/>
                  </a:rPr>
                  <a:t>비율 </a:t>
                </a:r>
                <a:r>
                  <a:rPr lang="en-US" altLang="ko-KR" sz="900" b="0" strike="noStrike" spc="-1">
                    <a:solidFill>
                      <a:srgbClr val="52514E"/>
                    </a:solidFill>
                    <a:latin typeface="Calibri"/>
                  </a:rPr>
                  <a:t>(</a:t>
                </a: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steadyRatio)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%" sourceLinked="1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80689297"/>
        <c:crosses val="autoZero"/>
        <c:auto val="1"/>
        <c:lblAlgn val="ctr"/>
        <c:lblOffset val="100"/>
        <c:noMultiLvlLbl val="1"/>
      </c:catAx>
      <c:valAx>
        <c:axId val="80689297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ms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#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32042216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en-US" sz="1100" b="1" strike="noStrike" spc="-1">
                <a:solidFill>
                  <a:srgbClr val="1F2937"/>
                </a:solidFill>
                <a:latin typeface="Calibri"/>
              </a:rPr>
              <a:t>GPU Total (Update + Draw)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AliveDirect</c:v>
          </c:tx>
          <c:spPr>
            <a:ln w="25560">
              <a:solidFill>
                <a:srgbClr val="2A78D6"/>
              </a:solidFill>
              <a:round/>
            </a:ln>
          </c:spPr>
          <c:invertIfNegative val="0"/>
          <c:cat>
            <c:numRef>
              <c:f>Dashboard!$A$8:$A$12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Dashboard!$C$8:$C$12</c:f>
              <c:numCache>
                <c:formatCode>0.000</c:formatCode>
                <c:ptCount val="5"/>
                <c:pt idx="0">
                  <c:v>0.57669999999999999</c:v>
                </c:pt>
                <c:pt idx="1">
                  <c:v>0.94619999999999993</c:v>
                </c:pt>
                <c:pt idx="2">
                  <c:v>1.1293399999999998</c:v>
                </c:pt>
                <c:pt idx="3">
                  <c:v>1.4682999999999999</c:v>
                </c:pt>
                <c:pt idx="4">
                  <c:v>1.8290999999999999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D9E-4194-BCFD-04B234CB44E2}"/>
            </c:ext>
          </c:extLst>
        </c:ser>
        <c:ser>
          <c:idx val="1"/>
          <c:order val="1"/>
          <c:tx>
            <c:v>AliveIndirect</c:v>
          </c:tx>
          <c:spPr>
            <a:ln w="25560">
              <a:solidFill>
                <a:srgbClr val="EB6834"/>
              </a:solidFill>
              <a:round/>
            </a:ln>
          </c:spPr>
          <c:invertIfNegative val="0"/>
          <c:cat>
            <c:numRef>
              <c:f>Dashboard!$A$8:$A$12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Dashboard!$D$8:$D$12</c:f>
              <c:numCache>
                <c:formatCode>0.000</c:formatCode>
                <c:ptCount val="5"/>
                <c:pt idx="0">
                  <c:v>0.14549999999999999</c:v>
                </c:pt>
                <c:pt idx="1">
                  <c:v>0.45429999999999998</c:v>
                </c:pt>
                <c:pt idx="2">
                  <c:v>0.89493999999999985</c:v>
                </c:pt>
                <c:pt idx="3">
                  <c:v>1.1884999999999999</c:v>
                </c:pt>
                <c:pt idx="4">
                  <c:v>1.7923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D9E-4194-BCFD-04B234CB44E2}"/>
            </c:ext>
          </c:extLst>
        </c:ser>
        <c:ser>
          <c:idx val="3"/>
          <c:order val="3"/>
          <c:tx>
            <c:v>SlotReuse</c:v>
          </c:tx>
          <c:spPr>
            <a:ln w="25560">
              <a:solidFill>
                <a:srgbClr val="EDA100"/>
              </a:solidFill>
              <a:round/>
            </a:ln>
          </c:spPr>
          <c:invertIfNegative val="0"/>
          <c:cat>
            <c:numRef>
              <c:f>Dashboard!$A$8:$A$12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Dashboard!$F$8:$F$12</c:f>
              <c:numCache>
                <c:formatCode>0.000</c:formatCode>
                <c:ptCount val="5"/>
                <c:pt idx="0">
                  <c:v>0.70990000000000009</c:v>
                </c:pt>
                <c:pt idx="1">
                  <c:v>1.0034000000000001</c:v>
                </c:pt>
                <c:pt idx="2">
                  <c:v>1.0250400000000002</c:v>
                </c:pt>
                <c:pt idx="3">
                  <c:v>1.1552</c:v>
                </c:pt>
                <c:pt idx="4">
                  <c:v>1.2739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D9E-4194-BCFD-04B234CB44E2}"/>
            </c:ext>
          </c:extLst>
        </c:ser>
        <c:ser>
          <c:idx val="5"/>
          <c:order val="5"/>
          <c:tx>
            <c:v>FullScan</c:v>
          </c:tx>
          <c:spPr>
            <a:ln w="25560">
              <a:solidFill>
                <a:srgbClr val="008300"/>
              </a:solidFill>
              <a:round/>
            </a:ln>
          </c:spPr>
          <c:invertIfNegative val="0"/>
          <c:cat>
            <c:numRef>
              <c:f>Dashboard!$A$8:$A$12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cat>
          <c:val>
            <c:numRef>
              <c:f>Dashboard!$H$8:$H$12</c:f>
              <c:numCache>
                <c:formatCode>0.000</c:formatCode>
                <c:ptCount val="5"/>
                <c:pt idx="0">
                  <c:v>1.0196000000000001</c:v>
                </c:pt>
                <c:pt idx="1">
                  <c:v>1.1461999999999999</c:v>
                </c:pt>
                <c:pt idx="2">
                  <c:v>1.26938</c:v>
                </c:pt>
                <c:pt idx="3">
                  <c:v>1.4055</c:v>
                </c:pt>
                <c:pt idx="4">
                  <c:v>1.4546000000000001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D9E-4194-BCFD-04B234CB44E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86300535"/>
        <c:axId val="66385669"/>
        <c:extLst>
          <c:ext xmlns:c15="http://schemas.microsoft.com/office/drawing/2012/chart" uri="{02D57815-91ED-43cb-92C2-25804820EDAC}">
            <c15:filteredBarSeries>
              <c15:ser>
                <c:idx val="2"/>
                <c:order val="2"/>
                <c:tx>
                  <c:v>AliveIndirectWave</c:v>
                </c:tx>
                <c:spPr>
                  <a:ln w="25560">
                    <a:solidFill>
                      <a:srgbClr val="1BAF7A"/>
                    </a:solidFill>
                    <a:round/>
                  </a:ln>
                </c:spPr>
                <c:invertIfNegative val="0"/>
                <c:cat>
                  <c:numRef>
                    <c:extLst>
                      <c:ext uri="{02D57815-91ED-43cb-92C2-25804820EDAC}">
                        <c15:formulaRef>
                          <c15:sqref>Dashboard!$A$8:$A$12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>
                      <c:ext uri="{02D57815-91ED-43cb-92C2-25804820EDAC}">
                        <c15:formulaRef>
                          <c15:sqref>Dashboard!$E$8:$E$12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0.14599999999999999</c:v>
                      </c:pt>
                      <c:pt idx="1">
                        <c:v>0.42299999999999999</c:v>
                      </c:pt>
                      <c:pt idx="2">
                        <c:v>0.8952</c:v>
                      </c:pt>
                      <c:pt idx="3">
                        <c:v>1.3424</c:v>
                      </c:pt>
                      <c:pt idx="4">
                        <c:v>1.7927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4-1D9E-4194-BCFD-04B234CB44E2}"/>
                  </c:ext>
                </c:extLst>
              </c15:ser>
            </c15:filteredBarSeries>
            <c15:filteredBarSeries>
              <c15:ser>
                <c:idx val="4"/>
                <c:order val="4"/>
                <c:tx>
                  <c:v>SlotReuseFlags</c:v>
                </c:tx>
                <c:spPr>
                  <a:ln w="25560">
                    <a:solidFill>
                      <a:srgbClr val="E87BA4"/>
                    </a:solidFill>
                    <a:round/>
                  </a:ln>
                </c:spPr>
                <c:invertIfNegative val="0"/>
                <c:cat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Dashboard!$A$8:$A$12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Dashboard!$G$8:$G$12</c15:sqref>
                        </c15:formulaRef>
                      </c:ext>
                    </c:extLst>
                    <c:numCache>
                      <c:formatCode>0.000</c:formatCode>
                      <c:ptCount val="5"/>
                      <c:pt idx="0">
                        <c:v>0.55320000000000003</c:v>
                      </c:pt>
                      <c:pt idx="1">
                        <c:v>0.7399</c:v>
                      </c:pt>
                      <c:pt idx="2">
                        <c:v>1.0511600000000001</c:v>
                      </c:pt>
                      <c:pt idx="3">
                        <c:v>1.1088</c:v>
                      </c:pt>
                      <c:pt idx="4">
                        <c:v>1.2751999999999999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5-1D9E-4194-BCFD-04B234CB44E2}"/>
                  </c:ext>
                </c:extLst>
              </c15:ser>
            </c15:filteredBarSeries>
          </c:ext>
        </c:extLst>
      </c:barChart>
      <c:catAx>
        <c:axId val="86300535"/>
        <c:scaling>
          <c:orientation val="minMax"/>
        </c:scaling>
        <c:delete val="0"/>
        <c:axPos val="b"/>
        <c:title>
          <c:tx>
            <c:rich>
              <a:bodyPr rot="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alive </a:t>
                </a:r>
                <a:r>
                  <a:rPr lang="ko-KR" altLang="en-US" sz="900" b="0" strike="noStrike" spc="-1">
                    <a:solidFill>
                      <a:srgbClr val="52514E"/>
                    </a:solidFill>
                    <a:latin typeface="Calibri"/>
                  </a:rPr>
                  <a:t>비율 </a:t>
                </a:r>
                <a:r>
                  <a:rPr lang="en-US" altLang="ko-KR" sz="900" b="0" strike="noStrike" spc="-1">
                    <a:solidFill>
                      <a:srgbClr val="52514E"/>
                    </a:solidFill>
                    <a:latin typeface="Calibri"/>
                  </a:rPr>
                  <a:t>(</a:t>
                </a: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steadyRatio)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%" sourceLinked="1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66385669"/>
        <c:crosses val="autoZero"/>
        <c:auto val="1"/>
        <c:lblAlgn val="ctr"/>
        <c:lblOffset val="100"/>
        <c:noMultiLvlLbl val="1"/>
      </c:catAx>
      <c:valAx>
        <c:axId val="66385669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ms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#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86300535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ko-KR" altLang="en-US" sz="1100" b="1" strike="noStrike" spc="-1">
                <a:solidFill>
                  <a:srgbClr val="1F2937"/>
                </a:solidFill>
                <a:latin typeface="Calibri"/>
              </a:rPr>
              <a:t>살아있는 파티클 </a:t>
            </a:r>
            <a:r>
              <a:rPr lang="en-US" altLang="ko-KR" sz="1100" b="1" strike="noStrike" spc="-1">
                <a:solidFill>
                  <a:srgbClr val="1F2937"/>
                </a:solidFill>
                <a:latin typeface="Calibri"/>
              </a:rPr>
              <a:t>1</a:t>
            </a:r>
            <a:r>
              <a:rPr lang="ko-KR" altLang="en-US" sz="1100" b="1" strike="noStrike" spc="-1">
                <a:solidFill>
                  <a:srgbClr val="1F2937"/>
                </a:solidFill>
                <a:latin typeface="Calibri"/>
              </a:rPr>
              <a:t>개당 비용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scatterChart>
        <c:scatterStyle val="lineMarker"/>
        <c:varyColors val="0"/>
        <c:ser>
          <c:idx val="0"/>
          <c:order val="0"/>
          <c:tx>
            <c:v>AliveDirect</c:v>
          </c:tx>
          <c:spPr>
            <a:ln w="25560">
              <a:solidFill>
                <a:srgbClr val="2A78D6"/>
              </a:solidFill>
              <a:round/>
            </a:ln>
          </c:spPr>
          <c:marker>
            <c:symbol val="circle"/>
            <c:size val="7"/>
            <c:spPr>
              <a:solidFill>
                <a:srgbClr val="2A78D6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xVal>
            <c:numRef>
              <c:f>Dashboard!$A$24:$A$28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xVal>
          <c:yVal>
            <c:numRef>
              <c:f>Dashboard!$C$24:$C$28</c:f>
              <c:numCache>
                <c:formatCode>0.00</c:formatCode>
                <c:ptCount val="5"/>
                <c:pt idx="0">
                  <c:v>5.7885827307114583</c:v>
                </c:pt>
                <c:pt idx="1">
                  <c:v>3.1669860150221973</c:v>
                </c:pt>
                <c:pt idx="2">
                  <c:v>2.2673539670087903</c:v>
                </c:pt>
                <c:pt idx="3">
                  <c:v>2.1063448664812192</c:v>
                </c:pt>
                <c:pt idx="4">
                  <c:v>2.0401324803073986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CD22-43C6-91DD-AC334538EA53}"/>
            </c:ext>
          </c:extLst>
        </c:ser>
        <c:ser>
          <c:idx val="1"/>
          <c:order val="1"/>
          <c:tx>
            <c:v>AliveIndirect</c:v>
          </c:tx>
          <c:spPr>
            <a:ln w="25560">
              <a:solidFill>
                <a:srgbClr val="EB6834"/>
              </a:solidFill>
              <a:round/>
            </a:ln>
          </c:spPr>
          <c:marker>
            <c:symbol val="square"/>
            <c:size val="7"/>
            <c:spPr>
              <a:solidFill>
                <a:srgbClr val="EB6834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xVal>
            <c:numRef>
              <c:f>Dashboard!$A$24:$A$28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xVal>
          <c:yVal>
            <c:numRef>
              <c:f>Dashboard!$D$24:$D$28</c:f>
              <c:numCache>
                <c:formatCode>0.00</c:formatCode>
                <c:ptCount val="5"/>
                <c:pt idx="0">
                  <c:v>1.460367899113024</c:v>
                </c:pt>
                <c:pt idx="1">
                  <c:v>1.5192847837291588</c:v>
                </c:pt>
                <c:pt idx="2">
                  <c:v>1.7966617528288975</c:v>
                </c:pt>
                <c:pt idx="3">
                  <c:v>1.7044713194627277</c:v>
                </c:pt>
                <c:pt idx="4">
                  <c:v>1.9995414803604379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CD22-43C6-91DD-AC334538EA53}"/>
            </c:ext>
          </c:extLst>
        </c:ser>
        <c:ser>
          <c:idx val="3"/>
          <c:order val="3"/>
          <c:tx>
            <c:v>SlotReuse</c:v>
          </c:tx>
          <c:spPr>
            <a:ln w="25560">
              <a:solidFill>
                <a:srgbClr val="EDA100"/>
              </a:solidFill>
              <a:round/>
            </a:ln>
          </c:spPr>
          <c:marker>
            <c:symbol val="diamond"/>
            <c:size val="7"/>
            <c:spPr>
              <a:solidFill>
                <a:srgbClr val="EDA100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xVal>
            <c:numRef>
              <c:f>Dashboard!$A$24:$A$28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xVal>
          <c:yVal>
            <c:numRef>
              <c:f>Dashboard!$F$24:$F$28</c:f>
              <c:numCache>
                <c:formatCode>0.00</c:formatCode>
                <c:ptCount val="5"/>
                <c:pt idx="0">
                  <c:v>7.1235247499090679</c:v>
                </c:pt>
                <c:pt idx="1">
                  <c:v>3.3579012378083686</c:v>
                </c:pt>
                <c:pt idx="2">
                  <c:v>2.0582146016929275</c:v>
                </c:pt>
                <c:pt idx="3">
                  <c:v>1.6568892820239911</c:v>
                </c:pt>
                <c:pt idx="4">
                  <c:v>1.4207803322698449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CD22-43C6-91DD-AC334538EA53}"/>
            </c:ext>
          </c:extLst>
        </c:ser>
        <c:ser>
          <c:idx val="5"/>
          <c:order val="5"/>
          <c:tx>
            <c:v>FullScan</c:v>
          </c:tx>
          <c:spPr>
            <a:ln w="25560">
              <a:solidFill>
                <a:srgbClr val="008300"/>
              </a:solidFill>
              <a:round/>
            </a:ln>
          </c:spPr>
          <c:marker>
            <c:symbol val="square"/>
            <c:size val="7"/>
            <c:spPr>
              <a:solidFill>
                <a:srgbClr val="008300"/>
              </a:solidFill>
            </c:spPr>
          </c:marker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</c15:spPr>
                <c15:showLeaderLines val="1"/>
              </c:ext>
            </c:extLst>
          </c:dLbls>
          <c:xVal>
            <c:numRef>
              <c:f>Dashboard!$A$24:$A$28</c:f>
              <c:numCache>
                <c:formatCode>0%</c:formatCode>
                <c:ptCount val="5"/>
                <c:pt idx="0">
                  <c:v>0.1</c:v>
                </c:pt>
                <c:pt idx="1">
                  <c:v>0.3</c:v>
                </c:pt>
                <c:pt idx="2">
                  <c:v>0.5</c:v>
                </c:pt>
                <c:pt idx="3">
                  <c:v>0.7</c:v>
                </c:pt>
                <c:pt idx="4">
                  <c:v>0.9</c:v>
                </c:pt>
              </c:numCache>
            </c:numRef>
          </c:xVal>
          <c:yVal>
            <c:numRef>
              <c:f>Dashboard!$H$24:$H$28</c:f>
              <c:numCache>
                <c:formatCode>0.00</c:formatCode>
                <c:ptCount val="5"/>
                <c:pt idx="0">
                  <c:v>10.236380648400282</c:v>
                </c:pt>
                <c:pt idx="1">
                  <c:v>3.8354395229634384</c:v>
                </c:pt>
                <c:pt idx="2">
                  <c:v>2.5486806268932773</c:v>
                </c:pt>
                <c:pt idx="3">
                  <c:v>2.0160099062139669</c:v>
                </c:pt>
                <c:pt idx="4">
                  <c:v>1.6224243508583551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CD22-43C6-91DD-AC334538EA5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74199520"/>
        <c:axId val="44587580"/>
        <c:extLst>
          <c:ext xmlns:c15="http://schemas.microsoft.com/office/drawing/2012/chart" uri="{02D57815-91ED-43cb-92C2-25804820EDAC}">
            <c15:filteredScatterSeries>
              <c15:ser>
                <c:idx val="2"/>
                <c:order val="2"/>
                <c:tx>
                  <c:v>AliveIndirectWave</c:v>
                </c:tx>
                <c:spPr>
                  <a:ln w="25560">
                    <a:solidFill>
                      <a:srgbClr val="1BAF7A"/>
                    </a:solidFill>
                    <a:round/>
                  </a:ln>
                </c:spPr>
                <c:marker>
                  <c:symbol val="triangle"/>
                  <c:size val="7"/>
                  <c:spPr>
                    <a:solidFill>
                      <a:srgbClr val="1BAF7A"/>
                    </a:solidFill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wrap="none"/>
                    <a:lstStyle/>
                    <a:p>
                      <a:pPr>
                        <a:defRPr sz="1000" b="0" strike="noStrike" spc="-1">
                          <a:latin typeface="Arial"/>
                        </a:defRPr>
                      </a:pPr>
                      <a:endParaRPr lang="ko-KR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1"/>
                  <c:separator> </c:separator>
                  <c:showLeaderLines val="0"/>
                  <c:extLst>
                    <c:ext uri="{CE6537A1-D6FC-4f65-9D91-7224C49458BB}">
                      <c15:spPr xmlns:c15="http://schemas.microsoft.com/office/drawing/2012/chart">
                        <a:prstGeom prst="rect">
                          <a:avLst/>
                        </a:prstGeom>
                      </c15:spPr>
                      <c15:showLeaderLines val="1"/>
                    </c:ext>
                  </c:extLst>
                </c:dLbls>
                <c:xVal>
                  <c:numRef>
                    <c:extLst>
                      <c:ext uri="{02D57815-91ED-43cb-92C2-25804820EDAC}">
                        <c15:formulaRef>
                          <c15:sqref>Dashboard!$A$24:$A$28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xVal>
                <c:yVal>
                  <c:numRef>
                    <c:extLst>
                      <c:ext uri="{02D57815-91ED-43cb-92C2-25804820EDAC}">
                        <c15:formulaRef>
                          <c15:sqref>Dashboard!$E$24:$E$28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1.4657824384304863</c:v>
                      </c:pt>
                      <c:pt idx="1">
                        <c:v>1.415584228278427</c:v>
                      </c:pt>
                      <c:pt idx="2">
                        <c:v>1.7971632856614099</c:v>
                      </c:pt>
                      <c:pt idx="3">
                        <c:v>1.9249288502977426</c:v>
                      </c:pt>
                      <c:pt idx="4">
                        <c:v>1.9995952400732317</c:v>
                      </c:pt>
                    </c:numCache>
                  </c:numRef>
                </c:yVal>
                <c:smooth val="0"/>
                <c:extLst>
                  <c:ext xmlns:c16="http://schemas.microsoft.com/office/drawing/2014/chart" uri="{C3380CC4-5D6E-409C-BE32-E72D297353CC}">
                    <c16:uniqueId val="{00000004-CD22-43C6-91DD-AC334538EA53}"/>
                  </c:ext>
                </c:extLst>
              </c15:ser>
            </c15:filteredScatterSeries>
            <c15:filteredScatterSeries>
              <c15:ser>
                <c:idx val="4"/>
                <c:order val="4"/>
                <c:tx>
                  <c:v>SlotReuseFlags</c:v>
                </c:tx>
                <c:spPr>
                  <a:ln w="25560">
                    <a:solidFill>
                      <a:srgbClr val="E87BA4"/>
                    </a:solidFill>
                    <a:round/>
                  </a:ln>
                </c:spPr>
                <c:marker>
                  <c:symbol val="x"/>
                  <c:size val="7"/>
                  <c:spPr>
                    <a:solidFill>
                      <a:srgbClr val="E87BA4"/>
                    </a:solidFill>
                  </c:spPr>
                </c:marker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wrap="none"/>
                    <a:lstStyle/>
                    <a:p>
                      <a:pPr>
                        <a:defRPr sz="1000" b="0" strike="noStrike" spc="-1">
                          <a:latin typeface="Arial"/>
                        </a:defRPr>
                      </a:pPr>
                      <a:endParaRPr lang="ko-KR"/>
                    </a:p>
                  </c:txPr>
                  <c:showLegendKey val="0"/>
                  <c:showVal val="0"/>
                  <c:showCatName val="0"/>
                  <c:showSerName val="0"/>
                  <c:showPercent val="0"/>
                  <c:showBubbleSize val="1"/>
                  <c:separator> </c:separator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pPr xmlns:c15="http://schemas.microsoft.com/office/drawing/2012/chart">
                        <a:prstGeom prst="rect">
                          <a:avLst/>
                        </a:prstGeom>
                      </c15:spPr>
                      <c15:showLeaderLines val="1"/>
                    </c:ext>
                  </c:extLst>
                </c:dLbls>
                <c:x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Dashboard!$A$24:$A$28</c15:sqref>
                        </c15:formulaRef>
                      </c:ext>
                    </c:extLst>
                    <c:numCache>
                      <c:formatCode>0%</c:formatCode>
                      <c:ptCount val="5"/>
                      <c:pt idx="0">
                        <c:v>0.1</c:v>
                      </c:pt>
                      <c:pt idx="1">
                        <c:v>0.3</c:v>
                      </c:pt>
                      <c:pt idx="2">
                        <c:v>0.5</c:v>
                      </c:pt>
                      <c:pt idx="3">
                        <c:v>0.7</c:v>
                      </c:pt>
                      <c:pt idx="4">
                        <c:v>0.9</c:v>
                      </c:pt>
                    </c:numCache>
                  </c:numRef>
                </c:xVal>
                <c:y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Dashboard!$G$24:$G$28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5.5535488803655948</c:v>
                      </c:pt>
                      <c:pt idx="1">
                        <c:v>2.4761007253278433</c:v>
                      </c:pt>
                      <c:pt idx="2">
                        <c:v>2.110571694306496</c:v>
                      </c:pt>
                      <c:pt idx="3">
                        <c:v>1.590091245901889</c:v>
                      </c:pt>
                      <c:pt idx="4">
                        <c:v>1.422679449857885</c:v>
                      </c:pt>
                    </c:numCache>
                  </c:numRef>
                </c:yVal>
                <c:smooth val="0"/>
                <c:extLst>
                  <c:ext xmlns:c16="http://schemas.microsoft.com/office/drawing/2014/chart" uri="{C3380CC4-5D6E-409C-BE32-E72D297353CC}">
                    <c16:uniqueId val="{00000005-CD22-43C6-91DD-AC334538EA53}"/>
                  </c:ext>
                </c:extLst>
              </c15:ser>
            </c15:filteredScatterSeries>
          </c:ext>
        </c:extLst>
      </c:scatterChart>
      <c:valAx>
        <c:axId val="74199520"/>
        <c:scaling>
          <c:orientation val="minMax"/>
          <c:max val="1"/>
          <c:min val="0"/>
        </c:scaling>
        <c:delete val="0"/>
        <c:axPos val="b"/>
        <c:title>
          <c:tx>
            <c:rich>
              <a:bodyPr rot="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alive </a:t>
                </a:r>
                <a:r>
                  <a:rPr lang="ko-KR" altLang="en-US" sz="900" b="0" strike="noStrike" spc="-1">
                    <a:solidFill>
                      <a:srgbClr val="52514E"/>
                    </a:solidFill>
                    <a:latin typeface="Calibri"/>
                  </a:rPr>
                  <a:t>비율 </a:t>
                </a:r>
                <a:r>
                  <a:rPr lang="en-US" altLang="ko-KR" sz="900" b="0" strike="noStrike" spc="-1">
                    <a:solidFill>
                      <a:srgbClr val="52514E"/>
                    </a:solidFill>
                    <a:latin typeface="Calibri"/>
                  </a:rPr>
                  <a:t>(</a:t>
                </a: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steadyRatio)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%" sourceLinked="0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44587580"/>
        <c:crosses val="autoZero"/>
        <c:crossBetween val="midCat"/>
        <c:majorUnit val="0.1"/>
      </c:valAx>
      <c:valAx>
        <c:axId val="44587580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ns / particle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74199520"/>
        <c:crosses val="autoZero"/>
        <c:crossBetween val="midCat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/>
          <a:lstStyle/>
          <a:p>
            <a:pPr>
              <a:defRPr sz="1100" b="1" strike="noStrike" spc="-1">
                <a:solidFill>
                  <a:srgbClr val="1F2937"/>
                </a:solidFill>
                <a:latin typeface="Calibri"/>
              </a:defRPr>
            </a:pPr>
            <a:r>
              <a:rPr lang="en-US" sz="1100" b="1" strike="noStrike" spc="-1" dirty="0">
                <a:solidFill>
                  <a:srgbClr val="1F2937"/>
                </a:solidFill>
                <a:latin typeface="Calibri"/>
              </a:rPr>
              <a:t>Burst (</a:t>
            </a:r>
            <a:r>
              <a:rPr lang="en-US" sz="1100" b="1" strike="noStrike" spc="-1" dirty="0" err="1">
                <a:solidFill>
                  <a:srgbClr val="1F2937"/>
                </a:solidFill>
                <a:latin typeface="Calibri"/>
              </a:rPr>
              <a:t>ms</a:t>
            </a:r>
            <a:r>
              <a:rPr lang="en-US" sz="1100" b="1" strike="noStrike" spc="-1" dirty="0">
                <a:solidFill>
                  <a:srgbClr val="1F2937"/>
                </a:solidFill>
                <a:latin typeface="Calibri"/>
              </a:rPr>
              <a:t>)</a:t>
            </a:r>
          </a:p>
        </c:rich>
      </c:tx>
      <c:overlay val="0"/>
      <c:spPr>
        <a:noFill/>
        <a:ln w="0">
          <a:noFill/>
        </a:ln>
      </c:sp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median</c:v>
          </c:tx>
          <c:spPr>
            <a:solidFill>
              <a:srgbClr val="2A78D6"/>
            </a:solidFill>
            <a:ln w="0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(Burst!$A$31:$A$32,Burst!$A$34,Burst!$A$36)</c:f>
              <c:strCache>
                <c:ptCount val="4"/>
                <c:pt idx="0">
                  <c:v>AliveDirect</c:v>
                </c:pt>
                <c:pt idx="1">
                  <c:v>AliveIndirect</c:v>
                </c:pt>
                <c:pt idx="2">
                  <c:v>SlotReuse</c:v>
                </c:pt>
                <c:pt idx="3">
                  <c:v>FullScan</c:v>
                </c:pt>
              </c:strCache>
              <c:extLst/>
            </c:strRef>
          </c:cat>
          <c:val>
            <c:numRef>
              <c:f>(Burst!$F$31:$F$32,Burst!$F$34,Burst!$F$36)</c:f>
              <c:numCache>
                <c:formatCode>0.000</c:formatCode>
                <c:ptCount val="4"/>
                <c:pt idx="0">
                  <c:v>0.18440000000000001</c:v>
                </c:pt>
                <c:pt idx="1">
                  <c:v>0.22439999999999999</c:v>
                </c:pt>
                <c:pt idx="2">
                  <c:v>0.28560000000000002</c:v>
                </c:pt>
                <c:pt idx="3">
                  <c:v>0.34399999999999997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6DD5-455C-8EC6-79C84243D6A8}"/>
            </c:ext>
          </c:extLst>
        </c:ser>
        <c:ser>
          <c:idx val="1"/>
          <c:order val="1"/>
          <c:tx>
            <c:v>p95</c:v>
          </c:tx>
          <c:spPr>
            <a:solidFill>
              <a:srgbClr val="EB6834"/>
            </a:solidFill>
            <a:ln w="0">
              <a:solidFill>
                <a:srgbClr val="FFFFFF"/>
              </a:solidFill>
            </a:ln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wrap="none"/>
              <a:lstStyle/>
              <a:p>
                <a:pPr>
                  <a:defRPr sz="1000" b="0" strike="noStrike" spc="-1">
                    <a:latin typeface="Arial"/>
                  </a:defRPr>
                </a:pPr>
                <a:endParaRPr lang="ko-KR"/>
              </a:p>
            </c:txPr>
            <c:showLegendKey val="0"/>
            <c:showVal val="0"/>
            <c:showCatName val="0"/>
            <c:showSerName val="0"/>
            <c:showPercent val="0"/>
            <c:showBubbleSize val="1"/>
            <c:separator> </c:separator>
            <c:showLeaderLines val="0"/>
            <c:extLst>
              <c:ext xmlns:c15="http://schemas.microsoft.com/office/drawing/2012/chart" uri="{CE6537A1-D6FC-4f65-9D91-7224C49458BB}">
                <c15:showLeaderLines val="1"/>
              </c:ext>
            </c:extLst>
          </c:dLbls>
          <c:cat>
            <c:strRef>
              <c:f>(Burst!$A$31:$A$32,Burst!$A$34,Burst!$A$36)</c:f>
              <c:strCache>
                <c:ptCount val="4"/>
                <c:pt idx="0">
                  <c:v>AliveDirect</c:v>
                </c:pt>
                <c:pt idx="1">
                  <c:v>AliveIndirect</c:v>
                </c:pt>
                <c:pt idx="2">
                  <c:v>SlotReuse</c:v>
                </c:pt>
                <c:pt idx="3">
                  <c:v>FullScan</c:v>
                </c:pt>
              </c:strCache>
              <c:extLst/>
            </c:strRef>
          </c:cat>
          <c:val>
            <c:numRef>
              <c:f>(Burst!$G$31:$G$32,Burst!$G$34,Burst!$G$36)</c:f>
              <c:numCache>
                <c:formatCode>0.000</c:formatCode>
                <c:ptCount val="4"/>
                <c:pt idx="0">
                  <c:v>0.45900000000000002</c:v>
                </c:pt>
                <c:pt idx="1">
                  <c:v>0.58650000000000002</c:v>
                </c:pt>
                <c:pt idx="2">
                  <c:v>0.44900000000000001</c:v>
                </c:pt>
                <c:pt idx="3">
                  <c:v>0.49959999999999999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6DD5-455C-8EC6-79C84243D6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0"/>
        <c:overlap val="-10"/>
        <c:axId val="5360170"/>
        <c:axId val="69789791"/>
      </c:barChart>
      <c:catAx>
        <c:axId val="536017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360">
            <a:solidFill>
              <a:srgbClr val="9CA3AF"/>
            </a:solidFill>
            <a:round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69789791"/>
        <c:crosses val="autoZero"/>
        <c:auto val="1"/>
        <c:lblAlgn val="ctr"/>
        <c:lblOffset val="100"/>
        <c:noMultiLvlLbl val="0"/>
      </c:catAx>
      <c:valAx>
        <c:axId val="69789791"/>
        <c:scaling>
          <c:orientation val="minMax"/>
          <c:min val="0"/>
        </c:scaling>
        <c:delete val="0"/>
        <c:axPos val="l"/>
        <c:majorGridlines>
          <c:spPr>
            <a:ln w="9360">
              <a:solidFill>
                <a:srgbClr val="E5E7EB"/>
              </a:solidFill>
              <a:round/>
            </a:ln>
          </c:spPr>
        </c:majorGridlines>
        <c:title>
          <c:tx>
            <c:rich>
              <a:bodyPr rot="-5400000"/>
              <a:lstStyle/>
              <a:p>
                <a:pPr>
                  <a:defRPr sz="900" b="0" strike="noStrike" spc="-1">
                    <a:solidFill>
                      <a:srgbClr val="52514E"/>
                    </a:solidFill>
                    <a:latin typeface="Calibri"/>
                  </a:defRPr>
                </a:pPr>
                <a:r>
                  <a:rPr lang="en-US" sz="900" b="0" strike="noStrike" spc="-1">
                    <a:solidFill>
                      <a:srgbClr val="52514E"/>
                    </a:solidFill>
                    <a:latin typeface="Calibri"/>
                  </a:rPr>
                  <a:t>ms</a:t>
                </a:r>
              </a:p>
            </c:rich>
          </c:tx>
          <c:overlay val="0"/>
          <c:spPr>
            <a:noFill/>
            <a:ln w="0">
              <a:noFill/>
            </a:ln>
          </c:spPr>
        </c:title>
        <c:numFmt formatCode="0.0#" sourceLinked="0"/>
        <c:majorTickMark val="none"/>
        <c:minorTickMark val="none"/>
        <c:tickLblPos val="nextTo"/>
        <c:spPr>
          <a:ln w="9360">
            <a:noFill/>
          </a:ln>
        </c:spPr>
        <c:txPr>
          <a:bodyPr/>
          <a:lstStyle/>
          <a:p>
            <a:pPr>
              <a:defRPr sz="900" b="0" strike="noStrike" spc="-1">
                <a:solidFill>
                  <a:srgbClr val="52514E"/>
                </a:solidFill>
                <a:latin typeface="Calibri"/>
              </a:defRPr>
            </a:pPr>
            <a:endParaRPr lang="ko-KR"/>
          </a:p>
        </c:txPr>
        <c:crossAx val="5360170"/>
        <c:crosses val="autoZero"/>
        <c:crossBetween val="between"/>
      </c:valAx>
      <c:spPr>
        <a:noFill/>
        <a:ln w="0">
          <a:noFill/>
        </a:ln>
      </c:spPr>
    </c:plotArea>
    <c:legend>
      <c:legendPos val="b"/>
      <c:overlay val="0"/>
      <c:spPr>
        <a:noFill/>
        <a:ln w="0">
          <a:noFill/>
        </a:ln>
      </c:spPr>
      <c:txPr>
        <a:bodyPr/>
        <a:lstStyle/>
        <a:p>
          <a:pPr>
            <a:defRPr sz="900" b="0" strike="noStrike" spc="-1">
              <a:solidFill>
                <a:srgbClr val="1F2937"/>
              </a:solidFill>
              <a:latin typeface="Calibri"/>
            </a:defRPr>
          </a:pPr>
          <a:endParaRPr lang="ko-KR"/>
        </a:p>
      </c:txPr>
    </c:legend>
    <c:plotVisOnly val="1"/>
    <c:dispBlanksAs val="gap"/>
    <c:showDLblsOverMax val="1"/>
  </c:chart>
  <c:spPr>
    <a:solidFill>
      <a:srgbClr val="FFFFFF"/>
    </a:solidFill>
    <a:ln w="9360">
      <a:solidFill>
        <a:srgbClr val="D9D9D9"/>
      </a:solidFill>
      <a:round/>
    </a:ln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8348A3-555B-4632-ACDD-9B44C2A33516}" type="datetimeFigureOut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C52B06-7358-4226-9967-FF54C814E09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19696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1FB08C-AB04-44B5-9E25-0A0A76B5C8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9540996-D710-4A39-BCFF-825E5AF4DE5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E6728A1-6762-4DE4-B115-1106842C81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F21C9C-DBCA-4226-9D31-9BEB85C6A3B1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3A1F013-F509-4BB7-936C-02C9B7320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67251AC-2A7B-499C-83EC-EBC67DE48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69817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D8AA9D-D948-4938-8D06-E872CC9DDB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491B3F-9351-4435-9596-3C236C51FA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8448247-E626-496E-9293-6FAFCC3E5C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9248C0-B0C7-4F33-ADE7-8201F53502F8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EEAD4F-12CB-4DEE-8615-F29F443A0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C200B15-2E31-48DD-9391-4EBE1E7BA8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074022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D32154-1C48-4AC5-AD54-174C2BB04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3671690-2AAD-4FF1-87D2-1A667599782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D844314-95A3-410C-A2D3-AEE6E9D68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ED3534-BF9D-4B49-84C0-D43276B69AF3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D38647D-EA0E-4480-B886-E5BFF34E12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4898A7-57ED-4C5F-891E-D5C96E119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170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70C2CEC-5DD8-48ED-87B6-4B30850CA0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9B16C34F-0A9E-48BD-85C2-F3B1B2B560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A8C0B01-ADC4-4878-9D4A-1B6631BE92F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3A44A81-D82D-4E43-9BFF-B6125D2343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E757199-9A02-4D02-8F93-72EE1A79BC07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4030563-C8C4-4A44-AE73-510558E80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5DEF5DB-5E4D-4CCE-9AEF-169111A50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18901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93B384-9E31-40EF-A31D-B3FA35B6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5D2543A-8450-40F8-885A-68912FC52B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0CD6437-F493-4AFD-A022-DFDDEF5B14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0035F635-3CD4-4335-A903-5A20E66D0A0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072304A3-4F9F-4818-856C-802E1D022B4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5B23F0C6-4E83-4275-B99F-105C76D74F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700B2B-88FD-4E3E-8F17-5D6A449C1D45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E4AD2CF-5817-43D8-9B1B-3F96BD6B8A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0FDDE332-D9AA-4F0C-9180-27F3BD624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8536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D7A4EE-9A5D-4590-B106-724C7053F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21" y="16042"/>
            <a:ext cx="11353800" cy="741780"/>
          </a:xfrm>
        </p:spPr>
        <p:txBody>
          <a:bodyPr>
            <a:normAutofit/>
          </a:bodyPr>
          <a:lstStyle>
            <a:lvl1pPr>
              <a:defRPr sz="3600">
                <a:latin typeface="나눔스퀘어 Bold" panose="020B0600000101010101" pitchFamily="50" charset="-127"/>
                <a:ea typeface="나눔스퀘어 Bold" panose="020B0600000101010101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234ECD32-E885-480B-B74E-793A5FDEB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8BB19D-31F5-4E45-A92B-D9D76DAEE096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75243688-83A8-4E33-944F-693DC5A7B1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FE3188-7A26-4A66-8ED2-42F298C24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504572"/>
            <a:ext cx="2743200" cy="365125"/>
          </a:xfrm>
        </p:spPr>
        <p:txBody>
          <a:bodyPr/>
          <a:lstStyle>
            <a:lvl1pPr>
              <a:defRPr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</a:lstStyle>
          <a:p>
            <a:fld id="{6A6D8C51-7E1C-4870-B2BB-3BFF1E443F58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11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315C9C77-357A-478D-BEEE-66DC4C7F0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2B5459-FD2D-4AAB-8C0B-EB08E31BEE11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FF7BED9B-A612-4B6B-8E42-8E79217CF7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B8CAC13-82E3-420E-AB7B-43C3CC4C7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492875"/>
            <a:ext cx="2743200" cy="365125"/>
          </a:xfrm>
        </p:spPr>
        <p:txBody>
          <a:bodyPr/>
          <a:lstStyle>
            <a:lvl1pPr>
              <a:defRPr>
                <a:latin typeface="나눔스퀘어" panose="020B0600000101010101" pitchFamily="50" charset="-127"/>
                <a:ea typeface="나눔스퀘어" panose="020B0600000101010101" pitchFamily="50" charset="-127"/>
              </a:defRPr>
            </a:lvl1pPr>
          </a:lstStyle>
          <a:p>
            <a:fld id="{6A6D8C51-7E1C-4870-B2BB-3BFF1E443F58}" type="slidenum">
              <a:rPr lang="ko-KR" altLang="en-US" smtClean="0"/>
              <a:pPr/>
              <a:t>‹#›</a:t>
            </a:fld>
            <a:endParaRPr lang="ko-KR" altLang="en-US"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19877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5DC3AF8-D59F-4842-B02C-BDF9ECBBA0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64038F4-FB8D-4E32-A19A-1803B2F12E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7CD2810-62C2-49DB-B46E-D3DDAD82B7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09ADE84-D336-4557-9088-A0158D35A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F79DF2-FB9C-48C5-9703-637EFCE4D192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CD3A7B9-4669-4595-A033-E1EB6590F7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9B38EE2-2B70-4765-AA03-4AB672AD2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8122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B25795-DB7E-4619-9D52-DA2FA6D2E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FD5F6F44-6EB6-407D-991E-8BD52F22EF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BC6D4CA-3ECF-4A99-A2AF-CFA428A4A43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BB090D2-E1E8-48C2-86D6-2FE5EC63A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BF729B-9ACA-4E8A-A8B1-34727813112F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834200F-FE3E-4BFD-9330-2C3580AA9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EFC06C2-9E4E-45FB-8274-C5576A5A0C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937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1090BA-79A5-47C9-B1B5-9E97E3DEB5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81B1CCB-357E-46D9-8FC6-7732CB15B2E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0CBA0E6-34DB-41A0-A53C-27284CC77C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2A0355-6AFC-475A-A063-F8DA9442638C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D1E829-AECB-4D89-B142-F8302A153A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54D6A7-C463-486C-83F0-43DD78A5F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9846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D6778F9-A54E-4EF0-93E5-B35CBAE5AB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00DAEF4-3EF1-41AC-8964-6C5A3FBA3C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C4F93B7-6248-4CCC-8C40-038E3FAEE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AD67D-F4F2-4B4E-A332-1994F67D1DFA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B3D7D7-EA44-49FC-94A4-4CFD09C834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F8CDE31-F241-4FD0-9E21-3E1F0C5CC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91362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0A184BE-4C12-4548-B4E4-1833EFC77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448F320-877C-439F-88D9-963DA3AA3C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6B40274-7D58-4C15-B671-74E8316DC9B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E253A30-4534-4662-9938-E1A4C55BD387}" type="datetime1">
              <a:rPr lang="ko-KR" altLang="en-US" smtClean="0"/>
              <a:t>2026-10-23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4133448-61A2-4838-B99D-B70A982211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336444D-1565-40A9-9830-FDF2BB12C6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6D8C51-7E1C-4870-B2BB-3BFF1E443F5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28210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5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5.xml"/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Relationship Id="rId4" Type="http://schemas.openxmlformats.org/officeDocument/2006/relationships/chart" Target="../charts/char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5FE2975-C1EC-4BE9-8EE8-7F5682CBC8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altLang="ko-KR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GPU </a:t>
            </a:r>
            <a:r>
              <a: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기반 </a:t>
            </a:r>
            <a:r>
              <a:rPr lang="ko-KR" altLang="en-US" sz="4000" dirty="0" err="1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파티클</a:t>
            </a:r>
            <a:r>
              <a:rPr lang="ko-KR" altLang="en-US" sz="40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시스템 구현 및 최적화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B33DACC-1DDD-4A8C-8AAA-A19A5CB0F1E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ko-KR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2</a:t>
            </a:r>
            <a:r>
              <a:rPr lang="ko-KR" altLang="en-US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주차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4F827B-C94A-42AB-98BF-876410EA8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t>1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</p:spTree>
    <p:extLst>
      <p:ext uri="{BB962C8B-B14F-4D97-AF65-F5344CB8AC3E}">
        <p14:creationId xmlns:p14="http://schemas.microsoft.com/office/powerpoint/2010/main" val="6492698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799E18-8F55-4C59-A6D8-D73BB65C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9E3A9D0-1C48-467A-8898-50E0E7AB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pPr/>
              <a:t>2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92C476A-95FE-4C0C-B446-4AF9BFA5555C}"/>
              </a:ext>
            </a:extLst>
          </p:cNvPr>
          <p:cNvSpPr txBox="1"/>
          <p:nvPr/>
        </p:nvSpPr>
        <p:spPr>
          <a:xfrm>
            <a:off x="1556083" y="1023852"/>
            <a:ext cx="2799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페이퍼로지 4 Regular"/>
                <a:ea typeface="페이퍼로지 4 Regular"/>
              </a:rPr>
              <a:t>1) GPU </a:t>
            </a:r>
            <a:r>
              <a:rPr lang="ko-KR" altLang="en-US" sz="1600" dirty="0">
                <a:latin typeface="페이퍼로지 4 Regular"/>
                <a:ea typeface="페이퍼로지 4 Regular"/>
              </a:rPr>
              <a:t>기반 </a:t>
            </a:r>
            <a:r>
              <a:rPr lang="ko-KR" altLang="en-US" sz="1600" dirty="0" err="1">
                <a:latin typeface="페이퍼로지 4 Regular"/>
                <a:ea typeface="페이퍼로지 4 Regular"/>
              </a:rPr>
              <a:t>파티클과</a:t>
            </a:r>
            <a:r>
              <a:rPr lang="ko-KR" altLang="en-US" sz="1600" dirty="0">
                <a:latin typeface="페이퍼로지 4 Regular"/>
                <a:ea typeface="페이퍼로지 4 Regular"/>
              </a:rPr>
              <a:t> 최적화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28DF081B-D912-458F-9CF7-5B0F56C0505F}"/>
              </a:ext>
            </a:extLst>
          </p:cNvPr>
          <p:cNvCxnSpPr>
            <a:cxnSpLocks/>
          </p:cNvCxnSpPr>
          <p:nvPr/>
        </p:nvCxnSpPr>
        <p:spPr>
          <a:xfrm flipV="1">
            <a:off x="6096000" y="0"/>
            <a:ext cx="0" cy="6841958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  <a:prstDash val="lg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0A2670E-7624-4FB2-93E8-FF2F2BC06C98}"/>
              </a:ext>
            </a:extLst>
          </p:cNvPr>
          <p:cNvSpPr txBox="1"/>
          <p:nvPr/>
        </p:nvSpPr>
        <p:spPr>
          <a:xfrm>
            <a:off x="7892718" y="1100219"/>
            <a:ext cx="2799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latin typeface="페이퍼로지 4 Regular"/>
                <a:ea typeface="페이퍼로지 4 Regular"/>
              </a:rPr>
              <a:t>2) </a:t>
            </a:r>
            <a:r>
              <a:rPr lang="ko-KR" altLang="en-US" sz="1600" dirty="0">
                <a:latin typeface="페이퍼로지 4 Regular"/>
                <a:ea typeface="페이퍼로지 4 Regular"/>
              </a:rPr>
              <a:t>환경과 상호작용하는 </a:t>
            </a:r>
            <a:r>
              <a:rPr lang="ko-KR" altLang="en-US" sz="1600" dirty="0" err="1">
                <a:latin typeface="페이퍼로지 4 Regular"/>
                <a:ea typeface="페이퍼로지 4 Regular"/>
              </a:rPr>
              <a:t>파티클</a:t>
            </a:r>
            <a:endParaRPr lang="ko-KR" altLang="en-US" sz="1600" dirty="0">
              <a:latin typeface="페이퍼로지 4 Regular"/>
              <a:ea typeface="페이퍼로지 4 Regular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411AEE21-D774-4AF1-8C93-9A91FDFE6B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33571" y="1641808"/>
            <a:ext cx="4544556" cy="316029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341C869-0086-4A3F-9F21-ED948D32CBB8}"/>
              </a:ext>
            </a:extLst>
          </p:cNvPr>
          <p:cNvSpPr txBox="1"/>
          <p:nvPr/>
        </p:nvSpPr>
        <p:spPr>
          <a:xfrm>
            <a:off x="6708766" y="5393700"/>
            <a:ext cx="4994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1)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지형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(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객체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)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와 충돌하는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파티클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  <a:latin typeface="페이퍼로지 4 Regular"/>
              <a:ea typeface="페이퍼로지 4 Regular"/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2)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충돌한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파티클에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 따라서 반응을 하는 지형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(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객체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)</a:t>
            </a:r>
            <a:endParaRPr lang="ko-KR" altLang="en-US" sz="1600" dirty="0">
              <a:solidFill>
                <a:schemeClr val="bg1">
                  <a:lumMod val="50000"/>
                </a:schemeClr>
              </a:solidFill>
              <a:latin typeface="페이퍼로지 4 Regular"/>
              <a:ea typeface="페이퍼로지 4 Regular"/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89FB6E44-AEDC-43D0-8912-EF4D92A09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1443" y="1641808"/>
            <a:ext cx="4048626" cy="2927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1E210DCD-2164-4EE9-BA6D-003D74F49533}"/>
              </a:ext>
            </a:extLst>
          </p:cNvPr>
          <p:cNvSpPr txBox="1"/>
          <p:nvPr/>
        </p:nvSpPr>
        <p:spPr>
          <a:xfrm>
            <a:off x="1459722" y="4802102"/>
            <a:ext cx="299206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dirty="0">
                <a:latin typeface="페이퍼로지 7 Bold"/>
                <a:ea typeface="페이퍼로지 7 Bold"/>
              </a:rPr>
              <a:t>1) </a:t>
            </a:r>
            <a:r>
              <a:rPr lang="ko-KR" altLang="en-US" sz="1600" dirty="0" err="1">
                <a:latin typeface="페이퍼로지 7 Bold"/>
                <a:ea typeface="페이퍼로지 7 Bold"/>
              </a:rPr>
              <a:t>파티클의</a:t>
            </a:r>
            <a:r>
              <a:rPr lang="ko-KR" altLang="en-US" sz="1600" dirty="0">
                <a:latin typeface="페이퍼로지 7 Bold"/>
                <a:ea typeface="페이퍼로지 7 Bold"/>
              </a:rPr>
              <a:t> 메모리 관리</a:t>
            </a:r>
            <a:endParaRPr lang="en-US" altLang="ko-KR" sz="1600" dirty="0">
              <a:latin typeface="페이퍼로지 7 Bold"/>
              <a:ea typeface="페이퍼로지 7 Bold"/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2)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 업데이트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  <a:latin typeface="페이퍼로지 4 Regular"/>
              <a:ea typeface="페이퍼로지 4 Regular"/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3)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거리기반 </a:t>
            </a:r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LOD</a:t>
            </a: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4) </a:t>
            </a:r>
            <a:r>
              <a:rPr lang="ko-KR" altLang="en-US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렌더링 기법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  <a:latin typeface="페이퍼로지 4 Regular"/>
              <a:ea typeface="페이퍼로지 4 Regular"/>
            </a:endParaRPr>
          </a:p>
          <a:p>
            <a:r>
              <a:rPr lang="en-US" altLang="ko-KR" sz="16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5) </a:t>
            </a:r>
            <a:r>
              <a:rPr lang="ko-KR" altLang="en-US" sz="16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그외</a:t>
            </a:r>
            <a:endParaRPr lang="en-US" altLang="ko-KR" sz="1600" dirty="0">
              <a:solidFill>
                <a:schemeClr val="bg1">
                  <a:lumMod val="50000"/>
                </a:schemeClr>
              </a:solidFill>
              <a:latin typeface="페이퍼로지 4 Regular"/>
              <a:ea typeface="페이퍼로지 4 Regular"/>
            </a:endParaRPr>
          </a:p>
        </p:txBody>
      </p:sp>
    </p:spTree>
    <p:extLst>
      <p:ext uri="{BB962C8B-B14F-4D97-AF65-F5344CB8AC3E}">
        <p14:creationId xmlns:p14="http://schemas.microsoft.com/office/powerpoint/2010/main" val="345207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D97C6A73-EE20-4159-B321-889E8BFF77F4}"/>
              </a:ext>
            </a:extLst>
          </p:cNvPr>
          <p:cNvSpPr/>
          <p:nvPr/>
        </p:nvSpPr>
        <p:spPr>
          <a:xfrm>
            <a:off x="7925292" y="4238718"/>
            <a:ext cx="940240" cy="776108"/>
          </a:xfrm>
          <a:prstGeom prst="roundRect">
            <a:avLst/>
          </a:prstGeom>
          <a:solidFill>
            <a:srgbClr val="92D05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7 Bold"/>
              <a:ea typeface="페이퍼로지 7 Bold"/>
            </a:endParaRP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CFA86E2B-85D1-47FF-AF98-5E4910D8D62C}"/>
              </a:ext>
            </a:extLst>
          </p:cNvPr>
          <p:cNvSpPr/>
          <p:nvPr/>
        </p:nvSpPr>
        <p:spPr>
          <a:xfrm>
            <a:off x="3304929" y="4241510"/>
            <a:ext cx="4602373" cy="773316"/>
          </a:xfrm>
          <a:prstGeom prst="roundRect">
            <a:avLst/>
          </a:prstGeom>
          <a:solidFill>
            <a:srgbClr val="00B05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7 Bold"/>
              <a:ea typeface="페이퍼로지 7 Bold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12A795D8-3EFB-40FC-BAA5-324581A82039}"/>
              </a:ext>
            </a:extLst>
          </p:cNvPr>
          <p:cNvSpPr/>
          <p:nvPr/>
        </p:nvSpPr>
        <p:spPr>
          <a:xfrm>
            <a:off x="152400" y="940134"/>
            <a:ext cx="11855116" cy="2810014"/>
          </a:xfrm>
          <a:prstGeom prst="roundRect">
            <a:avLst>
              <a:gd name="adj" fmla="val 4609"/>
            </a:avLst>
          </a:prstGeom>
          <a:noFill/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7D799E18-8F55-4C59-A6D8-D73BB65C9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파티클의</a:t>
            </a:r>
            <a:r>
              <a:rPr lang="ko-KR" altLang="en-US" dirty="0"/>
              <a:t> 메모리 관리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9E3A9D0-1C48-467A-8898-50E0E7AB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pPr/>
              <a:t>3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01075F-6B7F-4CE1-A6CC-5043BE11D7A4}"/>
              </a:ext>
            </a:extLst>
          </p:cNvPr>
          <p:cNvSpPr txBox="1"/>
          <p:nvPr/>
        </p:nvSpPr>
        <p:spPr>
          <a:xfrm>
            <a:off x="4419603" y="217655"/>
            <a:ext cx="279934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- GPU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기반 </a:t>
            </a:r>
            <a:r>
              <a:rPr lang="ko-KR" altLang="en-US" sz="1600" dirty="0" err="1">
                <a:solidFill>
                  <a:schemeClr val="bg1">
                    <a:lumMod val="6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파티클과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 최적화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03F32C3-DB9F-458A-A397-DABC93B10C8A}"/>
              </a:ext>
            </a:extLst>
          </p:cNvPr>
          <p:cNvSpPr txBox="1"/>
          <p:nvPr/>
        </p:nvSpPr>
        <p:spPr>
          <a:xfrm>
            <a:off x="2772011" y="3390591"/>
            <a:ext cx="6647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600" dirty="0">
                <a:latin typeface="페이퍼로지 7 Bold"/>
                <a:ea typeface="페이퍼로지 7 Bold"/>
              </a:rPr>
              <a:t>활성화된 </a:t>
            </a:r>
            <a:r>
              <a:rPr lang="ko-KR" altLang="en-US" sz="1600" dirty="0" err="1">
                <a:latin typeface="페이퍼로지 7 Bold"/>
                <a:ea typeface="페이퍼로지 7 Bold"/>
              </a:rPr>
              <a:t>파티클만</a:t>
            </a:r>
            <a:r>
              <a:rPr lang="ko-KR" altLang="en-US" sz="1600" dirty="0">
                <a:latin typeface="페이퍼로지 7 Bold"/>
                <a:ea typeface="페이퍼로지 7 Bold"/>
              </a:rPr>
              <a:t> 업데이트 및 렌더링을 거친다</a:t>
            </a:r>
            <a:r>
              <a:rPr lang="en-US" altLang="ko-KR" sz="1600" dirty="0">
                <a:latin typeface="페이퍼로지 7 Bold"/>
                <a:ea typeface="페이퍼로지 7 Bold"/>
              </a:rPr>
              <a:t>.</a:t>
            </a: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B074CBEC-3B35-4F14-992E-686B461E13E1}"/>
              </a:ext>
            </a:extLst>
          </p:cNvPr>
          <p:cNvSpPr/>
          <p:nvPr/>
        </p:nvSpPr>
        <p:spPr>
          <a:xfrm>
            <a:off x="144379" y="932113"/>
            <a:ext cx="762000" cy="287086"/>
          </a:xfrm>
          <a:prstGeom prst="roundRect">
            <a:avLst/>
          </a:prstGeom>
          <a:solidFill>
            <a:schemeClr val="accent6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변경</a:t>
            </a:r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1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CB5F49D1-04B0-4D1B-9CDA-640CEBBBE88E}"/>
              </a:ext>
            </a:extLst>
          </p:cNvPr>
          <p:cNvSpPr/>
          <p:nvPr/>
        </p:nvSpPr>
        <p:spPr>
          <a:xfrm>
            <a:off x="160421" y="3828367"/>
            <a:ext cx="11855116" cy="2501913"/>
          </a:xfrm>
          <a:prstGeom prst="roundRect">
            <a:avLst>
              <a:gd name="adj" fmla="val 4609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DEE0AA67-AA19-4545-BC76-721C8FB0CAD7}"/>
              </a:ext>
            </a:extLst>
          </p:cNvPr>
          <p:cNvSpPr/>
          <p:nvPr/>
        </p:nvSpPr>
        <p:spPr>
          <a:xfrm>
            <a:off x="152400" y="3820346"/>
            <a:ext cx="762000" cy="287086"/>
          </a:xfrm>
          <a:prstGeom prst="round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변경</a:t>
            </a:r>
            <a:r>
              <a:rPr lang="en-US" altLang="ko-KR" sz="1600" dirty="0">
                <a:latin typeface="나눔스퀘어 Bold" panose="020B0600000101010101" pitchFamily="50" charset="-127"/>
                <a:ea typeface="나눔스퀘어 Bold" panose="020B0600000101010101" pitchFamily="50" charset="-127"/>
              </a:rPr>
              <a:t>2</a:t>
            </a:r>
            <a:endParaRPr lang="ko-KR" altLang="en-US" sz="1600" dirty="0">
              <a:latin typeface="나눔스퀘어 Bold" panose="020B0600000101010101" pitchFamily="50" charset="-127"/>
              <a:ea typeface="나눔스퀘어 Bold" panose="020B0600000101010101" pitchFamily="50" charset="-127"/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B4BBFA-F087-433B-8A9E-E7C799A622D7}"/>
              </a:ext>
            </a:extLst>
          </p:cNvPr>
          <p:cNvSpPr txBox="1"/>
          <p:nvPr/>
        </p:nvSpPr>
        <p:spPr>
          <a:xfrm>
            <a:off x="5269832" y="3886373"/>
            <a:ext cx="16523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Particle</a:t>
            </a:r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Pool</a:t>
            </a: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3BAC9031-CFE7-46DF-A3F2-B3E088503783}"/>
              </a:ext>
            </a:extLst>
          </p:cNvPr>
          <p:cNvSpPr/>
          <p:nvPr/>
        </p:nvSpPr>
        <p:spPr>
          <a:xfrm>
            <a:off x="3294384" y="4224927"/>
            <a:ext cx="5571148" cy="1309373"/>
          </a:xfrm>
          <a:prstGeom prst="roundRect">
            <a:avLst>
              <a:gd name="adj" fmla="val 5750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/>
              <a:ea typeface="페이퍼로지 4 Regular"/>
            </a:endParaRPr>
          </a:p>
        </p:txBody>
      </p:sp>
      <p:cxnSp>
        <p:nvCxnSpPr>
          <p:cNvPr id="107" name="직선 연결선 106">
            <a:extLst>
              <a:ext uri="{FF2B5EF4-FFF2-40B4-BE49-F238E27FC236}">
                <a16:creationId xmlns:a16="http://schemas.microsoft.com/office/drawing/2014/main" id="{D49EA719-0334-4FF0-A595-97FF2D1463FB}"/>
              </a:ext>
            </a:extLst>
          </p:cNvPr>
          <p:cNvCxnSpPr>
            <a:cxnSpLocks/>
          </p:cNvCxnSpPr>
          <p:nvPr/>
        </p:nvCxnSpPr>
        <p:spPr>
          <a:xfrm>
            <a:off x="3796227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EA61C5F2-6AE7-473A-9E36-E4A7BB16560A}"/>
              </a:ext>
            </a:extLst>
          </p:cNvPr>
          <p:cNvCxnSpPr>
            <a:cxnSpLocks/>
          </p:cNvCxnSpPr>
          <p:nvPr/>
        </p:nvCxnSpPr>
        <p:spPr>
          <a:xfrm>
            <a:off x="4253063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8A3C09AB-CD11-4494-8BB6-4B7D269F0705}"/>
              </a:ext>
            </a:extLst>
          </p:cNvPr>
          <p:cNvCxnSpPr>
            <a:cxnSpLocks/>
          </p:cNvCxnSpPr>
          <p:nvPr/>
        </p:nvCxnSpPr>
        <p:spPr>
          <a:xfrm>
            <a:off x="4709899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D8CA6E99-E9ED-401E-91BF-3A7FE6F12B8E}"/>
              </a:ext>
            </a:extLst>
          </p:cNvPr>
          <p:cNvCxnSpPr>
            <a:cxnSpLocks/>
          </p:cNvCxnSpPr>
          <p:nvPr/>
        </p:nvCxnSpPr>
        <p:spPr>
          <a:xfrm>
            <a:off x="5166735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F4E71819-2A09-4A21-8C57-EACA7D250A08}"/>
              </a:ext>
            </a:extLst>
          </p:cNvPr>
          <p:cNvCxnSpPr>
            <a:cxnSpLocks/>
          </p:cNvCxnSpPr>
          <p:nvPr/>
        </p:nvCxnSpPr>
        <p:spPr>
          <a:xfrm>
            <a:off x="5623571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49116E04-7B6C-48BB-BDD1-578341AA90EC}"/>
              </a:ext>
            </a:extLst>
          </p:cNvPr>
          <p:cNvCxnSpPr>
            <a:cxnSpLocks/>
          </p:cNvCxnSpPr>
          <p:nvPr/>
        </p:nvCxnSpPr>
        <p:spPr>
          <a:xfrm>
            <a:off x="6080407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3C86882F-7E85-4C02-A960-70E6B0EC3199}"/>
              </a:ext>
            </a:extLst>
          </p:cNvPr>
          <p:cNvCxnSpPr>
            <a:cxnSpLocks/>
          </p:cNvCxnSpPr>
          <p:nvPr/>
        </p:nvCxnSpPr>
        <p:spPr>
          <a:xfrm>
            <a:off x="6537243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직선 연결선 113">
            <a:extLst>
              <a:ext uri="{FF2B5EF4-FFF2-40B4-BE49-F238E27FC236}">
                <a16:creationId xmlns:a16="http://schemas.microsoft.com/office/drawing/2014/main" id="{331F9906-2DFC-4DA6-92C8-4F99D55561FC}"/>
              </a:ext>
            </a:extLst>
          </p:cNvPr>
          <p:cNvCxnSpPr>
            <a:cxnSpLocks/>
          </p:cNvCxnSpPr>
          <p:nvPr/>
        </p:nvCxnSpPr>
        <p:spPr>
          <a:xfrm>
            <a:off x="6994079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직선 연결선 114">
            <a:extLst>
              <a:ext uri="{FF2B5EF4-FFF2-40B4-BE49-F238E27FC236}">
                <a16:creationId xmlns:a16="http://schemas.microsoft.com/office/drawing/2014/main" id="{D2B704E4-D9C4-4F7A-8804-A671BE5B6BCC}"/>
              </a:ext>
            </a:extLst>
          </p:cNvPr>
          <p:cNvCxnSpPr>
            <a:cxnSpLocks/>
          </p:cNvCxnSpPr>
          <p:nvPr/>
        </p:nvCxnSpPr>
        <p:spPr>
          <a:xfrm>
            <a:off x="7450915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직선 연결선 115">
            <a:extLst>
              <a:ext uri="{FF2B5EF4-FFF2-40B4-BE49-F238E27FC236}">
                <a16:creationId xmlns:a16="http://schemas.microsoft.com/office/drawing/2014/main" id="{7E73F03F-A25A-477B-B469-17092EB21669}"/>
              </a:ext>
            </a:extLst>
          </p:cNvPr>
          <p:cNvCxnSpPr>
            <a:cxnSpLocks/>
          </p:cNvCxnSpPr>
          <p:nvPr/>
        </p:nvCxnSpPr>
        <p:spPr>
          <a:xfrm>
            <a:off x="7907751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직선 연결선 116">
            <a:extLst>
              <a:ext uri="{FF2B5EF4-FFF2-40B4-BE49-F238E27FC236}">
                <a16:creationId xmlns:a16="http://schemas.microsoft.com/office/drawing/2014/main" id="{21705BF2-DB01-42FF-A99D-5BD20A5AB520}"/>
              </a:ext>
            </a:extLst>
          </p:cNvPr>
          <p:cNvCxnSpPr>
            <a:cxnSpLocks/>
          </p:cNvCxnSpPr>
          <p:nvPr/>
        </p:nvCxnSpPr>
        <p:spPr>
          <a:xfrm>
            <a:off x="8364587" y="4224927"/>
            <a:ext cx="0" cy="1309373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연결선 128">
            <a:extLst>
              <a:ext uri="{FF2B5EF4-FFF2-40B4-BE49-F238E27FC236}">
                <a16:creationId xmlns:a16="http://schemas.microsoft.com/office/drawing/2014/main" id="{F1C16C79-5FC7-4D0F-9DAA-F27E66F54B61}"/>
              </a:ext>
            </a:extLst>
          </p:cNvPr>
          <p:cNvCxnSpPr>
            <a:cxnSpLocks/>
          </p:cNvCxnSpPr>
          <p:nvPr/>
        </p:nvCxnSpPr>
        <p:spPr>
          <a:xfrm>
            <a:off x="3294384" y="4462207"/>
            <a:ext cx="55711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직선 연결선 132">
            <a:extLst>
              <a:ext uri="{FF2B5EF4-FFF2-40B4-BE49-F238E27FC236}">
                <a16:creationId xmlns:a16="http://schemas.microsoft.com/office/drawing/2014/main" id="{BFA78D6A-28A4-4021-B4C4-0EC46A16192A}"/>
              </a:ext>
            </a:extLst>
          </p:cNvPr>
          <p:cNvCxnSpPr>
            <a:cxnSpLocks/>
          </p:cNvCxnSpPr>
          <p:nvPr/>
        </p:nvCxnSpPr>
        <p:spPr>
          <a:xfrm>
            <a:off x="3294833" y="4727677"/>
            <a:ext cx="55711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직선 연결선 133">
            <a:extLst>
              <a:ext uri="{FF2B5EF4-FFF2-40B4-BE49-F238E27FC236}">
                <a16:creationId xmlns:a16="http://schemas.microsoft.com/office/drawing/2014/main" id="{0B4BBA15-F015-4EB5-8984-F77976375C47}"/>
              </a:ext>
            </a:extLst>
          </p:cNvPr>
          <p:cNvCxnSpPr>
            <a:cxnSpLocks/>
          </p:cNvCxnSpPr>
          <p:nvPr/>
        </p:nvCxnSpPr>
        <p:spPr>
          <a:xfrm>
            <a:off x="3285801" y="4998253"/>
            <a:ext cx="55711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71177212-F39C-47DA-BC0B-26A2257F369A}"/>
              </a:ext>
            </a:extLst>
          </p:cNvPr>
          <p:cNvCxnSpPr>
            <a:cxnSpLocks/>
          </p:cNvCxnSpPr>
          <p:nvPr/>
        </p:nvCxnSpPr>
        <p:spPr>
          <a:xfrm>
            <a:off x="3294833" y="5268828"/>
            <a:ext cx="5571148" cy="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화살표 연결선 137">
            <a:extLst>
              <a:ext uri="{FF2B5EF4-FFF2-40B4-BE49-F238E27FC236}">
                <a16:creationId xmlns:a16="http://schemas.microsoft.com/office/drawing/2014/main" id="{1485CCFA-2A35-44FA-B16E-4E698AE87403}"/>
              </a:ext>
            </a:extLst>
          </p:cNvPr>
          <p:cNvCxnSpPr>
            <a:cxnSpLocks/>
          </p:cNvCxnSpPr>
          <p:nvPr/>
        </p:nvCxnSpPr>
        <p:spPr>
          <a:xfrm flipH="1">
            <a:off x="2863516" y="4591380"/>
            <a:ext cx="326595" cy="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3D15AAC0-9A73-4491-B9A2-E403D3B87B81}"/>
              </a:ext>
            </a:extLst>
          </p:cNvPr>
          <p:cNvSpPr txBox="1"/>
          <p:nvPr/>
        </p:nvSpPr>
        <p:spPr>
          <a:xfrm>
            <a:off x="981288" y="4437491"/>
            <a:ext cx="1949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Particle Group</a:t>
            </a:r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97838D5D-36AB-449F-99F3-56C624B4BD36}"/>
              </a:ext>
            </a:extLst>
          </p:cNvPr>
          <p:cNvCxnSpPr>
            <a:cxnSpLocks/>
          </p:cNvCxnSpPr>
          <p:nvPr/>
        </p:nvCxnSpPr>
        <p:spPr>
          <a:xfrm>
            <a:off x="8915771" y="4615442"/>
            <a:ext cx="447065" cy="0"/>
          </a:xfrm>
          <a:prstGeom prst="straightConnector1">
            <a:avLst/>
          </a:prstGeom>
          <a:ln w="127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87D82185-3EB8-463B-AD13-0072034581E3}"/>
              </a:ext>
            </a:extLst>
          </p:cNvPr>
          <p:cNvSpPr txBox="1"/>
          <p:nvPr/>
        </p:nvSpPr>
        <p:spPr>
          <a:xfrm>
            <a:off x="9304827" y="4440338"/>
            <a:ext cx="1949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Particle</a:t>
            </a:r>
            <a:r>
              <a:rPr lang="ko-KR" altLang="en-US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solidFill>
                  <a:schemeClr val="bg1">
                    <a:lumMod val="65000"/>
                  </a:schemeClr>
                </a:solidFill>
                <a:latin typeface="페이퍼로지 4 Regular"/>
                <a:ea typeface="페이퍼로지 4 Regular"/>
              </a:rPr>
              <a:t>Group 2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CA524B9F-A8F3-41B8-BE0E-1BA12360210A}"/>
              </a:ext>
            </a:extLst>
          </p:cNvPr>
          <p:cNvSpPr/>
          <p:nvPr/>
        </p:nvSpPr>
        <p:spPr>
          <a:xfrm>
            <a:off x="3843943" y="1337463"/>
            <a:ext cx="3242127" cy="417094"/>
          </a:xfrm>
          <a:prstGeom prst="roundRect">
            <a:avLst/>
          </a:prstGeom>
          <a:solidFill>
            <a:srgbClr val="00B05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7 Bold"/>
              <a:ea typeface="페이퍼로지 7 Bold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0AFAA10-C43E-461F-AA9B-E86C2F3ED0AA}"/>
              </a:ext>
            </a:extLst>
          </p:cNvPr>
          <p:cNvSpPr txBox="1"/>
          <p:nvPr/>
        </p:nvSpPr>
        <p:spPr>
          <a:xfrm>
            <a:off x="1514996" y="1392303"/>
            <a:ext cx="1949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Particle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Emitter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1</a:t>
            </a:r>
          </a:p>
        </p:txBody>
      </p: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B926A057-A20D-4203-B4F8-CBFD8AE29FFB}"/>
              </a:ext>
            </a:extLst>
          </p:cNvPr>
          <p:cNvCxnSpPr>
            <a:cxnSpLocks/>
          </p:cNvCxnSpPr>
          <p:nvPr/>
        </p:nvCxnSpPr>
        <p:spPr>
          <a:xfrm>
            <a:off x="3312694" y="1546010"/>
            <a:ext cx="45266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그룹 82">
            <a:extLst>
              <a:ext uri="{FF2B5EF4-FFF2-40B4-BE49-F238E27FC236}">
                <a16:creationId xmlns:a16="http://schemas.microsoft.com/office/drawing/2014/main" id="{D7118394-D5EC-46DD-80AE-8427BE1E8248}"/>
              </a:ext>
            </a:extLst>
          </p:cNvPr>
          <p:cNvGrpSpPr/>
          <p:nvPr/>
        </p:nvGrpSpPr>
        <p:grpSpPr>
          <a:xfrm>
            <a:off x="3845568" y="1332453"/>
            <a:ext cx="5571148" cy="422104"/>
            <a:chOff x="3845568" y="1223881"/>
            <a:chExt cx="5571148" cy="422104"/>
          </a:xfrm>
        </p:grpSpPr>
        <p:sp>
          <p:nvSpPr>
            <p:cNvPr id="84" name="사각형: 둥근 모서리 83">
              <a:extLst>
                <a:ext uri="{FF2B5EF4-FFF2-40B4-BE49-F238E27FC236}">
                  <a16:creationId xmlns:a16="http://schemas.microsoft.com/office/drawing/2014/main" id="{3757517D-EF3B-444C-817E-DDA93D8B03C1}"/>
                </a:ext>
              </a:extLst>
            </p:cNvPr>
            <p:cNvSpPr/>
            <p:nvPr/>
          </p:nvSpPr>
          <p:spPr>
            <a:xfrm>
              <a:off x="3845568" y="1228891"/>
              <a:ext cx="5571148" cy="4170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>
                <a:latin typeface="페이퍼로지 4 Regular"/>
                <a:ea typeface="페이퍼로지 4 Regular"/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8A3B823B-F36F-43B5-8A42-CEC7BFC7F191}"/>
                </a:ext>
              </a:extLst>
            </p:cNvPr>
            <p:cNvCxnSpPr>
              <a:cxnSpLocks/>
            </p:cNvCxnSpPr>
            <p:nvPr/>
          </p:nvCxnSpPr>
          <p:spPr>
            <a:xfrm>
              <a:off x="434741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직선 연결선 85">
              <a:extLst>
                <a:ext uri="{FF2B5EF4-FFF2-40B4-BE49-F238E27FC236}">
                  <a16:creationId xmlns:a16="http://schemas.microsoft.com/office/drawing/2014/main" id="{7DA3DF07-95CE-42D8-A94F-E5695C2F360A}"/>
                </a:ext>
              </a:extLst>
            </p:cNvPr>
            <p:cNvCxnSpPr>
              <a:cxnSpLocks/>
            </p:cNvCxnSpPr>
            <p:nvPr/>
          </p:nvCxnSpPr>
          <p:spPr>
            <a:xfrm>
              <a:off x="4804247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>
              <a:extLst>
                <a:ext uri="{FF2B5EF4-FFF2-40B4-BE49-F238E27FC236}">
                  <a16:creationId xmlns:a16="http://schemas.microsoft.com/office/drawing/2014/main" id="{AFB28CCD-F6F3-4ED7-9615-A283AAD1C8A5}"/>
                </a:ext>
              </a:extLst>
            </p:cNvPr>
            <p:cNvCxnSpPr>
              <a:cxnSpLocks/>
            </p:cNvCxnSpPr>
            <p:nvPr/>
          </p:nvCxnSpPr>
          <p:spPr>
            <a:xfrm>
              <a:off x="5261083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>
              <a:extLst>
                <a:ext uri="{FF2B5EF4-FFF2-40B4-BE49-F238E27FC236}">
                  <a16:creationId xmlns:a16="http://schemas.microsoft.com/office/drawing/2014/main" id="{D0614B1A-A8A2-4066-8C6E-F5834ABB8CCE}"/>
                </a:ext>
              </a:extLst>
            </p:cNvPr>
            <p:cNvCxnSpPr>
              <a:cxnSpLocks/>
            </p:cNvCxnSpPr>
            <p:nvPr/>
          </p:nvCxnSpPr>
          <p:spPr>
            <a:xfrm>
              <a:off x="5717919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>
              <a:extLst>
                <a:ext uri="{FF2B5EF4-FFF2-40B4-BE49-F238E27FC236}">
                  <a16:creationId xmlns:a16="http://schemas.microsoft.com/office/drawing/2014/main" id="{933F8012-FA8B-446B-8526-227FE05632E4}"/>
                </a:ext>
              </a:extLst>
            </p:cNvPr>
            <p:cNvCxnSpPr>
              <a:cxnSpLocks/>
            </p:cNvCxnSpPr>
            <p:nvPr/>
          </p:nvCxnSpPr>
          <p:spPr>
            <a:xfrm>
              <a:off x="6174755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직선 연결선 89">
              <a:extLst>
                <a:ext uri="{FF2B5EF4-FFF2-40B4-BE49-F238E27FC236}">
                  <a16:creationId xmlns:a16="http://schemas.microsoft.com/office/drawing/2014/main" id="{F339CCD3-119B-468F-A400-39326B25DD06}"/>
                </a:ext>
              </a:extLst>
            </p:cNvPr>
            <p:cNvCxnSpPr>
              <a:cxnSpLocks/>
            </p:cNvCxnSpPr>
            <p:nvPr/>
          </p:nvCxnSpPr>
          <p:spPr>
            <a:xfrm>
              <a:off x="663159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직선 연결선 90">
              <a:extLst>
                <a:ext uri="{FF2B5EF4-FFF2-40B4-BE49-F238E27FC236}">
                  <a16:creationId xmlns:a16="http://schemas.microsoft.com/office/drawing/2014/main" id="{D3F4FD2C-81D5-4AB0-B900-516C3F48F9EE}"/>
                </a:ext>
              </a:extLst>
            </p:cNvPr>
            <p:cNvCxnSpPr>
              <a:cxnSpLocks/>
            </p:cNvCxnSpPr>
            <p:nvPr/>
          </p:nvCxnSpPr>
          <p:spPr>
            <a:xfrm>
              <a:off x="7088427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직선 연결선 91">
              <a:extLst>
                <a:ext uri="{FF2B5EF4-FFF2-40B4-BE49-F238E27FC236}">
                  <a16:creationId xmlns:a16="http://schemas.microsoft.com/office/drawing/2014/main" id="{23BD8AC6-EDF7-42D4-854F-5B8CAA9757E7}"/>
                </a:ext>
              </a:extLst>
            </p:cNvPr>
            <p:cNvCxnSpPr>
              <a:cxnSpLocks/>
            </p:cNvCxnSpPr>
            <p:nvPr/>
          </p:nvCxnSpPr>
          <p:spPr>
            <a:xfrm>
              <a:off x="7545263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직선 연결선 92">
              <a:extLst>
                <a:ext uri="{FF2B5EF4-FFF2-40B4-BE49-F238E27FC236}">
                  <a16:creationId xmlns:a16="http://schemas.microsoft.com/office/drawing/2014/main" id="{331B110B-B0B5-4140-B529-546731496E05}"/>
                </a:ext>
              </a:extLst>
            </p:cNvPr>
            <p:cNvCxnSpPr>
              <a:cxnSpLocks/>
            </p:cNvCxnSpPr>
            <p:nvPr/>
          </p:nvCxnSpPr>
          <p:spPr>
            <a:xfrm>
              <a:off x="8002099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직선 연결선 93">
              <a:extLst>
                <a:ext uri="{FF2B5EF4-FFF2-40B4-BE49-F238E27FC236}">
                  <a16:creationId xmlns:a16="http://schemas.microsoft.com/office/drawing/2014/main" id="{4CBB9597-E2DD-47AF-8C06-83E5B1CD24C5}"/>
                </a:ext>
              </a:extLst>
            </p:cNvPr>
            <p:cNvCxnSpPr>
              <a:cxnSpLocks/>
            </p:cNvCxnSpPr>
            <p:nvPr/>
          </p:nvCxnSpPr>
          <p:spPr>
            <a:xfrm>
              <a:off x="8458935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직선 연결선 94">
              <a:extLst>
                <a:ext uri="{FF2B5EF4-FFF2-40B4-BE49-F238E27FC236}">
                  <a16:creationId xmlns:a16="http://schemas.microsoft.com/office/drawing/2014/main" id="{963E9D9C-F2C8-4222-9DBC-1A7EB8A7A5B4}"/>
                </a:ext>
              </a:extLst>
            </p:cNvPr>
            <p:cNvCxnSpPr>
              <a:cxnSpLocks/>
            </p:cNvCxnSpPr>
            <p:nvPr/>
          </p:nvCxnSpPr>
          <p:spPr>
            <a:xfrm>
              <a:off x="891577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6" name="TextBox 95">
            <a:extLst>
              <a:ext uri="{FF2B5EF4-FFF2-40B4-BE49-F238E27FC236}">
                <a16:creationId xmlns:a16="http://schemas.microsoft.com/office/drawing/2014/main" id="{50C988CF-412D-4ADD-A104-7A4CD46E3BE1}"/>
              </a:ext>
            </a:extLst>
          </p:cNvPr>
          <p:cNvSpPr txBox="1"/>
          <p:nvPr/>
        </p:nvSpPr>
        <p:spPr>
          <a:xfrm>
            <a:off x="9446121" y="1266102"/>
            <a:ext cx="1331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Total Count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: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256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28BF41B4-F8D5-4239-BD7C-6702A42B6D06}"/>
              </a:ext>
            </a:extLst>
          </p:cNvPr>
          <p:cNvSpPr txBox="1"/>
          <p:nvPr/>
        </p:nvSpPr>
        <p:spPr>
          <a:xfrm>
            <a:off x="4840356" y="1789322"/>
            <a:ext cx="133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Alive : 200</a:t>
            </a: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CAD3F904-53AF-4E1E-A982-394BB167052A}"/>
              </a:ext>
            </a:extLst>
          </p:cNvPr>
          <p:cNvSpPr/>
          <p:nvPr/>
        </p:nvSpPr>
        <p:spPr>
          <a:xfrm>
            <a:off x="3843943" y="2438388"/>
            <a:ext cx="1425681" cy="417094"/>
          </a:xfrm>
          <a:prstGeom prst="roundRect">
            <a:avLst/>
          </a:prstGeom>
          <a:solidFill>
            <a:srgbClr val="00B050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7 Bold"/>
              <a:ea typeface="페이퍼로지 7 Bold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2AA27874-2F31-465B-AFA8-58DC19896D31}"/>
              </a:ext>
            </a:extLst>
          </p:cNvPr>
          <p:cNvSpPr txBox="1"/>
          <p:nvPr/>
        </p:nvSpPr>
        <p:spPr>
          <a:xfrm>
            <a:off x="1514996" y="2488036"/>
            <a:ext cx="194911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Particle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Emitter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2</a:t>
            </a:r>
          </a:p>
        </p:txBody>
      </p:sp>
      <p:cxnSp>
        <p:nvCxnSpPr>
          <p:cNvPr id="103" name="직선 화살표 연결선 102">
            <a:extLst>
              <a:ext uri="{FF2B5EF4-FFF2-40B4-BE49-F238E27FC236}">
                <a16:creationId xmlns:a16="http://schemas.microsoft.com/office/drawing/2014/main" id="{8172FBCC-38B2-44C2-9EF4-D69D5F6E8919}"/>
              </a:ext>
            </a:extLst>
          </p:cNvPr>
          <p:cNvCxnSpPr>
            <a:cxnSpLocks/>
          </p:cNvCxnSpPr>
          <p:nvPr/>
        </p:nvCxnSpPr>
        <p:spPr>
          <a:xfrm>
            <a:off x="3312694" y="2646935"/>
            <a:ext cx="452663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4E0ADA04-F630-4F4D-826B-91B87EC59A54}"/>
              </a:ext>
            </a:extLst>
          </p:cNvPr>
          <p:cNvGrpSpPr/>
          <p:nvPr/>
        </p:nvGrpSpPr>
        <p:grpSpPr>
          <a:xfrm>
            <a:off x="3845568" y="2433378"/>
            <a:ext cx="5571148" cy="422104"/>
            <a:chOff x="3845568" y="1223881"/>
            <a:chExt cx="5571148" cy="422104"/>
          </a:xfrm>
        </p:grpSpPr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B32D0123-4AFC-4D7E-BBE3-12C292662AFE}"/>
                </a:ext>
              </a:extLst>
            </p:cNvPr>
            <p:cNvSpPr/>
            <p:nvPr/>
          </p:nvSpPr>
          <p:spPr>
            <a:xfrm>
              <a:off x="3845568" y="1228891"/>
              <a:ext cx="5571148" cy="417094"/>
            </a:xfrm>
            <a:prstGeom prst="round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페이퍼로지 4 Regular"/>
                <a:ea typeface="페이퍼로지 4 Regular"/>
              </a:endParaRPr>
            </a:p>
          </p:txBody>
        </p:sp>
        <p:cxnSp>
          <p:nvCxnSpPr>
            <p:cNvPr id="118" name="직선 연결선 117">
              <a:extLst>
                <a:ext uri="{FF2B5EF4-FFF2-40B4-BE49-F238E27FC236}">
                  <a16:creationId xmlns:a16="http://schemas.microsoft.com/office/drawing/2014/main" id="{6E536E38-1458-424C-9B50-889E20EAF9F9}"/>
                </a:ext>
              </a:extLst>
            </p:cNvPr>
            <p:cNvCxnSpPr>
              <a:cxnSpLocks/>
            </p:cNvCxnSpPr>
            <p:nvPr/>
          </p:nvCxnSpPr>
          <p:spPr>
            <a:xfrm>
              <a:off x="434741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직선 연결선 118">
              <a:extLst>
                <a:ext uri="{FF2B5EF4-FFF2-40B4-BE49-F238E27FC236}">
                  <a16:creationId xmlns:a16="http://schemas.microsoft.com/office/drawing/2014/main" id="{29A76790-28A3-4C4E-9296-6039936D63CF}"/>
                </a:ext>
              </a:extLst>
            </p:cNvPr>
            <p:cNvCxnSpPr>
              <a:cxnSpLocks/>
            </p:cNvCxnSpPr>
            <p:nvPr/>
          </p:nvCxnSpPr>
          <p:spPr>
            <a:xfrm>
              <a:off x="4804247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직선 연결선 119">
              <a:extLst>
                <a:ext uri="{FF2B5EF4-FFF2-40B4-BE49-F238E27FC236}">
                  <a16:creationId xmlns:a16="http://schemas.microsoft.com/office/drawing/2014/main" id="{4414C660-1A46-4ED3-8838-C5C655C44A22}"/>
                </a:ext>
              </a:extLst>
            </p:cNvPr>
            <p:cNvCxnSpPr>
              <a:cxnSpLocks/>
            </p:cNvCxnSpPr>
            <p:nvPr/>
          </p:nvCxnSpPr>
          <p:spPr>
            <a:xfrm>
              <a:off x="5261083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직선 연결선 120">
              <a:extLst>
                <a:ext uri="{FF2B5EF4-FFF2-40B4-BE49-F238E27FC236}">
                  <a16:creationId xmlns:a16="http://schemas.microsoft.com/office/drawing/2014/main" id="{3967CB2F-7F75-4FB1-83AC-F97BAE3D47AC}"/>
                </a:ext>
              </a:extLst>
            </p:cNvPr>
            <p:cNvCxnSpPr>
              <a:cxnSpLocks/>
            </p:cNvCxnSpPr>
            <p:nvPr/>
          </p:nvCxnSpPr>
          <p:spPr>
            <a:xfrm>
              <a:off x="5717919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F781CE1D-2303-41AC-9C3A-67F329321BDD}"/>
                </a:ext>
              </a:extLst>
            </p:cNvPr>
            <p:cNvCxnSpPr>
              <a:cxnSpLocks/>
            </p:cNvCxnSpPr>
            <p:nvPr/>
          </p:nvCxnSpPr>
          <p:spPr>
            <a:xfrm>
              <a:off x="6174755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직선 연결선 122">
              <a:extLst>
                <a:ext uri="{FF2B5EF4-FFF2-40B4-BE49-F238E27FC236}">
                  <a16:creationId xmlns:a16="http://schemas.microsoft.com/office/drawing/2014/main" id="{68BF9A13-CA14-4321-85C0-2266992492A7}"/>
                </a:ext>
              </a:extLst>
            </p:cNvPr>
            <p:cNvCxnSpPr>
              <a:cxnSpLocks/>
            </p:cNvCxnSpPr>
            <p:nvPr/>
          </p:nvCxnSpPr>
          <p:spPr>
            <a:xfrm>
              <a:off x="663159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직선 연결선 123">
              <a:extLst>
                <a:ext uri="{FF2B5EF4-FFF2-40B4-BE49-F238E27FC236}">
                  <a16:creationId xmlns:a16="http://schemas.microsoft.com/office/drawing/2014/main" id="{3CF43E79-268F-41AD-B523-40F4BE865BD1}"/>
                </a:ext>
              </a:extLst>
            </p:cNvPr>
            <p:cNvCxnSpPr>
              <a:cxnSpLocks/>
            </p:cNvCxnSpPr>
            <p:nvPr/>
          </p:nvCxnSpPr>
          <p:spPr>
            <a:xfrm>
              <a:off x="7088427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직선 연결선 124">
              <a:extLst>
                <a:ext uri="{FF2B5EF4-FFF2-40B4-BE49-F238E27FC236}">
                  <a16:creationId xmlns:a16="http://schemas.microsoft.com/office/drawing/2014/main" id="{2C8E8CCC-C2BC-4FBF-ABDC-CC449DDA6E08}"/>
                </a:ext>
              </a:extLst>
            </p:cNvPr>
            <p:cNvCxnSpPr>
              <a:cxnSpLocks/>
            </p:cNvCxnSpPr>
            <p:nvPr/>
          </p:nvCxnSpPr>
          <p:spPr>
            <a:xfrm>
              <a:off x="7545263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B7208A38-568B-4A28-87D8-6ED432616DC5}"/>
                </a:ext>
              </a:extLst>
            </p:cNvPr>
            <p:cNvCxnSpPr>
              <a:cxnSpLocks/>
            </p:cNvCxnSpPr>
            <p:nvPr/>
          </p:nvCxnSpPr>
          <p:spPr>
            <a:xfrm>
              <a:off x="8002099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356D77AB-7B71-4FE9-B95D-4C6A5B9C1F77}"/>
                </a:ext>
              </a:extLst>
            </p:cNvPr>
            <p:cNvCxnSpPr>
              <a:cxnSpLocks/>
            </p:cNvCxnSpPr>
            <p:nvPr/>
          </p:nvCxnSpPr>
          <p:spPr>
            <a:xfrm>
              <a:off x="8458935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7174E058-5D61-41E4-9E9B-DCCC29F03C07}"/>
                </a:ext>
              </a:extLst>
            </p:cNvPr>
            <p:cNvCxnSpPr>
              <a:cxnSpLocks/>
            </p:cNvCxnSpPr>
            <p:nvPr/>
          </p:nvCxnSpPr>
          <p:spPr>
            <a:xfrm>
              <a:off x="8915771" y="1223881"/>
              <a:ext cx="0" cy="417094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0" name="TextBox 129">
            <a:extLst>
              <a:ext uri="{FF2B5EF4-FFF2-40B4-BE49-F238E27FC236}">
                <a16:creationId xmlns:a16="http://schemas.microsoft.com/office/drawing/2014/main" id="{BAE7EF41-09BA-420B-B7B9-0C830FFD6F2A}"/>
              </a:ext>
            </a:extLst>
          </p:cNvPr>
          <p:cNvSpPr txBox="1"/>
          <p:nvPr/>
        </p:nvSpPr>
        <p:spPr>
          <a:xfrm>
            <a:off x="9446121" y="2373158"/>
            <a:ext cx="13314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Total Count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: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>
                <a:latin typeface="페이퍼로지 4 Regular"/>
                <a:ea typeface="페이퍼로지 4 Regular"/>
              </a:rPr>
              <a:t>256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9D1AE13-DA80-48DA-BF76-A3287A3BD59E}"/>
              </a:ext>
            </a:extLst>
          </p:cNvPr>
          <p:cNvSpPr txBox="1"/>
          <p:nvPr/>
        </p:nvSpPr>
        <p:spPr>
          <a:xfrm>
            <a:off x="3891037" y="2895514"/>
            <a:ext cx="133149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Alive : 20</a:t>
            </a:r>
          </a:p>
        </p:txBody>
      </p: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85292BA1-7DFB-4ECE-B731-FAC7D5E6F26E}"/>
              </a:ext>
            </a:extLst>
          </p:cNvPr>
          <p:cNvCxnSpPr>
            <a:cxnSpLocks/>
          </p:cNvCxnSpPr>
          <p:nvPr/>
        </p:nvCxnSpPr>
        <p:spPr>
          <a:xfrm>
            <a:off x="6726144" y="1755492"/>
            <a:ext cx="285281" cy="2273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TextBox 144">
            <a:extLst>
              <a:ext uri="{FF2B5EF4-FFF2-40B4-BE49-F238E27FC236}">
                <a16:creationId xmlns:a16="http://schemas.microsoft.com/office/drawing/2014/main" id="{DEA110F4-4362-4262-A379-41F37FBD6216}"/>
              </a:ext>
            </a:extLst>
          </p:cNvPr>
          <p:cNvSpPr txBox="1"/>
          <p:nvPr/>
        </p:nvSpPr>
        <p:spPr>
          <a:xfrm>
            <a:off x="6990826" y="1853138"/>
            <a:ext cx="19455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Compute &amp; Render</a:t>
            </a:r>
          </a:p>
        </p:txBody>
      </p:sp>
      <p:cxnSp>
        <p:nvCxnSpPr>
          <p:cNvPr id="146" name="직선 화살표 연결선 145">
            <a:extLst>
              <a:ext uri="{FF2B5EF4-FFF2-40B4-BE49-F238E27FC236}">
                <a16:creationId xmlns:a16="http://schemas.microsoft.com/office/drawing/2014/main" id="{F6C1B37F-24B1-482D-BECC-68FB1144572B}"/>
              </a:ext>
            </a:extLst>
          </p:cNvPr>
          <p:cNvCxnSpPr>
            <a:cxnSpLocks/>
          </p:cNvCxnSpPr>
          <p:nvPr/>
        </p:nvCxnSpPr>
        <p:spPr>
          <a:xfrm>
            <a:off x="5194279" y="2856529"/>
            <a:ext cx="285281" cy="2273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TextBox 146">
            <a:extLst>
              <a:ext uri="{FF2B5EF4-FFF2-40B4-BE49-F238E27FC236}">
                <a16:creationId xmlns:a16="http://schemas.microsoft.com/office/drawing/2014/main" id="{A81E492E-D1E7-45D2-84E5-4045DAA640EF}"/>
              </a:ext>
            </a:extLst>
          </p:cNvPr>
          <p:cNvSpPr txBox="1"/>
          <p:nvPr/>
        </p:nvSpPr>
        <p:spPr>
          <a:xfrm>
            <a:off x="5458961" y="2954175"/>
            <a:ext cx="19455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/>
                <a:ea typeface="페이퍼로지 4 Regular"/>
              </a:rPr>
              <a:t>Compute &amp; Render</a:t>
            </a:r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6EA16944-CCF5-4C0F-85AD-D9460BF75900}"/>
              </a:ext>
            </a:extLst>
          </p:cNvPr>
          <p:cNvSpPr txBox="1"/>
          <p:nvPr/>
        </p:nvSpPr>
        <p:spPr>
          <a:xfrm>
            <a:off x="2772011" y="5862051"/>
            <a:ext cx="66479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  <a:latin typeface="페이퍼로지 7 Bold"/>
                <a:ea typeface="페이퍼로지 7 Bold"/>
              </a:rPr>
              <a:t>Global Particle Pool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  <a:latin typeface="페이퍼로지 7 Bold"/>
                <a:ea typeface="페이퍼로지 7 Bold"/>
              </a:rPr>
              <a:t>을 통해 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  <a:latin typeface="페이퍼로지 7 Bold"/>
                <a:ea typeface="페이퍼로지 7 Bold"/>
              </a:rPr>
              <a:t>GPU </a:t>
            </a:r>
            <a:r>
              <a:rPr lang="ko-KR" altLang="en-US" sz="1600" dirty="0">
                <a:solidFill>
                  <a:schemeClr val="bg1">
                    <a:lumMod val="65000"/>
                  </a:schemeClr>
                </a:solidFill>
                <a:latin typeface="페이퍼로지 7 Bold"/>
                <a:ea typeface="페이퍼로지 7 Bold"/>
              </a:rPr>
              <a:t>메모리 공간을 줄인다</a:t>
            </a:r>
            <a:r>
              <a:rPr lang="en-US" altLang="ko-KR" sz="1600" dirty="0">
                <a:solidFill>
                  <a:schemeClr val="bg1">
                    <a:lumMod val="65000"/>
                  </a:schemeClr>
                </a:solidFill>
                <a:latin typeface="페이퍼로지 7 Bold"/>
                <a:ea typeface="페이퍼로지 7 Bold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605981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5EE88E4-09F2-7F38-65D0-7C6DED800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GPU 파티클 버퍼 구조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AC87E97-4DB8-8B52-555B-024806F2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t>4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301" name="Buffer Particle 1"/>
          <p:cNvSpPr/>
          <p:nvPr/>
        </p:nvSpPr>
        <p:spPr>
          <a:xfrm>
            <a:off x="28575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2" name="Buffer Particle 2"/>
          <p:cNvSpPr/>
          <p:nvPr/>
        </p:nvSpPr>
        <p:spPr>
          <a:xfrm>
            <a:off x="31877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3" name="Buffer Particle 3"/>
          <p:cNvSpPr/>
          <p:nvPr/>
        </p:nvSpPr>
        <p:spPr>
          <a:xfrm>
            <a:off x="35179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4" name="Buffer Particle 4"/>
          <p:cNvSpPr/>
          <p:nvPr/>
        </p:nvSpPr>
        <p:spPr>
          <a:xfrm>
            <a:off x="38481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5" name="Buffer Particle 5"/>
          <p:cNvSpPr/>
          <p:nvPr/>
        </p:nvSpPr>
        <p:spPr>
          <a:xfrm>
            <a:off x="41783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6" name="Buffer Particle 6"/>
          <p:cNvSpPr/>
          <p:nvPr/>
        </p:nvSpPr>
        <p:spPr>
          <a:xfrm>
            <a:off x="45085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7" name="Buffer Particle 7"/>
          <p:cNvSpPr/>
          <p:nvPr/>
        </p:nvSpPr>
        <p:spPr>
          <a:xfrm>
            <a:off x="48387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8" name="Buffer Particle 8"/>
          <p:cNvSpPr/>
          <p:nvPr/>
        </p:nvSpPr>
        <p:spPr>
          <a:xfrm>
            <a:off x="51689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09" name="Buffer Particle 9"/>
          <p:cNvSpPr/>
          <p:nvPr/>
        </p:nvSpPr>
        <p:spPr>
          <a:xfrm>
            <a:off x="54991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0" name="Buffer Particle 10"/>
          <p:cNvSpPr/>
          <p:nvPr/>
        </p:nvSpPr>
        <p:spPr>
          <a:xfrm>
            <a:off x="58293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1" name="Buffer Ellipsis"/>
          <p:cNvSpPr/>
          <p:nvPr/>
        </p:nvSpPr>
        <p:spPr>
          <a:xfrm>
            <a:off x="6159500" y="1778000"/>
            <a:ext cx="508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…</a:t>
            </a:r>
          </a:p>
        </p:txBody>
      </p:sp>
      <p:sp>
        <p:nvSpPr>
          <p:cNvPr id="312" name="Buffer Particle 11"/>
          <p:cNvSpPr/>
          <p:nvPr/>
        </p:nvSpPr>
        <p:spPr>
          <a:xfrm>
            <a:off x="66675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3" name="Buffer Particle 12"/>
          <p:cNvSpPr/>
          <p:nvPr/>
        </p:nvSpPr>
        <p:spPr>
          <a:xfrm>
            <a:off x="69977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4" name="Buffer Particle 13"/>
          <p:cNvSpPr/>
          <p:nvPr/>
        </p:nvSpPr>
        <p:spPr>
          <a:xfrm>
            <a:off x="73279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5" name="Buffer Particle 14"/>
          <p:cNvSpPr/>
          <p:nvPr/>
        </p:nvSpPr>
        <p:spPr>
          <a:xfrm>
            <a:off x="76581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6" name="Buffer Particle 15"/>
          <p:cNvSpPr/>
          <p:nvPr/>
        </p:nvSpPr>
        <p:spPr>
          <a:xfrm>
            <a:off x="79883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7" name="Buffer Particle 16"/>
          <p:cNvSpPr/>
          <p:nvPr/>
        </p:nvSpPr>
        <p:spPr>
          <a:xfrm>
            <a:off x="83185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8" name="Buffer Particle 17"/>
          <p:cNvSpPr/>
          <p:nvPr/>
        </p:nvSpPr>
        <p:spPr>
          <a:xfrm>
            <a:off x="86487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19" name="Buffer Particle 18"/>
          <p:cNvSpPr/>
          <p:nvPr/>
        </p:nvSpPr>
        <p:spPr>
          <a:xfrm>
            <a:off x="89789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20" name="Buffer Particle 19"/>
          <p:cNvSpPr/>
          <p:nvPr/>
        </p:nvSpPr>
        <p:spPr>
          <a:xfrm>
            <a:off x="9309100" y="1778000"/>
            <a:ext cx="330200" cy="4064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21" name="Buffer Particle 20"/>
          <p:cNvSpPr/>
          <p:nvPr/>
        </p:nvSpPr>
        <p:spPr>
          <a:xfrm>
            <a:off x="9639300" y="1778000"/>
            <a:ext cx="330200" cy="4064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22" name="Buffer Outline"/>
          <p:cNvSpPr/>
          <p:nvPr/>
        </p:nvSpPr>
        <p:spPr>
          <a:xfrm>
            <a:off x="2857500" y="1778000"/>
            <a:ext cx="7112000" cy="4064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4 Regular"/>
              <a:ea typeface="페이퍼로지 4 Regular"/>
            </a:endParaRPr>
          </a:p>
        </p:txBody>
      </p:sp>
      <p:sp>
        <p:nvSpPr>
          <p:cNvPr id="323" name="Buffer Name"/>
          <p:cNvSpPr/>
          <p:nvPr/>
        </p:nvSpPr>
        <p:spPr>
          <a:xfrm>
            <a:off x="571500" y="1778000"/>
            <a:ext cx="1778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ctr"/>
            <a:r>
              <a:rPr lang="ko-KR" altLang="en-US" sz="1400" dirty="0" err="1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Particle</a:t>
            </a:r>
            <a:r>
              <a:rPr lang="en-US" altLang="ko-KR" sz="1400" dirty="0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s</a:t>
            </a:r>
            <a:r>
              <a:rPr lang="ko-KR" altLang="en-US" sz="1400" dirty="0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br>
              <a:rPr lang="en-US" altLang="ko-KR" sz="1400" dirty="0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</a:br>
            <a:r>
              <a:rPr lang="en-US" altLang="ko-KR" sz="1400" dirty="0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(</a:t>
            </a:r>
            <a:r>
              <a:rPr lang="en-US" altLang="ko-KR" sz="1400" dirty="0" err="1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StructuredBuffer</a:t>
            </a:r>
            <a:r>
              <a:rPr lang="en-US" altLang="ko-KR" sz="1400" dirty="0">
                <a:solidFill>
                  <a:srgbClr val="000000"/>
                </a:solidFill>
                <a:latin typeface="페이퍼로지 7 Bold" pitchFamily="2" charset="-127"/>
                <a:ea typeface="페이퍼로지 7 Bold" pitchFamily="2" charset="-127"/>
              </a:rPr>
              <a:t>)</a:t>
            </a:r>
            <a:endParaRPr lang="ko-KR" altLang="en-US" sz="1400" dirty="0">
              <a:solidFill>
                <a:srgbClr val="000000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cxnSp>
        <p:nvCxnSpPr>
          <p:cNvPr id="324" name="Buffer Arrow"/>
          <p:cNvCxnSpPr/>
          <p:nvPr/>
        </p:nvCxnSpPr>
        <p:spPr>
          <a:xfrm>
            <a:off x="2400300" y="1981200"/>
            <a:ext cx="381000" cy="0"/>
          </a:xfrm>
          <a:prstGeom prst="line">
            <a:avLst/>
          </a:prstGeom>
          <a:ln w="12700">
            <a:solidFill>
              <a:srgbClr val="000000"/>
            </a:solidFill>
            <a:tailEnd type="triangle"/>
          </a:ln>
        </p:spPr>
      </p:cxnSp>
      <p:sp>
        <p:nvSpPr>
          <p:cNvPr id="325" name="Total Count"/>
          <p:cNvSpPr/>
          <p:nvPr/>
        </p:nvSpPr>
        <p:spPr>
          <a:xfrm>
            <a:off x="10121900" y="1778000"/>
            <a:ext cx="1905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000000"/>
                </a:solidFill>
                <a:latin typeface="페이퍼로지 4 Regular"/>
                <a:ea typeface="페이퍼로지 4 Regular"/>
              </a:rPr>
              <a:t>Total Count : </a:t>
            </a:r>
            <a:r>
              <a:rPr lang="ko-KR" altLang="en-US" sz="14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1M</a:t>
            </a:r>
          </a:p>
        </p:txBody>
      </p:sp>
      <p:sp>
        <p:nvSpPr>
          <p:cNvPr id="326" name="Legend Alive Swatch"/>
          <p:cNvSpPr/>
          <p:nvPr/>
        </p:nvSpPr>
        <p:spPr>
          <a:xfrm>
            <a:off x="7112000" y="2374900"/>
            <a:ext cx="177800" cy="177800"/>
          </a:xfrm>
          <a:prstGeom prst="rect">
            <a:avLst/>
          </a:prstGeom>
          <a:solidFill>
            <a:srgbClr val="00B050"/>
          </a:solidFill>
          <a:ln w="6350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27" name="Legend Alive"/>
          <p:cNvSpPr/>
          <p:nvPr/>
        </p:nvSpPr>
        <p:spPr>
          <a:xfrm>
            <a:off x="7366000" y="23368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000000"/>
                </a:solidFill>
                <a:latin typeface="페이퍼로지 4 Regular"/>
                <a:ea typeface="페이퍼로지 4 Regular"/>
              </a:rPr>
              <a:t>Alive : </a:t>
            </a:r>
            <a:r>
              <a:rPr lang="ko-KR" altLang="en-US" sz="14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500K</a:t>
            </a:r>
          </a:p>
        </p:txBody>
      </p:sp>
      <p:sp>
        <p:nvSpPr>
          <p:cNvPr id="328" name="Legend Dead Swatch"/>
          <p:cNvSpPr/>
          <p:nvPr/>
        </p:nvSpPr>
        <p:spPr>
          <a:xfrm>
            <a:off x="8763000" y="2374900"/>
            <a:ext cx="177800" cy="177800"/>
          </a:xfrm>
          <a:prstGeom prst="rect">
            <a:avLst/>
          </a:prstGeom>
          <a:solidFill>
            <a:srgbClr val="C00000"/>
          </a:solidFill>
          <a:ln w="6350">
            <a:solidFill>
              <a:srgbClr val="000000"/>
            </a:solidFill>
          </a:ln>
        </p:spPr>
        <p:txBody>
          <a:bodyPr wrap="non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329" name="Legend Dead"/>
          <p:cNvSpPr/>
          <p:nvPr/>
        </p:nvSpPr>
        <p:spPr>
          <a:xfrm>
            <a:off x="9017000" y="2336800"/>
            <a:ext cx="1397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000000"/>
                </a:solidFill>
                <a:latin typeface="페이퍼로지 4 Regular"/>
                <a:ea typeface="페이퍼로지 4 Regular"/>
              </a:rPr>
              <a:t>Dead : </a:t>
            </a:r>
            <a:r>
              <a:rPr lang="ko-KR" altLang="en-US" sz="14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500K</a:t>
            </a:r>
          </a:p>
        </p:txBody>
      </p:sp>
      <p:sp>
        <p:nvSpPr>
          <p:cNvPr id="402" name="Zoom Highlight"/>
          <p:cNvSpPr/>
          <p:nvPr/>
        </p:nvSpPr>
        <p:spPr>
          <a:xfrm>
            <a:off x="3517900" y="1778000"/>
            <a:ext cx="330200" cy="406400"/>
          </a:xfrm>
          <a:prstGeom prst="rect">
            <a:avLst/>
          </a:prstGeom>
          <a:noFill/>
          <a:ln w="28575">
            <a:solidFill>
              <a:srgbClr val="262626"/>
            </a:solidFill>
          </a:ln>
        </p:spPr>
        <p:txBody>
          <a:bodyPr/>
          <a:lstStyle/>
          <a:p>
            <a:endParaRPr lang="ko-KR"/>
          </a:p>
        </p:txBody>
      </p:sp>
      <p:cxnSp>
        <p:nvCxnSpPr>
          <p:cNvPr id="403" name="Zoom Line L"/>
          <p:cNvCxnSpPr/>
          <p:nvPr/>
        </p:nvCxnSpPr>
        <p:spPr>
          <a:xfrm flipH="1">
            <a:off x="1524000" y="2184400"/>
            <a:ext cx="1993900" cy="990600"/>
          </a:xfrm>
          <a:prstGeom prst="line">
            <a:avLst/>
          </a:prstGeom>
          <a:ln w="9525">
            <a:solidFill>
              <a:srgbClr val="A6A6A6"/>
            </a:solidFill>
          </a:ln>
        </p:spPr>
      </p:cxnSp>
      <p:cxnSp>
        <p:nvCxnSpPr>
          <p:cNvPr id="404" name="Zoom Line R"/>
          <p:cNvCxnSpPr/>
          <p:nvPr/>
        </p:nvCxnSpPr>
        <p:spPr>
          <a:xfrm>
            <a:off x="3848100" y="2184400"/>
            <a:ext cx="2247900" cy="990600"/>
          </a:xfrm>
          <a:prstGeom prst="line">
            <a:avLst/>
          </a:prstGeom>
          <a:ln w="9525">
            <a:solidFill>
              <a:srgbClr val="A6A6A6"/>
            </a:solidFill>
          </a:ln>
        </p:spPr>
      </p:cxnSp>
      <p:sp>
        <p:nvSpPr>
          <p:cNvPr id="405" name="Struct Card"/>
          <p:cNvSpPr/>
          <p:nvPr/>
        </p:nvSpPr>
        <p:spPr>
          <a:xfrm>
            <a:off x="1524000" y="3175000"/>
            <a:ext cx="4572000" cy="26035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/>
          <a:lstStyle/>
          <a:p>
            <a:endParaRPr lang="ko-KR"/>
          </a:p>
        </p:txBody>
      </p:sp>
      <p:sp>
        <p:nvSpPr>
          <p:cNvPr id="406" name="Struct Header"/>
          <p:cNvSpPr txBox="1"/>
          <p:nvPr/>
        </p:nvSpPr>
        <p:spPr>
          <a:xfrm>
            <a:off x="1727200" y="3327400"/>
            <a:ext cx="4165600" cy="330200"/>
          </a:xfrm>
          <a:prstGeom prst="rect">
            <a:avLst/>
          </a:prstGeom>
          <a:noFill/>
        </p:spPr>
        <p:txBody>
          <a:bodyPr wrap="square" lIns="91440" tIns="0" rIns="91440" bIns="0" anchor="ctr">
            <a:noAutofit/>
          </a:bodyPr>
          <a:lstStyle/>
          <a:p>
            <a:pPr algn="l">
              <a:buNone/>
            </a:pP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Particle</a:t>
            </a:r>
          </a:p>
        </p:txBody>
      </p:sp>
      <p:cxnSp>
        <p:nvCxnSpPr>
          <p:cNvPr id="407" name="Struct Rule"/>
          <p:cNvCxnSpPr/>
          <p:nvPr/>
        </p:nvCxnSpPr>
        <p:spPr>
          <a:xfrm>
            <a:off x="1727200" y="3733800"/>
            <a:ext cx="4165600" cy="0"/>
          </a:xfrm>
          <a:prstGeom prst="line">
            <a:avLst/>
          </a:prstGeom>
          <a:ln w="9525">
            <a:solidFill>
              <a:srgbClr val="D9D9D9"/>
            </a:solidFill>
          </a:ln>
        </p:spPr>
      </p:cxnSp>
      <p:sp>
        <p:nvSpPr>
          <p:cNvPr id="408" name="Struct Fields"/>
          <p:cNvSpPr txBox="1"/>
          <p:nvPr/>
        </p:nvSpPr>
        <p:spPr>
          <a:xfrm>
            <a:off x="1727200" y="3860800"/>
            <a:ext cx="2540000" cy="1778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algn="l">
              <a:buNone/>
            </a:pP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Position</a:t>
            </a:r>
          </a:p>
          <a:p>
            <a:pPr algn="l">
              <a:spcBef>
                <a:spcPts val="60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Velocity</a:t>
            </a:r>
          </a:p>
          <a:p>
            <a:pPr algn="l">
              <a:spcBef>
                <a:spcPts val="60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Color</a:t>
            </a:r>
          </a:p>
          <a:p>
            <a:pPr algn="l">
              <a:spcBef>
                <a:spcPts val="600"/>
              </a:spcBef>
              <a:buNone/>
            </a:pP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Age</a:t>
            </a:r>
          </a:p>
          <a:p>
            <a:pPr algn="l">
              <a:spcBef>
                <a:spcPts val="600"/>
              </a:spcBef>
              <a:buNone/>
            </a:pPr>
            <a:r>
              <a:rPr lang="ko-KR" altLang="en-US" sz="16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Lifetime</a:t>
            </a:r>
            <a:endParaRPr lang="en-US" altLang="ko-KR" sz="16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  <a:p>
            <a:pPr algn="l">
              <a:spcBef>
                <a:spcPts val="600"/>
              </a:spcBef>
              <a:buNone/>
            </a:pP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flag</a:t>
            </a:r>
            <a:endParaRPr lang="ko-KR" altLang="en-US" sz="16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409" name="Struct Types"/>
          <p:cNvSpPr txBox="1"/>
          <p:nvPr/>
        </p:nvSpPr>
        <p:spPr>
          <a:xfrm>
            <a:off x="3810000" y="3860800"/>
            <a:ext cx="2082800" cy="1778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algn="r">
              <a:buNone/>
            </a:pPr>
            <a:r>
              <a:rPr lang="ko-KR" altLang="en-US" sz="16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float3</a:t>
            </a:r>
          </a:p>
          <a:p>
            <a:pPr algn="r">
              <a:spcBef>
                <a:spcPts val="600"/>
              </a:spcBef>
              <a:buNone/>
            </a:pPr>
            <a:r>
              <a:rPr lang="ko-KR" altLang="en-US" sz="16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float3</a:t>
            </a:r>
          </a:p>
          <a:p>
            <a:pPr algn="r">
              <a:spcBef>
                <a:spcPts val="600"/>
              </a:spcBef>
              <a:buNone/>
            </a:pPr>
            <a:r>
              <a:rPr lang="en-US" altLang="ko-KR" sz="1600" dirty="0" err="1">
                <a:solidFill>
                  <a:srgbClr val="7F7F7F"/>
                </a:solidFill>
                <a:latin typeface="페이퍼로지 4 Regular"/>
                <a:ea typeface="페이퍼로지 4 Regular"/>
              </a:rPr>
              <a:t>uint</a:t>
            </a:r>
            <a:endParaRPr lang="ko-KR" altLang="en-US" sz="1600" dirty="0">
              <a:solidFill>
                <a:srgbClr val="7F7F7F"/>
              </a:solidFill>
              <a:latin typeface="페이퍼로지 4 Regular"/>
              <a:ea typeface="페이퍼로지 4 Regular"/>
            </a:endParaRPr>
          </a:p>
          <a:p>
            <a:pPr algn="r">
              <a:spcBef>
                <a:spcPts val="600"/>
              </a:spcBef>
              <a:buNone/>
            </a:pPr>
            <a:r>
              <a:rPr lang="ko-KR" altLang="en-US" sz="16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float</a:t>
            </a:r>
          </a:p>
          <a:p>
            <a:pPr algn="r">
              <a:spcBef>
                <a:spcPts val="600"/>
              </a:spcBef>
              <a:buNone/>
            </a:pPr>
            <a:r>
              <a:rPr lang="en-US" altLang="ko-KR" sz="16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f</a:t>
            </a:r>
            <a:r>
              <a:rPr lang="ko-KR" altLang="en-US" sz="1600" dirty="0" err="1">
                <a:solidFill>
                  <a:srgbClr val="7F7F7F"/>
                </a:solidFill>
                <a:latin typeface="페이퍼로지 4 Regular"/>
                <a:ea typeface="페이퍼로지 4 Regular"/>
              </a:rPr>
              <a:t>loat</a:t>
            </a:r>
            <a:endParaRPr lang="en-US" altLang="ko-KR" sz="1600" dirty="0">
              <a:solidFill>
                <a:srgbClr val="7F7F7F"/>
              </a:solidFill>
              <a:latin typeface="페이퍼로지 4 Regular"/>
              <a:ea typeface="페이퍼로지 4 Regular"/>
            </a:endParaRPr>
          </a:p>
          <a:p>
            <a:pPr algn="r">
              <a:spcBef>
                <a:spcPts val="600"/>
              </a:spcBef>
              <a:buNone/>
            </a:pPr>
            <a:r>
              <a:rPr lang="en-US" altLang="ko-KR" sz="1600" dirty="0" err="1">
                <a:solidFill>
                  <a:srgbClr val="7F7F7F"/>
                </a:solidFill>
                <a:latin typeface="페이퍼로지 4 Regular"/>
                <a:ea typeface="페이퍼로지 4 Regular"/>
              </a:rPr>
              <a:t>uint</a:t>
            </a:r>
            <a:endParaRPr lang="ko-KR" altLang="en-US" sz="1600" dirty="0">
              <a:solidFill>
                <a:srgbClr val="7F7F7F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410" name="Buffer Notes"/>
          <p:cNvSpPr txBox="1"/>
          <p:nvPr/>
        </p:nvSpPr>
        <p:spPr>
          <a:xfrm>
            <a:off x="6858000" y="3810000"/>
            <a:ext cx="4826000" cy="2413000"/>
          </a:xfrm>
          <a:prstGeom prst="rect">
            <a:avLst/>
          </a:prstGeom>
          <a:noFill/>
        </p:spPr>
        <p:txBody>
          <a:bodyPr wrap="square" lIns="91440" tIns="0" rIns="91440" bIns="0" anchor="t">
            <a:noAutofit/>
          </a:bodyPr>
          <a:lstStyle/>
          <a:p>
            <a:pPr marL="285750" indent="-285750" algn="l">
              <a:buFont typeface="Arial"/>
              <a:buChar char="•"/>
            </a:pP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버퍼 원소 1개 = </a:t>
            </a: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파티클 1개</a:t>
            </a: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의 데이터</a:t>
            </a:r>
          </a:p>
          <a:p>
            <a:pPr marL="285750" indent="-285750" algn="l">
              <a:spcBef>
                <a:spcPts val="1400"/>
              </a:spcBef>
              <a:buFont typeface="Arial"/>
              <a:buChar char="•"/>
            </a:pP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Alive와 Dead 파티클이 </a:t>
            </a: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섞여서</a:t>
            </a: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저장됨</a:t>
            </a:r>
          </a:p>
          <a:p>
            <a:pPr marL="285750" indent="-285750" algn="l">
              <a:spcBef>
                <a:spcPts val="1400"/>
              </a:spcBef>
              <a:buFont typeface="Arial"/>
              <a:buChar char="•"/>
            </a:pP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버퍼 크기는 최대 파티클 수(</a:t>
            </a: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1M</a:t>
            </a: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)로 고정</a:t>
            </a:r>
          </a:p>
        </p:txBody>
      </p:sp>
    </p:spTree>
    <p:extLst>
      <p:ext uri="{BB962C8B-B14F-4D97-AF65-F5344CB8AC3E}">
        <p14:creationId xmlns:p14="http://schemas.microsoft.com/office/powerpoint/2010/main" val="2124823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0B1D0FA5-326E-B1AA-ADFA-0DDC74A90D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GPU 파티클 실행 흐름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AC87E97-4DB8-8B52-555B-024806F2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t>5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101" name="Stage Emit Card"/>
          <p:cNvSpPr/>
          <p:nvPr/>
        </p:nvSpPr>
        <p:spPr>
          <a:xfrm>
            <a:off x="762000" y="2590800"/>
            <a:ext cx="2286000" cy="15239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102" name="Stage Emit Title"/>
          <p:cNvSpPr/>
          <p:nvPr/>
        </p:nvSpPr>
        <p:spPr>
          <a:xfrm>
            <a:off x="762000" y="2717800"/>
            <a:ext cx="228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Emit</a:t>
            </a:r>
          </a:p>
        </p:txBody>
      </p:sp>
      <p:sp>
        <p:nvSpPr>
          <p:cNvPr id="103" name="Stage Emit Desc"/>
          <p:cNvSpPr/>
          <p:nvPr/>
        </p:nvSpPr>
        <p:spPr>
          <a:xfrm>
            <a:off x="762000" y="31242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새 파티클 생성</a:t>
            </a:r>
          </a:p>
        </p:txBody>
      </p:sp>
      <p:sp>
        <p:nvSpPr>
          <p:cNvPr id="112" name="Stage Emit Call"/>
          <p:cNvSpPr/>
          <p:nvPr/>
        </p:nvSpPr>
        <p:spPr>
          <a:xfrm>
            <a:off x="939800" y="3568700"/>
            <a:ext cx="1930400" cy="381000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Dispatch(1M)</a:t>
            </a:r>
          </a:p>
        </p:txBody>
      </p:sp>
      <p:cxnSp>
        <p:nvCxnSpPr>
          <p:cNvPr id="113" name="Flow Arrow 1"/>
          <p:cNvCxnSpPr/>
          <p:nvPr/>
        </p:nvCxnSpPr>
        <p:spPr>
          <a:xfrm>
            <a:off x="3124200" y="3479800"/>
            <a:ext cx="3556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</p:cxnSp>
      <p:sp>
        <p:nvSpPr>
          <p:cNvPr id="114" name="Stage Simulate Card"/>
          <p:cNvSpPr/>
          <p:nvPr/>
        </p:nvSpPr>
        <p:spPr>
          <a:xfrm>
            <a:off x="3556000" y="2590800"/>
            <a:ext cx="2286000" cy="15239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115" name="Stage Simulate Title"/>
          <p:cNvSpPr/>
          <p:nvPr/>
        </p:nvSpPr>
        <p:spPr>
          <a:xfrm>
            <a:off x="3556000" y="2717800"/>
            <a:ext cx="228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Simulate</a:t>
            </a:r>
          </a:p>
        </p:txBody>
      </p:sp>
      <p:sp>
        <p:nvSpPr>
          <p:cNvPr id="116" name="Stage Simulate Desc"/>
          <p:cNvSpPr/>
          <p:nvPr/>
        </p:nvSpPr>
        <p:spPr>
          <a:xfrm>
            <a:off x="3556000" y="31242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위치·속도·수명 갱신</a:t>
            </a:r>
          </a:p>
        </p:txBody>
      </p:sp>
      <p:sp>
        <p:nvSpPr>
          <p:cNvPr id="125" name="Stage Simulate Call"/>
          <p:cNvSpPr/>
          <p:nvPr/>
        </p:nvSpPr>
        <p:spPr>
          <a:xfrm>
            <a:off x="3733800" y="3568700"/>
            <a:ext cx="1930400" cy="381000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Dispatch(1M)</a:t>
            </a:r>
          </a:p>
        </p:txBody>
      </p:sp>
      <p:cxnSp>
        <p:nvCxnSpPr>
          <p:cNvPr id="126" name="Flow Arrow 2"/>
          <p:cNvCxnSpPr/>
          <p:nvPr/>
        </p:nvCxnSpPr>
        <p:spPr>
          <a:xfrm>
            <a:off x="5918200" y="3479800"/>
            <a:ext cx="3556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</p:cxnSp>
      <p:sp>
        <p:nvSpPr>
          <p:cNvPr id="127" name="Stage Dead Card"/>
          <p:cNvSpPr/>
          <p:nvPr/>
        </p:nvSpPr>
        <p:spPr>
          <a:xfrm>
            <a:off x="6350000" y="2590800"/>
            <a:ext cx="2286000" cy="15239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128" name="Stage Dead Title"/>
          <p:cNvSpPr/>
          <p:nvPr/>
        </p:nvSpPr>
        <p:spPr>
          <a:xfrm>
            <a:off x="6350000" y="2717800"/>
            <a:ext cx="228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Dead</a:t>
            </a:r>
          </a:p>
        </p:txBody>
      </p:sp>
      <p:sp>
        <p:nvSpPr>
          <p:cNvPr id="129" name="Stage Dead Desc"/>
          <p:cNvSpPr/>
          <p:nvPr/>
        </p:nvSpPr>
        <p:spPr>
          <a:xfrm>
            <a:off x="6350000" y="31242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수명 끝난 파티클 회수</a:t>
            </a:r>
          </a:p>
        </p:txBody>
      </p:sp>
      <p:sp>
        <p:nvSpPr>
          <p:cNvPr id="138" name="Stage Dead Call"/>
          <p:cNvSpPr/>
          <p:nvPr/>
        </p:nvSpPr>
        <p:spPr>
          <a:xfrm>
            <a:off x="6527800" y="3568700"/>
            <a:ext cx="1930400" cy="381000"/>
          </a:xfrm>
          <a:prstGeom prst="roundRect">
            <a:avLst>
              <a:gd name="adj" fmla="val 12000"/>
            </a:avLst>
          </a:prstGeom>
          <a:solidFill>
            <a:srgbClr val="C55A11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Dispatch(1M)</a:t>
            </a:r>
          </a:p>
        </p:txBody>
      </p:sp>
      <p:cxnSp>
        <p:nvCxnSpPr>
          <p:cNvPr id="139" name="Flow Arrow 3"/>
          <p:cNvCxnSpPr/>
          <p:nvPr/>
        </p:nvCxnSpPr>
        <p:spPr>
          <a:xfrm>
            <a:off x="8712200" y="3479800"/>
            <a:ext cx="355600" cy="0"/>
          </a:xfrm>
          <a:prstGeom prst="line">
            <a:avLst/>
          </a:prstGeom>
          <a:ln w="19050">
            <a:solidFill>
              <a:srgbClr val="000000"/>
            </a:solidFill>
            <a:tailEnd type="triangle"/>
          </a:ln>
        </p:spPr>
      </p:cxnSp>
      <p:sp>
        <p:nvSpPr>
          <p:cNvPr id="140" name="Stage Render Card"/>
          <p:cNvSpPr/>
          <p:nvPr/>
        </p:nvSpPr>
        <p:spPr>
          <a:xfrm>
            <a:off x="9144000" y="2590800"/>
            <a:ext cx="2286000" cy="152399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endParaRPr lang="ko-KR" dirty="0">
              <a:latin typeface="페이퍼로지 7 Bold"/>
              <a:ea typeface="페이퍼로지 7 Bold"/>
            </a:endParaRPr>
          </a:p>
        </p:txBody>
      </p:sp>
      <p:sp>
        <p:nvSpPr>
          <p:cNvPr id="141" name="Stage Render Title"/>
          <p:cNvSpPr/>
          <p:nvPr/>
        </p:nvSpPr>
        <p:spPr>
          <a:xfrm>
            <a:off x="9144000" y="2717800"/>
            <a:ext cx="22860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000000"/>
                </a:solidFill>
                <a:latin typeface="페이퍼로지 7 Bold"/>
                <a:ea typeface="페이퍼로지 7 Bold"/>
              </a:rPr>
              <a:t>Render</a:t>
            </a:r>
          </a:p>
        </p:txBody>
      </p:sp>
      <p:sp>
        <p:nvSpPr>
          <p:cNvPr id="142" name="Stage Render Desc"/>
          <p:cNvSpPr/>
          <p:nvPr/>
        </p:nvSpPr>
        <p:spPr>
          <a:xfrm>
            <a:off x="9144000" y="3124200"/>
            <a:ext cx="2286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살아있는 파티클 그리기</a:t>
            </a:r>
          </a:p>
        </p:txBody>
      </p:sp>
      <p:sp>
        <p:nvSpPr>
          <p:cNvPr id="151" name="Stage Render Call"/>
          <p:cNvSpPr/>
          <p:nvPr/>
        </p:nvSpPr>
        <p:spPr>
          <a:xfrm>
            <a:off x="9321800" y="3568700"/>
            <a:ext cx="1930400" cy="381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DrawInstanced(1M)</a:t>
            </a:r>
          </a:p>
        </p:txBody>
      </p:sp>
      <p:cxnSp>
        <p:nvCxnSpPr>
          <p:cNvPr id="152" name="Bracket Base"/>
          <p:cNvCxnSpPr/>
          <p:nvPr/>
        </p:nvCxnSpPr>
        <p:spPr>
          <a:xfrm>
            <a:off x="762000" y="4394200"/>
            <a:ext cx="10668000" cy="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cxnSp>
        <p:nvCxnSpPr>
          <p:cNvPr id="153" name="Bracket Left"/>
          <p:cNvCxnSpPr/>
          <p:nvPr/>
        </p:nvCxnSpPr>
        <p:spPr>
          <a:xfrm>
            <a:off x="762000" y="4292600"/>
            <a:ext cx="0" cy="10160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cxnSp>
        <p:nvCxnSpPr>
          <p:cNvPr id="154" name="Bracket Right"/>
          <p:cNvCxnSpPr/>
          <p:nvPr/>
        </p:nvCxnSpPr>
        <p:spPr>
          <a:xfrm>
            <a:off x="11430000" y="4292600"/>
            <a:ext cx="0" cy="101600"/>
          </a:xfrm>
          <a:prstGeom prst="line">
            <a:avLst/>
          </a:prstGeom>
          <a:ln w="12700">
            <a:solidFill>
              <a:srgbClr val="7F7F7F"/>
            </a:solidFill>
          </a:ln>
        </p:spPr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9ED52FC-4C21-8129-AEF9-2DAF3032EC33}"/>
              </a:ext>
            </a:extLst>
          </p:cNvPr>
          <p:cNvSpPr txBox="1"/>
          <p:nvPr/>
        </p:nvSpPr>
        <p:spPr>
          <a:xfrm>
            <a:off x="2995023" y="4545568"/>
            <a:ext cx="6201954" cy="369332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en-US" altLang="ko-KR" dirty="0">
                <a:latin typeface="페이퍼로지 4 Regular"/>
                <a:ea typeface="페이퍼로지 4 Regular"/>
              </a:rPr>
              <a:t>4</a:t>
            </a:r>
            <a:r>
              <a:rPr lang="ko-KR" altLang="en-US" dirty="0">
                <a:latin typeface="페이퍼로지 4 Regular"/>
                <a:ea typeface="페이퍼로지 4 Regular"/>
              </a:rPr>
              <a:t>단계 모두 </a:t>
            </a:r>
            <a:r>
              <a:rPr lang="ko-KR" altLang="en-US" dirty="0" err="1">
                <a:solidFill>
                  <a:srgbClr val="C55A11"/>
                </a:solidFill>
                <a:latin typeface="페이퍼로지 7 Bold"/>
                <a:ea typeface="페이퍼로지 7 Bold"/>
              </a:rPr>
              <a:t>파티클</a:t>
            </a:r>
            <a:r>
              <a:rPr lang="ko-KR" altLang="en-US" dirty="0">
                <a:solidFill>
                  <a:srgbClr val="C55A11"/>
                </a:solidFill>
                <a:latin typeface="페이퍼로지 7 Bold"/>
                <a:ea typeface="페이퍼로지 7 Bold"/>
              </a:rPr>
              <a:t> 개수</a:t>
            </a:r>
            <a:r>
              <a:rPr lang="en-US" altLang="ko-KR" dirty="0">
                <a:solidFill>
                  <a:srgbClr val="C55A11"/>
                </a:solidFill>
                <a:latin typeface="페이퍼로지 7 Bold"/>
                <a:ea typeface="페이퍼로지 7 Bold"/>
              </a:rPr>
              <a:t>(Total Count = 1M)</a:t>
            </a:r>
            <a:r>
              <a:rPr lang="ko-KR" altLang="en-US" dirty="0">
                <a:latin typeface="페이퍼로지 4 Regular"/>
                <a:ea typeface="페이퍼로지 4 Regular"/>
              </a:rPr>
              <a:t>만큼 스레드를 실행</a:t>
            </a:r>
          </a:p>
        </p:txBody>
      </p:sp>
    </p:spTree>
    <p:extLst>
      <p:ext uri="{BB962C8B-B14F-4D97-AF65-F5344CB8AC3E}">
        <p14:creationId xmlns:p14="http://schemas.microsoft.com/office/powerpoint/2010/main" val="1557581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37F2F9DB-006F-B456-B7A8-31CBC18EA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매 프레임 버퍼 접근 비용</a:t>
            </a: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0AC87E97-4DB8-8B52-555B-024806F2B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t>6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sp>
        <p:nvSpPr>
          <p:cNvPr id="410" name="Cost Emit"/>
          <p:cNvSpPr/>
          <p:nvPr/>
        </p:nvSpPr>
        <p:spPr>
          <a:xfrm>
            <a:off x="762000" y="1587500"/>
            <a:ext cx="1905000" cy="635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Emit  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1M</a:t>
            </a:r>
          </a:p>
        </p:txBody>
      </p:sp>
      <p:sp>
        <p:nvSpPr>
          <p:cNvPr id="411" name="Plus 1"/>
          <p:cNvSpPr txBox="1"/>
          <p:nvPr/>
        </p:nvSpPr>
        <p:spPr>
          <a:xfrm>
            <a:off x="2667000" y="1587500"/>
            <a:ext cx="25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+</a:t>
            </a:r>
          </a:p>
        </p:txBody>
      </p:sp>
      <p:sp>
        <p:nvSpPr>
          <p:cNvPr id="412" name="Cost Simulate"/>
          <p:cNvSpPr/>
          <p:nvPr/>
        </p:nvSpPr>
        <p:spPr>
          <a:xfrm>
            <a:off x="2921000" y="1587500"/>
            <a:ext cx="1905000" cy="635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Simulate  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1M</a:t>
            </a:r>
          </a:p>
        </p:txBody>
      </p:sp>
      <p:sp>
        <p:nvSpPr>
          <p:cNvPr id="413" name="Plus 2"/>
          <p:cNvSpPr txBox="1"/>
          <p:nvPr/>
        </p:nvSpPr>
        <p:spPr>
          <a:xfrm>
            <a:off x="4826000" y="1587500"/>
            <a:ext cx="25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+</a:t>
            </a:r>
          </a:p>
        </p:txBody>
      </p:sp>
      <p:sp>
        <p:nvSpPr>
          <p:cNvPr id="414" name="Cost Dead"/>
          <p:cNvSpPr/>
          <p:nvPr/>
        </p:nvSpPr>
        <p:spPr>
          <a:xfrm>
            <a:off x="5080000" y="1587500"/>
            <a:ext cx="1905000" cy="635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  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1M</a:t>
            </a:r>
          </a:p>
        </p:txBody>
      </p:sp>
      <p:sp>
        <p:nvSpPr>
          <p:cNvPr id="415" name="Plus 3"/>
          <p:cNvSpPr txBox="1"/>
          <p:nvPr/>
        </p:nvSpPr>
        <p:spPr>
          <a:xfrm>
            <a:off x="6985000" y="1587500"/>
            <a:ext cx="254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+</a:t>
            </a:r>
          </a:p>
        </p:txBody>
      </p:sp>
      <p:sp>
        <p:nvSpPr>
          <p:cNvPr id="416" name="Cost Render"/>
          <p:cNvSpPr/>
          <p:nvPr/>
        </p:nvSpPr>
        <p:spPr>
          <a:xfrm>
            <a:off x="7239000" y="1587500"/>
            <a:ext cx="1905000" cy="635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Render  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1M</a:t>
            </a:r>
          </a:p>
        </p:txBody>
      </p:sp>
      <p:sp>
        <p:nvSpPr>
          <p:cNvPr id="417" name="Equals"/>
          <p:cNvSpPr txBox="1"/>
          <p:nvPr/>
        </p:nvSpPr>
        <p:spPr>
          <a:xfrm>
            <a:off x="9207500" y="1587500"/>
            <a:ext cx="444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2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=</a:t>
            </a:r>
          </a:p>
        </p:txBody>
      </p:sp>
      <p:sp>
        <p:nvSpPr>
          <p:cNvPr id="418" name="Total Access"/>
          <p:cNvSpPr txBox="1"/>
          <p:nvPr/>
        </p:nvSpPr>
        <p:spPr>
          <a:xfrm>
            <a:off x="9652000" y="1422400"/>
            <a:ext cx="2540000" cy="9652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l">
              <a:buNone/>
            </a:pPr>
            <a:r>
              <a:rPr lang="ko-KR" altLang="en-US" sz="4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4M</a:t>
            </a:r>
            <a:r>
              <a:rPr lang="ko-KR" altLang="en-US" sz="18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/ 프레임</a:t>
            </a:r>
          </a:p>
        </p:txBody>
      </p:sp>
      <p:sp>
        <p:nvSpPr>
          <p:cNvPr id="419" name="Waste Note"/>
          <p:cNvSpPr txBox="1"/>
          <p:nvPr/>
        </p:nvSpPr>
        <p:spPr>
          <a:xfrm>
            <a:off x="762000" y="26035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88900" tIns="0" rIns="8890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Alive 파티클은 500K인데, </a:t>
            </a:r>
            <a:r>
              <a:rPr lang="ko-KR" altLang="en-US" sz="1800" dirty="0" err="1">
                <a:solidFill>
                  <a:srgbClr val="C55A11"/>
                </a:solidFill>
                <a:latin typeface="페이퍼로지 7 Bold"/>
                <a:ea typeface="페이퍼로지 7 Bold"/>
              </a:rPr>
              <a:t>Dead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 </a:t>
            </a:r>
            <a:r>
              <a:rPr lang="ko-KR" altLang="en-US" sz="1800" dirty="0" err="1">
                <a:solidFill>
                  <a:srgbClr val="C55A11"/>
                </a:solidFill>
                <a:latin typeface="페이퍼로지 7 Bold"/>
                <a:ea typeface="페이퍼로지 7 Bold"/>
              </a:rPr>
              <a:t>파티클</a:t>
            </a:r>
            <a:r>
              <a:rPr lang="ko-KR" altLang="en-US" sz="1800" dirty="0" err="1">
                <a:solidFill>
                  <a:srgbClr val="595959"/>
                </a:solidFill>
                <a:latin typeface="페이퍼로지 4 Regular"/>
                <a:ea typeface="페이퍼로지 4 Regular"/>
              </a:rPr>
              <a:t>까지</a:t>
            </a:r>
            <a:r>
              <a:rPr lang="ko-KR" altLang="en-US" sz="18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매 프레임 읽고 쓴다</a:t>
            </a:r>
          </a:p>
        </p:txBody>
      </p:sp>
      <p:sp>
        <p:nvSpPr>
          <p:cNvPr id="420" name="Card 1"/>
          <p:cNvSpPr/>
          <p:nvPr/>
        </p:nvSpPr>
        <p:spPr>
          <a:xfrm>
            <a:off x="762000" y="368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endParaRPr lang="ko-KR"/>
          </a:p>
        </p:txBody>
      </p:sp>
      <p:sp>
        <p:nvSpPr>
          <p:cNvPr id="421" name="Card 1 Badge"/>
          <p:cNvSpPr/>
          <p:nvPr/>
        </p:nvSpPr>
        <p:spPr>
          <a:xfrm>
            <a:off x="1066800" y="3987800"/>
            <a:ext cx="457200" cy="457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422" name="Card 1 Head"/>
          <p:cNvSpPr txBox="1"/>
          <p:nvPr/>
        </p:nvSpPr>
        <p:spPr>
          <a:xfrm>
            <a:off x="1676400" y="3962400"/>
            <a:ext cx="4064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l">
              <a:buNone/>
            </a:pPr>
            <a:r>
              <a:rPr lang="ko-KR" altLang="en-US" sz="22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버퍼 접근 방식 개선</a:t>
            </a:r>
          </a:p>
        </p:txBody>
      </p:sp>
      <p:sp>
        <p:nvSpPr>
          <p:cNvPr id="423" name="Card 1 Desc"/>
          <p:cNvSpPr txBox="1"/>
          <p:nvPr/>
        </p:nvSpPr>
        <p:spPr>
          <a:xfrm>
            <a:off x="1066800" y="4699000"/>
            <a:ext cx="4597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단계마다 1M 버퍼 전체를 읽고 쓰지 않도록</a:t>
            </a:r>
            <a:br>
              <a:rPr lang="ko-KR" sz="1800" dirty="0"/>
            </a:b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접근 방식</a:t>
            </a:r>
            <a:r>
              <a:rPr lang="ko-KR" altLang="en-US" sz="18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을 바꾼다</a:t>
            </a:r>
          </a:p>
        </p:txBody>
      </p:sp>
      <p:sp>
        <p:nvSpPr>
          <p:cNvPr id="424" name="Card 2"/>
          <p:cNvSpPr/>
          <p:nvPr/>
        </p:nvSpPr>
        <p:spPr>
          <a:xfrm>
            <a:off x="6223000" y="3683000"/>
            <a:ext cx="5207000" cy="190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txBody>
          <a:bodyPr wrap="square" lIns="88900" tIns="0" rIns="88900" bIns="0" anchor="ctr">
            <a:noAutofit/>
          </a:bodyPr>
          <a:lstStyle/>
          <a:p>
            <a:endParaRPr lang="ko-KR"/>
          </a:p>
        </p:txBody>
      </p:sp>
      <p:sp>
        <p:nvSpPr>
          <p:cNvPr id="425" name="Card 2 Badge"/>
          <p:cNvSpPr/>
          <p:nvPr/>
        </p:nvSpPr>
        <p:spPr>
          <a:xfrm>
            <a:off x="6527800" y="3987800"/>
            <a:ext cx="457200" cy="457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18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426" name="Card 2 Head"/>
          <p:cNvSpPr txBox="1"/>
          <p:nvPr/>
        </p:nvSpPr>
        <p:spPr>
          <a:xfrm>
            <a:off x="7137400" y="3962400"/>
            <a:ext cx="4064000" cy="508000"/>
          </a:xfrm>
          <a:prstGeom prst="rect">
            <a:avLst/>
          </a:prstGeom>
          <a:noFill/>
          <a:ln>
            <a:noFill/>
          </a:ln>
        </p:spPr>
        <p:txBody>
          <a:bodyPr wrap="square" lIns="50800" tIns="0" rIns="50800" bIns="0" anchor="ctr">
            <a:noAutofit/>
          </a:bodyPr>
          <a:lstStyle/>
          <a:p>
            <a:pPr algn="l">
              <a:buNone/>
            </a:pPr>
            <a:r>
              <a:rPr lang="ko-KR" altLang="en-US" sz="22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버퍼 접근 개수 축소</a:t>
            </a:r>
          </a:p>
        </p:txBody>
      </p:sp>
      <p:sp>
        <p:nvSpPr>
          <p:cNvPr id="427" name="Card 2 Desc"/>
          <p:cNvSpPr txBox="1"/>
          <p:nvPr/>
        </p:nvSpPr>
        <p:spPr>
          <a:xfrm>
            <a:off x="6527800" y="4699000"/>
            <a:ext cx="4597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buNone/>
            </a:pPr>
            <a:r>
              <a:rPr lang="ko-KR" altLang="en-US" sz="18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1M 전체 대신 </a:t>
            </a: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 파티클만</a:t>
            </a:r>
            <a:r>
              <a:rPr lang="ko-KR" altLang="en-US" sz="18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 처리해</a:t>
            </a:r>
            <a:br>
              <a:rPr lang="ko-KR" sz="1800"/>
            </a:br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접근 개수</a:t>
            </a:r>
            <a:r>
              <a:rPr lang="ko-KR" altLang="en-US" sz="1800" dirty="0">
                <a:solidFill>
                  <a:srgbClr val="404040"/>
                </a:solidFill>
                <a:latin typeface="페이퍼로지 4 Regular"/>
                <a:ea typeface="페이퍼로지 4 Regular"/>
              </a:rPr>
              <a:t>를 줄인다</a:t>
            </a:r>
          </a:p>
        </p:txBody>
      </p:sp>
    </p:spTree>
    <p:extLst>
      <p:ext uri="{BB962C8B-B14F-4D97-AF65-F5344CB8AC3E}">
        <p14:creationId xmlns:p14="http://schemas.microsoft.com/office/powerpoint/2010/main" val="30652368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73A766A-3D9C-31B3-E696-A95F359D3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사용 버퍼 구성 </a:t>
            </a:r>
            <a:r>
              <a:rPr lang="en-US" altLang="ko-KR" dirty="0"/>
              <a:t>(</a:t>
            </a:r>
            <a:r>
              <a:rPr lang="en-US" altLang="ko-KR" dirty="0" err="1"/>
              <a:t>SlotReuse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9E3A9D0-1C48-467A-8898-50E0E7AB47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>
                <a:latin typeface="페이퍼로지 4 Regular"/>
                <a:ea typeface="페이퍼로지 4 Regular"/>
              </a:rPr>
              <a:pPr/>
              <a:t>7</a:t>
            </a:fld>
            <a:endParaRPr lang="ko-KR" altLang="en-US">
              <a:latin typeface="페이퍼로지 4 Regular"/>
              <a:ea typeface="페이퍼로지 4 Regular"/>
            </a:endParaRPr>
          </a:p>
        </p:txBody>
      </p:sp>
      <p:graphicFrame>
        <p:nvGraphicFramePr>
          <p:cNvPr id="501" name="Buffer Table"/>
          <p:cNvGraphicFramePr>
            <a:graphicFrameLocks noGrp="1"/>
          </p:cNvGraphicFramePr>
          <p:nvPr/>
        </p:nvGraphicFramePr>
        <p:xfrm>
          <a:off x="762000" y="1841500"/>
          <a:ext cx="10668000" cy="3705860"/>
        </p:xfrm>
        <a:graphic>
          <a:graphicData uri="http://schemas.openxmlformats.org/drawingml/2006/table">
            <a:tbl>
              <a:tblPr firstRow="1"/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1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버퍼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담는 값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원소 타입 / 버퍼 타입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원소 수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70000"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Particles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파티클 1개의 데이터 (3페이지 구조체)</a:t>
                      </a:r>
                    </a:p>
                  </a:txBody>
                  <a:tcPr marL="127000" marR="127000" marT="152400" marB="114300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Particle 구조체</a:t>
                      </a:r>
                    </a:p>
                    <a:p>
                      <a:pPr algn="l">
                        <a:spcBef>
                          <a:spcPts val="300"/>
                        </a:spcBef>
                      </a:pP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StructuredBuffer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maxParticles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12800"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Counter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AliveCount, DeadCount, </a:t>
                      </a:r>
                      <a:r>
                        <a:rPr lang="en-US" altLang="ko-KR" sz="1600" dirty="0" err="1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EmitCount</a:t>
                      </a:r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, </a:t>
                      </a:r>
                      <a:b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</a:br>
                      <a:r>
                        <a:rPr lang="en-US" altLang="ko-KR" sz="1600" dirty="0" err="1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AliveAfterSimulation</a:t>
                      </a:r>
                      <a:r>
                        <a:rPr lang="en-US" altLang="ko-KR" sz="16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 (</a:t>
                      </a:r>
                      <a:r>
                        <a:rPr lang="en-US" altLang="ko-KR" sz="1600" dirty="0" err="1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현재</a:t>
                      </a:r>
                      <a:r>
                        <a:rPr lang="en-US" altLang="ko-KR" sz="16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 </a:t>
                      </a:r>
                      <a:r>
                        <a:rPr lang="en-US" altLang="ko-KR" sz="1600" dirty="0" err="1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미사용</a:t>
                      </a:r>
                      <a:r>
                        <a:rPr lang="en-US" altLang="ko-KR" sz="16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)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>
                        <a:spcBef>
                          <a:spcPts val="300"/>
                        </a:spcBef>
                      </a:pP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ByteAddressBuffer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4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143000"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DeadList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Dead 파티클의 </a:t>
                      </a:r>
                      <a:r>
                        <a:rPr lang="en-US" altLang="ko-KR" sz="1600" dirty="0">
                          <a:solidFill>
                            <a:srgbClr val="C55A11"/>
                          </a:solidFill>
                          <a:latin typeface="페이퍼로지 7 Bold"/>
                          <a:ea typeface="페이퍼로지 7 Bold"/>
                        </a:rPr>
                        <a:t>Particles 인덱스</a:t>
                      </a:r>
                    </a:p>
                  </a:txBody>
                  <a:tcPr marL="127000" marR="127000" marT="152400" marB="11430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>
                        <a:spcBef>
                          <a:spcPts val="300"/>
                        </a:spcBef>
                      </a:pP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StructuredBuffer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altLang="ko-KR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maxParticles</a:t>
                      </a:r>
                    </a:p>
                  </a:txBody>
                  <a:tcPr marL="127000" marR="127000" marT="1524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11" name="Particles Cell 0"/>
          <p:cNvSpPr/>
          <p:nvPr/>
        </p:nvSpPr>
        <p:spPr>
          <a:xfrm>
            <a:off x="24130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2" name="Particles Cell 1"/>
          <p:cNvSpPr/>
          <p:nvPr/>
        </p:nvSpPr>
        <p:spPr>
          <a:xfrm>
            <a:off x="2768600" y="28575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3" name="Particles Cell 2"/>
          <p:cNvSpPr/>
          <p:nvPr/>
        </p:nvSpPr>
        <p:spPr>
          <a:xfrm>
            <a:off x="31242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4" name="Particles Cell 3"/>
          <p:cNvSpPr/>
          <p:nvPr/>
        </p:nvSpPr>
        <p:spPr>
          <a:xfrm>
            <a:off x="34798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5" name="Particles Cell 4"/>
          <p:cNvSpPr/>
          <p:nvPr/>
        </p:nvSpPr>
        <p:spPr>
          <a:xfrm>
            <a:off x="3835400" y="28575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6" name="Particles Cell 5"/>
          <p:cNvSpPr/>
          <p:nvPr/>
        </p:nvSpPr>
        <p:spPr>
          <a:xfrm>
            <a:off x="41910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7" name="Particles Cell 6"/>
          <p:cNvSpPr/>
          <p:nvPr/>
        </p:nvSpPr>
        <p:spPr>
          <a:xfrm>
            <a:off x="4546600" y="28575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8" name="Particles Cell 7"/>
          <p:cNvSpPr/>
          <p:nvPr/>
        </p:nvSpPr>
        <p:spPr>
          <a:xfrm>
            <a:off x="4902200" y="28575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19" name="Particles Ellipsis"/>
          <p:cNvSpPr/>
          <p:nvPr/>
        </p:nvSpPr>
        <p:spPr>
          <a:xfrm>
            <a:off x="5257800" y="2857500"/>
            <a:ext cx="457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520" name="Particles Cell End 0"/>
          <p:cNvSpPr/>
          <p:nvPr/>
        </p:nvSpPr>
        <p:spPr>
          <a:xfrm>
            <a:off x="5715000" y="28575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21" name="Particles Cell End 1"/>
          <p:cNvSpPr/>
          <p:nvPr/>
        </p:nvSpPr>
        <p:spPr>
          <a:xfrm>
            <a:off x="60706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22" name="Particles Cell End 2"/>
          <p:cNvSpPr/>
          <p:nvPr/>
        </p:nvSpPr>
        <p:spPr>
          <a:xfrm>
            <a:off x="6426200" y="28575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23" name="Particles Outline"/>
          <p:cNvSpPr/>
          <p:nvPr/>
        </p:nvSpPr>
        <p:spPr>
          <a:xfrm>
            <a:off x="2413000" y="2857500"/>
            <a:ext cx="43688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24" name="Particles Index 0"/>
          <p:cNvSpPr/>
          <p:nvPr/>
        </p:nvSpPr>
        <p:spPr>
          <a:xfrm>
            <a:off x="24130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525" name="Particles Index 1"/>
          <p:cNvSpPr/>
          <p:nvPr/>
        </p:nvSpPr>
        <p:spPr>
          <a:xfrm>
            <a:off x="27686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526" name="Particles Index 2"/>
          <p:cNvSpPr/>
          <p:nvPr/>
        </p:nvSpPr>
        <p:spPr>
          <a:xfrm>
            <a:off x="31242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527" name="Particles Index 3"/>
          <p:cNvSpPr/>
          <p:nvPr/>
        </p:nvSpPr>
        <p:spPr>
          <a:xfrm>
            <a:off x="34798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528" name="Particles Index 4"/>
          <p:cNvSpPr/>
          <p:nvPr/>
        </p:nvSpPr>
        <p:spPr>
          <a:xfrm>
            <a:off x="38354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529" name="Particles Index 5"/>
          <p:cNvSpPr/>
          <p:nvPr/>
        </p:nvSpPr>
        <p:spPr>
          <a:xfrm>
            <a:off x="41910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530" name="Particles Index 6"/>
          <p:cNvSpPr/>
          <p:nvPr/>
        </p:nvSpPr>
        <p:spPr>
          <a:xfrm>
            <a:off x="45466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531" name="Particles Index 7"/>
          <p:cNvSpPr/>
          <p:nvPr/>
        </p:nvSpPr>
        <p:spPr>
          <a:xfrm>
            <a:off x="4902200" y="32004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532" name="Legend Alive Swatch"/>
          <p:cNvSpPr/>
          <p:nvPr/>
        </p:nvSpPr>
        <p:spPr>
          <a:xfrm>
            <a:off x="5461000" y="3225800"/>
            <a:ext cx="127000" cy="1270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33" name="Legend Alive"/>
          <p:cNvSpPr/>
          <p:nvPr/>
        </p:nvSpPr>
        <p:spPr>
          <a:xfrm>
            <a:off x="5638800" y="32004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1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Alive</a:t>
            </a:r>
          </a:p>
        </p:txBody>
      </p:sp>
      <p:sp>
        <p:nvSpPr>
          <p:cNvPr id="534" name="Legend Dead Swatch"/>
          <p:cNvSpPr/>
          <p:nvPr/>
        </p:nvSpPr>
        <p:spPr>
          <a:xfrm>
            <a:off x="6172200" y="3225800"/>
            <a:ext cx="127000" cy="1270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35" name="Legend Dead"/>
          <p:cNvSpPr/>
          <p:nvPr/>
        </p:nvSpPr>
        <p:spPr>
          <a:xfrm>
            <a:off x="6350000" y="3200400"/>
            <a:ext cx="457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1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Dead</a:t>
            </a:r>
          </a:p>
        </p:txBody>
      </p:sp>
      <p:sp>
        <p:nvSpPr>
          <p:cNvPr id="536" name="DeadList Cell 0"/>
          <p:cNvSpPr/>
          <p:nvPr/>
        </p:nvSpPr>
        <p:spPr>
          <a:xfrm>
            <a:off x="2413000" y="49403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537" name="DeadList Cell 1"/>
          <p:cNvSpPr/>
          <p:nvPr/>
        </p:nvSpPr>
        <p:spPr>
          <a:xfrm>
            <a:off x="2768600" y="49403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538" name="DeadList Cell 2"/>
          <p:cNvSpPr/>
          <p:nvPr/>
        </p:nvSpPr>
        <p:spPr>
          <a:xfrm>
            <a:off x="3124200" y="49403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539" name="DeadList Cell 3"/>
          <p:cNvSpPr/>
          <p:nvPr/>
        </p:nvSpPr>
        <p:spPr>
          <a:xfrm>
            <a:off x="3479800" y="49403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540" name="DeadList Ellipsis"/>
          <p:cNvSpPr/>
          <p:nvPr/>
        </p:nvSpPr>
        <p:spPr>
          <a:xfrm>
            <a:off x="3835400" y="4940300"/>
            <a:ext cx="457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541" name="DeadList Empty 0"/>
          <p:cNvSpPr/>
          <p:nvPr/>
        </p:nvSpPr>
        <p:spPr>
          <a:xfrm>
            <a:off x="42926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2" name="DeadList Empty 1"/>
          <p:cNvSpPr/>
          <p:nvPr/>
        </p:nvSpPr>
        <p:spPr>
          <a:xfrm>
            <a:off x="46482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3" name="DeadList Empty 2"/>
          <p:cNvSpPr/>
          <p:nvPr/>
        </p:nvSpPr>
        <p:spPr>
          <a:xfrm>
            <a:off x="50038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4" name="DeadList Empty 3"/>
          <p:cNvSpPr/>
          <p:nvPr/>
        </p:nvSpPr>
        <p:spPr>
          <a:xfrm>
            <a:off x="53594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5" name="DeadList Empty 4"/>
          <p:cNvSpPr/>
          <p:nvPr/>
        </p:nvSpPr>
        <p:spPr>
          <a:xfrm>
            <a:off x="57150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6" name="DeadList Empty 5"/>
          <p:cNvSpPr/>
          <p:nvPr/>
        </p:nvSpPr>
        <p:spPr>
          <a:xfrm>
            <a:off x="60706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7" name="DeadList Empty 6"/>
          <p:cNvSpPr/>
          <p:nvPr/>
        </p:nvSpPr>
        <p:spPr>
          <a:xfrm>
            <a:off x="6426200" y="49403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548" name="DeadList Outline"/>
          <p:cNvSpPr/>
          <p:nvPr/>
        </p:nvSpPr>
        <p:spPr>
          <a:xfrm>
            <a:off x="2413000" y="4940300"/>
            <a:ext cx="43688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</p:spTree>
    <p:extLst>
      <p:ext uri="{BB962C8B-B14F-4D97-AF65-F5344CB8AC3E}">
        <p14:creationId xmlns:p14="http://schemas.microsoft.com/office/powerpoint/2010/main" val="145450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A6CBD29-59A9-2790-A8BF-63C7B1CDF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SlotReuse</a:t>
            </a:r>
            <a:r>
              <a:rPr lang="en-US" altLang="ko-KR" dirty="0"/>
              <a:t> </a:t>
            </a:r>
            <a:r>
              <a:rPr lang="ko-KR" altLang="en-US" dirty="0"/>
              <a:t>핵심 동작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8313CB47-A89C-5C7B-F83A-8AA359CAA3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8</a:t>
            </a:fld>
            <a:endParaRPr lang="ko-KR" altLang="en-US"/>
          </a:p>
        </p:txBody>
      </p:sp>
      <p:sp>
        <p:nvSpPr>
          <p:cNvPr id="601" name="Summary"/>
          <p:cNvSpPr/>
          <p:nvPr/>
        </p:nvSpPr>
        <p:spPr>
          <a:xfrm>
            <a:off x="762000" y="10795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죽은 파티클의 </a:t>
            </a:r>
            <a:r>
              <a:rPr lang="ko-KR" altLang="en-US" sz="16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slot을 DeadList에 반납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하고, Emit할 때 </a:t>
            </a:r>
            <a:r>
              <a:rPr lang="ko-KR" altLang="en-US" sz="16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그 slot을 꺼내 재사용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한다</a:t>
            </a: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</a:p>
          <a:p>
            <a:pPr algn="l"/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Emit 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시기에 </a:t>
            </a:r>
            <a:r>
              <a:rPr lang="en-US" altLang="ko-KR" sz="16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MaxParticle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만큼 </a:t>
            </a: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dispatch 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하지 않고</a:t>
            </a: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, </a:t>
            </a:r>
            <a:r>
              <a:rPr lang="ko-KR" altLang="en-US" sz="1600" dirty="0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해당 프레임의 </a:t>
            </a:r>
            <a:r>
              <a:rPr lang="en-US" altLang="ko-KR" sz="1600" dirty="0" err="1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EmitCount</a:t>
            </a:r>
            <a:r>
              <a:rPr lang="ko-KR" altLang="en-US" sz="1600" dirty="0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만큼 </a:t>
            </a:r>
            <a:r>
              <a:rPr lang="en-US" altLang="ko-KR" sz="1600" dirty="0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dispatch</a:t>
            </a:r>
            <a:r>
              <a:rPr lang="ko-KR" altLang="en-US" sz="1600" dirty="0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를 하게 된다</a:t>
            </a:r>
            <a:r>
              <a:rPr lang="en-US" altLang="ko-KR" sz="1600" dirty="0">
                <a:solidFill>
                  <a:srgbClr val="C55A11"/>
                </a:solidFill>
                <a:latin typeface="페이퍼로지 7 Bold" pitchFamily="2" charset="-127"/>
                <a:ea typeface="페이퍼로지 7 Bold" pitchFamily="2" charset="-127"/>
              </a:rPr>
              <a:t>.</a:t>
            </a:r>
            <a:endParaRPr lang="ko-KR" altLang="en-US" sz="1600" dirty="0">
              <a:solidFill>
                <a:srgbClr val="C55A11"/>
              </a:solidFill>
              <a:latin typeface="페이퍼로지 7 Bold" pitchFamily="2" charset="-127"/>
              <a:ea typeface="페이퍼로지 7 Bold" pitchFamily="2" charset="-127"/>
            </a:endParaRPr>
          </a:p>
        </p:txBody>
      </p:sp>
      <p:sp>
        <p:nvSpPr>
          <p:cNvPr id="602" name="DeadList Card"/>
          <p:cNvSpPr/>
          <p:nvPr/>
        </p:nvSpPr>
        <p:spPr>
          <a:xfrm>
            <a:off x="762000" y="1905000"/>
            <a:ext cx="317500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03" name="Particles Card"/>
          <p:cNvSpPr/>
          <p:nvPr/>
        </p:nvSpPr>
        <p:spPr>
          <a:xfrm>
            <a:off x="8255000" y="1905000"/>
            <a:ext cx="3175000" cy="241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04" name="DeadList Head"/>
          <p:cNvSpPr/>
          <p:nvPr/>
        </p:nvSpPr>
        <p:spPr>
          <a:xfrm>
            <a:off x="762000" y="20828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DeadList</a:t>
            </a:r>
          </a:p>
        </p:txBody>
      </p:sp>
      <p:sp>
        <p:nvSpPr>
          <p:cNvPr id="605" name="DeadList Sub"/>
          <p:cNvSpPr/>
          <p:nvPr/>
        </p:nvSpPr>
        <p:spPr>
          <a:xfrm>
            <a:off x="762000" y="24384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비어 있는 slot 번호 (Stack)</a:t>
            </a:r>
          </a:p>
        </p:txBody>
      </p:sp>
      <p:sp>
        <p:nvSpPr>
          <p:cNvPr id="606" name="Particles Head"/>
          <p:cNvSpPr/>
          <p:nvPr/>
        </p:nvSpPr>
        <p:spPr>
          <a:xfrm>
            <a:off x="8255000" y="2082800"/>
            <a:ext cx="3175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Particles</a:t>
            </a:r>
          </a:p>
        </p:txBody>
      </p:sp>
      <p:sp>
        <p:nvSpPr>
          <p:cNvPr id="607" name="Particles Sub"/>
          <p:cNvSpPr/>
          <p:nvPr/>
        </p:nvSpPr>
        <p:spPr>
          <a:xfrm>
            <a:off x="8255000" y="2438400"/>
            <a:ext cx="3175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파티클 데이터 (slot = 인덱스)</a:t>
            </a:r>
          </a:p>
        </p:txBody>
      </p:sp>
      <p:sp>
        <p:nvSpPr>
          <p:cNvPr id="608" name="DL 0"/>
          <p:cNvSpPr/>
          <p:nvPr/>
        </p:nvSpPr>
        <p:spPr>
          <a:xfrm>
            <a:off x="1092200" y="30734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09" name="DL 1"/>
          <p:cNvSpPr/>
          <p:nvPr/>
        </p:nvSpPr>
        <p:spPr>
          <a:xfrm>
            <a:off x="1447800" y="30734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10" name="DL 2"/>
          <p:cNvSpPr/>
          <p:nvPr/>
        </p:nvSpPr>
        <p:spPr>
          <a:xfrm>
            <a:off x="1803400" y="30734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611" name="DL 3"/>
          <p:cNvSpPr/>
          <p:nvPr/>
        </p:nvSpPr>
        <p:spPr>
          <a:xfrm>
            <a:off x="2159000" y="3073400"/>
            <a:ext cx="3556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12" name="DL Ell"/>
          <p:cNvSpPr/>
          <p:nvPr/>
        </p:nvSpPr>
        <p:spPr>
          <a:xfrm>
            <a:off x="2514600" y="3073400"/>
            <a:ext cx="3810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613" name="DL E0"/>
          <p:cNvSpPr/>
          <p:nvPr/>
        </p:nvSpPr>
        <p:spPr>
          <a:xfrm>
            <a:off x="2895600" y="30734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4" name="DL E1"/>
          <p:cNvSpPr/>
          <p:nvPr/>
        </p:nvSpPr>
        <p:spPr>
          <a:xfrm>
            <a:off x="3251200" y="30734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5" name="DL Outline"/>
          <p:cNvSpPr/>
          <p:nvPr/>
        </p:nvSpPr>
        <p:spPr>
          <a:xfrm>
            <a:off x="1092200" y="3073400"/>
            <a:ext cx="25146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6" name="DL Top"/>
          <p:cNvSpPr/>
          <p:nvPr/>
        </p:nvSpPr>
        <p:spPr>
          <a:xfrm>
            <a:off x="2082800" y="3454400"/>
            <a:ext cx="508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top</a:t>
            </a:r>
          </a:p>
        </p:txBody>
      </p:sp>
      <p:sp>
        <p:nvSpPr>
          <p:cNvPr id="617" name="P 0"/>
          <p:cNvSpPr/>
          <p:nvPr/>
        </p:nvSpPr>
        <p:spPr>
          <a:xfrm>
            <a:off x="8420100" y="30734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8" name="P 1"/>
          <p:cNvSpPr/>
          <p:nvPr/>
        </p:nvSpPr>
        <p:spPr>
          <a:xfrm>
            <a:off x="8775700" y="30734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9" name="P 2"/>
          <p:cNvSpPr/>
          <p:nvPr/>
        </p:nvSpPr>
        <p:spPr>
          <a:xfrm>
            <a:off x="9131300" y="30734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0" name="P 3"/>
          <p:cNvSpPr/>
          <p:nvPr/>
        </p:nvSpPr>
        <p:spPr>
          <a:xfrm>
            <a:off x="9486900" y="30734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1" name="P 4"/>
          <p:cNvSpPr/>
          <p:nvPr/>
        </p:nvSpPr>
        <p:spPr>
          <a:xfrm>
            <a:off x="9842500" y="30734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2" name="P 5"/>
          <p:cNvSpPr/>
          <p:nvPr/>
        </p:nvSpPr>
        <p:spPr>
          <a:xfrm>
            <a:off x="10198100" y="30734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3" name="P 6"/>
          <p:cNvSpPr/>
          <p:nvPr/>
        </p:nvSpPr>
        <p:spPr>
          <a:xfrm>
            <a:off x="10553700" y="30734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4" name="P 7"/>
          <p:cNvSpPr/>
          <p:nvPr/>
        </p:nvSpPr>
        <p:spPr>
          <a:xfrm>
            <a:off x="10909300" y="30734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5" name="P Outline"/>
          <p:cNvSpPr/>
          <p:nvPr/>
        </p:nvSpPr>
        <p:spPr>
          <a:xfrm>
            <a:off x="8420100" y="3073400"/>
            <a:ext cx="28448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6" name="P idx 0"/>
          <p:cNvSpPr/>
          <p:nvPr/>
        </p:nvSpPr>
        <p:spPr>
          <a:xfrm>
            <a:off x="84201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27" name="P idx 1"/>
          <p:cNvSpPr/>
          <p:nvPr/>
        </p:nvSpPr>
        <p:spPr>
          <a:xfrm>
            <a:off x="87757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28" name="P idx 2"/>
          <p:cNvSpPr/>
          <p:nvPr/>
        </p:nvSpPr>
        <p:spPr>
          <a:xfrm>
            <a:off x="91313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29" name="P idx 3"/>
          <p:cNvSpPr/>
          <p:nvPr/>
        </p:nvSpPr>
        <p:spPr>
          <a:xfrm>
            <a:off x="94869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30" name="P idx 4"/>
          <p:cNvSpPr/>
          <p:nvPr/>
        </p:nvSpPr>
        <p:spPr>
          <a:xfrm>
            <a:off x="98425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31" name="P idx 5"/>
          <p:cNvSpPr/>
          <p:nvPr/>
        </p:nvSpPr>
        <p:spPr>
          <a:xfrm>
            <a:off x="101981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32" name="P idx 6"/>
          <p:cNvSpPr/>
          <p:nvPr/>
        </p:nvSpPr>
        <p:spPr>
          <a:xfrm>
            <a:off x="105537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33" name="P idx 7"/>
          <p:cNvSpPr/>
          <p:nvPr/>
        </p:nvSpPr>
        <p:spPr>
          <a:xfrm>
            <a:off x="10909300" y="3441700"/>
            <a:ext cx="3556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cxnSp>
        <p:nvCxnSpPr>
          <p:cNvPr id="634" name="Emit Arrow"/>
          <p:cNvCxnSpPr/>
          <p:nvPr/>
        </p:nvCxnSpPr>
        <p:spPr>
          <a:xfrm>
            <a:off x="4127500" y="2692400"/>
            <a:ext cx="3937000" cy="0"/>
          </a:xfrm>
          <a:prstGeom prst="straightConnector1">
            <a:avLst/>
          </a:prstGeom>
          <a:ln w="28575">
            <a:solidFill>
              <a:srgbClr val="C55A11"/>
            </a:solidFill>
            <a:tailEnd type="triangle" w="med" len="med"/>
          </a:ln>
        </p:spPr>
      </p:cxnSp>
      <p:sp>
        <p:nvSpPr>
          <p:cNvPr id="635" name="Emit Label 1"/>
          <p:cNvSpPr/>
          <p:nvPr/>
        </p:nvSpPr>
        <p:spPr>
          <a:xfrm>
            <a:off x="4127500" y="20828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6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Emit</a:t>
            </a:r>
            <a:r>
              <a:rPr lang="ko-KR" altLang="en-US" sz="1400" dirty="0">
                <a:solidFill>
                  <a:srgbClr val="C55A11"/>
                </a:solidFill>
                <a:latin typeface="페이퍼로지 4 Regular"/>
                <a:ea typeface="페이퍼로지 4 Regular"/>
              </a:rPr>
              <a:t>  slot 꺼내기 (Pop)</a:t>
            </a:r>
          </a:p>
        </p:txBody>
      </p:sp>
      <p:sp>
        <p:nvSpPr>
          <p:cNvPr id="636" name="Emit Label 2"/>
          <p:cNvSpPr/>
          <p:nvPr/>
        </p:nvSpPr>
        <p:spPr>
          <a:xfrm>
            <a:off x="4127500" y="2387600"/>
            <a:ext cx="3937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Particles[slot]에 새 파티클 저장</a:t>
            </a:r>
          </a:p>
        </p:txBody>
      </p:sp>
      <p:cxnSp>
        <p:nvCxnSpPr>
          <p:cNvPr id="637" name="Sim Arrow"/>
          <p:cNvCxnSpPr/>
          <p:nvPr/>
        </p:nvCxnSpPr>
        <p:spPr>
          <a:xfrm flipH="1">
            <a:off x="4127500" y="3530600"/>
            <a:ext cx="3937000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 w="med" len="med"/>
          </a:ln>
        </p:spPr>
      </p:cxnSp>
      <p:sp>
        <p:nvSpPr>
          <p:cNvPr id="638" name="Sim Label 1"/>
          <p:cNvSpPr/>
          <p:nvPr/>
        </p:nvSpPr>
        <p:spPr>
          <a:xfrm>
            <a:off x="4127500" y="3606800"/>
            <a:ext cx="3937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6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Simulate</a:t>
            </a:r>
            <a:r>
              <a:rPr lang="ko-KR" altLang="en-US" sz="1400" dirty="0">
                <a:solidFill>
                  <a:srgbClr val="C00000"/>
                </a:solidFill>
                <a:latin typeface="페이퍼로지 4 Regular"/>
                <a:ea typeface="페이퍼로지 4 Regular"/>
              </a:rPr>
              <a:t>  slot 반납 (Push)</a:t>
            </a:r>
          </a:p>
        </p:txBody>
      </p:sp>
      <p:sp>
        <p:nvSpPr>
          <p:cNvPr id="639" name="Sim Label 2"/>
          <p:cNvSpPr/>
          <p:nvPr/>
        </p:nvSpPr>
        <p:spPr>
          <a:xfrm>
            <a:off x="4127500" y="3911600"/>
            <a:ext cx="3937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수명이 다한 파티클의 slot을 DeadList에</a:t>
            </a:r>
          </a:p>
        </p:txBody>
      </p:sp>
      <p:sp>
        <p:nvSpPr>
          <p:cNvPr id="640" name="Counter Label"/>
          <p:cNvSpPr/>
          <p:nvPr/>
        </p:nvSpPr>
        <p:spPr>
          <a:xfrm>
            <a:off x="762000" y="48895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6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Counter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두 단계 모두 InterlockedAdd로 갱신</a:t>
            </a:r>
          </a:p>
        </p:txBody>
      </p:sp>
      <p:sp>
        <p:nvSpPr>
          <p:cNvPr id="641" name="Counter 0"/>
          <p:cNvSpPr/>
          <p:nvPr/>
        </p:nvSpPr>
        <p:spPr>
          <a:xfrm>
            <a:off x="762000" y="5321300"/>
            <a:ext cx="2540000" cy="78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AliveCount</a:t>
            </a:r>
          </a:p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Simulate −1</a:t>
            </a:r>
          </a:p>
        </p:txBody>
      </p:sp>
      <p:sp>
        <p:nvSpPr>
          <p:cNvPr id="642" name="Counter 1"/>
          <p:cNvSpPr/>
          <p:nvPr/>
        </p:nvSpPr>
        <p:spPr>
          <a:xfrm>
            <a:off x="3470910" y="5321300"/>
            <a:ext cx="2540000" cy="78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DeadCount</a:t>
            </a:r>
          </a:p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Emit −1 · Simulate +1</a:t>
            </a:r>
          </a:p>
        </p:txBody>
      </p:sp>
      <p:sp>
        <p:nvSpPr>
          <p:cNvPr id="643" name="Counter 2"/>
          <p:cNvSpPr/>
          <p:nvPr/>
        </p:nvSpPr>
        <p:spPr>
          <a:xfrm>
            <a:off x="6179820" y="5321300"/>
            <a:ext cx="2540000" cy="787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EmitCount</a:t>
            </a:r>
          </a:p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CPU에서 계산</a:t>
            </a:r>
          </a:p>
        </p:txBody>
      </p:sp>
      <p:sp>
        <p:nvSpPr>
          <p:cNvPr id="644" name="Counter 3"/>
          <p:cNvSpPr/>
          <p:nvPr/>
        </p:nvSpPr>
        <p:spPr>
          <a:xfrm>
            <a:off x="8888730" y="5321300"/>
            <a:ext cx="2540000" cy="7874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AliveAfterSimulation</a:t>
            </a:r>
          </a:p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현재 미사용</a:t>
            </a:r>
          </a:p>
        </p:txBody>
      </p:sp>
      <p:cxnSp>
        <p:nvCxnSpPr>
          <p:cNvPr id="5" name="직선 연결선 4">
            <a:extLst>
              <a:ext uri="{FF2B5EF4-FFF2-40B4-BE49-F238E27FC236}">
                <a16:creationId xmlns:a16="http://schemas.microsoft.com/office/drawing/2014/main" id="{BA94EFB3-EB46-9112-67E7-02730C0994F7}"/>
              </a:ext>
            </a:extLst>
          </p:cNvPr>
          <p:cNvCxnSpPr>
            <a:cxnSpLocks/>
          </p:cNvCxnSpPr>
          <p:nvPr/>
        </p:nvCxnSpPr>
        <p:spPr>
          <a:xfrm>
            <a:off x="609600" y="4768645"/>
            <a:ext cx="10972800" cy="0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03495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8964D3-9C32-C5CD-593A-97E1533F8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Emit 단계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7D34328C-C010-6001-0E50-4FA29C6FD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9</a:t>
            </a:fld>
            <a:endParaRPr lang="ko-KR" altLang="en-US"/>
          </a:p>
        </p:txBody>
      </p:sp>
      <p:sp>
        <p:nvSpPr>
          <p:cNvPr id="601" name="CPU Box"/>
          <p:cNvSpPr/>
          <p:nvPr/>
        </p:nvSpPr>
        <p:spPr>
          <a:xfrm>
            <a:off x="762000" y="1079500"/>
            <a:ext cx="2921000" cy="508000"/>
          </a:xfrm>
          <a:prstGeom prst="roundRect">
            <a:avLst/>
          </a:prstGeom>
          <a:solidFill>
            <a:srgbClr val="F2F2F2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CPU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 EmitCount 계산</a:t>
            </a:r>
          </a:p>
        </p:txBody>
      </p:sp>
      <p:cxnSp>
        <p:nvCxnSpPr>
          <p:cNvPr id="602" name="CPU Arrow"/>
          <p:cNvCxnSpPr/>
          <p:nvPr/>
        </p:nvCxnSpPr>
        <p:spPr>
          <a:xfrm>
            <a:off x="3759200" y="1333500"/>
            <a:ext cx="635000" cy="0"/>
          </a:xfrm>
          <a:prstGeom prst="straightConnector1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603" name="Dispatch"/>
          <p:cNvSpPr/>
          <p:nvPr/>
        </p:nvSpPr>
        <p:spPr>
          <a:xfrm>
            <a:off x="4470400" y="1130300"/>
            <a:ext cx="2921000" cy="4064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Dispatch(EmitCount)</a:t>
            </a:r>
          </a:p>
        </p:txBody>
      </p:sp>
      <p:sp>
        <p:nvSpPr>
          <p:cNvPr id="604" name="Thread Note"/>
          <p:cNvSpPr/>
          <p:nvPr/>
        </p:nvSpPr>
        <p:spPr>
          <a:xfrm>
            <a:off x="7620000" y="1079500"/>
            <a:ext cx="3810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스레드 1개 = 새 파티클 1개</a:t>
            </a:r>
          </a:p>
        </p:txBody>
      </p:sp>
      <p:sp>
        <p:nvSpPr>
          <p:cNvPr id="605" name="Card 1"/>
          <p:cNvSpPr/>
          <p:nvPr/>
        </p:nvSpPr>
        <p:spPr>
          <a:xfrm>
            <a:off x="762000" y="1905000"/>
            <a:ext cx="3175000" cy="381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06" name="Badge 1"/>
          <p:cNvSpPr/>
          <p:nvPr/>
        </p:nvSpPr>
        <p:spPr>
          <a:xfrm>
            <a:off x="990600" y="2133600"/>
            <a:ext cx="381000" cy="3810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7" name="Step 1"/>
          <p:cNvSpPr/>
          <p:nvPr/>
        </p:nvSpPr>
        <p:spPr>
          <a:xfrm>
            <a:off x="1498600" y="21336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DeadCount 감소</a:t>
            </a:r>
          </a:p>
        </p:txBody>
      </p:sp>
      <p:sp>
        <p:nvSpPr>
          <p:cNvPr id="608" name="Desc 1"/>
          <p:cNvSpPr/>
          <p:nvPr/>
        </p:nvSpPr>
        <p:spPr>
          <a:xfrm>
            <a:off x="990600" y="2667000"/>
            <a:ext cx="27178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ko-KR" altLang="en-US" sz="1400" dirty="0">
                <a:solidFill>
                  <a:schemeClr val="accent5">
                    <a:lumMod val="50000"/>
                  </a:schemeClr>
                </a:solidFill>
                <a:latin typeface="페이퍼로지 7 Bold" pitchFamily="2" charset="-127"/>
                <a:ea typeface="페이퍼로지 7 Bold" pitchFamily="2" charset="-127"/>
              </a:rPr>
              <a:t>InterlockedAdd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(DeadCount, −1)</a:t>
            </a:r>
          </a:p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감소 전 값 = index</a:t>
            </a:r>
          </a:p>
        </p:txBody>
      </p:sp>
      <p:sp>
        <p:nvSpPr>
          <p:cNvPr id="609" name="Rule 1"/>
          <p:cNvSpPr/>
          <p:nvPr/>
        </p:nvSpPr>
        <p:spPr>
          <a:xfrm>
            <a:off x="990600" y="3403600"/>
            <a:ext cx="27178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0" name="Card 2"/>
          <p:cNvSpPr/>
          <p:nvPr/>
        </p:nvSpPr>
        <p:spPr>
          <a:xfrm>
            <a:off x="4508500" y="1905000"/>
            <a:ext cx="3175000" cy="381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1" name="Badge 2"/>
          <p:cNvSpPr/>
          <p:nvPr/>
        </p:nvSpPr>
        <p:spPr>
          <a:xfrm>
            <a:off x="4737100" y="2133600"/>
            <a:ext cx="381000" cy="3810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12" name="Step 2"/>
          <p:cNvSpPr/>
          <p:nvPr/>
        </p:nvSpPr>
        <p:spPr>
          <a:xfrm>
            <a:off x="5245100" y="21336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slot 얻기</a:t>
            </a:r>
          </a:p>
        </p:txBody>
      </p:sp>
      <p:sp>
        <p:nvSpPr>
          <p:cNvPr id="613" name="Desc 2"/>
          <p:cNvSpPr/>
          <p:nvPr/>
        </p:nvSpPr>
        <p:spPr>
          <a:xfrm>
            <a:off x="4737100" y="2667000"/>
            <a:ext cx="2717800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DeadList[index]의 값</a:t>
            </a:r>
          </a:p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= 재사용할 slot</a:t>
            </a:r>
          </a:p>
        </p:txBody>
      </p:sp>
      <p:sp>
        <p:nvSpPr>
          <p:cNvPr id="614" name="Rule 2"/>
          <p:cNvSpPr/>
          <p:nvPr/>
        </p:nvSpPr>
        <p:spPr>
          <a:xfrm>
            <a:off x="4737100" y="3403600"/>
            <a:ext cx="27178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5" name="Card 3"/>
          <p:cNvSpPr/>
          <p:nvPr/>
        </p:nvSpPr>
        <p:spPr>
          <a:xfrm>
            <a:off x="8255000" y="1905000"/>
            <a:ext cx="3175000" cy="3810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16" name="Badge 3"/>
          <p:cNvSpPr/>
          <p:nvPr/>
        </p:nvSpPr>
        <p:spPr>
          <a:xfrm>
            <a:off x="8483600" y="2133600"/>
            <a:ext cx="381000" cy="3810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17" name="Step 3"/>
          <p:cNvSpPr/>
          <p:nvPr/>
        </p:nvSpPr>
        <p:spPr>
          <a:xfrm>
            <a:off x="8991600" y="2133600"/>
            <a:ext cx="228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파티클 초기화</a:t>
            </a:r>
          </a:p>
        </p:txBody>
      </p:sp>
      <p:sp>
        <p:nvSpPr>
          <p:cNvPr id="618" name="Desc 3"/>
          <p:cNvSpPr/>
          <p:nvPr/>
        </p:nvSpPr>
        <p:spPr>
          <a:xfrm>
            <a:off x="8371305" y="2667000"/>
            <a:ext cx="2942389" cy="609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Particles[slot]에 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초기화한 </a:t>
            </a:r>
            <a:r>
              <a:rPr lang="ko-KR" altLang="en-US" sz="1400" dirty="0" err="1">
                <a:solidFill>
                  <a:srgbClr val="7F7F7F"/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저장</a:t>
            </a:r>
          </a:p>
          <a:p>
            <a:pPr algn="l"/>
            <a:r>
              <a:rPr lang="en-US" altLang="ko-KR" sz="1400" dirty="0">
                <a:latin typeface="페이퍼로지 4 Regular"/>
                <a:ea typeface="페이퍼로지 4 Regular"/>
              </a:rPr>
              <a:t>Counter</a:t>
            </a:r>
            <a:r>
              <a:rPr lang="ko-KR" altLang="en-US" sz="1400" dirty="0">
                <a:latin typeface="페이퍼로지 4 Regular"/>
                <a:ea typeface="페이퍼로지 4 Regular"/>
              </a:rPr>
              <a:t>의 </a:t>
            </a:r>
            <a:r>
              <a:rPr lang="en-US" altLang="ko-KR" sz="14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AliveCount</a:t>
            </a:r>
            <a:b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</a:b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 </a:t>
            </a:r>
            <a:r>
              <a:rPr lang="en-US" altLang="ko-KR" sz="1400" dirty="0" err="1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EmitCount</a:t>
            </a:r>
            <a:r>
              <a:rPr lang="en-US" altLang="ko-KR" sz="14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 </a:t>
            </a:r>
            <a:r>
              <a:rPr lang="ko-KR" altLang="en-US" sz="1400" dirty="0">
                <a:solidFill>
                  <a:schemeClr val="bg1">
                    <a:lumMod val="50000"/>
                  </a:schemeClr>
                </a:solidFill>
                <a:latin typeface="페이퍼로지 4 Regular"/>
                <a:ea typeface="페이퍼로지 4 Regular"/>
              </a:rPr>
              <a:t>증가 </a:t>
            </a:r>
          </a:p>
        </p:txBody>
      </p:sp>
      <p:sp>
        <p:nvSpPr>
          <p:cNvPr id="619" name="Rule 3"/>
          <p:cNvSpPr/>
          <p:nvPr/>
        </p:nvSpPr>
        <p:spPr>
          <a:xfrm>
            <a:off x="8483600" y="3403600"/>
            <a:ext cx="27178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cxnSp>
        <p:nvCxnSpPr>
          <p:cNvPr id="620" name="Step Arrow 1"/>
          <p:cNvCxnSpPr/>
          <p:nvPr/>
        </p:nvCxnSpPr>
        <p:spPr>
          <a:xfrm>
            <a:off x="4013200" y="4318000"/>
            <a:ext cx="419100" cy="0"/>
          </a:xfrm>
          <a:prstGeom prst="straightConnector1">
            <a:avLst/>
          </a:prstGeom>
          <a:ln w="28575">
            <a:solidFill>
              <a:srgbClr val="C55A11"/>
            </a:solidFill>
            <a:tailEnd type="triangle" w="med" len="med"/>
          </a:ln>
        </p:spPr>
      </p:cxnSp>
      <p:cxnSp>
        <p:nvCxnSpPr>
          <p:cNvPr id="621" name="Step Arrow 2"/>
          <p:cNvCxnSpPr/>
          <p:nvPr/>
        </p:nvCxnSpPr>
        <p:spPr>
          <a:xfrm>
            <a:off x="7759700" y="4318000"/>
            <a:ext cx="419100" cy="0"/>
          </a:xfrm>
          <a:prstGeom prst="straightConnector1">
            <a:avLst/>
          </a:prstGeom>
          <a:ln w="28575">
            <a:solidFill>
              <a:srgbClr val="C55A11"/>
            </a:solidFill>
            <a:tailEnd type="triangle" w="med" len="med"/>
          </a:ln>
        </p:spPr>
      </p:cxnSp>
      <p:sp>
        <p:nvSpPr>
          <p:cNvPr id="622" name="F1 Label"/>
          <p:cNvSpPr/>
          <p:nvPr/>
        </p:nvSpPr>
        <p:spPr>
          <a:xfrm>
            <a:off x="762000" y="3683000"/>
            <a:ext cx="317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Counter</a:t>
            </a:r>
          </a:p>
        </p:txBody>
      </p:sp>
      <p:sp>
        <p:nvSpPr>
          <p:cNvPr id="623" name="F1 Cell"/>
          <p:cNvSpPr/>
          <p:nvPr/>
        </p:nvSpPr>
        <p:spPr>
          <a:xfrm>
            <a:off x="1333500" y="4038600"/>
            <a:ext cx="2032000" cy="508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DeadCount</a:t>
            </a:r>
          </a:p>
        </p:txBody>
      </p:sp>
      <p:sp>
        <p:nvSpPr>
          <p:cNvPr id="624" name="F1 Val"/>
          <p:cNvSpPr/>
          <p:nvPr/>
        </p:nvSpPr>
        <p:spPr>
          <a:xfrm>
            <a:off x="762000" y="4699000"/>
            <a:ext cx="31750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2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4</a:t>
            </a:r>
            <a:r>
              <a:rPr lang="ko-KR" altLang="en-US" sz="20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→  </a:t>
            </a:r>
            <a:r>
              <a:rPr lang="ko-KR" altLang="en-US" sz="2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25" name="F1 Note"/>
          <p:cNvSpPr/>
          <p:nvPr/>
        </p:nvSpPr>
        <p:spPr>
          <a:xfrm>
            <a:off x="762000" y="5207000"/>
            <a:ext cx="317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4 Regular"/>
                <a:ea typeface="페이퍼로지 4 Regular"/>
              </a:rPr>
              <a:t>감소 전 값 4 → index</a:t>
            </a:r>
          </a:p>
        </p:txBody>
      </p:sp>
      <p:sp>
        <p:nvSpPr>
          <p:cNvPr id="626" name="F2 Label"/>
          <p:cNvSpPr/>
          <p:nvPr/>
        </p:nvSpPr>
        <p:spPr>
          <a:xfrm>
            <a:off x="4508500" y="3683000"/>
            <a:ext cx="317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DeadList</a:t>
            </a:r>
          </a:p>
        </p:txBody>
      </p:sp>
      <p:sp>
        <p:nvSpPr>
          <p:cNvPr id="627" name="F2 DL 0"/>
          <p:cNvSpPr/>
          <p:nvPr/>
        </p:nvSpPr>
        <p:spPr>
          <a:xfrm>
            <a:off x="4838700" y="4089400"/>
            <a:ext cx="355600" cy="3556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28" name="F2 DL 1"/>
          <p:cNvSpPr/>
          <p:nvPr/>
        </p:nvSpPr>
        <p:spPr>
          <a:xfrm>
            <a:off x="5194300" y="4089400"/>
            <a:ext cx="355600" cy="3556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29" name="F2 DL 2"/>
          <p:cNvSpPr/>
          <p:nvPr/>
        </p:nvSpPr>
        <p:spPr>
          <a:xfrm>
            <a:off x="5549900" y="4089400"/>
            <a:ext cx="355600" cy="3556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630" name="F2 DL 3"/>
          <p:cNvSpPr/>
          <p:nvPr/>
        </p:nvSpPr>
        <p:spPr>
          <a:xfrm>
            <a:off x="5905500" y="4089400"/>
            <a:ext cx="355600" cy="3556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31" name="F2 Ell"/>
          <p:cNvSpPr/>
          <p:nvPr/>
        </p:nvSpPr>
        <p:spPr>
          <a:xfrm>
            <a:off x="6261100" y="4089400"/>
            <a:ext cx="3810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632" name="F2 E0"/>
          <p:cNvSpPr/>
          <p:nvPr/>
        </p:nvSpPr>
        <p:spPr>
          <a:xfrm>
            <a:off x="6642100" y="4089400"/>
            <a:ext cx="3556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3" name="F2 E1"/>
          <p:cNvSpPr/>
          <p:nvPr/>
        </p:nvSpPr>
        <p:spPr>
          <a:xfrm>
            <a:off x="6997700" y="4089400"/>
            <a:ext cx="3556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4" name="F2 Outline"/>
          <p:cNvSpPr/>
          <p:nvPr/>
        </p:nvSpPr>
        <p:spPr>
          <a:xfrm>
            <a:off x="4838700" y="4089400"/>
            <a:ext cx="2514600" cy="3556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5" name="F2 Hi"/>
          <p:cNvSpPr/>
          <p:nvPr/>
        </p:nvSpPr>
        <p:spPr>
          <a:xfrm>
            <a:off x="5905500" y="4089400"/>
            <a:ext cx="355600" cy="355600"/>
          </a:xfrm>
          <a:prstGeom prst="rect">
            <a:avLst/>
          </a:prstGeom>
          <a:noFill/>
          <a:ln w="349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cxnSp>
        <p:nvCxnSpPr>
          <p:cNvPr id="636" name="F2 Down"/>
          <p:cNvCxnSpPr/>
          <p:nvPr/>
        </p:nvCxnSpPr>
        <p:spPr>
          <a:xfrm>
            <a:off x="6083300" y="4495800"/>
            <a:ext cx="0" cy="45720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37" name="F2 Slot"/>
          <p:cNvSpPr/>
          <p:nvPr/>
        </p:nvSpPr>
        <p:spPr>
          <a:xfrm>
            <a:off x="5448300" y="5029200"/>
            <a:ext cx="1270000" cy="355600"/>
          </a:xfrm>
          <a:prstGeom prst="roundRect">
            <a:avLst/>
          </a:prstGeom>
          <a:solidFill>
            <a:srgbClr val="FBE5D6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slot = 4</a:t>
            </a:r>
          </a:p>
        </p:txBody>
      </p:sp>
      <p:sp>
        <p:nvSpPr>
          <p:cNvPr id="638" name="F3 Label"/>
          <p:cNvSpPr/>
          <p:nvPr/>
        </p:nvSpPr>
        <p:spPr>
          <a:xfrm>
            <a:off x="8255000" y="3683000"/>
            <a:ext cx="317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Particles</a:t>
            </a:r>
          </a:p>
        </p:txBody>
      </p:sp>
      <p:sp>
        <p:nvSpPr>
          <p:cNvPr id="639" name="F3 P 0"/>
          <p:cNvSpPr/>
          <p:nvPr/>
        </p:nvSpPr>
        <p:spPr>
          <a:xfrm>
            <a:off x="8521700" y="4089400"/>
            <a:ext cx="330200" cy="3556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0" name="F3 P 1"/>
          <p:cNvSpPr/>
          <p:nvPr/>
        </p:nvSpPr>
        <p:spPr>
          <a:xfrm>
            <a:off x="8851900" y="4089400"/>
            <a:ext cx="330200" cy="3556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1" name="F3 P 2"/>
          <p:cNvSpPr/>
          <p:nvPr/>
        </p:nvSpPr>
        <p:spPr>
          <a:xfrm>
            <a:off x="9182100" y="4089400"/>
            <a:ext cx="330200" cy="3556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2" name="F3 P 3"/>
          <p:cNvSpPr/>
          <p:nvPr/>
        </p:nvSpPr>
        <p:spPr>
          <a:xfrm>
            <a:off x="9512300" y="4089400"/>
            <a:ext cx="330200" cy="3556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3" name="F3 P 4"/>
          <p:cNvSpPr/>
          <p:nvPr/>
        </p:nvSpPr>
        <p:spPr>
          <a:xfrm>
            <a:off x="9842500" y="4089400"/>
            <a:ext cx="330200" cy="3556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4" name="F3 P 5"/>
          <p:cNvSpPr/>
          <p:nvPr/>
        </p:nvSpPr>
        <p:spPr>
          <a:xfrm>
            <a:off x="10172700" y="4089400"/>
            <a:ext cx="330200" cy="3556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5" name="F3 P 6"/>
          <p:cNvSpPr/>
          <p:nvPr/>
        </p:nvSpPr>
        <p:spPr>
          <a:xfrm>
            <a:off x="10502900" y="4089400"/>
            <a:ext cx="330200" cy="3556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6" name="F3 P 7"/>
          <p:cNvSpPr/>
          <p:nvPr/>
        </p:nvSpPr>
        <p:spPr>
          <a:xfrm>
            <a:off x="10833100" y="4089400"/>
            <a:ext cx="330200" cy="3556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7" name="F3 Outline"/>
          <p:cNvSpPr/>
          <p:nvPr/>
        </p:nvSpPr>
        <p:spPr>
          <a:xfrm>
            <a:off x="8521700" y="4089400"/>
            <a:ext cx="2641600" cy="3556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8" name="F3 Hi"/>
          <p:cNvSpPr/>
          <p:nvPr/>
        </p:nvSpPr>
        <p:spPr>
          <a:xfrm>
            <a:off x="9842500" y="4089400"/>
            <a:ext cx="330200" cy="355600"/>
          </a:xfrm>
          <a:prstGeom prst="rect">
            <a:avLst/>
          </a:prstGeom>
          <a:noFill/>
          <a:ln w="349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9" name="F3 idx 0"/>
          <p:cNvSpPr/>
          <p:nvPr/>
        </p:nvSpPr>
        <p:spPr>
          <a:xfrm>
            <a:off x="85217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50" name="F3 idx 1"/>
          <p:cNvSpPr/>
          <p:nvPr/>
        </p:nvSpPr>
        <p:spPr>
          <a:xfrm>
            <a:off x="88519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51" name="F3 idx 2"/>
          <p:cNvSpPr/>
          <p:nvPr/>
        </p:nvSpPr>
        <p:spPr>
          <a:xfrm>
            <a:off x="91821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52" name="F3 idx 3"/>
          <p:cNvSpPr/>
          <p:nvPr/>
        </p:nvSpPr>
        <p:spPr>
          <a:xfrm>
            <a:off x="95123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53" name="F3 idx 4"/>
          <p:cNvSpPr/>
          <p:nvPr/>
        </p:nvSpPr>
        <p:spPr>
          <a:xfrm>
            <a:off x="98425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54" name="F3 idx 5"/>
          <p:cNvSpPr/>
          <p:nvPr/>
        </p:nvSpPr>
        <p:spPr>
          <a:xfrm>
            <a:off x="101727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55" name="F3 idx 6"/>
          <p:cNvSpPr/>
          <p:nvPr/>
        </p:nvSpPr>
        <p:spPr>
          <a:xfrm>
            <a:off x="105029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56" name="F3 idx 7"/>
          <p:cNvSpPr/>
          <p:nvPr/>
        </p:nvSpPr>
        <p:spPr>
          <a:xfrm>
            <a:off x="10833100" y="44831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57" name="F3 Note"/>
          <p:cNvSpPr/>
          <p:nvPr/>
        </p:nvSpPr>
        <p:spPr>
          <a:xfrm>
            <a:off x="8255000" y="4826000"/>
            <a:ext cx="3175000" cy="508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slot 4: </a:t>
            </a:r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Dead</a:t>
            </a:r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→ </a:t>
            </a:r>
            <a:r>
              <a:rPr lang="ko-KR" altLang="en-US" sz="1300" dirty="0">
                <a:solidFill>
                  <a:srgbClr val="00B050"/>
                </a:solidFill>
                <a:latin typeface="페이퍼로지 7 Bold"/>
                <a:ea typeface="페이퍼로지 7 Bold"/>
              </a:rPr>
              <a:t>Alive</a:t>
            </a:r>
          </a:p>
        </p:txBody>
      </p:sp>
    </p:spTree>
    <p:extLst>
      <p:ext uri="{BB962C8B-B14F-4D97-AF65-F5344CB8AC3E}">
        <p14:creationId xmlns:p14="http://schemas.microsoft.com/office/powerpoint/2010/main" val="17815449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F1F2E4-18D9-ED5F-F609-92BAA51751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Simulate 단계 (Dead 포함)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69A573E-EF5A-4572-BD76-90F9699CA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10</a:t>
            </a:fld>
            <a:endParaRPr lang="ko-KR" altLang="en-US"/>
          </a:p>
        </p:txBody>
      </p:sp>
      <p:sp>
        <p:nvSpPr>
          <p:cNvPr id="601" name="Dispatch"/>
          <p:cNvSpPr/>
          <p:nvPr/>
        </p:nvSpPr>
        <p:spPr>
          <a:xfrm>
            <a:off x="762000" y="1143000"/>
            <a:ext cx="2540000" cy="4318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Dispatch(maxParticles)</a:t>
            </a:r>
          </a:p>
        </p:txBody>
      </p:sp>
      <p:cxnSp>
        <p:nvCxnSpPr>
          <p:cNvPr id="602" name="A1"/>
          <p:cNvCxnSpPr/>
          <p:nvPr/>
        </p:nvCxnSpPr>
        <p:spPr>
          <a:xfrm>
            <a:off x="2032000" y="1600200"/>
            <a:ext cx="0" cy="330200"/>
          </a:xfrm>
          <a:prstGeom prst="straightConnector1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603" name="Life"/>
          <p:cNvSpPr/>
          <p:nvPr/>
        </p:nvSpPr>
        <p:spPr>
          <a:xfrm>
            <a:off x="762000" y="1955800"/>
            <a:ext cx="2540000" cy="508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수명 감소</a:t>
            </a:r>
          </a:p>
        </p:txBody>
      </p:sp>
      <p:cxnSp>
        <p:nvCxnSpPr>
          <p:cNvPr id="604" name="A2"/>
          <p:cNvCxnSpPr/>
          <p:nvPr/>
        </p:nvCxnSpPr>
        <p:spPr>
          <a:xfrm>
            <a:off x="2032000" y="2489200"/>
            <a:ext cx="0" cy="330200"/>
          </a:xfrm>
          <a:prstGeom prst="straightConnector1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605" name="Decision"/>
          <p:cNvSpPr/>
          <p:nvPr/>
        </p:nvSpPr>
        <p:spPr>
          <a:xfrm>
            <a:off x="762000" y="2832100"/>
            <a:ext cx="2540000" cy="1066800"/>
          </a:xfrm>
          <a:prstGeom prst="diamond">
            <a:avLst/>
          </a:prstGeom>
          <a:solidFill>
            <a:srgbClr val="FFFFFF"/>
          </a:solidFill>
          <a:ln w="12700">
            <a:solidFill>
              <a:srgbClr val="40404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수명 &lt; 0 ?</a:t>
            </a:r>
          </a:p>
        </p:txBody>
      </p:sp>
      <p:cxnSp>
        <p:nvCxnSpPr>
          <p:cNvPr id="606" name="Yes Arrow"/>
          <p:cNvCxnSpPr/>
          <p:nvPr/>
        </p:nvCxnSpPr>
        <p:spPr>
          <a:xfrm>
            <a:off x="3327400" y="3365500"/>
            <a:ext cx="431800" cy="0"/>
          </a:xfrm>
          <a:prstGeom prst="straightConnector1">
            <a:avLst/>
          </a:prstGeom>
          <a:ln w="22225">
            <a:solidFill>
              <a:srgbClr val="C00000"/>
            </a:solidFill>
            <a:tailEnd type="triangle" w="med" len="med"/>
          </a:ln>
        </p:spPr>
      </p:cxnSp>
      <p:sp>
        <p:nvSpPr>
          <p:cNvPr id="607" name="Yes"/>
          <p:cNvSpPr/>
          <p:nvPr/>
        </p:nvSpPr>
        <p:spPr>
          <a:xfrm>
            <a:off x="3302000" y="30353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Yes</a:t>
            </a:r>
          </a:p>
        </p:txBody>
      </p:sp>
      <p:sp>
        <p:nvSpPr>
          <p:cNvPr id="608" name="Dead Lane"/>
          <p:cNvSpPr/>
          <p:nvPr/>
        </p:nvSpPr>
        <p:spPr>
          <a:xfrm>
            <a:off x="3810000" y="24511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죽은 파티클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slot을 DeadList에 반납</a:t>
            </a:r>
          </a:p>
        </p:txBody>
      </p:sp>
      <p:sp>
        <p:nvSpPr>
          <p:cNvPr id="609" name="Dead Box 1"/>
          <p:cNvSpPr/>
          <p:nvPr/>
        </p:nvSpPr>
        <p:spPr>
          <a:xfrm>
            <a:off x="3810000" y="2832100"/>
            <a:ext cx="2286000" cy="1066800"/>
          </a:xfrm>
          <a:prstGeom prst="roundRect">
            <a:avLst/>
          </a:prstGeom>
          <a:solidFill>
            <a:srgbClr val="FBEDED"/>
          </a:solidFill>
          <a:ln w="9525">
            <a:solidFill>
              <a:srgbClr val="E6B8B7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  </a:t>
            </a:r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죽음 표시</a:t>
            </a:r>
          </a:p>
          <a:p>
            <a:pPr algn="ctr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Particles[slot].flag = 0</a:t>
            </a:r>
          </a:p>
        </p:txBody>
      </p:sp>
      <p:cxnSp>
        <p:nvCxnSpPr>
          <p:cNvPr id="610" name="Dead Arrow 1"/>
          <p:cNvCxnSpPr/>
          <p:nvPr/>
        </p:nvCxnSpPr>
        <p:spPr>
          <a:xfrm>
            <a:off x="6121400" y="3365500"/>
            <a:ext cx="25400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611" name="Dead Box 2"/>
          <p:cNvSpPr/>
          <p:nvPr/>
        </p:nvSpPr>
        <p:spPr>
          <a:xfrm>
            <a:off x="6413500" y="2832100"/>
            <a:ext cx="2286000" cy="1066800"/>
          </a:xfrm>
          <a:prstGeom prst="roundRect">
            <a:avLst/>
          </a:prstGeom>
          <a:solidFill>
            <a:srgbClr val="FBEDED"/>
          </a:solidFill>
          <a:ln w="9525">
            <a:solidFill>
              <a:srgbClr val="E6B8B7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2  </a:t>
            </a:r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Counter 갱신</a:t>
            </a:r>
          </a:p>
          <a:p>
            <a:pPr algn="ctr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DeadCount +1, AliveCount −1</a:t>
            </a:r>
          </a:p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증가 전 DeadCount 획득</a:t>
            </a:r>
          </a:p>
        </p:txBody>
      </p:sp>
      <p:cxnSp>
        <p:nvCxnSpPr>
          <p:cNvPr id="612" name="Dead Arrow 2"/>
          <p:cNvCxnSpPr/>
          <p:nvPr/>
        </p:nvCxnSpPr>
        <p:spPr>
          <a:xfrm>
            <a:off x="8724900" y="3365500"/>
            <a:ext cx="25400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613" name="Dead Box 3"/>
          <p:cNvSpPr/>
          <p:nvPr/>
        </p:nvSpPr>
        <p:spPr>
          <a:xfrm>
            <a:off x="9017000" y="2832100"/>
            <a:ext cx="2286000" cy="1066800"/>
          </a:xfrm>
          <a:prstGeom prst="roundRect">
            <a:avLst/>
          </a:prstGeom>
          <a:solidFill>
            <a:srgbClr val="FBEDED"/>
          </a:solidFill>
          <a:ln w="9525">
            <a:solidFill>
              <a:srgbClr val="E6B8B7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3  </a:t>
            </a:r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slot 반납</a:t>
            </a:r>
          </a:p>
          <a:p>
            <a:pPr algn="ctr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DeadList[증가 전 값] = slot</a:t>
            </a:r>
          </a:p>
        </p:txBody>
      </p:sp>
      <p:cxnSp>
        <p:nvCxnSpPr>
          <p:cNvPr id="614" name="No Down"/>
          <p:cNvCxnSpPr/>
          <p:nvPr/>
        </p:nvCxnSpPr>
        <p:spPr>
          <a:xfrm>
            <a:off x="2032000" y="3911600"/>
            <a:ext cx="0" cy="1295400"/>
          </a:xfrm>
          <a:prstGeom prst="straightConnector1">
            <a:avLst/>
          </a:prstGeom>
          <a:ln w="19050">
            <a:solidFill>
              <a:srgbClr val="404040"/>
            </a:solidFill>
          </a:ln>
        </p:spPr>
      </p:cxnSp>
      <p:cxnSp>
        <p:nvCxnSpPr>
          <p:cNvPr id="615" name="No Arrow"/>
          <p:cNvCxnSpPr/>
          <p:nvPr/>
        </p:nvCxnSpPr>
        <p:spPr>
          <a:xfrm>
            <a:off x="2032000" y="5207000"/>
            <a:ext cx="1727200" cy="0"/>
          </a:xfrm>
          <a:prstGeom prst="straightConnector1">
            <a:avLst/>
          </a:prstGeom>
          <a:ln w="22225">
            <a:solidFill>
              <a:srgbClr val="3A7D2C"/>
            </a:solidFill>
            <a:tailEnd type="triangle" w="med" len="med"/>
          </a:ln>
        </p:spPr>
      </p:cxnSp>
      <p:sp>
        <p:nvSpPr>
          <p:cNvPr id="616" name="No"/>
          <p:cNvSpPr/>
          <p:nvPr/>
        </p:nvSpPr>
        <p:spPr>
          <a:xfrm>
            <a:off x="2108200" y="4127500"/>
            <a:ext cx="50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3A7D2C"/>
                </a:solidFill>
                <a:latin typeface="페이퍼로지 7 Bold"/>
                <a:ea typeface="페이퍼로지 7 Bold"/>
              </a:rPr>
              <a:t>No</a:t>
            </a:r>
          </a:p>
        </p:txBody>
      </p:sp>
      <p:sp>
        <p:nvSpPr>
          <p:cNvPr id="617" name="Alive Lane"/>
          <p:cNvSpPr/>
          <p:nvPr/>
        </p:nvSpPr>
        <p:spPr>
          <a:xfrm>
            <a:off x="3810000" y="4508500"/>
            <a:ext cx="5080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3A7D2C"/>
                </a:solidFill>
                <a:latin typeface="페이퍼로지 7 Bold"/>
                <a:ea typeface="페이퍼로지 7 Bold"/>
              </a:rPr>
              <a:t>살아있는 파티클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물리 업데이트</a:t>
            </a:r>
          </a:p>
        </p:txBody>
      </p:sp>
      <p:sp>
        <p:nvSpPr>
          <p:cNvPr id="618" name="Alive Box 1"/>
          <p:cNvSpPr/>
          <p:nvPr/>
        </p:nvSpPr>
        <p:spPr>
          <a:xfrm>
            <a:off x="3810000" y="4889500"/>
            <a:ext cx="2286000" cy="635000"/>
          </a:xfrm>
          <a:prstGeom prst="roundRect">
            <a:avLst/>
          </a:prstGeom>
          <a:solidFill>
            <a:srgbClr val="EAF5E4"/>
          </a:solidFill>
          <a:ln w="9525">
            <a:solidFill>
              <a:srgbClr val="B5D9A6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속도 증감</a:t>
            </a:r>
          </a:p>
        </p:txBody>
      </p:sp>
      <p:sp>
        <p:nvSpPr>
          <p:cNvPr id="619" name="Alive Box 2"/>
          <p:cNvSpPr/>
          <p:nvPr/>
        </p:nvSpPr>
        <p:spPr>
          <a:xfrm>
            <a:off x="6413500" y="4889500"/>
            <a:ext cx="2286000" cy="635000"/>
          </a:xfrm>
          <a:prstGeom prst="roundRect">
            <a:avLst/>
          </a:prstGeom>
          <a:solidFill>
            <a:srgbClr val="EAF5E4"/>
          </a:solidFill>
          <a:ln w="9525">
            <a:solidFill>
              <a:srgbClr val="B5D9A6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위치 적분</a:t>
            </a:r>
          </a:p>
        </p:txBody>
      </p:sp>
      <p:cxnSp>
        <p:nvCxnSpPr>
          <p:cNvPr id="620" name="Alive Arrow"/>
          <p:cNvCxnSpPr/>
          <p:nvPr/>
        </p:nvCxnSpPr>
        <p:spPr>
          <a:xfrm>
            <a:off x="6121400" y="5207000"/>
            <a:ext cx="254000" cy="0"/>
          </a:xfrm>
          <a:prstGeom prst="straightConnector1">
            <a:avLst/>
          </a:prstGeom>
          <a:ln w="15875">
            <a:solidFill>
              <a:srgbClr val="3A7D2C"/>
            </a:solidFill>
            <a:tailEnd type="triangle" w="med" len="med"/>
          </a:ln>
        </p:spPr>
      </p:cxnSp>
      <p:sp>
        <p:nvSpPr>
          <p:cNvPr id="621" name="Fig P Label"/>
          <p:cNvSpPr/>
          <p:nvPr/>
        </p:nvSpPr>
        <p:spPr>
          <a:xfrm>
            <a:off x="4064000" y="1066800"/>
            <a:ext cx="2641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Particles</a:t>
            </a:r>
          </a:p>
        </p:txBody>
      </p:sp>
      <p:sp>
        <p:nvSpPr>
          <p:cNvPr id="622" name="Fig P 0"/>
          <p:cNvSpPr/>
          <p:nvPr/>
        </p:nvSpPr>
        <p:spPr>
          <a:xfrm>
            <a:off x="4064000" y="1397000"/>
            <a:ext cx="3302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3" name="Fig P 1"/>
          <p:cNvSpPr/>
          <p:nvPr/>
        </p:nvSpPr>
        <p:spPr>
          <a:xfrm>
            <a:off x="4394200" y="1397000"/>
            <a:ext cx="3302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4" name="Fig P 2"/>
          <p:cNvSpPr/>
          <p:nvPr/>
        </p:nvSpPr>
        <p:spPr>
          <a:xfrm>
            <a:off x="4724400" y="1397000"/>
            <a:ext cx="3302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5" name="Fig P 3"/>
          <p:cNvSpPr/>
          <p:nvPr/>
        </p:nvSpPr>
        <p:spPr>
          <a:xfrm>
            <a:off x="5054600" y="1397000"/>
            <a:ext cx="3302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6" name="Fig P 4"/>
          <p:cNvSpPr/>
          <p:nvPr/>
        </p:nvSpPr>
        <p:spPr>
          <a:xfrm>
            <a:off x="5384800" y="1397000"/>
            <a:ext cx="3302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7" name="Fig P 5"/>
          <p:cNvSpPr/>
          <p:nvPr/>
        </p:nvSpPr>
        <p:spPr>
          <a:xfrm>
            <a:off x="5715000" y="1397000"/>
            <a:ext cx="3302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8" name="Fig P 6"/>
          <p:cNvSpPr/>
          <p:nvPr/>
        </p:nvSpPr>
        <p:spPr>
          <a:xfrm>
            <a:off x="6045200" y="1397000"/>
            <a:ext cx="3302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29" name="Fig P 7"/>
          <p:cNvSpPr/>
          <p:nvPr/>
        </p:nvSpPr>
        <p:spPr>
          <a:xfrm>
            <a:off x="6375400" y="1397000"/>
            <a:ext cx="3302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0" name="Fig P Outline"/>
          <p:cNvSpPr/>
          <p:nvPr/>
        </p:nvSpPr>
        <p:spPr>
          <a:xfrm>
            <a:off x="4064000" y="1397000"/>
            <a:ext cx="26416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1" name="Fig P Hi"/>
          <p:cNvSpPr/>
          <p:nvPr/>
        </p:nvSpPr>
        <p:spPr>
          <a:xfrm>
            <a:off x="4724400" y="1397000"/>
            <a:ext cx="330200" cy="330200"/>
          </a:xfrm>
          <a:prstGeom prst="rect">
            <a:avLst/>
          </a:prstGeom>
          <a:noFill/>
          <a:ln w="349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32" name="Fig P idx 0"/>
          <p:cNvSpPr/>
          <p:nvPr/>
        </p:nvSpPr>
        <p:spPr>
          <a:xfrm>
            <a:off x="40640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33" name="Fig P idx 1"/>
          <p:cNvSpPr/>
          <p:nvPr/>
        </p:nvSpPr>
        <p:spPr>
          <a:xfrm>
            <a:off x="43942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34" name="Fig P idx 2"/>
          <p:cNvSpPr/>
          <p:nvPr/>
        </p:nvSpPr>
        <p:spPr>
          <a:xfrm>
            <a:off x="47244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35" name="Fig P idx 3"/>
          <p:cNvSpPr/>
          <p:nvPr/>
        </p:nvSpPr>
        <p:spPr>
          <a:xfrm>
            <a:off x="50546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36" name="Fig P idx 4"/>
          <p:cNvSpPr/>
          <p:nvPr/>
        </p:nvSpPr>
        <p:spPr>
          <a:xfrm>
            <a:off x="53848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37" name="Fig P idx 5"/>
          <p:cNvSpPr/>
          <p:nvPr/>
        </p:nvSpPr>
        <p:spPr>
          <a:xfrm>
            <a:off x="57150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38" name="Fig P idx 6"/>
          <p:cNvSpPr/>
          <p:nvPr/>
        </p:nvSpPr>
        <p:spPr>
          <a:xfrm>
            <a:off x="60452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39" name="Fig P idx 7"/>
          <p:cNvSpPr/>
          <p:nvPr/>
        </p:nvSpPr>
        <p:spPr>
          <a:xfrm>
            <a:off x="6375400" y="1752600"/>
            <a:ext cx="3302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40" name="Fig D Label"/>
          <p:cNvSpPr/>
          <p:nvPr/>
        </p:nvSpPr>
        <p:spPr>
          <a:xfrm>
            <a:off x="8128000" y="1066800"/>
            <a:ext cx="2311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DeadList</a:t>
            </a:r>
          </a:p>
        </p:txBody>
      </p:sp>
      <p:sp>
        <p:nvSpPr>
          <p:cNvPr id="641" name="Fig D 0"/>
          <p:cNvSpPr/>
          <p:nvPr/>
        </p:nvSpPr>
        <p:spPr>
          <a:xfrm>
            <a:off x="8128000" y="1397000"/>
            <a:ext cx="3302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42" name="Fig D 1"/>
          <p:cNvSpPr/>
          <p:nvPr/>
        </p:nvSpPr>
        <p:spPr>
          <a:xfrm>
            <a:off x="8458200" y="1397000"/>
            <a:ext cx="3302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43" name="Fig D 2"/>
          <p:cNvSpPr/>
          <p:nvPr/>
        </p:nvSpPr>
        <p:spPr>
          <a:xfrm>
            <a:off x="8788400" y="1397000"/>
            <a:ext cx="3302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644" name="Fig D 3"/>
          <p:cNvSpPr/>
          <p:nvPr/>
        </p:nvSpPr>
        <p:spPr>
          <a:xfrm>
            <a:off x="9118600" y="1397000"/>
            <a:ext cx="330200" cy="3302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45" name="Fig D Ell"/>
          <p:cNvSpPr/>
          <p:nvPr/>
        </p:nvSpPr>
        <p:spPr>
          <a:xfrm>
            <a:off x="9448800" y="13970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646" name="Fig D E0"/>
          <p:cNvSpPr/>
          <p:nvPr/>
        </p:nvSpPr>
        <p:spPr>
          <a:xfrm>
            <a:off x="9779000" y="13970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7" name="Fig D E1"/>
          <p:cNvSpPr/>
          <p:nvPr/>
        </p:nvSpPr>
        <p:spPr>
          <a:xfrm>
            <a:off x="10109200" y="13970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8" name="Fig D Outline"/>
          <p:cNvSpPr/>
          <p:nvPr/>
        </p:nvSpPr>
        <p:spPr>
          <a:xfrm>
            <a:off x="8128000" y="1397000"/>
            <a:ext cx="23114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sp>
        <p:nvSpPr>
          <p:cNvPr id="649" name="Fig D Hi"/>
          <p:cNvSpPr/>
          <p:nvPr/>
        </p:nvSpPr>
        <p:spPr>
          <a:xfrm>
            <a:off x="9118600" y="1397000"/>
            <a:ext cx="330200" cy="330200"/>
          </a:xfrm>
          <a:prstGeom prst="rect">
            <a:avLst/>
          </a:prstGeom>
          <a:noFill/>
          <a:ln w="349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endParaRPr lang="en-US" sz="1200"/>
          </a:p>
        </p:txBody>
      </p:sp>
      <p:cxnSp>
        <p:nvCxnSpPr>
          <p:cNvPr id="650" name="Fig Arrow"/>
          <p:cNvCxnSpPr/>
          <p:nvPr/>
        </p:nvCxnSpPr>
        <p:spPr>
          <a:xfrm>
            <a:off x="6832600" y="1562100"/>
            <a:ext cx="1168400" cy="0"/>
          </a:xfrm>
          <a:prstGeom prst="straightConnector1">
            <a:avLst/>
          </a:prstGeom>
          <a:ln w="22225">
            <a:solidFill>
              <a:srgbClr val="C55A11"/>
            </a:solidFill>
            <a:tailEnd type="triangle" w="med" len="med"/>
          </a:ln>
        </p:spPr>
      </p:cxnSp>
      <p:sp>
        <p:nvSpPr>
          <p:cNvPr id="651" name="Fig Arrow Label"/>
          <p:cNvSpPr/>
          <p:nvPr/>
        </p:nvSpPr>
        <p:spPr>
          <a:xfrm>
            <a:off x="6832600" y="1117600"/>
            <a:ext cx="116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slot 2 반납</a:t>
            </a:r>
          </a:p>
        </p:txBody>
      </p:sp>
    </p:spTree>
    <p:extLst>
      <p:ext uri="{BB962C8B-B14F-4D97-AF65-F5344CB8AC3E}">
        <p14:creationId xmlns:p14="http://schemas.microsoft.com/office/powerpoint/2010/main" val="2731629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7D010-2F40-49E7-2067-E8F4C747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SlotReuse</a:t>
            </a:r>
            <a:r>
              <a:rPr lang="ko-KR" altLang="en-US" dirty="0"/>
              <a:t> 장단점 </a:t>
            </a:r>
            <a:r>
              <a:rPr lang="en-US" altLang="ko-KR" dirty="0"/>
              <a:t>(</a:t>
            </a:r>
            <a:r>
              <a:rPr lang="ko-KR" altLang="en-US" dirty="0"/>
              <a:t>예상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3D85B24-6379-4AB9-76EE-B4EF1C24D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11</a:t>
            </a:fld>
            <a:endParaRPr lang="ko-KR" altLang="en-US"/>
          </a:p>
        </p:txBody>
      </p:sp>
      <p:sp>
        <p:nvSpPr>
          <p:cNvPr id="601" name="장점 Card"/>
          <p:cNvSpPr/>
          <p:nvPr/>
        </p:nvSpPr>
        <p:spPr>
          <a:xfrm>
            <a:off x="762000" y="1079500"/>
            <a:ext cx="5207000" cy="50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2" name="장점 Tag"/>
          <p:cNvSpPr/>
          <p:nvPr/>
        </p:nvSpPr>
        <p:spPr>
          <a:xfrm>
            <a:off x="1016000" y="1333500"/>
            <a:ext cx="762000" cy="29210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sz="1600" dirty="0">
                <a:solidFill>
                  <a:srgbClr val="FFFFFF"/>
                </a:solidFill>
                <a:latin typeface="나눔스퀘어 Bold"/>
                <a:ea typeface="나눔스퀘어 Bold"/>
              </a:rPr>
              <a:t>장점</a:t>
            </a:r>
          </a:p>
        </p:txBody>
      </p:sp>
      <p:sp>
        <p:nvSpPr>
          <p:cNvPr id="603" name="장점 Num 1"/>
          <p:cNvSpPr/>
          <p:nvPr/>
        </p:nvSpPr>
        <p:spPr>
          <a:xfrm>
            <a:off x="1016000" y="1930400"/>
            <a:ext cx="330200" cy="330200"/>
          </a:xfrm>
          <a:prstGeom prst="ellipse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4" name="장점 Item 1"/>
          <p:cNvSpPr/>
          <p:nvPr/>
        </p:nvSpPr>
        <p:spPr>
          <a:xfrm>
            <a:off x="1498600" y="1905000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필요한 만큼만 Emit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Dispatch(EmitCount)로 새 파티클 수만큼만 실행</a:t>
            </a:r>
          </a:p>
        </p:txBody>
      </p:sp>
      <p:sp>
        <p:nvSpPr>
          <p:cNvPr id="605" name="장점 Rule 1"/>
          <p:cNvSpPr/>
          <p:nvPr/>
        </p:nvSpPr>
        <p:spPr>
          <a:xfrm>
            <a:off x="1016000" y="2794000"/>
            <a:ext cx="4699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6" name="장점 Num 2"/>
          <p:cNvSpPr/>
          <p:nvPr/>
        </p:nvSpPr>
        <p:spPr>
          <a:xfrm>
            <a:off x="1016000" y="2946400"/>
            <a:ext cx="330200" cy="330200"/>
          </a:xfrm>
          <a:prstGeom prst="ellipse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07" name="장점 Item 2"/>
          <p:cNvSpPr/>
          <p:nvPr/>
        </p:nvSpPr>
        <p:spPr>
          <a:xfrm>
            <a:off x="1498600" y="2921000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단순한 Compute · Buffer 구조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버퍼 3개, Alive 압축·재배치 단계 없음</a:t>
            </a:r>
          </a:p>
        </p:txBody>
      </p:sp>
      <p:sp>
        <p:nvSpPr>
          <p:cNvPr id="608" name="장점 Rule 2"/>
          <p:cNvSpPr/>
          <p:nvPr/>
        </p:nvSpPr>
        <p:spPr>
          <a:xfrm>
            <a:off x="1016000" y="3810000"/>
            <a:ext cx="4699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9" name="장점 Num 3"/>
          <p:cNvSpPr/>
          <p:nvPr/>
        </p:nvSpPr>
        <p:spPr>
          <a:xfrm>
            <a:off x="1016000" y="3962400"/>
            <a:ext cx="330200" cy="330200"/>
          </a:xfrm>
          <a:prstGeom prst="ellipse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10" name="장점 Item 3"/>
          <p:cNvSpPr/>
          <p:nvPr/>
        </p:nvSpPr>
        <p:spPr>
          <a:xfrm>
            <a:off x="1498600" y="3937000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원자연산이 적음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생성·소멸할 때만 Counter에 원자연산</a:t>
            </a:r>
          </a:p>
        </p:txBody>
      </p:sp>
      <p:sp>
        <p:nvSpPr>
          <p:cNvPr id="611" name="장점 Rule 3"/>
          <p:cNvSpPr/>
          <p:nvPr/>
        </p:nvSpPr>
        <p:spPr>
          <a:xfrm>
            <a:off x="1016000" y="4826000"/>
            <a:ext cx="4699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2" name="장점 Num 4"/>
          <p:cNvSpPr/>
          <p:nvPr/>
        </p:nvSpPr>
        <p:spPr>
          <a:xfrm>
            <a:off x="1016000" y="4978400"/>
            <a:ext cx="330200" cy="330200"/>
          </a:xfrm>
          <a:prstGeom prst="ellipse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13" name="장점 Item 4"/>
          <p:cNvSpPr/>
          <p:nvPr/>
        </p:nvSpPr>
        <p:spPr>
          <a:xfrm>
            <a:off x="1498600" y="4953000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메모리 사용량이 적음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Particles + DeadList + Counter만 사용</a:t>
            </a:r>
          </a:p>
        </p:txBody>
      </p:sp>
      <p:sp>
        <p:nvSpPr>
          <p:cNvPr id="614" name="단점 Card"/>
          <p:cNvSpPr/>
          <p:nvPr/>
        </p:nvSpPr>
        <p:spPr>
          <a:xfrm>
            <a:off x="6223000" y="1079500"/>
            <a:ext cx="5207000" cy="2786647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5" name="단점 Tag"/>
          <p:cNvSpPr/>
          <p:nvPr/>
        </p:nvSpPr>
        <p:spPr>
          <a:xfrm>
            <a:off x="6477000" y="1333500"/>
            <a:ext cx="762000" cy="2921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sz="1600" dirty="0">
                <a:solidFill>
                  <a:srgbClr val="FFFFFF"/>
                </a:solidFill>
                <a:latin typeface="나눔스퀘어 Bold"/>
                <a:ea typeface="나눔스퀘어 Bold"/>
              </a:rPr>
              <a:t>단점</a:t>
            </a:r>
          </a:p>
        </p:txBody>
      </p:sp>
      <p:sp>
        <p:nvSpPr>
          <p:cNvPr id="616" name="단점 Num 1"/>
          <p:cNvSpPr/>
          <p:nvPr/>
        </p:nvSpPr>
        <p:spPr>
          <a:xfrm>
            <a:off x="6477000" y="1930400"/>
            <a:ext cx="330200" cy="330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17" name="단점 Item 1"/>
          <p:cNvSpPr/>
          <p:nvPr/>
        </p:nvSpPr>
        <p:spPr>
          <a:xfrm>
            <a:off x="6959600" y="1905000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Simulate · Render가 항상 maxParticles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Dead slot도 실행, render pass 수만큼 낭비 증가</a:t>
            </a:r>
          </a:p>
        </p:txBody>
      </p:sp>
      <p:sp>
        <p:nvSpPr>
          <p:cNvPr id="618" name="단점 Rule 1"/>
          <p:cNvSpPr/>
          <p:nvPr/>
        </p:nvSpPr>
        <p:spPr>
          <a:xfrm>
            <a:off x="6477000" y="2794000"/>
            <a:ext cx="4699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22" name="단점 Num 3"/>
          <p:cNvSpPr/>
          <p:nvPr/>
        </p:nvSpPr>
        <p:spPr>
          <a:xfrm>
            <a:off x="6477000" y="3064042"/>
            <a:ext cx="330200" cy="330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en-US" altLang="ko-KR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  <a:endParaRPr lang="ko-KR" altLang="en-US" sz="1300" dirty="0">
              <a:solidFill>
                <a:srgbClr val="FFFFFF"/>
              </a:solidFill>
              <a:latin typeface="페이퍼로지 7 Bold"/>
              <a:ea typeface="페이퍼로지 7 Bold"/>
            </a:endParaRPr>
          </a:p>
        </p:txBody>
      </p:sp>
      <p:sp>
        <p:nvSpPr>
          <p:cNvPr id="623" name="단점 Item 3"/>
          <p:cNvSpPr/>
          <p:nvPr/>
        </p:nvSpPr>
        <p:spPr>
          <a:xfrm>
            <a:off x="6959600" y="3038642"/>
            <a:ext cx="42672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Burst에 취약할 수 있음</a:t>
            </a:r>
          </a:p>
          <a:p>
            <a:pPr algn="l">
              <a:spcBef>
                <a:spcPts val="4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DeadCount 하나에 원자연산 집중, 개수 초과 검사 필요</a:t>
            </a:r>
          </a:p>
        </p:txBody>
      </p:sp>
    </p:spTree>
    <p:extLst>
      <p:ext uri="{BB962C8B-B14F-4D97-AF65-F5344CB8AC3E}">
        <p14:creationId xmlns:p14="http://schemas.microsoft.com/office/powerpoint/2010/main" val="4530322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AC3B70-89DF-C7EC-B48F-09FF7BCACD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AliveList 방식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E1DA159A-A14D-6B24-87F8-4EF2342A98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12</a:t>
            </a:fld>
            <a:endParaRPr lang="ko-KR" altLang="en-US"/>
          </a:p>
        </p:txBody>
      </p:sp>
      <p:sp>
        <p:nvSpPr>
          <p:cNvPr id="601" name="SlotReuse Panel"/>
          <p:cNvSpPr/>
          <p:nvPr/>
        </p:nvSpPr>
        <p:spPr>
          <a:xfrm>
            <a:off x="762000" y="1143000"/>
            <a:ext cx="4826000" cy="419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2" name="SlotReuse Tag"/>
          <p:cNvSpPr/>
          <p:nvPr/>
        </p:nvSpPr>
        <p:spPr>
          <a:xfrm>
            <a:off x="1016000" y="1371600"/>
            <a:ext cx="1270000" cy="304800"/>
          </a:xfrm>
          <a:prstGeom prst="roundRect">
            <a:avLst/>
          </a:prstGeom>
          <a:solidFill>
            <a:srgbClr val="7F7F7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나눔스퀘어 Bold"/>
                <a:ea typeface="나눔스퀘어 Bold"/>
              </a:rPr>
              <a:t>SlotReuse</a:t>
            </a:r>
          </a:p>
        </p:txBody>
      </p:sp>
      <p:sp>
        <p:nvSpPr>
          <p:cNvPr id="603" name="SlotReuse PLabel"/>
          <p:cNvSpPr/>
          <p:nvPr/>
        </p:nvSpPr>
        <p:spPr>
          <a:xfrm>
            <a:off x="1397000" y="1930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Particles</a:t>
            </a:r>
          </a:p>
        </p:txBody>
      </p:sp>
      <p:sp>
        <p:nvSpPr>
          <p:cNvPr id="604" name="SlotReuse P0"/>
          <p:cNvSpPr/>
          <p:nvPr/>
        </p:nvSpPr>
        <p:spPr>
          <a:xfrm>
            <a:off x="13970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5" name="SlotReuse P1"/>
          <p:cNvSpPr/>
          <p:nvPr/>
        </p:nvSpPr>
        <p:spPr>
          <a:xfrm>
            <a:off x="17526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6" name="SlotReuse P2"/>
          <p:cNvSpPr/>
          <p:nvPr/>
        </p:nvSpPr>
        <p:spPr>
          <a:xfrm>
            <a:off x="21082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7" name="SlotReuse P3"/>
          <p:cNvSpPr/>
          <p:nvPr/>
        </p:nvSpPr>
        <p:spPr>
          <a:xfrm>
            <a:off x="24638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8" name="SlotReuse P4"/>
          <p:cNvSpPr/>
          <p:nvPr/>
        </p:nvSpPr>
        <p:spPr>
          <a:xfrm>
            <a:off x="28194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9" name="SlotReuse P5"/>
          <p:cNvSpPr/>
          <p:nvPr/>
        </p:nvSpPr>
        <p:spPr>
          <a:xfrm>
            <a:off x="31750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0" name="SlotReuse P6"/>
          <p:cNvSpPr/>
          <p:nvPr/>
        </p:nvSpPr>
        <p:spPr>
          <a:xfrm>
            <a:off x="35306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1" name="SlotReuse P7"/>
          <p:cNvSpPr/>
          <p:nvPr/>
        </p:nvSpPr>
        <p:spPr>
          <a:xfrm>
            <a:off x="38862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2" name="SlotReuse P8"/>
          <p:cNvSpPr/>
          <p:nvPr/>
        </p:nvSpPr>
        <p:spPr>
          <a:xfrm>
            <a:off x="42418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3" name="SlotReuse P9"/>
          <p:cNvSpPr/>
          <p:nvPr/>
        </p:nvSpPr>
        <p:spPr>
          <a:xfrm>
            <a:off x="45974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4" name="SlotReuse POut"/>
          <p:cNvSpPr/>
          <p:nvPr/>
        </p:nvSpPr>
        <p:spPr>
          <a:xfrm>
            <a:off x="1397000" y="2235200"/>
            <a:ext cx="35560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5" name="SlotReuse Pi0"/>
          <p:cNvSpPr/>
          <p:nvPr/>
        </p:nvSpPr>
        <p:spPr>
          <a:xfrm>
            <a:off x="13970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16" name="SlotReuse Pi1"/>
          <p:cNvSpPr/>
          <p:nvPr/>
        </p:nvSpPr>
        <p:spPr>
          <a:xfrm>
            <a:off x="17526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17" name="SlotReuse Pi2"/>
          <p:cNvSpPr/>
          <p:nvPr/>
        </p:nvSpPr>
        <p:spPr>
          <a:xfrm>
            <a:off x="21082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18" name="SlotReuse Pi3"/>
          <p:cNvSpPr/>
          <p:nvPr/>
        </p:nvSpPr>
        <p:spPr>
          <a:xfrm>
            <a:off x="24638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19" name="SlotReuse Pi4"/>
          <p:cNvSpPr/>
          <p:nvPr/>
        </p:nvSpPr>
        <p:spPr>
          <a:xfrm>
            <a:off x="28194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20" name="SlotReuse Pi5"/>
          <p:cNvSpPr/>
          <p:nvPr/>
        </p:nvSpPr>
        <p:spPr>
          <a:xfrm>
            <a:off x="31750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21" name="SlotReuse Pi6"/>
          <p:cNvSpPr/>
          <p:nvPr/>
        </p:nvSpPr>
        <p:spPr>
          <a:xfrm>
            <a:off x="35306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22" name="SlotReuse Pi7"/>
          <p:cNvSpPr/>
          <p:nvPr/>
        </p:nvSpPr>
        <p:spPr>
          <a:xfrm>
            <a:off x="38862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23" name="SlotReuse Pi8"/>
          <p:cNvSpPr/>
          <p:nvPr/>
        </p:nvSpPr>
        <p:spPr>
          <a:xfrm>
            <a:off x="42418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8</a:t>
            </a:r>
          </a:p>
        </p:txBody>
      </p:sp>
      <p:sp>
        <p:nvSpPr>
          <p:cNvPr id="624" name="SlotReuse Pi9"/>
          <p:cNvSpPr/>
          <p:nvPr/>
        </p:nvSpPr>
        <p:spPr>
          <a:xfrm>
            <a:off x="45974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9</a:t>
            </a:r>
          </a:p>
        </p:txBody>
      </p:sp>
      <p:sp>
        <p:nvSpPr>
          <p:cNvPr id="625" name="AliveList Panel"/>
          <p:cNvSpPr/>
          <p:nvPr/>
        </p:nvSpPr>
        <p:spPr>
          <a:xfrm>
            <a:off x="6604000" y="1143000"/>
            <a:ext cx="4826000" cy="419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26" name="AliveList Tag"/>
          <p:cNvSpPr/>
          <p:nvPr/>
        </p:nvSpPr>
        <p:spPr>
          <a:xfrm>
            <a:off x="6858000" y="1371600"/>
            <a:ext cx="1270000" cy="30480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500" dirty="0">
                <a:solidFill>
                  <a:srgbClr val="FFFFFF"/>
                </a:solidFill>
                <a:latin typeface="나눔스퀘어 Bold"/>
                <a:ea typeface="나눔스퀘어 Bold"/>
              </a:rPr>
              <a:t>AliveList</a:t>
            </a:r>
          </a:p>
        </p:txBody>
      </p:sp>
      <p:sp>
        <p:nvSpPr>
          <p:cNvPr id="627" name="AliveList PLabel"/>
          <p:cNvSpPr/>
          <p:nvPr/>
        </p:nvSpPr>
        <p:spPr>
          <a:xfrm>
            <a:off x="7239000" y="1930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Particles</a:t>
            </a:r>
          </a:p>
        </p:txBody>
      </p:sp>
      <p:sp>
        <p:nvSpPr>
          <p:cNvPr id="628" name="AliveList P0"/>
          <p:cNvSpPr/>
          <p:nvPr/>
        </p:nvSpPr>
        <p:spPr>
          <a:xfrm>
            <a:off x="72390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29" name="AliveList P1"/>
          <p:cNvSpPr/>
          <p:nvPr/>
        </p:nvSpPr>
        <p:spPr>
          <a:xfrm>
            <a:off x="75946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0" name="AliveList P2"/>
          <p:cNvSpPr/>
          <p:nvPr/>
        </p:nvSpPr>
        <p:spPr>
          <a:xfrm>
            <a:off x="79502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1" name="AliveList P3"/>
          <p:cNvSpPr/>
          <p:nvPr/>
        </p:nvSpPr>
        <p:spPr>
          <a:xfrm>
            <a:off x="83058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2" name="AliveList P4"/>
          <p:cNvSpPr/>
          <p:nvPr/>
        </p:nvSpPr>
        <p:spPr>
          <a:xfrm>
            <a:off x="86614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3" name="AliveList P5"/>
          <p:cNvSpPr/>
          <p:nvPr/>
        </p:nvSpPr>
        <p:spPr>
          <a:xfrm>
            <a:off x="90170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4" name="AliveList P6"/>
          <p:cNvSpPr/>
          <p:nvPr/>
        </p:nvSpPr>
        <p:spPr>
          <a:xfrm>
            <a:off x="93726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5" name="AliveList P7"/>
          <p:cNvSpPr/>
          <p:nvPr/>
        </p:nvSpPr>
        <p:spPr>
          <a:xfrm>
            <a:off x="97282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6" name="AliveList P8"/>
          <p:cNvSpPr/>
          <p:nvPr/>
        </p:nvSpPr>
        <p:spPr>
          <a:xfrm>
            <a:off x="10083800" y="2235200"/>
            <a:ext cx="3556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7" name="AliveList P9"/>
          <p:cNvSpPr/>
          <p:nvPr/>
        </p:nvSpPr>
        <p:spPr>
          <a:xfrm>
            <a:off x="10439400" y="2235200"/>
            <a:ext cx="3556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8" name="AliveList POut"/>
          <p:cNvSpPr/>
          <p:nvPr/>
        </p:nvSpPr>
        <p:spPr>
          <a:xfrm>
            <a:off x="7239000" y="2235200"/>
            <a:ext cx="35560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39" name="AliveList Pi0"/>
          <p:cNvSpPr/>
          <p:nvPr/>
        </p:nvSpPr>
        <p:spPr>
          <a:xfrm>
            <a:off x="72390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40" name="AliveList Pi1"/>
          <p:cNvSpPr/>
          <p:nvPr/>
        </p:nvSpPr>
        <p:spPr>
          <a:xfrm>
            <a:off x="75946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41" name="AliveList Pi2"/>
          <p:cNvSpPr/>
          <p:nvPr/>
        </p:nvSpPr>
        <p:spPr>
          <a:xfrm>
            <a:off x="79502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42" name="AliveList Pi3"/>
          <p:cNvSpPr/>
          <p:nvPr/>
        </p:nvSpPr>
        <p:spPr>
          <a:xfrm>
            <a:off x="83058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43" name="AliveList Pi4"/>
          <p:cNvSpPr/>
          <p:nvPr/>
        </p:nvSpPr>
        <p:spPr>
          <a:xfrm>
            <a:off x="86614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44" name="AliveList Pi5"/>
          <p:cNvSpPr/>
          <p:nvPr/>
        </p:nvSpPr>
        <p:spPr>
          <a:xfrm>
            <a:off x="90170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45" name="AliveList Pi6"/>
          <p:cNvSpPr/>
          <p:nvPr/>
        </p:nvSpPr>
        <p:spPr>
          <a:xfrm>
            <a:off x="93726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46" name="AliveList Pi7"/>
          <p:cNvSpPr/>
          <p:nvPr/>
        </p:nvSpPr>
        <p:spPr>
          <a:xfrm>
            <a:off x="97282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47" name="AliveList Pi8"/>
          <p:cNvSpPr/>
          <p:nvPr/>
        </p:nvSpPr>
        <p:spPr>
          <a:xfrm>
            <a:off x="100838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8</a:t>
            </a:r>
          </a:p>
        </p:txBody>
      </p:sp>
      <p:sp>
        <p:nvSpPr>
          <p:cNvPr id="648" name="AliveList Pi9"/>
          <p:cNvSpPr/>
          <p:nvPr/>
        </p:nvSpPr>
        <p:spPr>
          <a:xfrm>
            <a:off x="10439400" y="2590800"/>
            <a:ext cx="3556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9</a:t>
            </a:r>
          </a:p>
        </p:txBody>
      </p:sp>
      <p:cxnSp>
        <p:nvCxnSpPr>
          <p:cNvPr id="649" name="L Br"/>
          <p:cNvCxnSpPr/>
          <p:nvPr/>
        </p:nvCxnSpPr>
        <p:spPr>
          <a:xfrm>
            <a:off x="1397000" y="3048000"/>
            <a:ext cx="3556000" cy="0"/>
          </a:xfrm>
          <a:prstGeom prst="straightConnector1">
            <a:avLst/>
          </a:prstGeom>
          <a:ln w="15875">
            <a:solidFill>
              <a:srgbClr val="C00000"/>
            </a:solidFill>
          </a:ln>
        </p:spPr>
      </p:cxnSp>
      <p:cxnSp>
        <p:nvCxnSpPr>
          <p:cNvPr id="650" name="L BrL"/>
          <p:cNvCxnSpPr/>
          <p:nvPr/>
        </p:nvCxnSpPr>
        <p:spPr>
          <a:xfrm>
            <a:off x="1397000" y="2946400"/>
            <a:ext cx="0" cy="101600"/>
          </a:xfrm>
          <a:prstGeom prst="straightConnector1">
            <a:avLst/>
          </a:prstGeom>
          <a:ln w="15875">
            <a:solidFill>
              <a:srgbClr val="C00000"/>
            </a:solidFill>
          </a:ln>
        </p:spPr>
      </p:cxnSp>
      <p:cxnSp>
        <p:nvCxnSpPr>
          <p:cNvPr id="651" name="L BrR"/>
          <p:cNvCxnSpPr/>
          <p:nvPr/>
        </p:nvCxnSpPr>
        <p:spPr>
          <a:xfrm>
            <a:off x="4953000" y="2946400"/>
            <a:ext cx="0" cy="101600"/>
          </a:xfrm>
          <a:prstGeom prst="straightConnector1">
            <a:avLst/>
          </a:prstGeom>
          <a:ln w="15875">
            <a:solidFill>
              <a:srgbClr val="C00000"/>
            </a:solidFill>
          </a:ln>
        </p:spPr>
      </p:cxnSp>
      <p:sp>
        <p:nvSpPr>
          <p:cNvPr id="652" name="L BrText"/>
          <p:cNvSpPr/>
          <p:nvPr/>
        </p:nvSpPr>
        <p:spPr>
          <a:xfrm>
            <a:off x="762000" y="31750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 slot까지 </a:t>
            </a:r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모든 slot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을 실행</a:t>
            </a:r>
          </a:p>
        </p:txBody>
      </p:sp>
      <p:sp>
        <p:nvSpPr>
          <p:cNvPr id="653" name="L Exec"/>
          <p:cNvSpPr/>
          <p:nvPr/>
        </p:nvSpPr>
        <p:spPr>
          <a:xfrm>
            <a:off x="1270000" y="4318000"/>
            <a:ext cx="3810000" cy="558800"/>
          </a:xfrm>
          <a:prstGeom prst="roundRect">
            <a:avLst>
              <a:gd name="adj" fmla="val 15000"/>
            </a:avLst>
          </a:prstGeom>
          <a:solidFill>
            <a:srgbClr val="F2F2F2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Simulate · Render</a:t>
            </a:r>
          </a:p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maxParticles개 실행</a:t>
            </a:r>
          </a:p>
        </p:txBody>
      </p:sp>
      <p:sp>
        <p:nvSpPr>
          <p:cNvPr id="655" name="R A0"/>
          <p:cNvSpPr/>
          <p:nvPr/>
        </p:nvSpPr>
        <p:spPr>
          <a:xfrm>
            <a:off x="7239000" y="3365500"/>
            <a:ext cx="3556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656" name="R A1"/>
          <p:cNvSpPr/>
          <p:nvPr/>
        </p:nvSpPr>
        <p:spPr>
          <a:xfrm>
            <a:off x="7594600" y="3365500"/>
            <a:ext cx="3556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57" name="R A2"/>
          <p:cNvSpPr/>
          <p:nvPr/>
        </p:nvSpPr>
        <p:spPr>
          <a:xfrm>
            <a:off x="7950200" y="3365500"/>
            <a:ext cx="3556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58" name="R A3"/>
          <p:cNvSpPr/>
          <p:nvPr/>
        </p:nvSpPr>
        <p:spPr>
          <a:xfrm>
            <a:off x="8305800" y="3365500"/>
            <a:ext cx="3556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59" name="R A4"/>
          <p:cNvSpPr/>
          <p:nvPr/>
        </p:nvSpPr>
        <p:spPr>
          <a:xfrm>
            <a:off x="8661400" y="3365500"/>
            <a:ext cx="3556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660" name="R AE5"/>
          <p:cNvSpPr/>
          <p:nvPr/>
        </p:nvSpPr>
        <p:spPr>
          <a:xfrm>
            <a:off x="9017000" y="33655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61" name="R AE6"/>
          <p:cNvSpPr/>
          <p:nvPr/>
        </p:nvSpPr>
        <p:spPr>
          <a:xfrm>
            <a:off x="9372600" y="33655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62" name="R AE7"/>
          <p:cNvSpPr/>
          <p:nvPr/>
        </p:nvSpPr>
        <p:spPr>
          <a:xfrm>
            <a:off x="9728200" y="33655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63" name="R AE8"/>
          <p:cNvSpPr/>
          <p:nvPr/>
        </p:nvSpPr>
        <p:spPr>
          <a:xfrm>
            <a:off x="10083800" y="33655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64" name="R AE9"/>
          <p:cNvSpPr/>
          <p:nvPr/>
        </p:nvSpPr>
        <p:spPr>
          <a:xfrm>
            <a:off x="10439400" y="3365500"/>
            <a:ext cx="3556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65" name="R AOut"/>
          <p:cNvSpPr/>
          <p:nvPr/>
        </p:nvSpPr>
        <p:spPr>
          <a:xfrm>
            <a:off x="7239000" y="3365500"/>
            <a:ext cx="35560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cxnSp>
        <p:nvCxnSpPr>
          <p:cNvPr id="666" name="R C0"/>
          <p:cNvCxnSpPr/>
          <p:nvPr/>
        </p:nvCxnSpPr>
        <p:spPr>
          <a:xfrm>
            <a:off x="7416800" y="2781300"/>
            <a:ext cx="0" cy="58420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cxnSp>
        <p:nvCxnSpPr>
          <p:cNvPr id="667" name="R C1"/>
          <p:cNvCxnSpPr/>
          <p:nvPr/>
        </p:nvCxnSpPr>
        <p:spPr>
          <a:xfrm flipH="1">
            <a:off x="7772400" y="2781300"/>
            <a:ext cx="355600" cy="58420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cxnSp>
        <p:nvCxnSpPr>
          <p:cNvPr id="668" name="R C2"/>
          <p:cNvCxnSpPr/>
          <p:nvPr/>
        </p:nvCxnSpPr>
        <p:spPr>
          <a:xfrm flipH="1">
            <a:off x="8128000" y="2781300"/>
            <a:ext cx="355600" cy="58420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cxnSp>
        <p:nvCxnSpPr>
          <p:cNvPr id="669" name="R C3"/>
          <p:cNvCxnSpPr/>
          <p:nvPr/>
        </p:nvCxnSpPr>
        <p:spPr>
          <a:xfrm flipH="1">
            <a:off x="8483600" y="2781300"/>
            <a:ext cx="711200" cy="58420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cxnSp>
        <p:nvCxnSpPr>
          <p:cNvPr id="670" name="R C4"/>
          <p:cNvCxnSpPr/>
          <p:nvPr/>
        </p:nvCxnSpPr>
        <p:spPr>
          <a:xfrm flipH="1">
            <a:off x="8839200" y="2781300"/>
            <a:ext cx="1422400" cy="584200"/>
          </a:xfrm>
          <a:prstGeom prst="straightConnector1">
            <a:avLst/>
          </a:prstGeom>
          <a:ln w="9525">
            <a:solidFill>
              <a:srgbClr val="A6A6A6"/>
            </a:solidFill>
            <a:tailEnd type="triangle" w="sm" len="sm"/>
          </a:ln>
        </p:spPr>
      </p:cxnSp>
      <p:cxnSp>
        <p:nvCxnSpPr>
          <p:cNvPr id="671" name="R Br"/>
          <p:cNvCxnSpPr/>
          <p:nvPr/>
        </p:nvCxnSpPr>
        <p:spPr>
          <a:xfrm>
            <a:off x="7239000" y="3822700"/>
            <a:ext cx="1778000" cy="0"/>
          </a:xfrm>
          <a:prstGeom prst="straightConnector1">
            <a:avLst/>
          </a:prstGeom>
          <a:ln w="15875">
            <a:solidFill>
              <a:srgbClr val="548235"/>
            </a:solidFill>
          </a:ln>
        </p:spPr>
      </p:cxnSp>
      <p:cxnSp>
        <p:nvCxnSpPr>
          <p:cNvPr id="672" name="R BrL"/>
          <p:cNvCxnSpPr/>
          <p:nvPr/>
        </p:nvCxnSpPr>
        <p:spPr>
          <a:xfrm>
            <a:off x="7239000" y="3721100"/>
            <a:ext cx="0" cy="101600"/>
          </a:xfrm>
          <a:prstGeom prst="straightConnector1">
            <a:avLst/>
          </a:prstGeom>
          <a:ln w="15875">
            <a:solidFill>
              <a:srgbClr val="548235"/>
            </a:solidFill>
          </a:ln>
        </p:spPr>
      </p:cxnSp>
      <p:cxnSp>
        <p:nvCxnSpPr>
          <p:cNvPr id="673" name="R BrR"/>
          <p:cNvCxnSpPr/>
          <p:nvPr/>
        </p:nvCxnSpPr>
        <p:spPr>
          <a:xfrm>
            <a:off x="9017000" y="3721100"/>
            <a:ext cx="0" cy="101600"/>
          </a:xfrm>
          <a:prstGeom prst="straightConnector1">
            <a:avLst/>
          </a:prstGeom>
          <a:ln w="15875">
            <a:solidFill>
              <a:srgbClr val="548235"/>
            </a:solidFill>
          </a:ln>
        </p:spPr>
      </p:cxnSp>
      <p:sp>
        <p:nvSpPr>
          <p:cNvPr id="674" name="R BrText"/>
          <p:cNvSpPr/>
          <p:nvPr/>
        </p:nvSpPr>
        <p:spPr>
          <a:xfrm>
            <a:off x="7239000" y="3898900"/>
            <a:ext cx="4826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Alive 파티클만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실행</a:t>
            </a:r>
          </a:p>
        </p:txBody>
      </p:sp>
      <p:sp>
        <p:nvSpPr>
          <p:cNvPr id="675" name="R Exec"/>
          <p:cNvSpPr/>
          <p:nvPr/>
        </p:nvSpPr>
        <p:spPr>
          <a:xfrm>
            <a:off x="7112000" y="4318000"/>
            <a:ext cx="3810000" cy="558800"/>
          </a:xfrm>
          <a:prstGeom prst="roundRect">
            <a:avLst>
              <a:gd name="adj" fmla="val 15000"/>
            </a:avLst>
          </a:prstGeom>
          <a:solidFill>
            <a:srgbClr val="E2F0D9"/>
          </a:solidFill>
          <a:ln w="9525">
            <a:solidFill>
              <a:srgbClr val="548235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Simulate · Render</a:t>
            </a:r>
          </a:p>
          <a:p>
            <a:pPr algn="ctr"/>
            <a:r>
              <a:rPr lang="ko-KR" altLang="en-US" sz="15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AliveCount개만 실행</a:t>
            </a:r>
          </a:p>
        </p:txBody>
      </p:sp>
      <p:cxnSp>
        <p:nvCxnSpPr>
          <p:cNvPr id="676" name="Mid Arrow"/>
          <p:cNvCxnSpPr/>
          <p:nvPr/>
        </p:nvCxnSpPr>
        <p:spPr>
          <a:xfrm>
            <a:off x="5715000" y="3238500"/>
            <a:ext cx="762000" cy="0"/>
          </a:xfrm>
          <a:prstGeom prst="straightConnector1">
            <a:avLst/>
          </a:prstGeom>
          <a:ln w="28575">
            <a:solidFill>
              <a:srgbClr val="C55A11"/>
            </a:solidFill>
            <a:tailEnd type="triangle" w="sm" len="sm"/>
          </a:ln>
        </p:spPr>
      </p:cxnSp>
      <p:sp>
        <p:nvSpPr>
          <p:cNvPr id="677" name="Caption"/>
          <p:cNvSpPr/>
          <p:nvPr/>
        </p:nvSpPr>
        <p:spPr>
          <a:xfrm>
            <a:off x="762000" y="5651500"/>
            <a:ext cx="10668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Simulate · Render를 maxParticles가 아니라 </a:t>
            </a:r>
            <a:r>
              <a:rPr lang="ko-KR" altLang="en-US" sz="18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 파티클 수만큼</a:t>
            </a:r>
            <a:r>
              <a:rPr lang="ko-KR" altLang="en-US" sz="18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실행한다</a:t>
            </a:r>
          </a:p>
        </p:txBody>
      </p:sp>
      <p:sp>
        <p:nvSpPr>
          <p:cNvPr id="654" name="R ALabel"/>
          <p:cNvSpPr/>
          <p:nvPr/>
        </p:nvSpPr>
        <p:spPr>
          <a:xfrm>
            <a:off x="9029700" y="3384550"/>
            <a:ext cx="1739900" cy="292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sz="13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AliveList</a:t>
            </a:r>
          </a:p>
        </p:txBody>
      </p:sp>
    </p:spTree>
    <p:extLst>
      <p:ext uri="{BB962C8B-B14F-4D97-AF65-F5344CB8AC3E}">
        <p14:creationId xmlns:p14="http://schemas.microsoft.com/office/powerpoint/2010/main" val="8608367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03C3BB-373F-FAB8-4004-8BCAC5B082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AliveList 버퍼 구성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E91B1A1-0D3C-CDBA-82E1-057B3F36AD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13</a:t>
            </a:fld>
            <a:endParaRPr lang="ko-KR" altLang="en-US"/>
          </a:p>
        </p:txBody>
      </p:sp>
      <p:graphicFrame>
        <p:nvGraphicFramePr>
          <p:cNvPr id="501" name="Buffer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018901"/>
              </p:ext>
            </p:extLst>
          </p:nvPr>
        </p:nvGraphicFramePr>
        <p:xfrm>
          <a:off x="762000" y="1016000"/>
          <a:ext cx="10668000" cy="5257800"/>
        </p:xfrm>
        <a:graphic>
          <a:graphicData uri="http://schemas.openxmlformats.org/drawingml/2006/table">
            <a:tbl>
              <a:tblPr firstRow="1"/>
              <a:tblGrid>
                <a:gridCol w="1714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88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22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64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버퍼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담는 값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원소 타입 / 버퍼 타입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7 Bold"/>
                          <a:ea typeface="페이퍼로지 7 Bold"/>
                        </a:rPr>
                        <a:t>원소 수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12700">
                      <a:solidFill>
                        <a:srgbClr val="7F7F7F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5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Particles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파티클 1개의 데이터 (3페이지 구조체)</a:t>
                      </a:r>
                    </a:p>
                  </a:txBody>
                  <a:tcPr marL="127000" marR="127000" marT="114300" marB="114300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Particle 구조체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StructuredBuffer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maxParticles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1270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Counter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AliveCount, DeadCount, EmitCount,</a:t>
                      </a:r>
                    </a:p>
                    <a:p>
                      <a:pPr algn="l"/>
                      <a:r>
                        <a:rPr lang="ko-KR" altLang="en-US" sz="1600" dirty="0">
                          <a:solidFill>
                            <a:srgbClr val="C55A11"/>
                          </a:solidFill>
                          <a:latin typeface="페이퍼로지 7 Bold"/>
                          <a:ea typeface="페이퍼로지 7 Bold"/>
                        </a:rPr>
                        <a:t>AliveAfterSimulation</a:t>
                      </a:r>
                      <a:r>
                        <a:rPr lang="ko-KR" altLang="en-US" sz="1400" dirty="0">
                          <a:solidFill>
                            <a:srgbClr val="C55A11"/>
                          </a:solidFill>
                          <a:latin typeface="페이퍼로지 4 Regular"/>
                          <a:ea typeface="페이퍼로지 4 Regular"/>
                        </a:rPr>
                        <a:t> (이제 사용)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ByteAddressBuffer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4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5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DeadList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Dead 파티클의 Particles 인덱스</a:t>
                      </a:r>
                    </a:p>
                  </a:txBody>
                  <a:tcPr marL="127000" marR="127000" marT="114300" marB="11430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StructuredBuffer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maxParticles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2700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AliveList</a:t>
                      </a:r>
                    </a:p>
                    <a:p>
                      <a:pPr algn="l"/>
                      <a:r>
                        <a:rPr lang="ko-KR" altLang="en-US" sz="1200" dirty="0">
                          <a:solidFill>
                            <a:srgbClr val="C55A11"/>
                          </a:solidFill>
                          <a:latin typeface="페이퍼로지 7 Bold"/>
                          <a:ea typeface="페이퍼로지 7 Bold"/>
                        </a:rPr>
                        <a:t>추가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× 2 (</a:t>
                      </a: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ping-pong</a:t>
                      </a:r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)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Alive 파티클의 </a:t>
                      </a:r>
                      <a:r>
                        <a:rPr lang="ko-KR" altLang="en-US" sz="1600" dirty="0">
                          <a:solidFill>
                            <a:srgbClr val="C55A11"/>
                          </a:solidFill>
                          <a:latin typeface="페이퍼로지 7 Bold"/>
                          <a:ea typeface="페이퍼로지 7 Bold"/>
                        </a:rPr>
                        <a:t>Particles 인덱스</a:t>
                      </a:r>
                    </a:p>
                  </a:txBody>
                  <a:tcPr marL="127000" marR="127000" marT="114300" marB="114300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StructuredBuffer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maxParticles</a:t>
                      </a:r>
                    </a:p>
                    <a:p>
                      <a:pPr algn="r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× 2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E0E0E0"/>
                      </a:solidFill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IndirectArgs</a:t>
                      </a:r>
                    </a:p>
                    <a:p>
                      <a:pPr algn="l"/>
                      <a:r>
                        <a:rPr lang="ko-KR" altLang="en-US" sz="1200" dirty="0">
                          <a:solidFill>
                            <a:srgbClr val="C55A11"/>
                          </a:solidFill>
                          <a:latin typeface="페이퍼로지 7 Bold"/>
                          <a:ea typeface="페이퍼로지 7 Bold"/>
                        </a:rPr>
                        <a:t>추가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4 Regular"/>
                          <a:ea typeface="페이퍼로지 4 Regular"/>
                        </a:rPr>
                        <a:t>AliveCount, 정점 수(6)</a:t>
                      </a:r>
                    </a:p>
                    <a:p>
                      <a:pPr algn="l"/>
                      <a:r>
                        <a:rPr lang="ko-KR" altLang="en-US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Indirect 호출 인자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uint</a:t>
                      </a:r>
                    </a:p>
                    <a:p>
                      <a:pPr algn="l"/>
                      <a:r>
                        <a:rPr lang="en-US" altLang="ko-KR" sz="1400" dirty="0" err="1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ByteAddressBuffer</a:t>
                      </a:r>
                      <a:b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</a:b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(</a:t>
                      </a:r>
                      <a:r>
                        <a:rPr lang="ko-KR" altLang="en-US" sz="1400" dirty="0" err="1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IndirectArgs</a:t>
                      </a:r>
                      <a:r>
                        <a:rPr lang="en-US" altLang="ko-KR" sz="1400" dirty="0">
                          <a:solidFill>
                            <a:srgbClr val="7F7F7F"/>
                          </a:solidFill>
                          <a:latin typeface="페이퍼로지 4 Regular"/>
                          <a:ea typeface="페이퍼로지 4 Regular"/>
                        </a:rPr>
                        <a:t>)</a:t>
                      </a:r>
                      <a:endParaRPr lang="ko-KR" altLang="en-US" sz="1400" dirty="0">
                        <a:solidFill>
                          <a:srgbClr val="7F7F7F"/>
                        </a:solidFill>
                        <a:latin typeface="페이퍼로지 4 Regular"/>
                        <a:ea typeface="페이퍼로지 4 Regular"/>
                      </a:endParaRP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ko-KR" altLang="en-US" sz="1600" dirty="0">
                          <a:solidFill>
                            <a:srgbClr val="262626"/>
                          </a:solidFill>
                          <a:latin typeface="페이퍼로지 7 Bold"/>
                          <a:ea typeface="페이퍼로지 7 Bold"/>
                        </a:rPr>
                        <a:t>8</a:t>
                      </a:r>
                    </a:p>
                  </a:txBody>
                  <a:tcPr marL="127000" marR="127000" marT="114300" marB="114300" anchor="ctr"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BFBFBF"/>
                      </a:solidFill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11" name="P 0"/>
          <p:cNvSpPr/>
          <p:nvPr/>
        </p:nvSpPr>
        <p:spPr>
          <a:xfrm>
            <a:off x="2603500" y="1905000"/>
            <a:ext cx="330200" cy="3048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2" name="P 1"/>
          <p:cNvSpPr/>
          <p:nvPr/>
        </p:nvSpPr>
        <p:spPr>
          <a:xfrm>
            <a:off x="2933700" y="1905000"/>
            <a:ext cx="330200" cy="3048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3" name="P 2"/>
          <p:cNvSpPr/>
          <p:nvPr/>
        </p:nvSpPr>
        <p:spPr>
          <a:xfrm>
            <a:off x="3263900" y="1905000"/>
            <a:ext cx="330200" cy="3048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4" name="P 3"/>
          <p:cNvSpPr/>
          <p:nvPr/>
        </p:nvSpPr>
        <p:spPr>
          <a:xfrm>
            <a:off x="3594100" y="1905000"/>
            <a:ext cx="330200" cy="3048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5" name="P 4"/>
          <p:cNvSpPr/>
          <p:nvPr/>
        </p:nvSpPr>
        <p:spPr>
          <a:xfrm>
            <a:off x="3924300" y="1905000"/>
            <a:ext cx="330200" cy="3048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6" name="P 5"/>
          <p:cNvSpPr/>
          <p:nvPr/>
        </p:nvSpPr>
        <p:spPr>
          <a:xfrm>
            <a:off x="4254500" y="1905000"/>
            <a:ext cx="330200" cy="3048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7" name="P 6"/>
          <p:cNvSpPr/>
          <p:nvPr/>
        </p:nvSpPr>
        <p:spPr>
          <a:xfrm>
            <a:off x="4584700" y="1905000"/>
            <a:ext cx="330200" cy="3048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8" name="P 7"/>
          <p:cNvSpPr/>
          <p:nvPr/>
        </p:nvSpPr>
        <p:spPr>
          <a:xfrm>
            <a:off x="4914900" y="1905000"/>
            <a:ext cx="330200" cy="3048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19" name="P 8"/>
          <p:cNvSpPr/>
          <p:nvPr/>
        </p:nvSpPr>
        <p:spPr>
          <a:xfrm>
            <a:off x="5245100" y="1905000"/>
            <a:ext cx="330200" cy="3048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20" name="P 9"/>
          <p:cNvSpPr/>
          <p:nvPr/>
        </p:nvSpPr>
        <p:spPr>
          <a:xfrm>
            <a:off x="5575300" y="1905000"/>
            <a:ext cx="330200" cy="3048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21" name="P Out"/>
          <p:cNvSpPr/>
          <p:nvPr/>
        </p:nvSpPr>
        <p:spPr>
          <a:xfrm>
            <a:off x="2603500" y="1905000"/>
            <a:ext cx="33020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22" name="P idx 0"/>
          <p:cNvSpPr/>
          <p:nvPr/>
        </p:nvSpPr>
        <p:spPr>
          <a:xfrm>
            <a:off x="26035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523" name="P idx 1"/>
          <p:cNvSpPr/>
          <p:nvPr/>
        </p:nvSpPr>
        <p:spPr>
          <a:xfrm>
            <a:off x="29337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524" name="P idx 2"/>
          <p:cNvSpPr/>
          <p:nvPr/>
        </p:nvSpPr>
        <p:spPr>
          <a:xfrm>
            <a:off x="32639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525" name="P idx 3"/>
          <p:cNvSpPr/>
          <p:nvPr/>
        </p:nvSpPr>
        <p:spPr>
          <a:xfrm>
            <a:off x="35941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526" name="P idx 4"/>
          <p:cNvSpPr/>
          <p:nvPr/>
        </p:nvSpPr>
        <p:spPr>
          <a:xfrm>
            <a:off x="39243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527" name="P idx 5"/>
          <p:cNvSpPr/>
          <p:nvPr/>
        </p:nvSpPr>
        <p:spPr>
          <a:xfrm>
            <a:off x="42545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528" name="P idx 6"/>
          <p:cNvSpPr/>
          <p:nvPr/>
        </p:nvSpPr>
        <p:spPr>
          <a:xfrm>
            <a:off x="45847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529" name="P idx 7"/>
          <p:cNvSpPr/>
          <p:nvPr/>
        </p:nvSpPr>
        <p:spPr>
          <a:xfrm>
            <a:off x="49149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530" name="P idx 8"/>
          <p:cNvSpPr/>
          <p:nvPr/>
        </p:nvSpPr>
        <p:spPr>
          <a:xfrm>
            <a:off x="52451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8</a:t>
            </a:r>
          </a:p>
        </p:txBody>
      </p:sp>
      <p:sp>
        <p:nvSpPr>
          <p:cNvPr id="531" name="P idx 9"/>
          <p:cNvSpPr/>
          <p:nvPr/>
        </p:nvSpPr>
        <p:spPr>
          <a:xfrm>
            <a:off x="5575300" y="22225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9</a:t>
            </a:r>
          </a:p>
        </p:txBody>
      </p:sp>
      <p:sp>
        <p:nvSpPr>
          <p:cNvPr id="532" name="Leg A Sw"/>
          <p:cNvSpPr/>
          <p:nvPr/>
        </p:nvSpPr>
        <p:spPr>
          <a:xfrm>
            <a:off x="5930900" y="1993900"/>
            <a:ext cx="127000" cy="1270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33" name="Leg A"/>
          <p:cNvSpPr/>
          <p:nvPr/>
        </p:nvSpPr>
        <p:spPr>
          <a:xfrm>
            <a:off x="6108700" y="1905000"/>
            <a:ext cx="5588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Alive</a:t>
            </a:r>
          </a:p>
        </p:txBody>
      </p:sp>
      <p:sp>
        <p:nvSpPr>
          <p:cNvPr id="534" name="Leg D Sw"/>
          <p:cNvSpPr/>
          <p:nvPr/>
        </p:nvSpPr>
        <p:spPr>
          <a:xfrm>
            <a:off x="6718300" y="1993900"/>
            <a:ext cx="127000" cy="1270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35" name="Leg D"/>
          <p:cNvSpPr/>
          <p:nvPr/>
        </p:nvSpPr>
        <p:spPr>
          <a:xfrm>
            <a:off x="6896100" y="1905000"/>
            <a:ext cx="5588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2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</a:t>
            </a:r>
          </a:p>
        </p:txBody>
      </p:sp>
      <p:sp>
        <p:nvSpPr>
          <p:cNvPr id="536" name="DL 0"/>
          <p:cNvSpPr/>
          <p:nvPr/>
        </p:nvSpPr>
        <p:spPr>
          <a:xfrm>
            <a:off x="2603500" y="35814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537" name="DL 1"/>
          <p:cNvSpPr/>
          <p:nvPr/>
        </p:nvSpPr>
        <p:spPr>
          <a:xfrm>
            <a:off x="2933700" y="35814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538" name="DL 2"/>
          <p:cNvSpPr/>
          <p:nvPr/>
        </p:nvSpPr>
        <p:spPr>
          <a:xfrm>
            <a:off x="3263900" y="35814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539" name="DL 3"/>
          <p:cNvSpPr/>
          <p:nvPr/>
        </p:nvSpPr>
        <p:spPr>
          <a:xfrm>
            <a:off x="3594100" y="35814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540" name="DL 4"/>
          <p:cNvSpPr/>
          <p:nvPr/>
        </p:nvSpPr>
        <p:spPr>
          <a:xfrm>
            <a:off x="3924300" y="35814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9</a:t>
            </a:r>
          </a:p>
        </p:txBody>
      </p:sp>
      <p:sp>
        <p:nvSpPr>
          <p:cNvPr id="541" name="DL E5"/>
          <p:cNvSpPr/>
          <p:nvPr/>
        </p:nvSpPr>
        <p:spPr>
          <a:xfrm>
            <a:off x="4254500" y="35814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2" name="DL E6"/>
          <p:cNvSpPr/>
          <p:nvPr/>
        </p:nvSpPr>
        <p:spPr>
          <a:xfrm>
            <a:off x="4584700" y="35814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3" name="DL E7"/>
          <p:cNvSpPr/>
          <p:nvPr/>
        </p:nvSpPr>
        <p:spPr>
          <a:xfrm>
            <a:off x="4914900" y="35814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4" name="DL E8"/>
          <p:cNvSpPr/>
          <p:nvPr/>
        </p:nvSpPr>
        <p:spPr>
          <a:xfrm>
            <a:off x="5245100" y="35814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5" name="DL E9"/>
          <p:cNvSpPr/>
          <p:nvPr/>
        </p:nvSpPr>
        <p:spPr>
          <a:xfrm>
            <a:off x="5575300" y="35814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6" name="DL Out"/>
          <p:cNvSpPr/>
          <p:nvPr/>
        </p:nvSpPr>
        <p:spPr>
          <a:xfrm>
            <a:off x="2603500" y="3581400"/>
            <a:ext cx="33020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47" name="AL A tag"/>
          <p:cNvSpPr/>
          <p:nvPr/>
        </p:nvSpPr>
        <p:spPr>
          <a:xfrm>
            <a:off x="2603500" y="4546600"/>
            <a:ext cx="25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A</a:t>
            </a:r>
          </a:p>
        </p:txBody>
      </p:sp>
      <p:sp>
        <p:nvSpPr>
          <p:cNvPr id="548" name="ALA0"/>
          <p:cNvSpPr/>
          <p:nvPr/>
        </p:nvSpPr>
        <p:spPr>
          <a:xfrm>
            <a:off x="2908300" y="4546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549" name="ALA1"/>
          <p:cNvSpPr/>
          <p:nvPr/>
        </p:nvSpPr>
        <p:spPr>
          <a:xfrm>
            <a:off x="3238500" y="4546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550" name="ALA2"/>
          <p:cNvSpPr/>
          <p:nvPr/>
        </p:nvSpPr>
        <p:spPr>
          <a:xfrm>
            <a:off x="3568700" y="4546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551" name="ALA3"/>
          <p:cNvSpPr/>
          <p:nvPr/>
        </p:nvSpPr>
        <p:spPr>
          <a:xfrm>
            <a:off x="3898900" y="4546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552" name="ALA4"/>
          <p:cNvSpPr/>
          <p:nvPr/>
        </p:nvSpPr>
        <p:spPr>
          <a:xfrm>
            <a:off x="4229100" y="4546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553" name="ALAE5"/>
          <p:cNvSpPr/>
          <p:nvPr/>
        </p:nvSpPr>
        <p:spPr>
          <a:xfrm>
            <a:off x="4559300" y="4546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54" name="ALAE6"/>
          <p:cNvSpPr/>
          <p:nvPr/>
        </p:nvSpPr>
        <p:spPr>
          <a:xfrm>
            <a:off x="4889500" y="4546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55" name="ALAE7"/>
          <p:cNvSpPr/>
          <p:nvPr/>
        </p:nvSpPr>
        <p:spPr>
          <a:xfrm>
            <a:off x="5219700" y="4546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56" name="ALAOut"/>
          <p:cNvSpPr/>
          <p:nvPr/>
        </p:nvSpPr>
        <p:spPr>
          <a:xfrm>
            <a:off x="2908300" y="4546600"/>
            <a:ext cx="26416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57" name="ALACap"/>
          <p:cNvSpPr/>
          <p:nvPr/>
        </p:nvSpPr>
        <p:spPr>
          <a:xfrm>
            <a:off x="5676900" y="4546600"/>
            <a:ext cx="190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이번 프레임 입력</a:t>
            </a:r>
          </a:p>
        </p:txBody>
      </p:sp>
      <p:sp>
        <p:nvSpPr>
          <p:cNvPr id="558" name="AL B tag"/>
          <p:cNvSpPr/>
          <p:nvPr/>
        </p:nvSpPr>
        <p:spPr>
          <a:xfrm>
            <a:off x="2603500" y="4927600"/>
            <a:ext cx="254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B</a:t>
            </a:r>
          </a:p>
        </p:txBody>
      </p:sp>
      <p:sp>
        <p:nvSpPr>
          <p:cNvPr id="559" name="ALB0"/>
          <p:cNvSpPr/>
          <p:nvPr/>
        </p:nvSpPr>
        <p:spPr>
          <a:xfrm>
            <a:off x="2908300" y="4927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560" name="ALB1"/>
          <p:cNvSpPr/>
          <p:nvPr/>
        </p:nvSpPr>
        <p:spPr>
          <a:xfrm>
            <a:off x="3238500" y="4927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561" name="ALB2"/>
          <p:cNvSpPr/>
          <p:nvPr/>
        </p:nvSpPr>
        <p:spPr>
          <a:xfrm>
            <a:off x="3568700" y="4927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562" name="ALB3"/>
          <p:cNvSpPr/>
          <p:nvPr/>
        </p:nvSpPr>
        <p:spPr>
          <a:xfrm>
            <a:off x="3898900" y="49276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563" name="ALBE4"/>
          <p:cNvSpPr/>
          <p:nvPr/>
        </p:nvSpPr>
        <p:spPr>
          <a:xfrm>
            <a:off x="4229100" y="4927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64" name="ALBE5"/>
          <p:cNvSpPr/>
          <p:nvPr/>
        </p:nvSpPr>
        <p:spPr>
          <a:xfrm>
            <a:off x="4559300" y="4927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65" name="ALBE6"/>
          <p:cNvSpPr/>
          <p:nvPr/>
        </p:nvSpPr>
        <p:spPr>
          <a:xfrm>
            <a:off x="4889500" y="4927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66" name="ALBE7"/>
          <p:cNvSpPr/>
          <p:nvPr/>
        </p:nvSpPr>
        <p:spPr>
          <a:xfrm>
            <a:off x="5219700" y="49276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67" name="ALBOut"/>
          <p:cNvSpPr/>
          <p:nvPr/>
        </p:nvSpPr>
        <p:spPr>
          <a:xfrm>
            <a:off x="2908300" y="4927600"/>
            <a:ext cx="26416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568" name="ALBCap"/>
          <p:cNvSpPr/>
          <p:nvPr/>
        </p:nvSpPr>
        <p:spPr>
          <a:xfrm>
            <a:off x="5676900" y="4927600"/>
            <a:ext cx="1905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Simulate 결과 출력</a:t>
            </a:r>
          </a:p>
        </p:txBody>
      </p:sp>
    </p:spTree>
    <p:extLst>
      <p:ext uri="{BB962C8B-B14F-4D97-AF65-F5344CB8AC3E}">
        <p14:creationId xmlns:p14="http://schemas.microsoft.com/office/powerpoint/2010/main" val="309141924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961C3-A5BC-F85D-1E5F-B43F583D2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Emit 단계 (AliveList)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CA1FF7-7A11-1CC8-5558-3750FC1CD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14</a:t>
            </a:fld>
            <a:endParaRPr lang="ko-KR" altLang="en-US"/>
          </a:p>
        </p:txBody>
      </p:sp>
      <p:sp>
        <p:nvSpPr>
          <p:cNvPr id="601" name="CPU"/>
          <p:cNvSpPr/>
          <p:nvPr/>
        </p:nvSpPr>
        <p:spPr>
          <a:xfrm>
            <a:off x="762000" y="1409700"/>
            <a:ext cx="2540000" cy="406400"/>
          </a:xfrm>
          <a:prstGeom prst="roundRect">
            <a:avLst>
              <a:gd name="adj" fmla="val 20000"/>
            </a:avLst>
          </a:prstGeom>
          <a:solidFill>
            <a:srgbClr val="F2F2F2"/>
          </a:solidFill>
          <a:ln w="9525">
            <a:solidFill>
              <a:srgbClr val="D9D9D9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CPU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 EmitCount 계산</a:t>
            </a:r>
          </a:p>
        </p:txBody>
      </p:sp>
      <p:cxnSp>
        <p:nvCxnSpPr>
          <p:cNvPr id="602" name="CPU Arrow"/>
          <p:cNvCxnSpPr/>
          <p:nvPr/>
        </p:nvCxnSpPr>
        <p:spPr>
          <a:xfrm>
            <a:off x="3403600" y="1612900"/>
            <a:ext cx="660400" cy="0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sp>
        <p:nvSpPr>
          <p:cNvPr id="603" name="Dispatch"/>
          <p:cNvSpPr/>
          <p:nvPr/>
        </p:nvSpPr>
        <p:spPr>
          <a:xfrm>
            <a:off x="4165600" y="1409700"/>
            <a:ext cx="2794000" cy="406400"/>
          </a:xfrm>
          <a:prstGeom prst="roundRect">
            <a:avLst>
              <a:gd name="adj" fmla="val 20000"/>
            </a:avLst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Dispatch(EmitCount)</a:t>
            </a:r>
          </a:p>
        </p:txBody>
      </p:sp>
      <p:sp>
        <p:nvSpPr>
          <p:cNvPr id="604" name="Dispatch Note"/>
          <p:cNvSpPr/>
          <p:nvPr/>
        </p:nvSpPr>
        <p:spPr>
          <a:xfrm>
            <a:off x="7112000" y="1409700"/>
            <a:ext cx="3810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스레드 1개 = 새 파티클 1개</a:t>
            </a:r>
          </a:p>
        </p:txBody>
      </p:sp>
      <p:sp>
        <p:nvSpPr>
          <p:cNvPr id="605" name="Card 1"/>
          <p:cNvSpPr/>
          <p:nvPr/>
        </p:nvSpPr>
        <p:spPr>
          <a:xfrm>
            <a:off x="762000" y="2070100"/>
            <a:ext cx="2438400" cy="332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6" name="Badge 1"/>
          <p:cNvSpPr/>
          <p:nvPr/>
        </p:nvSpPr>
        <p:spPr>
          <a:xfrm>
            <a:off x="939800" y="22479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7" name="Head 1"/>
          <p:cNvSpPr/>
          <p:nvPr/>
        </p:nvSpPr>
        <p:spPr>
          <a:xfrm>
            <a:off x="1397000" y="2222500"/>
            <a:ext cx="1727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6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DeadCount 감소</a:t>
            </a:r>
          </a:p>
        </p:txBody>
      </p:sp>
      <p:sp>
        <p:nvSpPr>
          <p:cNvPr id="608" name="Desc 1-0"/>
          <p:cNvSpPr/>
          <p:nvPr/>
        </p:nvSpPr>
        <p:spPr>
          <a:xfrm>
            <a:off x="965200" y="27305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1F3864"/>
                </a:solidFill>
                <a:latin typeface="페이퍼로지 7 Bold"/>
                <a:ea typeface="페이퍼로지 7 Bold"/>
              </a:rPr>
              <a:t>InterlockedAdd</a:t>
            </a:r>
          </a:p>
        </p:txBody>
      </p:sp>
      <p:sp>
        <p:nvSpPr>
          <p:cNvPr id="609" name="Desc 1-1"/>
          <p:cNvSpPr/>
          <p:nvPr/>
        </p:nvSpPr>
        <p:spPr>
          <a:xfrm>
            <a:off x="965200" y="29972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(DeadCount, −1)</a:t>
            </a:r>
          </a:p>
        </p:txBody>
      </p:sp>
      <p:sp>
        <p:nvSpPr>
          <p:cNvPr id="610" name="Desc 1-2"/>
          <p:cNvSpPr/>
          <p:nvPr/>
        </p:nvSpPr>
        <p:spPr>
          <a:xfrm>
            <a:off x="965200" y="32639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감소 전 값 = index</a:t>
            </a:r>
          </a:p>
        </p:txBody>
      </p:sp>
      <p:sp>
        <p:nvSpPr>
          <p:cNvPr id="611" name="Rule 1"/>
          <p:cNvSpPr/>
          <p:nvPr/>
        </p:nvSpPr>
        <p:spPr>
          <a:xfrm>
            <a:off x="965200" y="3619500"/>
            <a:ext cx="2032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12" name="Arrow 1"/>
          <p:cNvCxnSpPr/>
          <p:nvPr/>
        </p:nvCxnSpPr>
        <p:spPr>
          <a:xfrm>
            <a:off x="3251200" y="37338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3" name="Card 2"/>
          <p:cNvSpPr/>
          <p:nvPr/>
        </p:nvSpPr>
        <p:spPr>
          <a:xfrm>
            <a:off x="3505200" y="2070100"/>
            <a:ext cx="2438400" cy="332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4" name="Badge 2"/>
          <p:cNvSpPr/>
          <p:nvPr/>
        </p:nvSpPr>
        <p:spPr>
          <a:xfrm>
            <a:off x="3683000" y="22479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15" name="Head 2"/>
          <p:cNvSpPr/>
          <p:nvPr/>
        </p:nvSpPr>
        <p:spPr>
          <a:xfrm>
            <a:off x="4140200" y="2222500"/>
            <a:ext cx="1727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6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slot 얻기</a:t>
            </a:r>
          </a:p>
        </p:txBody>
      </p:sp>
      <p:sp>
        <p:nvSpPr>
          <p:cNvPr id="616" name="Desc 2-0"/>
          <p:cNvSpPr/>
          <p:nvPr/>
        </p:nvSpPr>
        <p:spPr>
          <a:xfrm>
            <a:off x="3708400" y="27305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DeadList[index]의 값</a:t>
            </a:r>
          </a:p>
        </p:txBody>
      </p:sp>
      <p:sp>
        <p:nvSpPr>
          <p:cNvPr id="617" name="Desc 2-1"/>
          <p:cNvSpPr/>
          <p:nvPr/>
        </p:nvSpPr>
        <p:spPr>
          <a:xfrm>
            <a:off x="3708400" y="29972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= 재사용할 slot</a:t>
            </a:r>
          </a:p>
        </p:txBody>
      </p:sp>
      <p:sp>
        <p:nvSpPr>
          <p:cNvPr id="618" name="Rule 2"/>
          <p:cNvSpPr/>
          <p:nvPr/>
        </p:nvSpPr>
        <p:spPr>
          <a:xfrm>
            <a:off x="3708400" y="3619500"/>
            <a:ext cx="2032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19" name="Arrow 2"/>
          <p:cNvCxnSpPr/>
          <p:nvPr/>
        </p:nvCxnSpPr>
        <p:spPr>
          <a:xfrm>
            <a:off x="5994400" y="37338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20" name="Card 3"/>
          <p:cNvSpPr/>
          <p:nvPr/>
        </p:nvSpPr>
        <p:spPr>
          <a:xfrm>
            <a:off x="6248400" y="2070100"/>
            <a:ext cx="2438400" cy="332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1" name="Badge 3"/>
          <p:cNvSpPr/>
          <p:nvPr/>
        </p:nvSpPr>
        <p:spPr>
          <a:xfrm>
            <a:off x="6426200" y="22479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22" name="Head 3"/>
          <p:cNvSpPr/>
          <p:nvPr/>
        </p:nvSpPr>
        <p:spPr>
          <a:xfrm>
            <a:off x="6883400" y="2222500"/>
            <a:ext cx="1727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6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파티클 초기화</a:t>
            </a:r>
          </a:p>
        </p:txBody>
      </p:sp>
      <p:sp>
        <p:nvSpPr>
          <p:cNvPr id="623" name="Desc 3-0"/>
          <p:cNvSpPr/>
          <p:nvPr/>
        </p:nvSpPr>
        <p:spPr>
          <a:xfrm>
            <a:off x="6451600" y="27305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Particles[slot]에</a:t>
            </a:r>
          </a:p>
        </p:txBody>
      </p:sp>
      <p:sp>
        <p:nvSpPr>
          <p:cNvPr id="624" name="Desc 3-1"/>
          <p:cNvSpPr/>
          <p:nvPr/>
        </p:nvSpPr>
        <p:spPr>
          <a:xfrm>
            <a:off x="6451600" y="29972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초기화한 파티클 저장</a:t>
            </a:r>
          </a:p>
        </p:txBody>
      </p:sp>
      <p:sp>
        <p:nvSpPr>
          <p:cNvPr id="625" name="Rule 3"/>
          <p:cNvSpPr/>
          <p:nvPr/>
        </p:nvSpPr>
        <p:spPr>
          <a:xfrm>
            <a:off x="6451600" y="3619500"/>
            <a:ext cx="2032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26" name="Arrow 3"/>
          <p:cNvCxnSpPr/>
          <p:nvPr/>
        </p:nvCxnSpPr>
        <p:spPr>
          <a:xfrm>
            <a:off x="8737600" y="37338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27" name="Card 4"/>
          <p:cNvSpPr/>
          <p:nvPr/>
        </p:nvSpPr>
        <p:spPr>
          <a:xfrm>
            <a:off x="8991600" y="2070100"/>
            <a:ext cx="2438400" cy="3327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8" name="Badge 4"/>
          <p:cNvSpPr/>
          <p:nvPr/>
        </p:nvSpPr>
        <p:spPr>
          <a:xfrm>
            <a:off x="9169400" y="22479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29" name="Head 4"/>
          <p:cNvSpPr/>
          <p:nvPr/>
        </p:nvSpPr>
        <p:spPr>
          <a:xfrm>
            <a:off x="9626600" y="2222500"/>
            <a:ext cx="17272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6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AliveIn에 기록</a:t>
            </a:r>
          </a:p>
        </p:txBody>
      </p:sp>
      <p:sp>
        <p:nvSpPr>
          <p:cNvPr id="630" name="Desc 4-0"/>
          <p:cNvSpPr/>
          <p:nvPr/>
        </p:nvSpPr>
        <p:spPr>
          <a:xfrm>
            <a:off x="9194800" y="27305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1F3864"/>
                </a:solidFill>
                <a:latin typeface="페이퍼로지 7 Bold"/>
                <a:ea typeface="페이퍼로지 7 Bold"/>
              </a:rPr>
              <a:t>InterlockedAdd</a:t>
            </a:r>
          </a:p>
        </p:txBody>
      </p:sp>
      <p:sp>
        <p:nvSpPr>
          <p:cNvPr id="631" name="Desc 4-1"/>
          <p:cNvSpPr/>
          <p:nvPr/>
        </p:nvSpPr>
        <p:spPr>
          <a:xfrm>
            <a:off x="9194800" y="29972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(AliveCount, +1)</a:t>
            </a:r>
          </a:p>
        </p:txBody>
      </p:sp>
      <p:sp>
        <p:nvSpPr>
          <p:cNvPr id="632" name="Desc 4-2"/>
          <p:cNvSpPr/>
          <p:nvPr/>
        </p:nvSpPr>
        <p:spPr>
          <a:xfrm>
            <a:off x="9194800" y="3263900"/>
            <a:ext cx="2133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증가 전 값 = index</a:t>
            </a:r>
          </a:p>
        </p:txBody>
      </p:sp>
      <p:sp>
        <p:nvSpPr>
          <p:cNvPr id="633" name="Rule 4"/>
          <p:cNvSpPr/>
          <p:nvPr/>
        </p:nvSpPr>
        <p:spPr>
          <a:xfrm>
            <a:off x="9194800" y="3619500"/>
            <a:ext cx="2032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4" name="FigLabel 1"/>
          <p:cNvSpPr/>
          <p:nvPr/>
        </p:nvSpPr>
        <p:spPr>
          <a:xfrm>
            <a:off x="762000" y="37465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Counter</a:t>
            </a:r>
          </a:p>
        </p:txBody>
      </p:sp>
      <p:sp>
        <p:nvSpPr>
          <p:cNvPr id="635" name="DC Box"/>
          <p:cNvSpPr/>
          <p:nvPr/>
        </p:nvSpPr>
        <p:spPr>
          <a:xfrm>
            <a:off x="1092200" y="4051300"/>
            <a:ext cx="1778000" cy="381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DeadCount</a:t>
            </a:r>
          </a:p>
        </p:txBody>
      </p:sp>
      <p:sp>
        <p:nvSpPr>
          <p:cNvPr id="636" name="DC Val"/>
          <p:cNvSpPr/>
          <p:nvPr/>
        </p:nvSpPr>
        <p:spPr>
          <a:xfrm>
            <a:off x="762000" y="4508500"/>
            <a:ext cx="24384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22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4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→  </a:t>
            </a:r>
            <a:r>
              <a:rPr lang="ko-KR" altLang="en-US" sz="2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37" name="DC Cap"/>
          <p:cNvSpPr/>
          <p:nvPr/>
        </p:nvSpPr>
        <p:spPr>
          <a:xfrm>
            <a:off x="762000" y="49657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4 Regular"/>
                <a:ea typeface="페이퍼로지 4 Regular"/>
              </a:rPr>
              <a:t>감소 전 값 4 → index</a:t>
            </a:r>
          </a:p>
        </p:txBody>
      </p:sp>
      <p:sp>
        <p:nvSpPr>
          <p:cNvPr id="638" name="FigLabel 2"/>
          <p:cNvSpPr/>
          <p:nvPr/>
        </p:nvSpPr>
        <p:spPr>
          <a:xfrm>
            <a:off x="3505200" y="37465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DeadList</a:t>
            </a:r>
          </a:p>
        </p:txBody>
      </p:sp>
      <p:sp>
        <p:nvSpPr>
          <p:cNvPr id="639" name="DL 0"/>
          <p:cNvSpPr/>
          <p:nvPr/>
        </p:nvSpPr>
        <p:spPr>
          <a:xfrm>
            <a:off x="3810000" y="4076700"/>
            <a:ext cx="3048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40" name="DL 1"/>
          <p:cNvSpPr/>
          <p:nvPr/>
        </p:nvSpPr>
        <p:spPr>
          <a:xfrm>
            <a:off x="4114800" y="4076700"/>
            <a:ext cx="3048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41" name="DL 2"/>
          <p:cNvSpPr/>
          <p:nvPr/>
        </p:nvSpPr>
        <p:spPr>
          <a:xfrm>
            <a:off x="4419600" y="4076700"/>
            <a:ext cx="3048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7</a:t>
            </a:r>
          </a:p>
        </p:txBody>
      </p:sp>
      <p:sp>
        <p:nvSpPr>
          <p:cNvPr id="642" name="DL 3"/>
          <p:cNvSpPr/>
          <p:nvPr/>
        </p:nvSpPr>
        <p:spPr>
          <a:xfrm>
            <a:off x="4724400" y="4076700"/>
            <a:ext cx="304800" cy="3302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43" name="DL Ell"/>
          <p:cNvSpPr/>
          <p:nvPr/>
        </p:nvSpPr>
        <p:spPr>
          <a:xfrm>
            <a:off x="5029200" y="4076700"/>
            <a:ext cx="3048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644" name="DL E"/>
          <p:cNvSpPr/>
          <p:nvPr/>
        </p:nvSpPr>
        <p:spPr>
          <a:xfrm>
            <a:off x="5334000" y="4076700"/>
            <a:ext cx="3048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5" name="DL Out"/>
          <p:cNvSpPr/>
          <p:nvPr/>
        </p:nvSpPr>
        <p:spPr>
          <a:xfrm>
            <a:off x="3810000" y="4076700"/>
            <a:ext cx="18288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6" name="DL Hl"/>
          <p:cNvSpPr/>
          <p:nvPr/>
        </p:nvSpPr>
        <p:spPr>
          <a:xfrm>
            <a:off x="4724400" y="4076700"/>
            <a:ext cx="304800" cy="3302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47" name="DL Down"/>
          <p:cNvCxnSpPr/>
          <p:nvPr/>
        </p:nvCxnSpPr>
        <p:spPr>
          <a:xfrm>
            <a:off x="4876800" y="4432300"/>
            <a:ext cx="0" cy="254000"/>
          </a:xfrm>
          <a:prstGeom prst="straightConnector1">
            <a:avLst/>
          </a:prstGeom>
          <a:ln w="12700">
            <a:solidFill>
              <a:srgbClr val="C55A11"/>
            </a:solidFill>
            <a:tailEnd type="triangle" w="med" len="med"/>
          </a:ln>
        </p:spPr>
      </p:cxnSp>
      <p:sp>
        <p:nvSpPr>
          <p:cNvPr id="648" name="Slot Pill"/>
          <p:cNvSpPr/>
          <p:nvPr/>
        </p:nvSpPr>
        <p:spPr>
          <a:xfrm>
            <a:off x="4089400" y="4737100"/>
            <a:ext cx="1270000" cy="330200"/>
          </a:xfrm>
          <a:prstGeom prst="roundRect">
            <a:avLst>
              <a:gd name="adj" fmla="val 20000"/>
            </a:avLst>
          </a:prstGeom>
          <a:solidFill>
            <a:srgbClr val="FBE5D6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slot = 4</a:t>
            </a:r>
          </a:p>
        </p:txBody>
      </p:sp>
      <p:sp>
        <p:nvSpPr>
          <p:cNvPr id="649" name="FigLabel 3"/>
          <p:cNvSpPr/>
          <p:nvPr/>
        </p:nvSpPr>
        <p:spPr>
          <a:xfrm>
            <a:off x="6248400" y="37465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Particles</a:t>
            </a:r>
          </a:p>
        </p:txBody>
      </p:sp>
      <p:sp>
        <p:nvSpPr>
          <p:cNvPr id="650" name="P 0"/>
          <p:cNvSpPr/>
          <p:nvPr/>
        </p:nvSpPr>
        <p:spPr>
          <a:xfrm>
            <a:off x="6350000" y="4076700"/>
            <a:ext cx="2794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1" name="P 1"/>
          <p:cNvSpPr/>
          <p:nvPr/>
        </p:nvSpPr>
        <p:spPr>
          <a:xfrm>
            <a:off x="6629400" y="4076700"/>
            <a:ext cx="2794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2" name="P 2"/>
          <p:cNvSpPr/>
          <p:nvPr/>
        </p:nvSpPr>
        <p:spPr>
          <a:xfrm>
            <a:off x="6908800" y="4076700"/>
            <a:ext cx="2794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3" name="P 3"/>
          <p:cNvSpPr/>
          <p:nvPr/>
        </p:nvSpPr>
        <p:spPr>
          <a:xfrm>
            <a:off x="7188200" y="4076700"/>
            <a:ext cx="2794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4" name="P 4"/>
          <p:cNvSpPr/>
          <p:nvPr/>
        </p:nvSpPr>
        <p:spPr>
          <a:xfrm>
            <a:off x="7467600" y="4076700"/>
            <a:ext cx="2794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5" name="P 5"/>
          <p:cNvSpPr/>
          <p:nvPr/>
        </p:nvSpPr>
        <p:spPr>
          <a:xfrm>
            <a:off x="7747000" y="4076700"/>
            <a:ext cx="2794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6" name="P 6"/>
          <p:cNvSpPr/>
          <p:nvPr/>
        </p:nvSpPr>
        <p:spPr>
          <a:xfrm>
            <a:off x="8026400" y="4076700"/>
            <a:ext cx="2794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7" name="P 7"/>
          <p:cNvSpPr/>
          <p:nvPr/>
        </p:nvSpPr>
        <p:spPr>
          <a:xfrm>
            <a:off x="8305800" y="4076700"/>
            <a:ext cx="2794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8" name="P Out"/>
          <p:cNvSpPr/>
          <p:nvPr/>
        </p:nvSpPr>
        <p:spPr>
          <a:xfrm>
            <a:off x="6350000" y="4076700"/>
            <a:ext cx="22352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9" name="P Hl"/>
          <p:cNvSpPr/>
          <p:nvPr/>
        </p:nvSpPr>
        <p:spPr>
          <a:xfrm>
            <a:off x="7467600" y="4076700"/>
            <a:ext cx="279400" cy="3302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0" name="P idx 0"/>
          <p:cNvSpPr/>
          <p:nvPr/>
        </p:nvSpPr>
        <p:spPr>
          <a:xfrm>
            <a:off x="63500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61" name="P idx 1"/>
          <p:cNvSpPr/>
          <p:nvPr/>
        </p:nvSpPr>
        <p:spPr>
          <a:xfrm>
            <a:off x="66294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62" name="P idx 2"/>
          <p:cNvSpPr/>
          <p:nvPr/>
        </p:nvSpPr>
        <p:spPr>
          <a:xfrm>
            <a:off x="69088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63" name="P idx 3"/>
          <p:cNvSpPr/>
          <p:nvPr/>
        </p:nvSpPr>
        <p:spPr>
          <a:xfrm>
            <a:off x="71882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64" name="P idx 4"/>
          <p:cNvSpPr/>
          <p:nvPr/>
        </p:nvSpPr>
        <p:spPr>
          <a:xfrm>
            <a:off x="74676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65" name="P idx 5"/>
          <p:cNvSpPr/>
          <p:nvPr/>
        </p:nvSpPr>
        <p:spPr>
          <a:xfrm>
            <a:off x="77470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66" name="P idx 6"/>
          <p:cNvSpPr/>
          <p:nvPr/>
        </p:nvSpPr>
        <p:spPr>
          <a:xfrm>
            <a:off x="80264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67" name="P idx 7"/>
          <p:cNvSpPr/>
          <p:nvPr/>
        </p:nvSpPr>
        <p:spPr>
          <a:xfrm>
            <a:off x="83058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68" name="P Cap"/>
          <p:cNvSpPr/>
          <p:nvPr/>
        </p:nvSpPr>
        <p:spPr>
          <a:xfrm>
            <a:off x="6248400" y="4737100"/>
            <a:ext cx="2438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slot 4: </a:t>
            </a:r>
            <a:r>
              <a:rPr lang="ko-KR" altLang="en-US" sz="13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Dead</a:t>
            </a:r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→ </a:t>
            </a:r>
            <a:r>
              <a:rPr lang="ko-KR" altLang="en-US" sz="1300" dirty="0">
                <a:solidFill>
                  <a:srgbClr val="00B050"/>
                </a:solidFill>
                <a:latin typeface="페이퍼로지 7 Bold"/>
                <a:ea typeface="페이퍼로지 7 Bold"/>
              </a:rPr>
              <a:t>Alive</a:t>
            </a:r>
          </a:p>
        </p:txBody>
      </p:sp>
      <p:sp>
        <p:nvSpPr>
          <p:cNvPr id="669" name="FigLabel 4"/>
          <p:cNvSpPr/>
          <p:nvPr/>
        </p:nvSpPr>
        <p:spPr>
          <a:xfrm>
            <a:off x="8991600" y="37465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AliveIn</a:t>
            </a:r>
          </a:p>
        </p:txBody>
      </p:sp>
      <p:sp>
        <p:nvSpPr>
          <p:cNvPr id="670" name="AI 0"/>
          <p:cNvSpPr/>
          <p:nvPr/>
        </p:nvSpPr>
        <p:spPr>
          <a:xfrm>
            <a:off x="9093200" y="4076700"/>
            <a:ext cx="2794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671" name="AI 1"/>
          <p:cNvSpPr/>
          <p:nvPr/>
        </p:nvSpPr>
        <p:spPr>
          <a:xfrm>
            <a:off x="9372600" y="4076700"/>
            <a:ext cx="2794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72" name="AI 2"/>
          <p:cNvSpPr/>
          <p:nvPr/>
        </p:nvSpPr>
        <p:spPr>
          <a:xfrm>
            <a:off x="9652000" y="4076700"/>
            <a:ext cx="2794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73" name="AI 3"/>
          <p:cNvSpPr/>
          <p:nvPr/>
        </p:nvSpPr>
        <p:spPr>
          <a:xfrm>
            <a:off x="9931400" y="4076700"/>
            <a:ext cx="2794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74" name="AI 4"/>
          <p:cNvSpPr/>
          <p:nvPr/>
        </p:nvSpPr>
        <p:spPr>
          <a:xfrm>
            <a:off x="10210800" y="4076700"/>
            <a:ext cx="2794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675" name="AI 5"/>
          <p:cNvSpPr/>
          <p:nvPr/>
        </p:nvSpPr>
        <p:spPr>
          <a:xfrm>
            <a:off x="10490200" y="4076700"/>
            <a:ext cx="279400" cy="3302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76" name="AI E6"/>
          <p:cNvSpPr/>
          <p:nvPr/>
        </p:nvSpPr>
        <p:spPr>
          <a:xfrm>
            <a:off x="10769600" y="4076700"/>
            <a:ext cx="2794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77" name="AI E7"/>
          <p:cNvSpPr/>
          <p:nvPr/>
        </p:nvSpPr>
        <p:spPr>
          <a:xfrm>
            <a:off x="11049000" y="4076700"/>
            <a:ext cx="2794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78" name="AI Out"/>
          <p:cNvSpPr/>
          <p:nvPr/>
        </p:nvSpPr>
        <p:spPr>
          <a:xfrm>
            <a:off x="9093200" y="4076700"/>
            <a:ext cx="22352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79" name="AI Hl"/>
          <p:cNvSpPr/>
          <p:nvPr/>
        </p:nvSpPr>
        <p:spPr>
          <a:xfrm>
            <a:off x="10490200" y="4076700"/>
            <a:ext cx="279400" cy="3302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80" name="AI idx 0"/>
          <p:cNvSpPr/>
          <p:nvPr/>
        </p:nvSpPr>
        <p:spPr>
          <a:xfrm>
            <a:off x="90932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81" name="AI idx 1"/>
          <p:cNvSpPr/>
          <p:nvPr/>
        </p:nvSpPr>
        <p:spPr>
          <a:xfrm>
            <a:off x="93726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82" name="AI idx 2"/>
          <p:cNvSpPr/>
          <p:nvPr/>
        </p:nvSpPr>
        <p:spPr>
          <a:xfrm>
            <a:off x="96520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83" name="AI idx 3"/>
          <p:cNvSpPr/>
          <p:nvPr/>
        </p:nvSpPr>
        <p:spPr>
          <a:xfrm>
            <a:off x="99314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84" name="AI idx 4"/>
          <p:cNvSpPr/>
          <p:nvPr/>
        </p:nvSpPr>
        <p:spPr>
          <a:xfrm>
            <a:off x="102108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85" name="AI idx 5"/>
          <p:cNvSpPr/>
          <p:nvPr/>
        </p:nvSpPr>
        <p:spPr>
          <a:xfrm>
            <a:off x="104902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86" name="AI idx 6"/>
          <p:cNvSpPr/>
          <p:nvPr/>
        </p:nvSpPr>
        <p:spPr>
          <a:xfrm>
            <a:off x="107696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87" name="AI idx 7"/>
          <p:cNvSpPr/>
          <p:nvPr/>
        </p:nvSpPr>
        <p:spPr>
          <a:xfrm>
            <a:off x="11049000" y="4432300"/>
            <a:ext cx="2794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88" name="AI Cap"/>
          <p:cNvSpPr/>
          <p:nvPr/>
        </p:nvSpPr>
        <p:spPr>
          <a:xfrm>
            <a:off x="8991600" y="4737100"/>
            <a:ext cx="2438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AliveIn[5] = slot 4</a:t>
            </a:r>
          </a:p>
        </p:txBody>
      </p:sp>
      <p:sp>
        <p:nvSpPr>
          <p:cNvPr id="689" name="AC Cap"/>
          <p:cNvSpPr/>
          <p:nvPr/>
        </p:nvSpPr>
        <p:spPr>
          <a:xfrm>
            <a:off x="8991600" y="5041900"/>
            <a:ext cx="2438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AliveCount 5 → 6</a:t>
            </a:r>
          </a:p>
        </p:txBody>
      </p:sp>
      <p:sp>
        <p:nvSpPr>
          <p:cNvPr id="690" name="Footer"/>
          <p:cNvSpPr/>
          <p:nvPr/>
        </p:nvSpPr>
        <p:spPr>
          <a:xfrm>
            <a:off x="762000" y="56007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①–③은 SlotReuse와 같고, </a:t>
            </a:r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④ AliveIn 기록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이 AliveList 방식에서 추가된 단계</a:t>
            </a:r>
          </a:p>
        </p:txBody>
      </p:sp>
    </p:spTree>
    <p:extLst>
      <p:ext uri="{BB962C8B-B14F-4D97-AF65-F5344CB8AC3E}">
        <p14:creationId xmlns:p14="http://schemas.microsoft.com/office/powerpoint/2010/main" val="22729429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8961C3-A5BC-F85D-1E5F-B43F583D27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PreSimulate 단계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ACA1FF7-7A11-1CC8-5558-3750FC1CD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15</a:t>
            </a:fld>
            <a:endParaRPr lang="ko-KR" altLang="en-US"/>
          </a:p>
        </p:txBody>
      </p:sp>
      <p:sp>
        <p:nvSpPr>
          <p:cNvPr id="601" name="Note"/>
          <p:cNvSpPr/>
          <p:nvPr/>
        </p:nvSpPr>
        <p:spPr>
          <a:xfrm>
            <a:off x="762000" y="1261602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Simulate를 실행하기 전, </a:t>
            </a:r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 파티클 수에 맞춰 Dispatch 인자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를 준비한다</a:t>
            </a:r>
            <a:r>
              <a:rPr lang="en-US" altLang="ko-KR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</a:p>
          <a:p>
            <a:pPr algn="l"/>
            <a:r>
              <a:rPr lang="en-US" altLang="ko-KR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Alive </a:t>
            </a:r>
            <a:r>
              <a:rPr lang="ko-KR" altLang="en-US" sz="15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수를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IndirectArgs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에 기록한다</a:t>
            </a:r>
            <a:r>
              <a:rPr lang="en-US" altLang="ko-KR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  <a:endParaRPr lang="ko-KR" altLang="en-US" sz="15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602" name="Card 1"/>
          <p:cNvSpPr/>
          <p:nvPr/>
        </p:nvSpPr>
        <p:spPr>
          <a:xfrm>
            <a:off x="762000" y="2419391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3" name="Badge 1"/>
          <p:cNvSpPr/>
          <p:nvPr/>
        </p:nvSpPr>
        <p:spPr>
          <a:xfrm>
            <a:off x="939800" y="2597191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4" name="Head 1"/>
          <p:cNvSpPr/>
          <p:nvPr/>
        </p:nvSpPr>
        <p:spPr>
          <a:xfrm>
            <a:off x="1397000" y="2571791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AliveCount 읽기</a:t>
            </a:r>
          </a:p>
        </p:txBody>
      </p:sp>
      <p:sp>
        <p:nvSpPr>
          <p:cNvPr id="605" name="Desc 1-0"/>
          <p:cNvSpPr/>
          <p:nvPr/>
        </p:nvSpPr>
        <p:spPr>
          <a:xfrm>
            <a:off x="965200" y="31051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Counter에서</a:t>
            </a:r>
          </a:p>
        </p:txBody>
      </p:sp>
      <p:sp>
        <p:nvSpPr>
          <p:cNvPr id="606" name="Desc 1-1"/>
          <p:cNvSpPr/>
          <p:nvPr/>
        </p:nvSpPr>
        <p:spPr>
          <a:xfrm>
            <a:off x="965200" y="33845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이번 프레임의 Alive 수를 얻는다</a:t>
            </a:r>
          </a:p>
        </p:txBody>
      </p:sp>
      <p:sp>
        <p:nvSpPr>
          <p:cNvPr id="607" name="Rule 1"/>
          <p:cNvSpPr/>
          <p:nvPr/>
        </p:nvSpPr>
        <p:spPr>
          <a:xfrm>
            <a:off x="965200" y="3841791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08" name="Arrow 1"/>
          <p:cNvCxnSpPr/>
          <p:nvPr/>
        </p:nvCxnSpPr>
        <p:spPr>
          <a:xfrm>
            <a:off x="4165600" y="4006891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09" name="Card 2"/>
          <p:cNvSpPr/>
          <p:nvPr/>
        </p:nvSpPr>
        <p:spPr>
          <a:xfrm>
            <a:off x="4419600" y="2419391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0" name="Badge 2"/>
          <p:cNvSpPr/>
          <p:nvPr/>
        </p:nvSpPr>
        <p:spPr>
          <a:xfrm>
            <a:off x="4597400" y="2597191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11" name="Head 2"/>
          <p:cNvSpPr/>
          <p:nvPr/>
        </p:nvSpPr>
        <p:spPr>
          <a:xfrm>
            <a:off x="5054600" y="2571791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그룹 수 계산</a:t>
            </a:r>
          </a:p>
        </p:txBody>
      </p:sp>
      <p:sp>
        <p:nvSpPr>
          <p:cNvPr id="612" name="Desc 2-0"/>
          <p:cNvSpPr/>
          <p:nvPr/>
        </p:nvSpPr>
        <p:spPr>
          <a:xfrm>
            <a:off x="4622800" y="31051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스레드 그룹 크기에 맞춰</a:t>
            </a:r>
          </a:p>
        </p:txBody>
      </p:sp>
      <p:sp>
        <p:nvSpPr>
          <p:cNvPr id="613" name="Desc 2-1"/>
          <p:cNvSpPr/>
          <p:nvPr/>
        </p:nvSpPr>
        <p:spPr>
          <a:xfrm>
            <a:off x="4622800" y="33845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필요한 그룹 수를 구성한다</a:t>
            </a:r>
          </a:p>
        </p:txBody>
      </p:sp>
      <p:sp>
        <p:nvSpPr>
          <p:cNvPr id="614" name="Rule 2"/>
          <p:cNvSpPr/>
          <p:nvPr/>
        </p:nvSpPr>
        <p:spPr>
          <a:xfrm>
            <a:off x="4622800" y="3841791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15" name="Arrow 2"/>
          <p:cNvCxnSpPr/>
          <p:nvPr/>
        </p:nvCxnSpPr>
        <p:spPr>
          <a:xfrm>
            <a:off x="7823200" y="4006891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6" name="Card 3"/>
          <p:cNvSpPr/>
          <p:nvPr/>
        </p:nvSpPr>
        <p:spPr>
          <a:xfrm>
            <a:off x="8077200" y="2419391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7" name="Badge 3"/>
          <p:cNvSpPr/>
          <p:nvPr/>
        </p:nvSpPr>
        <p:spPr>
          <a:xfrm>
            <a:off x="8255000" y="2597191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18" name="Head 3"/>
          <p:cNvSpPr/>
          <p:nvPr/>
        </p:nvSpPr>
        <p:spPr>
          <a:xfrm>
            <a:off x="8712200" y="2571791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IndirectArgs에 기록</a:t>
            </a:r>
          </a:p>
        </p:txBody>
      </p:sp>
      <p:sp>
        <p:nvSpPr>
          <p:cNvPr id="619" name="Desc 3-0"/>
          <p:cNvSpPr/>
          <p:nvPr/>
        </p:nvSpPr>
        <p:spPr>
          <a:xfrm>
            <a:off x="8280400" y="31051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계산한 그룹 수를</a:t>
            </a:r>
          </a:p>
        </p:txBody>
      </p:sp>
      <p:sp>
        <p:nvSpPr>
          <p:cNvPr id="620" name="Desc 3-1"/>
          <p:cNvSpPr/>
          <p:nvPr/>
        </p:nvSpPr>
        <p:spPr>
          <a:xfrm>
            <a:off x="8280400" y="3384591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Simulate의 Dispatch 인자로 기록</a:t>
            </a:r>
          </a:p>
        </p:txBody>
      </p:sp>
      <p:sp>
        <p:nvSpPr>
          <p:cNvPr id="621" name="Rule 3"/>
          <p:cNvSpPr/>
          <p:nvPr/>
        </p:nvSpPr>
        <p:spPr>
          <a:xfrm>
            <a:off x="8280400" y="3841791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2" name="F1 Lab"/>
          <p:cNvSpPr/>
          <p:nvPr/>
        </p:nvSpPr>
        <p:spPr>
          <a:xfrm>
            <a:off x="762000" y="4019591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Counter</a:t>
            </a:r>
          </a:p>
        </p:txBody>
      </p:sp>
      <p:sp>
        <p:nvSpPr>
          <p:cNvPr id="623" name="F1 Box"/>
          <p:cNvSpPr/>
          <p:nvPr/>
        </p:nvSpPr>
        <p:spPr>
          <a:xfrm>
            <a:off x="1422400" y="4349791"/>
            <a:ext cx="2032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AliveCount</a:t>
            </a:r>
          </a:p>
        </p:txBody>
      </p:sp>
      <p:sp>
        <p:nvSpPr>
          <p:cNvPr id="624" name="F1 Val"/>
          <p:cNvSpPr/>
          <p:nvPr/>
        </p:nvSpPr>
        <p:spPr>
          <a:xfrm>
            <a:off x="762000" y="4857791"/>
            <a:ext cx="3352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2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= 6</a:t>
            </a:r>
          </a:p>
        </p:txBody>
      </p:sp>
      <p:sp>
        <p:nvSpPr>
          <p:cNvPr id="625" name="F2 Lab"/>
          <p:cNvSpPr/>
          <p:nvPr/>
        </p:nvSpPr>
        <p:spPr>
          <a:xfrm>
            <a:off x="4419600" y="4019591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스레드 그룹</a:t>
            </a:r>
          </a:p>
        </p:txBody>
      </p:sp>
      <p:sp>
        <p:nvSpPr>
          <p:cNvPr id="626" name="Grp 0"/>
          <p:cNvSpPr/>
          <p:nvPr/>
        </p:nvSpPr>
        <p:spPr>
          <a:xfrm>
            <a:off x="4775200" y="4349791"/>
            <a:ext cx="812800" cy="431800"/>
          </a:xfrm>
          <a:prstGeom prst="roundRect">
            <a:avLst>
              <a:gd name="adj" fmla="val 15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그룹 1</a:t>
            </a:r>
          </a:p>
        </p:txBody>
      </p:sp>
      <p:sp>
        <p:nvSpPr>
          <p:cNvPr id="627" name="Grp 1"/>
          <p:cNvSpPr/>
          <p:nvPr/>
        </p:nvSpPr>
        <p:spPr>
          <a:xfrm>
            <a:off x="5689600" y="4349791"/>
            <a:ext cx="812800" cy="431800"/>
          </a:xfrm>
          <a:prstGeom prst="roundRect">
            <a:avLst>
              <a:gd name="adj" fmla="val 15000"/>
            </a:avLst>
          </a:prstGeom>
          <a:solidFill>
            <a:srgbClr val="FBE5D6"/>
          </a:solidFill>
          <a:ln w="952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그룹 2</a:t>
            </a:r>
          </a:p>
        </p:txBody>
      </p:sp>
      <p:sp>
        <p:nvSpPr>
          <p:cNvPr id="628" name="Grp 2"/>
          <p:cNvSpPr/>
          <p:nvPr/>
        </p:nvSpPr>
        <p:spPr>
          <a:xfrm>
            <a:off x="6604000" y="4349791"/>
            <a:ext cx="812800" cy="431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…</a:t>
            </a:r>
          </a:p>
        </p:txBody>
      </p:sp>
      <p:sp>
        <p:nvSpPr>
          <p:cNvPr id="629" name="F2 Cap"/>
          <p:cNvSpPr/>
          <p:nvPr/>
        </p:nvSpPr>
        <p:spPr>
          <a:xfrm>
            <a:off x="4419600" y="4908591"/>
            <a:ext cx="33528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 수를 덮는 만큼만</a:t>
            </a:r>
          </a:p>
        </p:txBody>
      </p:sp>
      <p:sp>
        <p:nvSpPr>
          <p:cNvPr id="630" name="F3 Lab"/>
          <p:cNvSpPr/>
          <p:nvPr/>
        </p:nvSpPr>
        <p:spPr>
          <a:xfrm>
            <a:off x="8077200" y="4019591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IndirectArgs</a:t>
            </a:r>
          </a:p>
        </p:txBody>
      </p:sp>
      <p:sp>
        <p:nvSpPr>
          <p:cNvPr id="631" name="IA 0"/>
          <p:cNvSpPr/>
          <p:nvPr/>
        </p:nvSpPr>
        <p:spPr>
          <a:xfrm>
            <a:off x="8432800" y="4375191"/>
            <a:ext cx="330200" cy="3556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2" name="IA 1"/>
          <p:cNvSpPr/>
          <p:nvPr/>
        </p:nvSpPr>
        <p:spPr>
          <a:xfrm>
            <a:off x="87630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3" name="IA 2"/>
          <p:cNvSpPr/>
          <p:nvPr/>
        </p:nvSpPr>
        <p:spPr>
          <a:xfrm>
            <a:off x="90932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4" name="IA 3"/>
          <p:cNvSpPr/>
          <p:nvPr/>
        </p:nvSpPr>
        <p:spPr>
          <a:xfrm>
            <a:off x="94234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5" name="IA 4"/>
          <p:cNvSpPr/>
          <p:nvPr/>
        </p:nvSpPr>
        <p:spPr>
          <a:xfrm>
            <a:off x="97536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6" name="IA 5"/>
          <p:cNvSpPr/>
          <p:nvPr/>
        </p:nvSpPr>
        <p:spPr>
          <a:xfrm>
            <a:off x="100838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7" name="IA 6"/>
          <p:cNvSpPr/>
          <p:nvPr/>
        </p:nvSpPr>
        <p:spPr>
          <a:xfrm>
            <a:off x="104140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8" name="IA 7"/>
          <p:cNvSpPr/>
          <p:nvPr/>
        </p:nvSpPr>
        <p:spPr>
          <a:xfrm>
            <a:off x="10744200" y="4375191"/>
            <a:ext cx="330200" cy="3556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9" name="IA Out"/>
          <p:cNvSpPr/>
          <p:nvPr/>
        </p:nvSpPr>
        <p:spPr>
          <a:xfrm>
            <a:off x="8432800" y="4375191"/>
            <a:ext cx="2641600" cy="3556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0" name="IA Hl"/>
          <p:cNvSpPr/>
          <p:nvPr/>
        </p:nvSpPr>
        <p:spPr>
          <a:xfrm>
            <a:off x="8432800" y="4375191"/>
            <a:ext cx="330200" cy="3556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1" name="F3 Cap"/>
          <p:cNvSpPr/>
          <p:nvPr/>
        </p:nvSpPr>
        <p:spPr>
          <a:xfrm>
            <a:off x="8077200" y="4883191"/>
            <a:ext cx="33528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그룹 수</a:t>
            </a:r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→ DispatchIndirect(Simulate)</a:t>
            </a:r>
          </a:p>
        </p:txBody>
      </p:sp>
      <p:sp>
        <p:nvSpPr>
          <p:cNvPr id="45" name="Dispatch">
            <a:extLst>
              <a:ext uri="{FF2B5EF4-FFF2-40B4-BE49-F238E27FC236}">
                <a16:creationId xmlns:a16="http://schemas.microsoft.com/office/drawing/2014/main" id="{7E0D2053-CEED-4E28-B1F6-0E099C641108}"/>
              </a:ext>
            </a:extLst>
          </p:cNvPr>
          <p:cNvSpPr/>
          <p:nvPr/>
        </p:nvSpPr>
        <p:spPr>
          <a:xfrm>
            <a:off x="762000" y="1885991"/>
            <a:ext cx="2794000" cy="406400"/>
          </a:xfrm>
          <a:prstGeom prst="roundRect">
            <a:avLst>
              <a:gd name="adj" fmla="val 20000"/>
            </a:avLst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 err="1">
                <a:solidFill>
                  <a:srgbClr val="FFFFFF"/>
                </a:solidFill>
                <a:latin typeface="페이퍼로지 7 Bold"/>
                <a:ea typeface="페이퍼로지 7 Bold"/>
              </a:rPr>
              <a:t>Dispatch</a:t>
            </a:r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(</a:t>
            </a:r>
            <a:r>
              <a:rPr lang="en-US" altLang="ko-KR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1, 1, 1</a:t>
            </a:r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513707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7CE237-1104-AE44-7577-E0262F2C5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Simulate 단계 (AliveList)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0598245-7826-24B5-3866-D36EC6C53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16</a:t>
            </a:fld>
            <a:endParaRPr lang="ko-KR" altLang="en-US"/>
          </a:p>
        </p:txBody>
      </p:sp>
      <p:sp>
        <p:nvSpPr>
          <p:cNvPr id="601" name="Dispatch"/>
          <p:cNvSpPr/>
          <p:nvPr/>
        </p:nvSpPr>
        <p:spPr>
          <a:xfrm>
            <a:off x="571500" y="1168400"/>
            <a:ext cx="2413000" cy="406400"/>
          </a:xfrm>
          <a:prstGeom prst="roundRect">
            <a:avLst>
              <a:gd name="adj" fmla="val 20000"/>
            </a:avLst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DispatchIndirect</a:t>
            </a:r>
          </a:p>
        </p:txBody>
      </p:sp>
      <p:sp>
        <p:nvSpPr>
          <p:cNvPr id="602" name="Dispatch Sub"/>
          <p:cNvSpPr/>
          <p:nvPr/>
        </p:nvSpPr>
        <p:spPr>
          <a:xfrm>
            <a:off x="571500" y="1600200"/>
            <a:ext cx="2413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 수만큼 스레드</a:t>
            </a:r>
          </a:p>
        </p:txBody>
      </p:sp>
      <p:cxnSp>
        <p:nvCxnSpPr>
          <p:cNvPr id="603" name="A0"/>
          <p:cNvCxnSpPr/>
          <p:nvPr/>
        </p:nvCxnSpPr>
        <p:spPr>
          <a:xfrm>
            <a:off x="1778000" y="1854200"/>
            <a:ext cx="0" cy="152400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sp>
        <p:nvSpPr>
          <p:cNvPr id="604" name="Get Slot"/>
          <p:cNvSpPr/>
          <p:nvPr/>
        </p:nvSpPr>
        <p:spPr>
          <a:xfrm>
            <a:off x="571500" y="2032000"/>
            <a:ext cx="2413000" cy="4318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slot = AliveIn[InstanceId]</a:t>
            </a:r>
          </a:p>
        </p:txBody>
      </p:sp>
      <p:cxnSp>
        <p:nvCxnSpPr>
          <p:cNvPr id="605" name="A1"/>
          <p:cNvCxnSpPr/>
          <p:nvPr/>
        </p:nvCxnSpPr>
        <p:spPr>
          <a:xfrm>
            <a:off x="1778000" y="2463800"/>
            <a:ext cx="0" cy="152400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sp>
        <p:nvSpPr>
          <p:cNvPr id="606" name="Life"/>
          <p:cNvSpPr/>
          <p:nvPr/>
        </p:nvSpPr>
        <p:spPr>
          <a:xfrm>
            <a:off x="571500" y="2641600"/>
            <a:ext cx="2413000" cy="4064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수명 감소</a:t>
            </a:r>
          </a:p>
        </p:txBody>
      </p:sp>
      <p:cxnSp>
        <p:nvCxnSpPr>
          <p:cNvPr id="607" name="A2"/>
          <p:cNvCxnSpPr/>
          <p:nvPr/>
        </p:nvCxnSpPr>
        <p:spPr>
          <a:xfrm>
            <a:off x="1778000" y="3048000"/>
            <a:ext cx="0" cy="152400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sp>
        <p:nvSpPr>
          <p:cNvPr id="608" name="Diamond"/>
          <p:cNvSpPr/>
          <p:nvPr/>
        </p:nvSpPr>
        <p:spPr>
          <a:xfrm>
            <a:off x="571500" y="3225800"/>
            <a:ext cx="2413000" cy="838200"/>
          </a:xfrm>
          <a:prstGeom prst="diamond">
            <a:avLst/>
          </a:prstGeom>
          <a:solidFill>
            <a:srgbClr val="FFFFFF"/>
          </a:solidFill>
          <a:ln w="9525">
            <a:solidFill>
              <a:srgbClr val="7F7F7F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수명 &lt; 0 ?</a:t>
            </a:r>
          </a:p>
        </p:txBody>
      </p:sp>
      <p:cxnSp>
        <p:nvCxnSpPr>
          <p:cNvPr id="609" name="Yes Arrow"/>
          <p:cNvCxnSpPr/>
          <p:nvPr/>
        </p:nvCxnSpPr>
        <p:spPr>
          <a:xfrm>
            <a:off x="2984500" y="3644900"/>
            <a:ext cx="266700" cy="0"/>
          </a:xfrm>
          <a:prstGeom prst="straightConnector1">
            <a:avLst/>
          </a:prstGeom>
          <a:ln w="15875">
            <a:solidFill>
              <a:srgbClr val="C00000"/>
            </a:solidFill>
            <a:tailEnd type="triangle" w="med" len="med"/>
          </a:ln>
        </p:spPr>
      </p:cxnSp>
      <p:sp>
        <p:nvSpPr>
          <p:cNvPr id="610" name="Yes Lbl"/>
          <p:cNvSpPr/>
          <p:nvPr/>
        </p:nvSpPr>
        <p:spPr>
          <a:xfrm>
            <a:off x="2692400" y="3327400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Yes</a:t>
            </a:r>
          </a:p>
        </p:txBody>
      </p:sp>
      <p:sp>
        <p:nvSpPr>
          <p:cNvPr id="611" name="Yes Head"/>
          <p:cNvSpPr/>
          <p:nvPr/>
        </p:nvSpPr>
        <p:spPr>
          <a:xfrm>
            <a:off x="3302000" y="2819400"/>
            <a:ext cx="787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죽은 파티클</a:t>
            </a:r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기존과 같이 죽음 처리, 단 AliveCount는 줄이지 않음</a:t>
            </a:r>
          </a:p>
        </p:txBody>
      </p:sp>
      <p:sp>
        <p:nvSpPr>
          <p:cNvPr id="612" name="Yes 0"/>
          <p:cNvSpPr/>
          <p:nvPr/>
        </p:nvSpPr>
        <p:spPr>
          <a:xfrm>
            <a:off x="3302000" y="3175000"/>
            <a:ext cx="2540000" cy="939800"/>
          </a:xfrm>
          <a:prstGeom prst="roundRect">
            <a:avLst>
              <a:gd name="adj" fmla="val 12000"/>
            </a:avLst>
          </a:prstGeom>
          <a:solidFill>
            <a:srgbClr val="F2DCD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1  죽음 표시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Particles[slot].flag = 0</a:t>
            </a:r>
          </a:p>
        </p:txBody>
      </p:sp>
      <p:cxnSp>
        <p:nvCxnSpPr>
          <p:cNvPr id="613" name="YA0"/>
          <p:cNvCxnSpPr/>
          <p:nvPr/>
        </p:nvCxnSpPr>
        <p:spPr>
          <a:xfrm>
            <a:off x="5867400" y="3644900"/>
            <a:ext cx="12700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 w="med" len="med"/>
          </a:ln>
        </p:spPr>
      </p:cxnSp>
      <p:sp>
        <p:nvSpPr>
          <p:cNvPr id="614" name="Yes 1"/>
          <p:cNvSpPr/>
          <p:nvPr/>
        </p:nvSpPr>
        <p:spPr>
          <a:xfrm>
            <a:off x="6019800" y="3175000"/>
            <a:ext cx="2540000" cy="939800"/>
          </a:xfrm>
          <a:prstGeom prst="roundRect">
            <a:avLst>
              <a:gd name="adj" fmla="val 12000"/>
            </a:avLst>
          </a:prstGeom>
          <a:solidFill>
            <a:srgbClr val="F2DCD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2  Counter 갱신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DeadCount +1</a:t>
            </a:r>
          </a:p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AliveCount 그대로</a:t>
            </a:r>
          </a:p>
        </p:txBody>
      </p:sp>
      <p:cxnSp>
        <p:nvCxnSpPr>
          <p:cNvPr id="615" name="YA1"/>
          <p:cNvCxnSpPr/>
          <p:nvPr/>
        </p:nvCxnSpPr>
        <p:spPr>
          <a:xfrm>
            <a:off x="8585200" y="3644900"/>
            <a:ext cx="127000" cy="0"/>
          </a:xfrm>
          <a:prstGeom prst="straightConnector1">
            <a:avLst/>
          </a:prstGeom>
          <a:ln w="12700">
            <a:solidFill>
              <a:srgbClr val="C00000"/>
            </a:solidFill>
            <a:tailEnd type="triangle" w="med" len="med"/>
          </a:ln>
        </p:spPr>
      </p:cxnSp>
      <p:sp>
        <p:nvSpPr>
          <p:cNvPr id="616" name="Yes 2"/>
          <p:cNvSpPr/>
          <p:nvPr/>
        </p:nvSpPr>
        <p:spPr>
          <a:xfrm>
            <a:off x="8737600" y="3175000"/>
            <a:ext cx="2540000" cy="939800"/>
          </a:xfrm>
          <a:prstGeom prst="roundRect">
            <a:avLst>
              <a:gd name="adj" fmla="val 12000"/>
            </a:avLst>
          </a:prstGeom>
          <a:solidFill>
            <a:srgbClr val="F2DCDB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3  slot 반납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DeadList[증가 전 값] = slot</a:t>
            </a:r>
          </a:p>
        </p:txBody>
      </p:sp>
      <p:cxnSp>
        <p:nvCxnSpPr>
          <p:cNvPr id="617" name="No Down"/>
          <p:cNvCxnSpPr/>
          <p:nvPr/>
        </p:nvCxnSpPr>
        <p:spPr>
          <a:xfrm>
            <a:off x="1778000" y="4064000"/>
            <a:ext cx="0" cy="1143000"/>
          </a:xfrm>
          <a:prstGeom prst="straightConnector1">
            <a:avLst/>
          </a:prstGeom>
          <a:ln w="15875">
            <a:solidFill>
              <a:srgbClr val="548235"/>
            </a:solidFill>
          </a:ln>
        </p:spPr>
      </p:cxnSp>
      <p:cxnSp>
        <p:nvCxnSpPr>
          <p:cNvPr id="618" name="No Right"/>
          <p:cNvCxnSpPr/>
          <p:nvPr/>
        </p:nvCxnSpPr>
        <p:spPr>
          <a:xfrm>
            <a:off x="1778000" y="5207000"/>
            <a:ext cx="1473200" cy="0"/>
          </a:xfrm>
          <a:prstGeom prst="straightConnector1">
            <a:avLst/>
          </a:prstGeom>
          <a:ln w="15875">
            <a:solidFill>
              <a:srgbClr val="548235"/>
            </a:solidFill>
            <a:tailEnd type="triangle" w="med" len="med"/>
          </a:ln>
        </p:spPr>
      </p:cxnSp>
      <p:sp>
        <p:nvSpPr>
          <p:cNvPr id="619" name="No Lbl"/>
          <p:cNvSpPr/>
          <p:nvPr/>
        </p:nvSpPr>
        <p:spPr>
          <a:xfrm>
            <a:off x="1320800" y="4140200"/>
            <a:ext cx="381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No</a:t>
            </a:r>
          </a:p>
        </p:txBody>
      </p:sp>
      <p:sp>
        <p:nvSpPr>
          <p:cNvPr id="620" name="No Head"/>
          <p:cNvSpPr/>
          <p:nvPr/>
        </p:nvSpPr>
        <p:spPr>
          <a:xfrm>
            <a:off x="3302000" y="4394200"/>
            <a:ext cx="8128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살아있는 파티클</a:t>
            </a:r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물리 업데이트 후 AliveOut에 기록</a:t>
            </a:r>
          </a:p>
        </p:txBody>
      </p:sp>
      <p:sp>
        <p:nvSpPr>
          <p:cNvPr id="621" name="No 0"/>
          <p:cNvSpPr/>
          <p:nvPr/>
        </p:nvSpPr>
        <p:spPr>
          <a:xfrm>
            <a:off x="3302000" y="4749800"/>
            <a:ext cx="1879600" cy="9398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속도 적분</a:t>
            </a:r>
          </a:p>
        </p:txBody>
      </p:sp>
      <p:cxnSp>
        <p:nvCxnSpPr>
          <p:cNvPr id="622" name="NA0"/>
          <p:cNvCxnSpPr/>
          <p:nvPr/>
        </p:nvCxnSpPr>
        <p:spPr>
          <a:xfrm>
            <a:off x="5194300" y="5219700"/>
            <a:ext cx="127000" cy="0"/>
          </a:xfrm>
          <a:prstGeom prst="straightConnector1">
            <a:avLst/>
          </a:prstGeom>
          <a:ln w="12700">
            <a:solidFill>
              <a:srgbClr val="548235"/>
            </a:solidFill>
            <a:tailEnd type="triangle" w="med" len="med"/>
          </a:ln>
        </p:spPr>
      </p:cxnSp>
      <p:sp>
        <p:nvSpPr>
          <p:cNvPr id="623" name="No 1"/>
          <p:cNvSpPr/>
          <p:nvPr/>
        </p:nvSpPr>
        <p:spPr>
          <a:xfrm>
            <a:off x="5334000" y="4749800"/>
            <a:ext cx="1879600" cy="939800"/>
          </a:xfrm>
          <a:prstGeom prst="roundRect">
            <a:avLst>
              <a:gd name="adj" fmla="val 12000"/>
            </a:avLst>
          </a:prstGeom>
          <a:solidFill>
            <a:srgbClr val="E2F0D9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위치 적분</a:t>
            </a:r>
          </a:p>
        </p:txBody>
      </p:sp>
      <p:cxnSp>
        <p:nvCxnSpPr>
          <p:cNvPr id="624" name="NA1"/>
          <p:cNvCxnSpPr/>
          <p:nvPr/>
        </p:nvCxnSpPr>
        <p:spPr>
          <a:xfrm>
            <a:off x="7226300" y="5219700"/>
            <a:ext cx="127000" cy="0"/>
          </a:xfrm>
          <a:prstGeom prst="straightConnector1">
            <a:avLst/>
          </a:prstGeom>
          <a:ln w="12700">
            <a:solidFill>
              <a:srgbClr val="548235"/>
            </a:solidFill>
            <a:tailEnd type="triangle" w="med" len="med"/>
          </a:ln>
        </p:spPr>
      </p:cxnSp>
      <p:sp>
        <p:nvSpPr>
          <p:cNvPr id="625" name="No 2"/>
          <p:cNvSpPr/>
          <p:nvPr/>
        </p:nvSpPr>
        <p:spPr>
          <a:xfrm>
            <a:off x="7366000" y="4749800"/>
            <a:ext cx="1879600" cy="939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AliveAfterSim +1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InterlockedAdd</a:t>
            </a:r>
          </a:p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증가 전 값 = index</a:t>
            </a:r>
          </a:p>
        </p:txBody>
      </p:sp>
      <p:cxnSp>
        <p:nvCxnSpPr>
          <p:cNvPr id="626" name="NA2"/>
          <p:cNvCxnSpPr/>
          <p:nvPr/>
        </p:nvCxnSpPr>
        <p:spPr>
          <a:xfrm>
            <a:off x="9258300" y="5219700"/>
            <a:ext cx="127000" cy="0"/>
          </a:xfrm>
          <a:prstGeom prst="straightConnector1">
            <a:avLst/>
          </a:prstGeom>
          <a:ln w="12700">
            <a:solidFill>
              <a:srgbClr val="C55A11"/>
            </a:solidFill>
            <a:tailEnd type="triangle" w="med" len="med"/>
          </a:ln>
        </p:spPr>
      </p:cxnSp>
      <p:sp>
        <p:nvSpPr>
          <p:cNvPr id="627" name="No 3"/>
          <p:cNvSpPr/>
          <p:nvPr/>
        </p:nvSpPr>
        <p:spPr>
          <a:xfrm>
            <a:off x="9398000" y="4749800"/>
            <a:ext cx="1879600" cy="939800"/>
          </a:xfrm>
          <a:prstGeom prst="roundRect">
            <a:avLst>
              <a:gd name="adj" fmla="val 12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AliveOut에 기록</a:t>
            </a:r>
          </a:p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AliveOut[index]</a:t>
            </a:r>
          </a:p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= slot</a:t>
            </a:r>
          </a:p>
        </p:txBody>
      </p:sp>
      <p:sp>
        <p:nvSpPr>
          <p:cNvPr id="628" name="AI Lab"/>
          <p:cNvSpPr/>
          <p:nvPr/>
        </p:nvSpPr>
        <p:spPr>
          <a:xfrm>
            <a:off x="3810000" y="939800"/>
            <a:ext cx="264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AliveIn</a:t>
            </a:r>
          </a:p>
        </p:txBody>
      </p:sp>
      <p:sp>
        <p:nvSpPr>
          <p:cNvPr id="629" name="AI0"/>
          <p:cNvSpPr/>
          <p:nvPr/>
        </p:nvSpPr>
        <p:spPr>
          <a:xfrm>
            <a:off x="38100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630" name="AI1"/>
          <p:cNvSpPr/>
          <p:nvPr/>
        </p:nvSpPr>
        <p:spPr>
          <a:xfrm>
            <a:off x="4140200" y="1219200"/>
            <a:ext cx="330200" cy="304800"/>
          </a:xfrm>
          <a:prstGeom prst="rect">
            <a:avLst/>
          </a:prstGeom>
          <a:solidFill>
            <a:srgbClr val="F2DCDB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31" name="AI2"/>
          <p:cNvSpPr/>
          <p:nvPr/>
        </p:nvSpPr>
        <p:spPr>
          <a:xfrm>
            <a:off x="44704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32" name="AI3"/>
          <p:cNvSpPr/>
          <p:nvPr/>
        </p:nvSpPr>
        <p:spPr>
          <a:xfrm>
            <a:off x="48006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33" name="AI4"/>
          <p:cNvSpPr/>
          <p:nvPr/>
        </p:nvSpPr>
        <p:spPr>
          <a:xfrm>
            <a:off x="51308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634" name="AI5"/>
          <p:cNvSpPr/>
          <p:nvPr/>
        </p:nvSpPr>
        <p:spPr>
          <a:xfrm>
            <a:off x="54610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35" name="AIE6"/>
          <p:cNvSpPr/>
          <p:nvPr/>
        </p:nvSpPr>
        <p:spPr>
          <a:xfrm>
            <a:off x="5791200" y="12192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6" name="AIE7"/>
          <p:cNvSpPr/>
          <p:nvPr/>
        </p:nvSpPr>
        <p:spPr>
          <a:xfrm>
            <a:off x="6121400" y="12192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7" name="AI Out"/>
          <p:cNvSpPr/>
          <p:nvPr/>
        </p:nvSpPr>
        <p:spPr>
          <a:xfrm>
            <a:off x="3810000" y="1219200"/>
            <a:ext cx="26416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8" name="AI Hl"/>
          <p:cNvSpPr/>
          <p:nvPr/>
        </p:nvSpPr>
        <p:spPr>
          <a:xfrm>
            <a:off x="4140200" y="1219200"/>
            <a:ext cx="330200" cy="304800"/>
          </a:xfrm>
          <a:prstGeom prst="rect">
            <a:avLst/>
          </a:prstGeom>
          <a:noFill/>
          <a:ln w="28575">
            <a:solidFill>
              <a:srgbClr val="C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9" name="AO Lab"/>
          <p:cNvSpPr/>
          <p:nvPr/>
        </p:nvSpPr>
        <p:spPr>
          <a:xfrm>
            <a:off x="8128000" y="939800"/>
            <a:ext cx="264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AliveOut</a:t>
            </a:r>
          </a:p>
        </p:txBody>
      </p:sp>
      <p:sp>
        <p:nvSpPr>
          <p:cNvPr id="640" name="AO0"/>
          <p:cNvSpPr/>
          <p:nvPr/>
        </p:nvSpPr>
        <p:spPr>
          <a:xfrm>
            <a:off x="81280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641" name="AO1"/>
          <p:cNvSpPr/>
          <p:nvPr/>
        </p:nvSpPr>
        <p:spPr>
          <a:xfrm>
            <a:off x="84582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42" name="AO2"/>
          <p:cNvSpPr/>
          <p:nvPr/>
        </p:nvSpPr>
        <p:spPr>
          <a:xfrm>
            <a:off x="87884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43" name="AO3"/>
          <p:cNvSpPr/>
          <p:nvPr/>
        </p:nvSpPr>
        <p:spPr>
          <a:xfrm>
            <a:off x="91186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644" name="AO4"/>
          <p:cNvSpPr/>
          <p:nvPr/>
        </p:nvSpPr>
        <p:spPr>
          <a:xfrm>
            <a:off x="9448800" y="1219200"/>
            <a:ext cx="330200" cy="3048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45" name="AOE5"/>
          <p:cNvSpPr/>
          <p:nvPr/>
        </p:nvSpPr>
        <p:spPr>
          <a:xfrm>
            <a:off x="9779000" y="12192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6" name="AOE6"/>
          <p:cNvSpPr/>
          <p:nvPr/>
        </p:nvSpPr>
        <p:spPr>
          <a:xfrm>
            <a:off x="10109200" y="12192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7" name="AOE7"/>
          <p:cNvSpPr/>
          <p:nvPr/>
        </p:nvSpPr>
        <p:spPr>
          <a:xfrm>
            <a:off x="10439400" y="1219200"/>
            <a:ext cx="330200" cy="3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8" name="AO Out"/>
          <p:cNvSpPr/>
          <p:nvPr/>
        </p:nvSpPr>
        <p:spPr>
          <a:xfrm>
            <a:off x="8128000" y="1219200"/>
            <a:ext cx="2641600" cy="3048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649" name="Fig Arrow"/>
          <p:cNvCxnSpPr/>
          <p:nvPr/>
        </p:nvCxnSpPr>
        <p:spPr>
          <a:xfrm>
            <a:off x="6553200" y="1371600"/>
            <a:ext cx="1473200" cy="0"/>
          </a:xfrm>
          <a:prstGeom prst="straightConnector1">
            <a:avLst/>
          </a:prstGeom>
          <a:ln w="15875">
            <a:solidFill>
              <a:srgbClr val="C55A11"/>
            </a:solidFill>
            <a:tailEnd type="triangle" w="med" len="med"/>
          </a:ln>
        </p:spPr>
      </p:cxnSp>
      <p:sp>
        <p:nvSpPr>
          <p:cNvPr id="650" name="Fig Lbl"/>
          <p:cNvSpPr/>
          <p:nvPr/>
        </p:nvSpPr>
        <p:spPr>
          <a:xfrm>
            <a:off x="6553200" y="965200"/>
            <a:ext cx="1473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살아남은 slot만</a:t>
            </a:r>
          </a:p>
        </p:txBody>
      </p:sp>
      <p:sp>
        <p:nvSpPr>
          <p:cNvPr id="651" name="Fig Cap"/>
          <p:cNvSpPr/>
          <p:nvPr/>
        </p:nvSpPr>
        <p:spPr>
          <a:xfrm>
            <a:off x="3810000" y="1600200"/>
            <a:ext cx="264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00000"/>
                </a:solidFill>
                <a:latin typeface="페이퍼로지 4 Regular"/>
                <a:ea typeface="페이퍼로지 4 Regular"/>
              </a:rPr>
              <a:t>slot 2는 이번 프레임에 죽음</a:t>
            </a:r>
          </a:p>
        </p:txBody>
      </p:sp>
      <p:sp>
        <p:nvSpPr>
          <p:cNvPr id="652" name="Fig Cap2"/>
          <p:cNvSpPr/>
          <p:nvPr/>
        </p:nvSpPr>
        <p:spPr>
          <a:xfrm>
            <a:off x="8128000" y="1600200"/>
            <a:ext cx="26416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4 Regular"/>
                <a:ea typeface="페이퍼로지 4 Regular"/>
              </a:rPr>
              <a:t>AliveAfterSim = 5</a:t>
            </a:r>
          </a:p>
        </p:txBody>
      </p:sp>
      <p:sp>
        <p:nvSpPr>
          <p:cNvPr id="653" name="Footer"/>
          <p:cNvSpPr/>
          <p:nvPr/>
        </p:nvSpPr>
        <p:spPr>
          <a:xfrm>
            <a:off x="571500" y="5943600"/>
            <a:ext cx="108585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AliveCount를 원자적으로 줄이지 않고, </a:t>
            </a:r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살아남은 수를 AliveAfterSim으로 새로 센다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(매 프레임 0으로 초기화)</a:t>
            </a:r>
          </a:p>
        </p:txBody>
      </p:sp>
    </p:spTree>
    <p:extLst>
      <p:ext uri="{BB962C8B-B14F-4D97-AF65-F5344CB8AC3E}">
        <p14:creationId xmlns:p14="http://schemas.microsoft.com/office/powerpoint/2010/main" val="13997189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9E7C7B-9593-368D-6911-781B2BD69E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AfterSim 단계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4288E6B8-A199-4453-09B3-4416D1F69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17</a:t>
            </a:fld>
            <a:endParaRPr lang="ko-KR" altLang="en-US"/>
          </a:p>
        </p:txBody>
      </p:sp>
      <p:sp>
        <p:nvSpPr>
          <p:cNvPr id="601" name="Note"/>
          <p:cNvSpPr/>
          <p:nvPr/>
        </p:nvSpPr>
        <p:spPr>
          <a:xfrm>
            <a:off x="762000" y="1193800"/>
            <a:ext cx="106680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Simulate가 끝나면, </a:t>
            </a:r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살아남은 수로 Counter와 Draw 인자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를 정리한다</a:t>
            </a:r>
          </a:p>
        </p:txBody>
      </p:sp>
      <p:sp>
        <p:nvSpPr>
          <p:cNvPr id="602" name="Card 1"/>
          <p:cNvSpPr/>
          <p:nvPr/>
        </p:nvSpPr>
        <p:spPr>
          <a:xfrm>
            <a:off x="7620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3" name="Badge 1"/>
          <p:cNvSpPr/>
          <p:nvPr/>
        </p:nvSpPr>
        <p:spPr>
          <a:xfrm>
            <a:off x="9398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4" name="Head 1"/>
          <p:cNvSpPr/>
          <p:nvPr/>
        </p:nvSpPr>
        <p:spPr>
          <a:xfrm>
            <a:off x="13970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AliveAfterSim 읽기</a:t>
            </a:r>
          </a:p>
        </p:txBody>
      </p:sp>
      <p:sp>
        <p:nvSpPr>
          <p:cNvPr id="605" name="Desc 1-0"/>
          <p:cNvSpPr/>
          <p:nvPr/>
        </p:nvSpPr>
        <p:spPr>
          <a:xfrm>
            <a:off x="9652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Counter에서</a:t>
            </a:r>
          </a:p>
        </p:txBody>
      </p:sp>
      <p:sp>
        <p:nvSpPr>
          <p:cNvPr id="606" name="Desc 1-1"/>
          <p:cNvSpPr/>
          <p:nvPr/>
        </p:nvSpPr>
        <p:spPr>
          <a:xfrm>
            <a:off x="9652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Simulate에서 살아남은 수를 얻는다</a:t>
            </a:r>
          </a:p>
        </p:txBody>
      </p:sp>
      <p:sp>
        <p:nvSpPr>
          <p:cNvPr id="607" name="Rule 1"/>
          <p:cNvSpPr/>
          <p:nvPr/>
        </p:nvSpPr>
        <p:spPr>
          <a:xfrm>
            <a:off x="9652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8" name="FigLab 1"/>
          <p:cNvSpPr/>
          <p:nvPr/>
        </p:nvSpPr>
        <p:spPr>
          <a:xfrm>
            <a:off x="7620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Counter</a:t>
            </a:r>
          </a:p>
        </p:txBody>
      </p:sp>
      <p:cxnSp>
        <p:nvCxnSpPr>
          <p:cNvPr id="609" name="Arrow 1"/>
          <p:cNvCxnSpPr/>
          <p:nvPr/>
        </p:nvCxnSpPr>
        <p:spPr>
          <a:xfrm>
            <a:off x="4165600" y="37211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0" name="Card 2"/>
          <p:cNvSpPr/>
          <p:nvPr/>
        </p:nvSpPr>
        <p:spPr>
          <a:xfrm>
            <a:off x="44196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1" name="Badge 2"/>
          <p:cNvSpPr/>
          <p:nvPr/>
        </p:nvSpPr>
        <p:spPr>
          <a:xfrm>
            <a:off x="45974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12" name="Head 2"/>
          <p:cNvSpPr/>
          <p:nvPr/>
        </p:nvSpPr>
        <p:spPr>
          <a:xfrm>
            <a:off x="50546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AliveCount 갱신</a:t>
            </a:r>
          </a:p>
        </p:txBody>
      </p:sp>
      <p:sp>
        <p:nvSpPr>
          <p:cNvPr id="613" name="Desc 2-0"/>
          <p:cNvSpPr/>
          <p:nvPr/>
        </p:nvSpPr>
        <p:spPr>
          <a:xfrm>
            <a:off x="46228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AliveCount = AliveAfterSim</a:t>
            </a:r>
          </a:p>
        </p:txBody>
      </p:sp>
      <p:sp>
        <p:nvSpPr>
          <p:cNvPr id="614" name="Desc 2-1"/>
          <p:cNvSpPr/>
          <p:nvPr/>
        </p:nvSpPr>
        <p:spPr>
          <a:xfrm>
            <a:off x="46228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다음 프레임 Emit · Simulate의 기준</a:t>
            </a:r>
          </a:p>
        </p:txBody>
      </p:sp>
      <p:sp>
        <p:nvSpPr>
          <p:cNvPr id="615" name="Rule 2"/>
          <p:cNvSpPr/>
          <p:nvPr/>
        </p:nvSpPr>
        <p:spPr>
          <a:xfrm>
            <a:off x="46228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6" name="FigLab 2"/>
          <p:cNvSpPr/>
          <p:nvPr/>
        </p:nvSpPr>
        <p:spPr>
          <a:xfrm>
            <a:off x="44196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Counter</a:t>
            </a:r>
          </a:p>
        </p:txBody>
      </p:sp>
      <p:cxnSp>
        <p:nvCxnSpPr>
          <p:cNvPr id="617" name="Arrow 2"/>
          <p:cNvCxnSpPr/>
          <p:nvPr/>
        </p:nvCxnSpPr>
        <p:spPr>
          <a:xfrm>
            <a:off x="7823200" y="37211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8" name="Card 3"/>
          <p:cNvSpPr/>
          <p:nvPr/>
        </p:nvSpPr>
        <p:spPr>
          <a:xfrm>
            <a:off x="80772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9" name="Badge 3"/>
          <p:cNvSpPr/>
          <p:nvPr/>
        </p:nvSpPr>
        <p:spPr>
          <a:xfrm>
            <a:off x="82550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20" name="Head 3"/>
          <p:cNvSpPr/>
          <p:nvPr/>
        </p:nvSpPr>
        <p:spPr>
          <a:xfrm>
            <a:off x="87122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DrawArgs에 기록</a:t>
            </a:r>
          </a:p>
        </p:txBody>
      </p:sp>
      <p:sp>
        <p:nvSpPr>
          <p:cNvPr id="621" name="Desc 3-0"/>
          <p:cNvSpPr/>
          <p:nvPr/>
        </p:nvSpPr>
        <p:spPr>
          <a:xfrm>
            <a:off x="82804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IndirectArgs에 survived 값 저장</a:t>
            </a:r>
          </a:p>
        </p:txBody>
      </p:sp>
      <p:sp>
        <p:nvSpPr>
          <p:cNvPr id="622" name="Desc 3-1"/>
          <p:cNvSpPr/>
          <p:nvPr/>
        </p:nvSpPr>
        <p:spPr>
          <a:xfrm>
            <a:off x="82804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Draw의 인스턴스 수로 사용</a:t>
            </a:r>
          </a:p>
        </p:txBody>
      </p:sp>
      <p:sp>
        <p:nvSpPr>
          <p:cNvPr id="623" name="Rule 3"/>
          <p:cNvSpPr/>
          <p:nvPr/>
        </p:nvSpPr>
        <p:spPr>
          <a:xfrm>
            <a:off x="82804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4" name="FigLab 3"/>
          <p:cNvSpPr/>
          <p:nvPr/>
        </p:nvSpPr>
        <p:spPr>
          <a:xfrm>
            <a:off x="80772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IndirectArgs (DrawArgs)</a:t>
            </a:r>
          </a:p>
        </p:txBody>
      </p:sp>
      <p:sp>
        <p:nvSpPr>
          <p:cNvPr id="625" name="F1 Box"/>
          <p:cNvSpPr/>
          <p:nvPr/>
        </p:nvSpPr>
        <p:spPr>
          <a:xfrm>
            <a:off x="1295400" y="4064000"/>
            <a:ext cx="2286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AliveAfterSim</a:t>
            </a:r>
          </a:p>
        </p:txBody>
      </p:sp>
      <p:sp>
        <p:nvSpPr>
          <p:cNvPr id="626" name="F1 Val"/>
          <p:cNvSpPr/>
          <p:nvPr/>
        </p:nvSpPr>
        <p:spPr>
          <a:xfrm>
            <a:off x="762000" y="4572000"/>
            <a:ext cx="3352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2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= 5</a:t>
            </a:r>
          </a:p>
        </p:txBody>
      </p:sp>
      <p:sp>
        <p:nvSpPr>
          <p:cNvPr id="627" name="F2 Box"/>
          <p:cNvSpPr/>
          <p:nvPr/>
        </p:nvSpPr>
        <p:spPr>
          <a:xfrm>
            <a:off x="5080000" y="4064000"/>
            <a:ext cx="2032000" cy="406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AliveCount</a:t>
            </a:r>
          </a:p>
        </p:txBody>
      </p:sp>
      <p:sp>
        <p:nvSpPr>
          <p:cNvPr id="628" name="F2 Val"/>
          <p:cNvSpPr/>
          <p:nvPr/>
        </p:nvSpPr>
        <p:spPr>
          <a:xfrm>
            <a:off x="4419600" y="4572000"/>
            <a:ext cx="33528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2200" dirty="0">
                <a:solidFill>
                  <a:srgbClr val="7F7F7F"/>
                </a:solidFill>
                <a:latin typeface="페이퍼로지 7 Bold"/>
                <a:ea typeface="페이퍼로지 7 Bold"/>
              </a:rPr>
              <a:t>6</a:t>
            </a:r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  →  </a:t>
            </a:r>
            <a:r>
              <a:rPr lang="ko-KR" altLang="en-US" sz="2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29" name="F3 C0"/>
          <p:cNvSpPr/>
          <p:nvPr/>
        </p:nvSpPr>
        <p:spPr>
          <a:xfrm>
            <a:off x="8483600" y="4064000"/>
            <a:ext cx="1219200" cy="431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30" name="F3 C1"/>
          <p:cNvSpPr/>
          <p:nvPr/>
        </p:nvSpPr>
        <p:spPr>
          <a:xfrm>
            <a:off x="9702800" y="4064000"/>
            <a:ext cx="1219200" cy="4318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31" name="F3 Hl"/>
          <p:cNvSpPr/>
          <p:nvPr/>
        </p:nvSpPr>
        <p:spPr>
          <a:xfrm>
            <a:off x="9702800" y="4064000"/>
            <a:ext cx="1219200" cy="4318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32" name="F3 L0"/>
          <p:cNvSpPr/>
          <p:nvPr/>
        </p:nvSpPr>
        <p:spPr>
          <a:xfrm>
            <a:off x="8483600" y="4546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정점 수</a:t>
            </a:r>
          </a:p>
        </p:txBody>
      </p:sp>
      <p:sp>
        <p:nvSpPr>
          <p:cNvPr id="633" name="F3 L1"/>
          <p:cNvSpPr/>
          <p:nvPr/>
        </p:nvSpPr>
        <p:spPr>
          <a:xfrm>
            <a:off x="9702800" y="4546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인스턴스 수</a:t>
            </a:r>
          </a:p>
        </p:txBody>
      </p:sp>
      <p:sp>
        <p:nvSpPr>
          <p:cNvPr id="37" name="Dispatch">
            <a:extLst>
              <a:ext uri="{FF2B5EF4-FFF2-40B4-BE49-F238E27FC236}">
                <a16:creationId xmlns:a16="http://schemas.microsoft.com/office/drawing/2014/main" id="{0A7F2CB7-2B3C-4648-93A5-7E67042EE79A}"/>
              </a:ext>
            </a:extLst>
          </p:cNvPr>
          <p:cNvSpPr/>
          <p:nvPr/>
        </p:nvSpPr>
        <p:spPr>
          <a:xfrm>
            <a:off x="762000" y="1606591"/>
            <a:ext cx="2794000" cy="406400"/>
          </a:xfrm>
          <a:prstGeom prst="roundRect">
            <a:avLst>
              <a:gd name="adj" fmla="val 20000"/>
            </a:avLst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 err="1">
                <a:solidFill>
                  <a:srgbClr val="FFFFFF"/>
                </a:solidFill>
                <a:latin typeface="페이퍼로지 7 Bold"/>
                <a:ea typeface="페이퍼로지 7 Bold"/>
              </a:rPr>
              <a:t>Dispatch</a:t>
            </a:r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(</a:t>
            </a:r>
            <a:r>
              <a:rPr lang="en-US" altLang="ko-KR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1, 1, 1</a:t>
            </a:r>
            <a:r>
              <a:rPr lang="ko-KR" altLang="en-US" sz="15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9493970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04D596-5147-DFC1-E1FB-0B4F6E63F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Draw 단계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4B36272-94D4-A048-EADD-B1F383557A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18</a:t>
            </a:fld>
            <a:endParaRPr lang="ko-KR" altLang="en-US"/>
          </a:p>
        </p:txBody>
      </p:sp>
      <p:sp>
        <p:nvSpPr>
          <p:cNvPr id="601" name="Draw Call"/>
          <p:cNvSpPr/>
          <p:nvPr/>
        </p:nvSpPr>
        <p:spPr>
          <a:xfrm>
            <a:off x="762000" y="1447800"/>
            <a:ext cx="3810000" cy="431800"/>
          </a:xfrm>
          <a:prstGeom prst="roundRect">
            <a:avLst>
              <a:gd name="adj" fmla="val 20000"/>
            </a:avLst>
          </a:prstGeom>
          <a:solidFill>
            <a:srgbClr val="1F3864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DrawInstancedIndirect(IndirectArgs)</a:t>
            </a:r>
          </a:p>
        </p:txBody>
      </p:sp>
      <p:sp>
        <p:nvSpPr>
          <p:cNvPr id="602" name="Draw Note"/>
          <p:cNvSpPr/>
          <p:nvPr/>
        </p:nvSpPr>
        <p:spPr>
          <a:xfrm>
            <a:off x="4724400" y="1447800"/>
            <a:ext cx="63500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인스턴스 1개 = Alive 파티클 1개</a:t>
            </a:r>
          </a:p>
        </p:txBody>
      </p:sp>
      <p:sp>
        <p:nvSpPr>
          <p:cNvPr id="603" name="Card 1"/>
          <p:cNvSpPr/>
          <p:nvPr/>
        </p:nvSpPr>
        <p:spPr>
          <a:xfrm>
            <a:off x="7620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4" name="Badge 1"/>
          <p:cNvSpPr/>
          <p:nvPr/>
        </p:nvSpPr>
        <p:spPr>
          <a:xfrm>
            <a:off x="9398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5" name="Head 1"/>
          <p:cNvSpPr/>
          <p:nvPr/>
        </p:nvSpPr>
        <p:spPr>
          <a:xfrm>
            <a:off x="13970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Alive 수만큼 Draw</a:t>
            </a:r>
          </a:p>
        </p:txBody>
      </p:sp>
      <p:sp>
        <p:nvSpPr>
          <p:cNvPr id="606" name="Desc 1-0"/>
          <p:cNvSpPr/>
          <p:nvPr/>
        </p:nvSpPr>
        <p:spPr>
          <a:xfrm>
            <a:off x="9652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IndirectArgs의 인스턴스 수만큼</a:t>
            </a:r>
          </a:p>
        </p:txBody>
      </p:sp>
      <p:sp>
        <p:nvSpPr>
          <p:cNvPr id="607" name="Desc 1-1"/>
          <p:cNvSpPr/>
          <p:nvPr/>
        </p:nvSpPr>
        <p:spPr>
          <a:xfrm>
            <a:off x="9652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CPU 개입 없이 Draw 실행</a:t>
            </a:r>
          </a:p>
        </p:txBody>
      </p:sp>
      <p:sp>
        <p:nvSpPr>
          <p:cNvPr id="608" name="Rule 1"/>
          <p:cNvSpPr/>
          <p:nvPr/>
        </p:nvSpPr>
        <p:spPr>
          <a:xfrm>
            <a:off x="9652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09" name="FigLab 1"/>
          <p:cNvSpPr/>
          <p:nvPr/>
        </p:nvSpPr>
        <p:spPr>
          <a:xfrm>
            <a:off x="7620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IndirectArgs</a:t>
            </a:r>
          </a:p>
        </p:txBody>
      </p:sp>
      <p:cxnSp>
        <p:nvCxnSpPr>
          <p:cNvPr id="610" name="Arrow 1"/>
          <p:cNvCxnSpPr/>
          <p:nvPr/>
        </p:nvCxnSpPr>
        <p:spPr>
          <a:xfrm>
            <a:off x="4165600" y="37211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1" name="Card 2"/>
          <p:cNvSpPr/>
          <p:nvPr/>
        </p:nvSpPr>
        <p:spPr>
          <a:xfrm>
            <a:off x="44196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2" name="Badge 2"/>
          <p:cNvSpPr/>
          <p:nvPr/>
        </p:nvSpPr>
        <p:spPr>
          <a:xfrm>
            <a:off x="45974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13" name="Head 2"/>
          <p:cNvSpPr/>
          <p:nvPr/>
        </p:nvSpPr>
        <p:spPr>
          <a:xfrm>
            <a:off x="50546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slot 얻기</a:t>
            </a:r>
          </a:p>
        </p:txBody>
      </p:sp>
      <p:sp>
        <p:nvSpPr>
          <p:cNvPr id="614" name="Desc 2-0"/>
          <p:cNvSpPr/>
          <p:nvPr/>
        </p:nvSpPr>
        <p:spPr>
          <a:xfrm>
            <a:off x="46228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slot = AliveList[InstanceId]</a:t>
            </a:r>
          </a:p>
        </p:txBody>
      </p:sp>
      <p:sp>
        <p:nvSpPr>
          <p:cNvPr id="615" name="Desc 2-1"/>
          <p:cNvSpPr/>
          <p:nvPr/>
        </p:nvSpPr>
        <p:spPr>
          <a:xfrm>
            <a:off x="46228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Simulate에서 기록한 AliveOut</a:t>
            </a:r>
          </a:p>
        </p:txBody>
      </p:sp>
      <p:sp>
        <p:nvSpPr>
          <p:cNvPr id="616" name="Rule 2"/>
          <p:cNvSpPr/>
          <p:nvPr/>
        </p:nvSpPr>
        <p:spPr>
          <a:xfrm>
            <a:off x="46228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17" name="FigLab 2"/>
          <p:cNvSpPr/>
          <p:nvPr/>
        </p:nvSpPr>
        <p:spPr>
          <a:xfrm>
            <a:off x="44196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AliveList</a:t>
            </a:r>
          </a:p>
        </p:txBody>
      </p:sp>
      <p:cxnSp>
        <p:nvCxnSpPr>
          <p:cNvPr id="618" name="Arrow 2"/>
          <p:cNvCxnSpPr/>
          <p:nvPr/>
        </p:nvCxnSpPr>
        <p:spPr>
          <a:xfrm>
            <a:off x="7823200" y="3721100"/>
            <a:ext cx="203200" cy="0"/>
          </a:xfrm>
          <a:prstGeom prst="straightConnector1">
            <a:avLst/>
          </a:prstGeom>
          <a:ln w="19050">
            <a:solidFill>
              <a:srgbClr val="C55A11"/>
            </a:solidFill>
            <a:tailEnd type="triangle" w="med" len="med"/>
          </a:ln>
        </p:spPr>
      </p:cxnSp>
      <p:sp>
        <p:nvSpPr>
          <p:cNvPr id="619" name="Card 3"/>
          <p:cNvSpPr/>
          <p:nvPr/>
        </p:nvSpPr>
        <p:spPr>
          <a:xfrm>
            <a:off x="8077200" y="2133600"/>
            <a:ext cx="3352800" cy="3175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0" name="Badge 3"/>
          <p:cNvSpPr/>
          <p:nvPr/>
        </p:nvSpPr>
        <p:spPr>
          <a:xfrm>
            <a:off x="8255000" y="231140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21" name="Head 3"/>
          <p:cNvSpPr/>
          <p:nvPr/>
        </p:nvSpPr>
        <p:spPr>
          <a:xfrm>
            <a:off x="8712200" y="228600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파티클 그리기</a:t>
            </a:r>
          </a:p>
        </p:txBody>
      </p:sp>
      <p:sp>
        <p:nvSpPr>
          <p:cNvPr id="622" name="Desc 3-0"/>
          <p:cNvSpPr/>
          <p:nvPr/>
        </p:nvSpPr>
        <p:spPr>
          <a:xfrm>
            <a:off x="8280400" y="28194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Particles[slot]을 읽어</a:t>
            </a:r>
          </a:p>
        </p:txBody>
      </p:sp>
      <p:sp>
        <p:nvSpPr>
          <p:cNvPr id="623" name="Desc 3-1"/>
          <p:cNvSpPr/>
          <p:nvPr/>
        </p:nvSpPr>
        <p:spPr>
          <a:xfrm>
            <a:off x="8280400" y="3098800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정점 6개(Quad)로 그린다</a:t>
            </a:r>
          </a:p>
        </p:txBody>
      </p:sp>
      <p:sp>
        <p:nvSpPr>
          <p:cNvPr id="624" name="Rule 3"/>
          <p:cNvSpPr/>
          <p:nvPr/>
        </p:nvSpPr>
        <p:spPr>
          <a:xfrm>
            <a:off x="8280400" y="3556000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5" name="FigLab 3"/>
          <p:cNvSpPr/>
          <p:nvPr/>
        </p:nvSpPr>
        <p:spPr>
          <a:xfrm>
            <a:off x="8077200" y="3733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Particles</a:t>
            </a:r>
          </a:p>
        </p:txBody>
      </p:sp>
      <p:sp>
        <p:nvSpPr>
          <p:cNvPr id="626" name="F1 C0"/>
          <p:cNvSpPr/>
          <p:nvPr/>
        </p:nvSpPr>
        <p:spPr>
          <a:xfrm>
            <a:off x="1168400" y="4064000"/>
            <a:ext cx="1219200" cy="4318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6</a:t>
            </a:r>
          </a:p>
        </p:txBody>
      </p:sp>
      <p:sp>
        <p:nvSpPr>
          <p:cNvPr id="627" name="F1 C1"/>
          <p:cNvSpPr/>
          <p:nvPr/>
        </p:nvSpPr>
        <p:spPr>
          <a:xfrm>
            <a:off x="2387600" y="4064000"/>
            <a:ext cx="1219200" cy="4318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5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28" name="F1 Hl"/>
          <p:cNvSpPr/>
          <p:nvPr/>
        </p:nvSpPr>
        <p:spPr>
          <a:xfrm>
            <a:off x="2387600" y="4064000"/>
            <a:ext cx="1219200" cy="4318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29" name="F1 L0"/>
          <p:cNvSpPr/>
          <p:nvPr/>
        </p:nvSpPr>
        <p:spPr>
          <a:xfrm>
            <a:off x="1168400" y="4546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정점 수</a:t>
            </a:r>
          </a:p>
        </p:txBody>
      </p:sp>
      <p:sp>
        <p:nvSpPr>
          <p:cNvPr id="630" name="F1 L1"/>
          <p:cNvSpPr/>
          <p:nvPr/>
        </p:nvSpPr>
        <p:spPr>
          <a:xfrm>
            <a:off x="2387600" y="4546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인스턴스 수</a:t>
            </a:r>
          </a:p>
        </p:txBody>
      </p:sp>
      <p:sp>
        <p:nvSpPr>
          <p:cNvPr id="631" name="F1 Cap"/>
          <p:cNvSpPr/>
          <p:nvPr/>
        </p:nvSpPr>
        <p:spPr>
          <a:xfrm>
            <a:off x="762000" y="48768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InstanceId = 0 … 4</a:t>
            </a:r>
          </a:p>
        </p:txBody>
      </p:sp>
      <p:sp>
        <p:nvSpPr>
          <p:cNvPr id="632" name="AL0"/>
          <p:cNvSpPr/>
          <p:nvPr/>
        </p:nvSpPr>
        <p:spPr>
          <a:xfrm>
            <a:off x="4775200" y="4089400"/>
            <a:ext cx="3302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0</a:t>
            </a:r>
          </a:p>
        </p:txBody>
      </p:sp>
      <p:sp>
        <p:nvSpPr>
          <p:cNvPr id="633" name="ALi0"/>
          <p:cNvSpPr/>
          <p:nvPr/>
        </p:nvSpPr>
        <p:spPr>
          <a:xfrm>
            <a:off x="47752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34" name="AL1"/>
          <p:cNvSpPr/>
          <p:nvPr/>
        </p:nvSpPr>
        <p:spPr>
          <a:xfrm>
            <a:off x="5105400" y="4089400"/>
            <a:ext cx="3302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3</a:t>
            </a:r>
          </a:p>
        </p:txBody>
      </p:sp>
      <p:sp>
        <p:nvSpPr>
          <p:cNvPr id="635" name="ALi1"/>
          <p:cNvSpPr/>
          <p:nvPr/>
        </p:nvSpPr>
        <p:spPr>
          <a:xfrm>
            <a:off x="51054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36" name="AL2"/>
          <p:cNvSpPr/>
          <p:nvPr/>
        </p:nvSpPr>
        <p:spPr>
          <a:xfrm>
            <a:off x="5435600" y="4089400"/>
            <a:ext cx="330200" cy="33020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37" name="ALi2"/>
          <p:cNvSpPr/>
          <p:nvPr/>
        </p:nvSpPr>
        <p:spPr>
          <a:xfrm>
            <a:off x="54356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38" name="AL3"/>
          <p:cNvSpPr/>
          <p:nvPr/>
        </p:nvSpPr>
        <p:spPr>
          <a:xfrm>
            <a:off x="5765800" y="4089400"/>
            <a:ext cx="3302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8</a:t>
            </a:r>
          </a:p>
        </p:txBody>
      </p:sp>
      <p:sp>
        <p:nvSpPr>
          <p:cNvPr id="639" name="ALi3"/>
          <p:cNvSpPr/>
          <p:nvPr/>
        </p:nvSpPr>
        <p:spPr>
          <a:xfrm>
            <a:off x="57658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40" name="AL4"/>
          <p:cNvSpPr/>
          <p:nvPr/>
        </p:nvSpPr>
        <p:spPr>
          <a:xfrm>
            <a:off x="6096000" y="4089400"/>
            <a:ext cx="330200" cy="330200"/>
          </a:xfrm>
          <a:prstGeom prst="rect">
            <a:avLst/>
          </a:prstGeom>
          <a:solidFill>
            <a:srgbClr val="E2F0D9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2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4</a:t>
            </a:r>
          </a:p>
        </p:txBody>
      </p:sp>
      <p:sp>
        <p:nvSpPr>
          <p:cNvPr id="641" name="ALi4"/>
          <p:cNvSpPr/>
          <p:nvPr/>
        </p:nvSpPr>
        <p:spPr>
          <a:xfrm>
            <a:off x="60960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42" name="AL5"/>
          <p:cNvSpPr/>
          <p:nvPr/>
        </p:nvSpPr>
        <p:spPr>
          <a:xfrm>
            <a:off x="6426200" y="40894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3" name="ALi5"/>
          <p:cNvSpPr/>
          <p:nvPr/>
        </p:nvSpPr>
        <p:spPr>
          <a:xfrm>
            <a:off x="64262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5</a:t>
            </a:r>
          </a:p>
        </p:txBody>
      </p:sp>
      <p:sp>
        <p:nvSpPr>
          <p:cNvPr id="644" name="AL6"/>
          <p:cNvSpPr/>
          <p:nvPr/>
        </p:nvSpPr>
        <p:spPr>
          <a:xfrm>
            <a:off x="6756400" y="40894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5" name="ALi6"/>
          <p:cNvSpPr/>
          <p:nvPr/>
        </p:nvSpPr>
        <p:spPr>
          <a:xfrm>
            <a:off x="67564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46" name="AL7"/>
          <p:cNvSpPr/>
          <p:nvPr/>
        </p:nvSpPr>
        <p:spPr>
          <a:xfrm>
            <a:off x="7086600" y="4089400"/>
            <a:ext cx="330200" cy="330200"/>
          </a:xfrm>
          <a:prstGeom prst="rect">
            <a:avLst/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7" name="ALi7"/>
          <p:cNvSpPr/>
          <p:nvPr/>
        </p:nvSpPr>
        <p:spPr>
          <a:xfrm>
            <a:off x="7086600" y="4445000"/>
            <a:ext cx="3302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48" name="AL Out"/>
          <p:cNvSpPr/>
          <p:nvPr/>
        </p:nvSpPr>
        <p:spPr>
          <a:xfrm>
            <a:off x="4775200" y="4089400"/>
            <a:ext cx="26416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49" name="AL Hl"/>
          <p:cNvSpPr/>
          <p:nvPr/>
        </p:nvSpPr>
        <p:spPr>
          <a:xfrm>
            <a:off x="5435600" y="4089400"/>
            <a:ext cx="330200" cy="3302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0" name="F2 Cap"/>
          <p:cNvSpPr/>
          <p:nvPr/>
        </p:nvSpPr>
        <p:spPr>
          <a:xfrm>
            <a:off x="4419600" y="47244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InstanceId 2 → slot 5</a:t>
            </a:r>
          </a:p>
        </p:txBody>
      </p:sp>
      <p:sp>
        <p:nvSpPr>
          <p:cNvPr id="651" name="P0"/>
          <p:cNvSpPr/>
          <p:nvPr/>
        </p:nvSpPr>
        <p:spPr>
          <a:xfrm>
            <a:off x="8382000" y="4089400"/>
            <a:ext cx="3048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2" name="Pi0"/>
          <p:cNvSpPr/>
          <p:nvPr/>
        </p:nvSpPr>
        <p:spPr>
          <a:xfrm>
            <a:off x="83820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0</a:t>
            </a:r>
          </a:p>
        </p:txBody>
      </p:sp>
      <p:sp>
        <p:nvSpPr>
          <p:cNvPr id="653" name="P1"/>
          <p:cNvSpPr/>
          <p:nvPr/>
        </p:nvSpPr>
        <p:spPr>
          <a:xfrm>
            <a:off x="8686800" y="4089400"/>
            <a:ext cx="3048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4" name="Pi1"/>
          <p:cNvSpPr/>
          <p:nvPr/>
        </p:nvSpPr>
        <p:spPr>
          <a:xfrm>
            <a:off x="86868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1</a:t>
            </a:r>
          </a:p>
        </p:txBody>
      </p:sp>
      <p:sp>
        <p:nvSpPr>
          <p:cNvPr id="655" name="P2"/>
          <p:cNvSpPr/>
          <p:nvPr/>
        </p:nvSpPr>
        <p:spPr>
          <a:xfrm>
            <a:off x="8991600" y="4089400"/>
            <a:ext cx="3048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6" name="Pi2"/>
          <p:cNvSpPr/>
          <p:nvPr/>
        </p:nvSpPr>
        <p:spPr>
          <a:xfrm>
            <a:off x="89916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2</a:t>
            </a:r>
          </a:p>
        </p:txBody>
      </p:sp>
      <p:sp>
        <p:nvSpPr>
          <p:cNvPr id="657" name="P3"/>
          <p:cNvSpPr/>
          <p:nvPr/>
        </p:nvSpPr>
        <p:spPr>
          <a:xfrm>
            <a:off x="9296400" y="4089400"/>
            <a:ext cx="3048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58" name="Pi3"/>
          <p:cNvSpPr/>
          <p:nvPr/>
        </p:nvSpPr>
        <p:spPr>
          <a:xfrm>
            <a:off x="92964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3</a:t>
            </a:r>
          </a:p>
        </p:txBody>
      </p:sp>
      <p:sp>
        <p:nvSpPr>
          <p:cNvPr id="659" name="P4"/>
          <p:cNvSpPr/>
          <p:nvPr/>
        </p:nvSpPr>
        <p:spPr>
          <a:xfrm>
            <a:off x="9601200" y="4089400"/>
            <a:ext cx="3048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0" name="Pi4"/>
          <p:cNvSpPr/>
          <p:nvPr/>
        </p:nvSpPr>
        <p:spPr>
          <a:xfrm>
            <a:off x="96012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4</a:t>
            </a:r>
          </a:p>
        </p:txBody>
      </p:sp>
      <p:sp>
        <p:nvSpPr>
          <p:cNvPr id="661" name="P5"/>
          <p:cNvSpPr/>
          <p:nvPr/>
        </p:nvSpPr>
        <p:spPr>
          <a:xfrm>
            <a:off x="9906000" y="4089400"/>
            <a:ext cx="3048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2" name="Pi5"/>
          <p:cNvSpPr/>
          <p:nvPr/>
        </p:nvSpPr>
        <p:spPr>
          <a:xfrm>
            <a:off x="99060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5</a:t>
            </a:r>
          </a:p>
        </p:txBody>
      </p:sp>
      <p:sp>
        <p:nvSpPr>
          <p:cNvPr id="663" name="P6"/>
          <p:cNvSpPr/>
          <p:nvPr/>
        </p:nvSpPr>
        <p:spPr>
          <a:xfrm>
            <a:off x="10210800" y="4089400"/>
            <a:ext cx="3048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4" name="Pi6"/>
          <p:cNvSpPr/>
          <p:nvPr/>
        </p:nvSpPr>
        <p:spPr>
          <a:xfrm>
            <a:off x="102108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6</a:t>
            </a:r>
          </a:p>
        </p:txBody>
      </p:sp>
      <p:sp>
        <p:nvSpPr>
          <p:cNvPr id="665" name="P7"/>
          <p:cNvSpPr/>
          <p:nvPr/>
        </p:nvSpPr>
        <p:spPr>
          <a:xfrm>
            <a:off x="10515600" y="4089400"/>
            <a:ext cx="304800" cy="330200"/>
          </a:xfrm>
          <a:prstGeom prst="rect">
            <a:avLst/>
          </a:prstGeom>
          <a:solidFill>
            <a:srgbClr val="C0000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6" name="Pi7"/>
          <p:cNvSpPr/>
          <p:nvPr/>
        </p:nvSpPr>
        <p:spPr>
          <a:xfrm>
            <a:off x="105156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7</a:t>
            </a:r>
          </a:p>
        </p:txBody>
      </p:sp>
      <p:sp>
        <p:nvSpPr>
          <p:cNvPr id="667" name="P8"/>
          <p:cNvSpPr/>
          <p:nvPr/>
        </p:nvSpPr>
        <p:spPr>
          <a:xfrm>
            <a:off x="10820400" y="4089400"/>
            <a:ext cx="304800" cy="330200"/>
          </a:xfrm>
          <a:prstGeom prst="rect">
            <a:avLst/>
          </a:prstGeom>
          <a:solidFill>
            <a:srgbClr val="00B050"/>
          </a:solidFill>
          <a:ln w="9525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68" name="Pi8"/>
          <p:cNvSpPr/>
          <p:nvPr/>
        </p:nvSpPr>
        <p:spPr>
          <a:xfrm>
            <a:off x="10820400" y="4445000"/>
            <a:ext cx="3048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1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8</a:t>
            </a:r>
          </a:p>
        </p:txBody>
      </p:sp>
      <p:sp>
        <p:nvSpPr>
          <p:cNvPr id="669" name="P Out"/>
          <p:cNvSpPr/>
          <p:nvPr/>
        </p:nvSpPr>
        <p:spPr>
          <a:xfrm>
            <a:off x="8382000" y="4089400"/>
            <a:ext cx="2743200" cy="3302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70" name="P Hl"/>
          <p:cNvSpPr/>
          <p:nvPr/>
        </p:nvSpPr>
        <p:spPr>
          <a:xfrm>
            <a:off x="9906000" y="4089400"/>
            <a:ext cx="304800" cy="330200"/>
          </a:xfrm>
          <a:prstGeom prst="rect">
            <a:avLst/>
          </a:prstGeom>
          <a:noFill/>
          <a:ln w="28575">
            <a:solidFill>
              <a:srgbClr val="C55A11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sp>
        <p:nvSpPr>
          <p:cNvPr id="671" name="F3 Cap"/>
          <p:cNvSpPr/>
          <p:nvPr/>
        </p:nvSpPr>
        <p:spPr>
          <a:xfrm>
            <a:off x="8077200" y="4724400"/>
            <a:ext cx="3352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3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Particles[5]를 그린다</a:t>
            </a:r>
          </a:p>
        </p:txBody>
      </p:sp>
    </p:spTree>
    <p:extLst>
      <p:ext uri="{BB962C8B-B14F-4D97-AF65-F5344CB8AC3E}">
        <p14:creationId xmlns:p14="http://schemas.microsoft.com/office/powerpoint/2010/main" val="41031673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7D010-2F40-49E7-2067-E8F4C7473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AliveList 장단점 (예상)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3D85B24-6379-4AB9-76EE-B4EF1C24D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19</a:t>
            </a:fld>
            <a:endParaRPr lang="ko-KR" altLang="en-US"/>
          </a:p>
        </p:txBody>
      </p:sp>
      <p:sp>
        <p:nvSpPr>
          <p:cNvPr id="601" name="장점 Card"/>
          <p:cNvSpPr/>
          <p:nvPr/>
        </p:nvSpPr>
        <p:spPr>
          <a:xfrm>
            <a:off x="762000" y="1424403"/>
            <a:ext cx="5207000" cy="2349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02" name="장점 Tag"/>
          <p:cNvSpPr/>
          <p:nvPr/>
        </p:nvSpPr>
        <p:spPr>
          <a:xfrm>
            <a:off x="1016000" y="1678403"/>
            <a:ext cx="762000" cy="292100"/>
          </a:xfrm>
          <a:prstGeom prst="roundRect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sz="1600" dirty="0">
                <a:solidFill>
                  <a:srgbClr val="FFFFFF"/>
                </a:solidFill>
                <a:latin typeface="나눔스퀘어 Bold"/>
                <a:ea typeface="나눔스퀘어 Bold"/>
              </a:rPr>
              <a:t>장점</a:t>
            </a:r>
          </a:p>
        </p:txBody>
      </p:sp>
      <p:sp>
        <p:nvSpPr>
          <p:cNvPr id="603" name="장점 Num 1"/>
          <p:cNvSpPr/>
          <p:nvPr/>
        </p:nvSpPr>
        <p:spPr>
          <a:xfrm>
            <a:off x="1016000" y="2440403"/>
            <a:ext cx="330200" cy="330200"/>
          </a:xfrm>
          <a:prstGeom prst="ellipse">
            <a:avLst/>
          </a:prstGeom>
          <a:solidFill>
            <a:srgbClr val="548235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04" name="장점 Item 1"/>
          <p:cNvSpPr/>
          <p:nvPr/>
        </p:nvSpPr>
        <p:spPr>
          <a:xfrm>
            <a:off x="1498600" y="2376903"/>
            <a:ext cx="42672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살아있는 파티클 수에 비례하는 비용</a:t>
            </a:r>
          </a:p>
          <a:p>
            <a:pPr algn="l">
              <a:spcBef>
                <a:spcPts val="6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Simulate · Draw를 </a:t>
            </a:r>
            <a:r>
              <a:rPr lang="ko-KR" altLang="en-US" sz="1400" dirty="0">
                <a:solidFill>
                  <a:srgbClr val="548235"/>
                </a:solidFill>
                <a:latin typeface="페이퍼로지 7 Bold"/>
                <a:ea typeface="페이퍼로지 7 Bold"/>
              </a:rPr>
              <a:t>AliveCount만큼만</a:t>
            </a: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실행</a:t>
            </a:r>
          </a:p>
          <a:p>
            <a:pPr algn="l">
              <a:spcBef>
                <a:spcPts val="3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Dead slot은 스레드도, 정점도 차지하지 않는다</a:t>
            </a:r>
          </a:p>
        </p:txBody>
      </p:sp>
      <p:sp>
        <p:nvSpPr>
          <p:cNvPr id="614" name="단점 Card"/>
          <p:cNvSpPr/>
          <p:nvPr/>
        </p:nvSpPr>
        <p:spPr>
          <a:xfrm>
            <a:off x="6223000" y="1424403"/>
            <a:ext cx="5207000" cy="4191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5" name="단점 Tag"/>
          <p:cNvSpPr/>
          <p:nvPr/>
        </p:nvSpPr>
        <p:spPr>
          <a:xfrm>
            <a:off x="6477000" y="1678403"/>
            <a:ext cx="762000" cy="292100"/>
          </a:xfrm>
          <a:prstGeom prst="roundRect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sz="1600" dirty="0">
                <a:solidFill>
                  <a:srgbClr val="FFFFFF"/>
                </a:solidFill>
                <a:latin typeface="나눔스퀘어 Bold"/>
                <a:ea typeface="나눔스퀘어 Bold"/>
              </a:rPr>
              <a:t>단점</a:t>
            </a:r>
          </a:p>
        </p:txBody>
      </p:sp>
      <p:sp>
        <p:nvSpPr>
          <p:cNvPr id="616" name="단점 Num 1"/>
          <p:cNvSpPr/>
          <p:nvPr/>
        </p:nvSpPr>
        <p:spPr>
          <a:xfrm>
            <a:off x="6477000" y="2440403"/>
            <a:ext cx="330200" cy="330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17" name="단점 Item 1"/>
          <p:cNvSpPr/>
          <p:nvPr/>
        </p:nvSpPr>
        <p:spPr>
          <a:xfrm>
            <a:off x="6959600" y="2376903"/>
            <a:ext cx="42672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Simulate의 원자연산 증가</a:t>
            </a:r>
          </a:p>
          <a:p>
            <a:pPr algn="l">
              <a:spcBef>
                <a:spcPts val="6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생존 파티클마다 </a:t>
            </a:r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InterlockedAdd 1회</a:t>
            </a:r>
          </a:p>
          <a:p>
            <a:pPr algn="l">
              <a:spcBef>
                <a:spcPts val="3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AliveAfterSim 카운터 하나에 경합이 몰린다</a:t>
            </a:r>
          </a:p>
        </p:txBody>
      </p:sp>
      <p:sp>
        <p:nvSpPr>
          <p:cNvPr id="618" name="단점 Rule 1"/>
          <p:cNvSpPr/>
          <p:nvPr/>
        </p:nvSpPr>
        <p:spPr>
          <a:xfrm>
            <a:off x="6477000" y="3799303"/>
            <a:ext cx="46990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200"/>
          </a:p>
        </p:txBody>
      </p:sp>
      <p:sp>
        <p:nvSpPr>
          <p:cNvPr id="619" name="단점 Num 2"/>
          <p:cNvSpPr/>
          <p:nvPr/>
        </p:nvSpPr>
        <p:spPr>
          <a:xfrm>
            <a:off x="6477000" y="4154903"/>
            <a:ext cx="330200" cy="3302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>
              <a:spcBef>
                <a:spcPts val="0"/>
              </a:spcBef>
            </a:pPr>
            <a:r>
              <a:rPr lang="ko-KR" altLang="en-US" sz="13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</a:p>
        </p:txBody>
      </p:sp>
      <p:sp>
        <p:nvSpPr>
          <p:cNvPr id="620" name="단점 Item 2"/>
          <p:cNvSpPr/>
          <p:nvPr/>
        </p:nvSpPr>
        <p:spPr>
          <a:xfrm>
            <a:off x="6959600" y="4091403"/>
            <a:ext cx="4267200" cy="1397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</a:pP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간접 접근으로 캐시 효율 저하</a:t>
            </a:r>
          </a:p>
          <a:p>
            <a:pPr algn="l">
              <a:spcBef>
                <a:spcPts val="6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AliveList → Particles </a:t>
            </a:r>
            <a:r>
              <a:rPr lang="ko-KR" altLang="en-US" sz="1400" dirty="0">
                <a:solidFill>
                  <a:srgbClr val="C55A11"/>
                </a:solidFill>
                <a:latin typeface="페이퍼로지 7 Bold"/>
                <a:ea typeface="페이퍼로지 7 Bold"/>
              </a:rPr>
              <a:t>2단계 접근</a:t>
            </a:r>
          </a:p>
          <a:p>
            <a:pPr algn="l">
              <a:spcBef>
                <a:spcPts val="300"/>
              </a:spcBef>
            </a:pP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slot이 흩어져 있으면 Particles 읽기가 비연속이 된다</a:t>
            </a:r>
          </a:p>
        </p:txBody>
      </p:sp>
    </p:spTree>
    <p:extLst>
      <p:ext uri="{BB962C8B-B14F-4D97-AF65-F5344CB8AC3E}">
        <p14:creationId xmlns:p14="http://schemas.microsoft.com/office/powerpoint/2010/main" val="121709608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23D85B24-6379-4AB9-76EE-B4EF1C24D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20</a:t>
            </a:fld>
            <a:endParaRPr lang="ko-KR" altLang="en-US"/>
          </a:p>
        </p:txBody>
      </p:sp>
      <p:sp>
        <p:nvSpPr>
          <p:cNvPr id="5" name="제목 4">
            <a:extLst>
              <a:ext uri="{FF2B5EF4-FFF2-40B4-BE49-F238E27FC236}">
                <a16:creationId xmlns:a16="http://schemas.microsoft.com/office/drawing/2014/main" id="{BF6A8690-8E3B-4468-88FB-C3547478B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성능 측정</a:t>
            </a:r>
          </a:p>
        </p:txBody>
      </p:sp>
      <p:sp>
        <p:nvSpPr>
          <p:cNvPr id="20" name="Note">
            <a:extLst>
              <a:ext uri="{FF2B5EF4-FFF2-40B4-BE49-F238E27FC236}">
                <a16:creationId xmlns:a16="http://schemas.microsoft.com/office/drawing/2014/main" id="{E28BB220-6BC1-486A-A607-E8C719E0AAC9}"/>
              </a:ext>
            </a:extLst>
          </p:cNvPr>
          <p:cNvSpPr/>
          <p:nvPr/>
        </p:nvSpPr>
        <p:spPr>
          <a:xfrm>
            <a:off x="762000" y="757822"/>
            <a:ext cx="9857874" cy="50950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동일 조건 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: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MaxParticles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1’000’000</a:t>
            </a:r>
            <a:r>
              <a:rPr lang="ko-KR" altLang="en-US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개 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/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LifeTime</a:t>
            </a:r>
            <a:r>
              <a:rPr lang="en-US" altLang="ko-KR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1s ~ 3s / Rendering : Additive Rendering, Depth Off</a:t>
            </a:r>
          </a:p>
          <a:p>
            <a:pPr algn="l"/>
            <a:r>
              <a:rPr lang="en-US" altLang="ko-KR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600 frame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00FB87DA-CF84-4867-BA75-F5FFC024E9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3734" y="2295179"/>
            <a:ext cx="3343874" cy="18322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D88DBC2E-9BEF-44CC-BA3B-3ADE379DE3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3975" y="2292875"/>
            <a:ext cx="3453064" cy="1836866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B63C0F07-4E2F-4BE8-9D05-5CC06DC567D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23127" y="2294760"/>
            <a:ext cx="3453064" cy="1774690"/>
          </a:xfrm>
          <a:prstGeom prst="rect">
            <a:avLst/>
          </a:prstGeom>
        </p:spPr>
      </p:pic>
      <p:sp>
        <p:nvSpPr>
          <p:cNvPr id="29" name="Note">
            <a:extLst>
              <a:ext uri="{FF2B5EF4-FFF2-40B4-BE49-F238E27FC236}">
                <a16:creationId xmlns:a16="http://schemas.microsoft.com/office/drawing/2014/main" id="{2B9CD66C-7E39-4B74-8F1C-36153CE32C04}"/>
              </a:ext>
            </a:extLst>
          </p:cNvPr>
          <p:cNvSpPr/>
          <p:nvPr/>
        </p:nvSpPr>
        <p:spPr>
          <a:xfrm>
            <a:off x="1560854" y="4475323"/>
            <a:ext cx="8879305" cy="50950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SlotReuse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/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AliveList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(Direct) /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AliveList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(Indirect) /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FullScan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(</a:t>
            </a:r>
            <a:r>
              <a:rPr lang="ko-KR" altLang="en-US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매 단계에서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MaxParticle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ko-KR" altLang="en-US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만큼 </a:t>
            </a:r>
            <a:r>
              <a:rPr lang="en-US" altLang="ko-KR" sz="1500" dirty="0">
                <a:solidFill>
                  <a:srgbClr val="262626"/>
                </a:solidFill>
                <a:latin typeface="페이퍼로지 7 Bold" pitchFamily="2" charset="-127"/>
                <a:ea typeface="페이퍼로지 7 Bold" pitchFamily="2" charset="-127"/>
              </a:rPr>
              <a:t>Dispatch)</a:t>
            </a:r>
          </a:p>
          <a:p>
            <a:pPr algn="ctr"/>
            <a:r>
              <a:rPr lang="en-US" altLang="ko-KR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0.1M/0.3M/0.5M/0.7M/0.9M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의 </a:t>
            </a:r>
            <a:r>
              <a:rPr lang="en-US" altLang="ko-KR" sz="15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AliveRatio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를 맞춰 각 단계별 </a:t>
            </a:r>
            <a:r>
              <a:rPr lang="en-US" altLang="ko-KR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GPU Time</a:t>
            </a:r>
            <a:r>
              <a:rPr lang="ko-KR" altLang="en-US" sz="15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측정</a:t>
            </a:r>
          </a:p>
        </p:txBody>
      </p:sp>
    </p:spTree>
    <p:extLst>
      <p:ext uri="{BB962C8B-B14F-4D97-AF65-F5344CB8AC3E}">
        <p14:creationId xmlns:p14="http://schemas.microsoft.com/office/powerpoint/2010/main" val="3907065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992D3-3745-4B1B-A45C-850801CA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21</a:t>
            </a:fld>
            <a:endParaRPr lang="ko-KR" altLang="en-US"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964021E7-389B-432F-87E4-60FFF911BF8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518267"/>
              </p:ext>
            </p:extLst>
          </p:nvPr>
        </p:nvGraphicFramePr>
        <p:xfrm>
          <a:off x="577848" y="2391422"/>
          <a:ext cx="5702637" cy="1493520"/>
        </p:xfrm>
        <a:graphic>
          <a:graphicData uri="http://schemas.openxmlformats.org/drawingml/2006/table">
            <a:tbl>
              <a:tblPr/>
              <a:tblGrid>
                <a:gridCol w="684141">
                  <a:extLst>
                    <a:ext uri="{9D8B030D-6E8A-4147-A177-3AD203B41FA5}">
                      <a16:colId xmlns:a16="http://schemas.microsoft.com/office/drawing/2014/main" val="1045773663"/>
                    </a:ext>
                  </a:extLst>
                </a:gridCol>
                <a:gridCol w="1254624">
                  <a:extLst>
                    <a:ext uri="{9D8B030D-6E8A-4147-A177-3AD203B41FA5}">
                      <a16:colId xmlns:a16="http://schemas.microsoft.com/office/drawing/2014/main" val="4032763267"/>
                    </a:ext>
                  </a:extLst>
                </a:gridCol>
                <a:gridCol w="1254624">
                  <a:extLst>
                    <a:ext uri="{9D8B030D-6E8A-4147-A177-3AD203B41FA5}">
                      <a16:colId xmlns:a16="http://schemas.microsoft.com/office/drawing/2014/main" val="1182836160"/>
                    </a:ext>
                  </a:extLst>
                </a:gridCol>
                <a:gridCol w="1254624">
                  <a:extLst>
                    <a:ext uri="{9D8B030D-6E8A-4147-A177-3AD203B41FA5}">
                      <a16:colId xmlns:a16="http://schemas.microsoft.com/office/drawing/2014/main" val="2883580852"/>
                    </a:ext>
                  </a:extLst>
                </a:gridCol>
                <a:gridCol w="1254624">
                  <a:extLst>
                    <a:ext uri="{9D8B030D-6E8A-4147-A177-3AD203B41FA5}">
                      <a16:colId xmlns:a16="http://schemas.microsoft.com/office/drawing/2014/main" val="2217417870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</a:t>
                      </a:r>
                      <a:br>
                        <a:rPr lang="en-US" altLang="ko-KR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0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660346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0.2395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8309516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0.2394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344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0.2452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960655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0.2487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76259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0.0044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0.1755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1965992"/>
                  </a:ext>
                </a:extLst>
              </a:tr>
            </a:tbl>
          </a:graphicData>
        </a:graphic>
      </p:graphicFrame>
      <p:sp>
        <p:nvSpPr>
          <p:cNvPr id="12" name="Note">
            <a:extLst>
              <a:ext uri="{FF2B5EF4-FFF2-40B4-BE49-F238E27FC236}">
                <a16:creationId xmlns:a16="http://schemas.microsoft.com/office/drawing/2014/main" id="{287C7FF8-D985-4315-AB15-B6E619D41A9C}"/>
              </a:ext>
            </a:extLst>
          </p:cNvPr>
          <p:cNvSpPr/>
          <p:nvPr/>
        </p:nvSpPr>
        <p:spPr>
          <a:xfrm>
            <a:off x="577850" y="2084324"/>
            <a:ext cx="2638592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Emit 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15" name="표 14">
            <a:extLst>
              <a:ext uri="{FF2B5EF4-FFF2-40B4-BE49-F238E27FC236}">
                <a16:creationId xmlns:a16="http://schemas.microsoft.com/office/drawing/2014/main" id="{43BFF64A-D8C6-4CCF-88DE-80D3503CD93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6938858"/>
              </p:ext>
            </p:extLst>
          </p:nvPr>
        </p:nvGraphicFramePr>
        <p:xfrm>
          <a:off x="577848" y="437255"/>
          <a:ext cx="5702636" cy="1493520"/>
        </p:xfrm>
        <a:graphic>
          <a:graphicData uri="http://schemas.openxmlformats.org/drawingml/2006/table">
            <a:tbl>
              <a:tblPr/>
              <a:tblGrid>
                <a:gridCol w="727504">
                  <a:extLst>
                    <a:ext uri="{9D8B030D-6E8A-4147-A177-3AD203B41FA5}">
                      <a16:colId xmlns:a16="http://schemas.microsoft.com/office/drawing/2014/main" val="2529250023"/>
                    </a:ext>
                  </a:extLst>
                </a:gridCol>
                <a:gridCol w="1243783">
                  <a:extLst>
                    <a:ext uri="{9D8B030D-6E8A-4147-A177-3AD203B41FA5}">
                      <a16:colId xmlns:a16="http://schemas.microsoft.com/office/drawing/2014/main" val="901156262"/>
                    </a:ext>
                  </a:extLst>
                </a:gridCol>
                <a:gridCol w="1243783">
                  <a:extLst>
                    <a:ext uri="{9D8B030D-6E8A-4147-A177-3AD203B41FA5}">
                      <a16:colId xmlns:a16="http://schemas.microsoft.com/office/drawing/2014/main" val="714847265"/>
                    </a:ext>
                  </a:extLst>
                </a:gridCol>
                <a:gridCol w="1243783">
                  <a:extLst>
                    <a:ext uri="{9D8B030D-6E8A-4147-A177-3AD203B41FA5}">
                      <a16:colId xmlns:a16="http://schemas.microsoft.com/office/drawing/2014/main" val="1132551051"/>
                    </a:ext>
                  </a:extLst>
                </a:gridCol>
                <a:gridCol w="1243783">
                  <a:extLst>
                    <a:ext uri="{9D8B030D-6E8A-4147-A177-3AD203B41FA5}">
                      <a16:colId xmlns:a16="http://schemas.microsoft.com/office/drawing/2014/main" val="3343918466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 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4573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0.058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0.049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E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0.190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FEC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0.496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28254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0.196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0.186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0.251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EF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0.534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614982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0.456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B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4DC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0.318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4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0.574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38508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0.719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0.572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D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0.414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0.631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D4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811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1.003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1.004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0.458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0.598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F0F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192131"/>
                  </a:ext>
                </a:extLst>
              </a:tr>
            </a:tbl>
          </a:graphicData>
        </a:graphic>
      </p:graphicFrame>
      <p:sp>
        <p:nvSpPr>
          <p:cNvPr id="16" name="Note">
            <a:extLst>
              <a:ext uri="{FF2B5EF4-FFF2-40B4-BE49-F238E27FC236}">
                <a16:creationId xmlns:a16="http://schemas.microsoft.com/office/drawing/2014/main" id="{2ADDC722-5865-4928-B528-F640A4C818CF}"/>
              </a:ext>
            </a:extLst>
          </p:cNvPr>
          <p:cNvSpPr/>
          <p:nvPr/>
        </p:nvSpPr>
        <p:spPr>
          <a:xfrm>
            <a:off x="577849" y="130157"/>
            <a:ext cx="5101056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Update 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(Emit + Simulate + 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ArgsPre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/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AfterSim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), 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18" name="Chart 3">
            <a:extLst>
              <a:ext uri="{FF2B5EF4-FFF2-40B4-BE49-F238E27FC236}">
                <a16:creationId xmlns:a16="http://schemas.microsoft.com/office/drawing/2014/main" id="{00000000-0008-0000-0100-000004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92567298"/>
              </p:ext>
            </p:extLst>
          </p:nvPr>
        </p:nvGraphicFramePr>
        <p:xfrm>
          <a:off x="6660326" y="83756"/>
          <a:ext cx="5129686" cy="28942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6A45B63D-6184-4DC6-B9A1-9300A77966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7176082"/>
              </p:ext>
            </p:extLst>
          </p:nvPr>
        </p:nvGraphicFramePr>
        <p:xfrm>
          <a:off x="577848" y="4345589"/>
          <a:ext cx="5702636" cy="1493520"/>
        </p:xfrm>
        <a:graphic>
          <a:graphicData uri="http://schemas.openxmlformats.org/drawingml/2006/table">
            <a:tbl>
              <a:tblPr/>
              <a:tblGrid>
                <a:gridCol w="656008">
                  <a:extLst>
                    <a:ext uri="{9D8B030D-6E8A-4147-A177-3AD203B41FA5}">
                      <a16:colId xmlns:a16="http://schemas.microsoft.com/office/drawing/2014/main" val="3141071443"/>
                    </a:ext>
                  </a:extLst>
                </a:gridCol>
                <a:gridCol w="1261657">
                  <a:extLst>
                    <a:ext uri="{9D8B030D-6E8A-4147-A177-3AD203B41FA5}">
                      <a16:colId xmlns:a16="http://schemas.microsoft.com/office/drawing/2014/main" val="855132240"/>
                    </a:ext>
                  </a:extLst>
                </a:gridCol>
                <a:gridCol w="1261657">
                  <a:extLst>
                    <a:ext uri="{9D8B030D-6E8A-4147-A177-3AD203B41FA5}">
                      <a16:colId xmlns:a16="http://schemas.microsoft.com/office/drawing/2014/main" val="612216662"/>
                    </a:ext>
                  </a:extLst>
                </a:gridCol>
                <a:gridCol w="1261657">
                  <a:extLst>
                    <a:ext uri="{9D8B030D-6E8A-4147-A177-3AD203B41FA5}">
                      <a16:colId xmlns:a16="http://schemas.microsoft.com/office/drawing/2014/main" val="3295702160"/>
                    </a:ext>
                  </a:extLst>
                </a:gridCol>
                <a:gridCol w="1261657">
                  <a:extLst>
                    <a:ext uri="{9D8B030D-6E8A-4147-A177-3AD203B41FA5}">
                      <a16:colId xmlns:a16="http://schemas.microsoft.com/office/drawing/2014/main" val="2562516450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 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01922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0.048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0.038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0.183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CD7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0.251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37405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0.186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C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0.174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1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0.244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BD7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0.289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238709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0.438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C8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0.309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E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0.327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9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52267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0.709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0.559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DE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0.405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0.382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AF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094827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0.992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0.990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0.449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0.424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16527"/>
                  </a:ext>
                </a:extLst>
              </a:tr>
            </a:tbl>
          </a:graphicData>
        </a:graphic>
      </p:graphicFrame>
      <p:sp>
        <p:nvSpPr>
          <p:cNvPr id="21" name="Note">
            <a:extLst>
              <a:ext uri="{FF2B5EF4-FFF2-40B4-BE49-F238E27FC236}">
                <a16:creationId xmlns:a16="http://schemas.microsoft.com/office/drawing/2014/main" id="{232F041A-8BBF-4F1B-A465-10B256485036}"/>
              </a:ext>
            </a:extLst>
          </p:cNvPr>
          <p:cNvSpPr/>
          <p:nvPr/>
        </p:nvSpPr>
        <p:spPr>
          <a:xfrm>
            <a:off x="577850" y="4038491"/>
            <a:ext cx="2638592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Simulation 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22" name="Chart 5">
            <a:extLst>
              <a:ext uri="{FF2B5EF4-FFF2-40B4-BE49-F238E27FC236}">
                <a16:creationId xmlns:a16="http://schemas.microsoft.com/office/drawing/2014/main" id="{00000000-0008-0000-0100-000006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97276606"/>
              </p:ext>
            </p:extLst>
          </p:nvPr>
        </p:nvGraphicFramePr>
        <p:xfrm>
          <a:off x="6572396" y="3303690"/>
          <a:ext cx="5305545" cy="29938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79274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86929653-EB3A-4570-B8FD-A8FD9A6DCA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22</a:t>
            </a:fld>
            <a:endParaRPr lang="ko-KR" altLang="en-US"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1EA618F0-E14C-4A3D-8EA8-4B5C63E8F9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8717226"/>
              </p:ext>
            </p:extLst>
          </p:nvPr>
        </p:nvGraphicFramePr>
        <p:xfrm>
          <a:off x="401385" y="2528930"/>
          <a:ext cx="5445965" cy="1493520"/>
        </p:xfrm>
        <a:graphic>
          <a:graphicData uri="http://schemas.openxmlformats.org/drawingml/2006/table">
            <a:tbl>
              <a:tblPr/>
              <a:tblGrid>
                <a:gridCol w="527977">
                  <a:extLst>
                    <a:ext uri="{9D8B030D-6E8A-4147-A177-3AD203B41FA5}">
                      <a16:colId xmlns:a16="http://schemas.microsoft.com/office/drawing/2014/main" val="1052729689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759022789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2548383527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3594053818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1393576916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993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0.519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0.096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0.520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0.524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054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0.269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0.752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0.613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6973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0.673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A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0.445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0.707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0.695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3910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0.749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F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0.616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0.741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2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0.775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7187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0.826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F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0.789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0.816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8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0.857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9169257"/>
                  </a:ext>
                </a:extLst>
              </a:tr>
            </a:tbl>
          </a:graphicData>
        </a:graphic>
      </p:graphicFrame>
      <p:sp>
        <p:nvSpPr>
          <p:cNvPr id="5" name="Note">
            <a:extLst>
              <a:ext uri="{FF2B5EF4-FFF2-40B4-BE49-F238E27FC236}">
                <a16:creationId xmlns:a16="http://schemas.microsoft.com/office/drawing/2014/main" id="{E745487D-EBC5-4C98-BDC3-A9568AAD6360}"/>
              </a:ext>
            </a:extLst>
          </p:cNvPr>
          <p:cNvSpPr/>
          <p:nvPr/>
        </p:nvSpPr>
        <p:spPr>
          <a:xfrm>
            <a:off x="401385" y="2221832"/>
            <a:ext cx="5101056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Draw 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6" name="Chart 4">
            <a:extLst>
              <a:ext uri="{FF2B5EF4-FFF2-40B4-BE49-F238E27FC236}">
                <a16:creationId xmlns:a16="http://schemas.microsoft.com/office/drawing/2014/main" id="{00000000-0008-0000-0100-000005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02162636"/>
              </p:ext>
            </p:extLst>
          </p:nvPr>
        </p:nvGraphicFramePr>
        <p:xfrm>
          <a:off x="6485070" y="1778960"/>
          <a:ext cx="5305545" cy="29934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22442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605992D3-3745-4B1B-A45C-850801CA2C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23</a:t>
            </a:fld>
            <a:endParaRPr lang="ko-KR" altLang="en-US">
              <a:latin typeface="나눔스퀘어" panose="020B0600000101010101" pitchFamily="50" charset="-127"/>
              <a:ea typeface="나눔스퀘어" panose="020B0600000101010101" pitchFamily="50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170D9D13-B582-4E31-B2FC-DE32823733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3126478"/>
              </p:ext>
            </p:extLst>
          </p:nvPr>
        </p:nvGraphicFramePr>
        <p:xfrm>
          <a:off x="337214" y="1027845"/>
          <a:ext cx="6288172" cy="1493520"/>
        </p:xfrm>
        <a:graphic>
          <a:graphicData uri="http://schemas.openxmlformats.org/drawingml/2006/table">
            <a:tbl>
              <a:tblPr/>
              <a:tblGrid>
                <a:gridCol w="633332">
                  <a:extLst>
                    <a:ext uri="{9D8B030D-6E8A-4147-A177-3AD203B41FA5}">
                      <a16:colId xmlns:a16="http://schemas.microsoft.com/office/drawing/2014/main" val="2737136127"/>
                    </a:ext>
                  </a:extLst>
                </a:gridCol>
                <a:gridCol w="1413710">
                  <a:extLst>
                    <a:ext uri="{9D8B030D-6E8A-4147-A177-3AD203B41FA5}">
                      <a16:colId xmlns:a16="http://schemas.microsoft.com/office/drawing/2014/main" val="1955950070"/>
                    </a:ext>
                  </a:extLst>
                </a:gridCol>
                <a:gridCol w="1413710">
                  <a:extLst>
                    <a:ext uri="{9D8B030D-6E8A-4147-A177-3AD203B41FA5}">
                      <a16:colId xmlns:a16="http://schemas.microsoft.com/office/drawing/2014/main" val="2754891934"/>
                    </a:ext>
                  </a:extLst>
                </a:gridCol>
                <a:gridCol w="1413710">
                  <a:extLst>
                    <a:ext uri="{9D8B030D-6E8A-4147-A177-3AD203B41FA5}">
                      <a16:colId xmlns:a16="http://schemas.microsoft.com/office/drawing/2014/main" val="1551151639"/>
                    </a:ext>
                  </a:extLst>
                </a:gridCol>
                <a:gridCol w="1413710">
                  <a:extLst>
                    <a:ext uri="{9D8B030D-6E8A-4147-A177-3AD203B41FA5}">
                      <a16:colId xmlns:a16="http://schemas.microsoft.com/office/drawing/2014/main" val="4285046289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 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997358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0.577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3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0.146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0.710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A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1.020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254053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0.946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6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0.454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1.003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1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1.146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416906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1.129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B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0.895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1.025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1.269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372399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1.468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1.189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1.155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1.406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795771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1.829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1.792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9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1.274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1.455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D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10611"/>
                  </a:ext>
                </a:extLst>
              </a:tr>
            </a:tbl>
          </a:graphicData>
        </a:graphic>
      </p:graphicFrame>
      <p:sp>
        <p:nvSpPr>
          <p:cNvPr id="4" name="Note">
            <a:extLst>
              <a:ext uri="{FF2B5EF4-FFF2-40B4-BE49-F238E27FC236}">
                <a16:creationId xmlns:a16="http://schemas.microsoft.com/office/drawing/2014/main" id="{DFF6D803-A659-4BA0-9B88-896EC6B84C45}"/>
              </a:ext>
            </a:extLst>
          </p:cNvPr>
          <p:cNvSpPr/>
          <p:nvPr/>
        </p:nvSpPr>
        <p:spPr>
          <a:xfrm>
            <a:off x="337215" y="720747"/>
            <a:ext cx="6288172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GPU Total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(Update + Draw, 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0A4F34D7-C48B-4B53-AEAD-1C09CF0739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5124289"/>
              </p:ext>
            </p:extLst>
          </p:nvPr>
        </p:nvGraphicFramePr>
        <p:xfrm>
          <a:off x="337214" y="4125120"/>
          <a:ext cx="6360359" cy="1493520"/>
        </p:xfrm>
        <a:graphic>
          <a:graphicData uri="http://schemas.openxmlformats.org/drawingml/2006/table">
            <a:tbl>
              <a:tblPr/>
              <a:tblGrid>
                <a:gridCol w="625311">
                  <a:extLst>
                    <a:ext uri="{9D8B030D-6E8A-4147-A177-3AD203B41FA5}">
                      <a16:colId xmlns:a16="http://schemas.microsoft.com/office/drawing/2014/main" val="306383596"/>
                    </a:ext>
                  </a:extLst>
                </a:gridCol>
                <a:gridCol w="1433762">
                  <a:extLst>
                    <a:ext uri="{9D8B030D-6E8A-4147-A177-3AD203B41FA5}">
                      <a16:colId xmlns:a16="http://schemas.microsoft.com/office/drawing/2014/main" val="1056546835"/>
                    </a:ext>
                  </a:extLst>
                </a:gridCol>
                <a:gridCol w="1433762">
                  <a:extLst>
                    <a:ext uri="{9D8B030D-6E8A-4147-A177-3AD203B41FA5}">
                      <a16:colId xmlns:a16="http://schemas.microsoft.com/office/drawing/2014/main" val="50280979"/>
                    </a:ext>
                  </a:extLst>
                </a:gridCol>
                <a:gridCol w="1433762">
                  <a:extLst>
                    <a:ext uri="{9D8B030D-6E8A-4147-A177-3AD203B41FA5}">
                      <a16:colId xmlns:a16="http://schemas.microsoft.com/office/drawing/2014/main" val="1562176300"/>
                    </a:ext>
                  </a:extLst>
                </a:gridCol>
                <a:gridCol w="1433762">
                  <a:extLst>
                    <a:ext uri="{9D8B030D-6E8A-4147-A177-3AD203B41FA5}">
                      <a16:colId xmlns:a16="http://schemas.microsoft.com/office/drawing/2014/main" val="1922139649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AliveDirect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AliveIndirect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401834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5.79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0E3F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1.46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7.12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DA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10.24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480820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3.17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D6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1.52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D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3.36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2D1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3.84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64855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2.27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3DB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1.80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2.06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EEBF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2.55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4606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2.11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1.70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1.66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2.02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FD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571593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2.04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2.00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5C9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1.42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1.62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D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163893"/>
                  </a:ext>
                </a:extLst>
              </a:tr>
            </a:tbl>
          </a:graphicData>
        </a:graphic>
      </p:graphicFrame>
      <p:sp>
        <p:nvSpPr>
          <p:cNvPr id="6" name="Note">
            <a:extLst>
              <a:ext uri="{FF2B5EF4-FFF2-40B4-BE49-F238E27FC236}">
                <a16:creationId xmlns:a16="http://schemas.microsoft.com/office/drawing/2014/main" id="{6FCE4A45-3888-42AD-B13B-E5BB2ADFA53A}"/>
              </a:ext>
            </a:extLst>
          </p:cNvPr>
          <p:cNvSpPr/>
          <p:nvPr/>
        </p:nvSpPr>
        <p:spPr>
          <a:xfrm>
            <a:off x="337214" y="3841175"/>
            <a:ext cx="6288172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살아있는 </a:t>
            </a:r>
            <a:r>
              <a:rPr lang="ko-KR" altLang="en-US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파티클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1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개당 비용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(GPU Total / 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aliveAvg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Time, ns)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graphicFrame>
        <p:nvGraphicFramePr>
          <p:cNvPr id="11" name="Chart 1">
            <a:extLst>
              <a:ext uri="{FF2B5EF4-FFF2-40B4-BE49-F238E27FC236}">
                <a16:creationId xmlns:a16="http://schemas.microsoft.com/office/drawing/2014/main" id="{00000000-0008-0000-0100-000002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67536354"/>
              </p:ext>
            </p:extLst>
          </p:nvPr>
        </p:nvGraphicFramePr>
        <p:xfrm>
          <a:off x="6919420" y="242449"/>
          <a:ext cx="5058758" cy="289087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Chart 2">
            <a:extLst>
              <a:ext uri="{FF2B5EF4-FFF2-40B4-BE49-F238E27FC236}">
                <a16:creationId xmlns:a16="http://schemas.microsoft.com/office/drawing/2014/main" id="{00000000-0008-0000-0100-000003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59826610"/>
              </p:ext>
            </p:extLst>
          </p:nvPr>
        </p:nvGraphicFramePr>
        <p:xfrm>
          <a:off x="6796027" y="3323627"/>
          <a:ext cx="5305545" cy="30029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8577658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Card 1">
            <a:extLst>
              <a:ext uri="{FF2B5EF4-FFF2-40B4-BE49-F238E27FC236}">
                <a16:creationId xmlns:a16="http://schemas.microsoft.com/office/drawing/2014/main" id="{7C8E4644-F83C-4BA1-9BE3-29BCE495AFE1}"/>
              </a:ext>
            </a:extLst>
          </p:cNvPr>
          <p:cNvSpPr/>
          <p:nvPr/>
        </p:nvSpPr>
        <p:spPr>
          <a:xfrm>
            <a:off x="5189622" y="842210"/>
            <a:ext cx="3553326" cy="2738731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 dirty="0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DA9126-2E87-4838-B49A-145C74CEB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평가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FC15364-5653-47AE-A682-EF8A8171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24</a:t>
            </a:fld>
            <a:endParaRPr lang="ko-KR" altLang="en-US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96C80252-ACEB-4502-85F3-52DE8EAFA3F3}"/>
              </a:ext>
            </a:extLst>
          </p:cNvPr>
          <p:cNvSpPr/>
          <p:nvPr/>
        </p:nvSpPr>
        <p:spPr>
          <a:xfrm>
            <a:off x="1395665" y="842210"/>
            <a:ext cx="3553326" cy="552650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 dirty="0"/>
          </a:p>
        </p:txBody>
      </p:sp>
      <p:sp>
        <p:nvSpPr>
          <p:cNvPr id="5" name="Badge 1">
            <a:extLst>
              <a:ext uri="{FF2B5EF4-FFF2-40B4-BE49-F238E27FC236}">
                <a16:creationId xmlns:a16="http://schemas.microsoft.com/office/drawing/2014/main" id="{9B9E1CC5-DF48-40F0-BB47-0DAE7F27DBEB}"/>
              </a:ext>
            </a:extLst>
          </p:cNvPr>
          <p:cNvSpPr/>
          <p:nvPr/>
        </p:nvSpPr>
        <p:spPr>
          <a:xfrm>
            <a:off x="1573465" y="108484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" name="Head 1">
            <a:extLst>
              <a:ext uri="{FF2B5EF4-FFF2-40B4-BE49-F238E27FC236}">
                <a16:creationId xmlns:a16="http://schemas.microsoft.com/office/drawing/2014/main" id="{4CA84F4C-A2C6-4DB1-9611-DF0341C426DB}"/>
              </a:ext>
            </a:extLst>
          </p:cNvPr>
          <p:cNvSpPr/>
          <p:nvPr/>
        </p:nvSpPr>
        <p:spPr>
          <a:xfrm>
            <a:off x="2030665" y="1059440"/>
            <a:ext cx="264160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700" dirty="0" err="1">
                <a:solidFill>
                  <a:srgbClr val="262626"/>
                </a:solidFill>
                <a:latin typeface="페이퍼로지 7 Bold"/>
                <a:ea typeface="페이퍼로지 7 Bold"/>
              </a:rPr>
              <a:t>AliveList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가 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GPU Time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을</a:t>
            </a:r>
          </a:p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더 많이 잡아먹는 이유 </a:t>
            </a:r>
            <a:b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</a:br>
            <a:r>
              <a:rPr lang="en-US" altLang="ko-KR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(0.5 Alive</a:t>
            </a:r>
            <a:r>
              <a:rPr lang="ko-KR" altLang="en-US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en-US" altLang="ko-KR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Ratio</a:t>
            </a:r>
            <a:r>
              <a:rPr lang="ko-KR" altLang="en-US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 이상</a:t>
            </a:r>
            <a:r>
              <a:rPr lang="en-US" altLang="ko-KR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, Simulate </a:t>
            </a:r>
            <a:r>
              <a:rPr lang="ko-KR" altLang="en-US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단계</a:t>
            </a:r>
            <a:r>
              <a:rPr lang="en-US" altLang="ko-KR" sz="12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7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7" name="Desc 1-0">
            <a:extLst>
              <a:ext uri="{FF2B5EF4-FFF2-40B4-BE49-F238E27FC236}">
                <a16:creationId xmlns:a16="http://schemas.microsoft.com/office/drawing/2014/main" id="{761ECC4A-BCD5-4440-B520-77BA26DD190C}"/>
              </a:ext>
            </a:extLst>
          </p:cNvPr>
          <p:cNvSpPr/>
          <p:nvPr/>
        </p:nvSpPr>
        <p:spPr>
          <a:xfrm>
            <a:off x="1528012" y="1983708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1)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캐시 효율 저하</a:t>
            </a:r>
          </a:p>
        </p:txBody>
      </p:sp>
      <p:sp>
        <p:nvSpPr>
          <p:cNvPr id="9" name="Rule 1">
            <a:extLst>
              <a:ext uri="{FF2B5EF4-FFF2-40B4-BE49-F238E27FC236}">
                <a16:creationId xmlns:a16="http://schemas.microsoft.com/office/drawing/2014/main" id="{BA1E0208-256C-4C7E-9613-88A18BFA122A}"/>
              </a:ext>
            </a:extLst>
          </p:cNvPr>
          <p:cNvSpPr/>
          <p:nvPr/>
        </p:nvSpPr>
        <p:spPr>
          <a:xfrm>
            <a:off x="1699128" y="4102206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grpSp>
        <p:nvGrpSpPr>
          <p:cNvPr id="33" name="그룹 32">
            <a:extLst>
              <a:ext uri="{FF2B5EF4-FFF2-40B4-BE49-F238E27FC236}">
                <a16:creationId xmlns:a16="http://schemas.microsoft.com/office/drawing/2014/main" id="{DA524514-69A6-4A30-AD39-9E7648990AE5}"/>
              </a:ext>
            </a:extLst>
          </p:cNvPr>
          <p:cNvGrpSpPr/>
          <p:nvPr/>
        </p:nvGrpSpPr>
        <p:grpSpPr>
          <a:xfrm>
            <a:off x="1495928" y="3017545"/>
            <a:ext cx="3352800" cy="889000"/>
            <a:chOff x="4419600" y="3733800"/>
            <a:chExt cx="3352800" cy="889000"/>
          </a:xfrm>
        </p:grpSpPr>
        <p:sp>
          <p:nvSpPr>
            <p:cNvPr id="14" name="FigLab 2">
              <a:extLst>
                <a:ext uri="{FF2B5EF4-FFF2-40B4-BE49-F238E27FC236}">
                  <a16:creationId xmlns:a16="http://schemas.microsoft.com/office/drawing/2014/main" id="{F9054B38-18BA-4BEF-964D-956808A3C239}"/>
                </a:ext>
              </a:extLst>
            </p:cNvPr>
            <p:cNvSpPr/>
            <p:nvPr/>
          </p:nvSpPr>
          <p:spPr>
            <a:xfrm>
              <a:off x="4419600" y="3733800"/>
              <a:ext cx="3352800" cy="254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3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AliveList</a:t>
              </a:r>
            </a:p>
          </p:txBody>
        </p:sp>
        <p:sp>
          <p:nvSpPr>
            <p:cNvPr id="15" name="AL0">
              <a:extLst>
                <a:ext uri="{FF2B5EF4-FFF2-40B4-BE49-F238E27FC236}">
                  <a16:creationId xmlns:a16="http://schemas.microsoft.com/office/drawing/2014/main" id="{837E7F8F-1641-4ABC-9103-F6E4E72D6104}"/>
                </a:ext>
              </a:extLst>
            </p:cNvPr>
            <p:cNvSpPr/>
            <p:nvPr/>
          </p:nvSpPr>
          <p:spPr>
            <a:xfrm>
              <a:off x="4775200" y="4089400"/>
              <a:ext cx="330200" cy="330200"/>
            </a:xfrm>
            <a:prstGeom prst="rect">
              <a:avLst/>
            </a:prstGeom>
            <a:solidFill>
              <a:srgbClr val="E2F0D9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200" dirty="0">
                  <a:solidFill>
                    <a:srgbClr val="548235"/>
                  </a:solidFill>
                  <a:latin typeface="페이퍼로지 7 Bold"/>
                  <a:ea typeface="페이퍼로지 7 Bold"/>
                </a:rPr>
                <a:t>0</a:t>
              </a:r>
            </a:p>
          </p:txBody>
        </p:sp>
        <p:sp>
          <p:nvSpPr>
            <p:cNvPr id="16" name="ALi0">
              <a:extLst>
                <a:ext uri="{FF2B5EF4-FFF2-40B4-BE49-F238E27FC236}">
                  <a16:creationId xmlns:a16="http://schemas.microsoft.com/office/drawing/2014/main" id="{61C13EB8-C3A1-491A-8C1A-91F866CA9B69}"/>
                </a:ext>
              </a:extLst>
            </p:cNvPr>
            <p:cNvSpPr/>
            <p:nvPr/>
          </p:nvSpPr>
          <p:spPr>
            <a:xfrm>
              <a:off x="47752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0</a:t>
              </a:r>
            </a:p>
          </p:txBody>
        </p:sp>
        <p:sp>
          <p:nvSpPr>
            <p:cNvPr id="17" name="AL1">
              <a:extLst>
                <a:ext uri="{FF2B5EF4-FFF2-40B4-BE49-F238E27FC236}">
                  <a16:creationId xmlns:a16="http://schemas.microsoft.com/office/drawing/2014/main" id="{5FF04502-8597-42A5-8653-A6BD12F5266F}"/>
                </a:ext>
              </a:extLst>
            </p:cNvPr>
            <p:cNvSpPr/>
            <p:nvPr/>
          </p:nvSpPr>
          <p:spPr>
            <a:xfrm>
              <a:off x="5105400" y="4089400"/>
              <a:ext cx="330200" cy="330200"/>
            </a:xfrm>
            <a:prstGeom prst="rect">
              <a:avLst/>
            </a:prstGeom>
            <a:solidFill>
              <a:srgbClr val="E2F0D9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200" dirty="0">
                  <a:solidFill>
                    <a:srgbClr val="548235"/>
                  </a:solidFill>
                  <a:latin typeface="페이퍼로지 7 Bold"/>
                  <a:ea typeface="페이퍼로지 7 Bold"/>
                </a:rPr>
                <a:t>3</a:t>
              </a:r>
            </a:p>
          </p:txBody>
        </p:sp>
        <p:sp>
          <p:nvSpPr>
            <p:cNvPr id="18" name="ALi1">
              <a:extLst>
                <a:ext uri="{FF2B5EF4-FFF2-40B4-BE49-F238E27FC236}">
                  <a16:creationId xmlns:a16="http://schemas.microsoft.com/office/drawing/2014/main" id="{D36EA406-2D5A-4BA3-8FD8-C89FE9A93587}"/>
                </a:ext>
              </a:extLst>
            </p:cNvPr>
            <p:cNvSpPr/>
            <p:nvPr/>
          </p:nvSpPr>
          <p:spPr>
            <a:xfrm>
              <a:off x="51054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1</a:t>
              </a:r>
            </a:p>
          </p:txBody>
        </p:sp>
        <p:sp>
          <p:nvSpPr>
            <p:cNvPr id="19" name="AL2">
              <a:extLst>
                <a:ext uri="{FF2B5EF4-FFF2-40B4-BE49-F238E27FC236}">
                  <a16:creationId xmlns:a16="http://schemas.microsoft.com/office/drawing/2014/main" id="{E60970B4-EB19-42D6-9A4B-94412148CFC9}"/>
                </a:ext>
              </a:extLst>
            </p:cNvPr>
            <p:cNvSpPr/>
            <p:nvPr/>
          </p:nvSpPr>
          <p:spPr>
            <a:xfrm>
              <a:off x="5435600" y="4089400"/>
              <a:ext cx="330200" cy="330200"/>
            </a:xfrm>
            <a:prstGeom prst="rect">
              <a:avLst/>
            </a:prstGeom>
            <a:solidFill>
              <a:srgbClr val="FBE5D6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200" dirty="0">
                  <a:solidFill>
                    <a:srgbClr val="C55A11"/>
                  </a:solidFill>
                  <a:latin typeface="페이퍼로지 7 Bold"/>
                  <a:ea typeface="페이퍼로지 7 Bold"/>
                </a:rPr>
                <a:t>5</a:t>
              </a:r>
            </a:p>
          </p:txBody>
        </p:sp>
        <p:sp>
          <p:nvSpPr>
            <p:cNvPr id="20" name="ALi2">
              <a:extLst>
                <a:ext uri="{FF2B5EF4-FFF2-40B4-BE49-F238E27FC236}">
                  <a16:creationId xmlns:a16="http://schemas.microsoft.com/office/drawing/2014/main" id="{849ED1D1-3A1C-4955-BF4C-0BDAAE0F2503}"/>
                </a:ext>
              </a:extLst>
            </p:cNvPr>
            <p:cNvSpPr/>
            <p:nvPr/>
          </p:nvSpPr>
          <p:spPr>
            <a:xfrm>
              <a:off x="54356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C55A11"/>
                  </a:solidFill>
                  <a:latin typeface="페이퍼로지 7 Bold"/>
                  <a:ea typeface="페이퍼로지 7 Bold"/>
                </a:rPr>
                <a:t>2</a:t>
              </a:r>
            </a:p>
          </p:txBody>
        </p:sp>
        <p:sp>
          <p:nvSpPr>
            <p:cNvPr id="21" name="AL3">
              <a:extLst>
                <a:ext uri="{FF2B5EF4-FFF2-40B4-BE49-F238E27FC236}">
                  <a16:creationId xmlns:a16="http://schemas.microsoft.com/office/drawing/2014/main" id="{0E04C766-B314-4093-95F1-E5F286407050}"/>
                </a:ext>
              </a:extLst>
            </p:cNvPr>
            <p:cNvSpPr/>
            <p:nvPr/>
          </p:nvSpPr>
          <p:spPr>
            <a:xfrm>
              <a:off x="5765800" y="4089400"/>
              <a:ext cx="330200" cy="330200"/>
            </a:xfrm>
            <a:prstGeom prst="rect">
              <a:avLst/>
            </a:prstGeom>
            <a:solidFill>
              <a:srgbClr val="E2F0D9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200" dirty="0">
                  <a:solidFill>
                    <a:srgbClr val="548235"/>
                  </a:solidFill>
                  <a:latin typeface="페이퍼로지 7 Bold"/>
                  <a:ea typeface="페이퍼로지 7 Bold"/>
                </a:rPr>
                <a:t>8</a:t>
              </a:r>
            </a:p>
          </p:txBody>
        </p:sp>
        <p:sp>
          <p:nvSpPr>
            <p:cNvPr id="22" name="ALi3">
              <a:extLst>
                <a:ext uri="{FF2B5EF4-FFF2-40B4-BE49-F238E27FC236}">
                  <a16:creationId xmlns:a16="http://schemas.microsoft.com/office/drawing/2014/main" id="{0894B524-90C2-4464-B05B-BB8493FE5CDF}"/>
                </a:ext>
              </a:extLst>
            </p:cNvPr>
            <p:cNvSpPr/>
            <p:nvPr/>
          </p:nvSpPr>
          <p:spPr>
            <a:xfrm>
              <a:off x="57658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3</a:t>
              </a:r>
            </a:p>
          </p:txBody>
        </p:sp>
        <p:sp>
          <p:nvSpPr>
            <p:cNvPr id="23" name="AL4">
              <a:extLst>
                <a:ext uri="{FF2B5EF4-FFF2-40B4-BE49-F238E27FC236}">
                  <a16:creationId xmlns:a16="http://schemas.microsoft.com/office/drawing/2014/main" id="{E23233FB-4AC7-441F-9B17-64041CF35B88}"/>
                </a:ext>
              </a:extLst>
            </p:cNvPr>
            <p:cNvSpPr/>
            <p:nvPr/>
          </p:nvSpPr>
          <p:spPr>
            <a:xfrm>
              <a:off x="6096000" y="4089400"/>
              <a:ext cx="330200" cy="330200"/>
            </a:xfrm>
            <a:prstGeom prst="rect">
              <a:avLst/>
            </a:prstGeom>
            <a:solidFill>
              <a:srgbClr val="E2F0D9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200" dirty="0">
                  <a:solidFill>
                    <a:srgbClr val="548235"/>
                  </a:solidFill>
                  <a:latin typeface="페이퍼로지 7 Bold"/>
                  <a:ea typeface="페이퍼로지 7 Bold"/>
                </a:rPr>
                <a:t>4</a:t>
              </a:r>
            </a:p>
          </p:txBody>
        </p:sp>
        <p:sp>
          <p:nvSpPr>
            <p:cNvPr id="24" name="ALi4">
              <a:extLst>
                <a:ext uri="{FF2B5EF4-FFF2-40B4-BE49-F238E27FC236}">
                  <a16:creationId xmlns:a16="http://schemas.microsoft.com/office/drawing/2014/main" id="{D8DBD51F-1108-4864-ADF2-CF0F2D08AAA7}"/>
                </a:ext>
              </a:extLst>
            </p:cNvPr>
            <p:cNvSpPr/>
            <p:nvPr/>
          </p:nvSpPr>
          <p:spPr>
            <a:xfrm>
              <a:off x="60960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4</a:t>
              </a:r>
            </a:p>
          </p:txBody>
        </p:sp>
        <p:sp>
          <p:nvSpPr>
            <p:cNvPr id="25" name="AL5">
              <a:extLst>
                <a:ext uri="{FF2B5EF4-FFF2-40B4-BE49-F238E27FC236}">
                  <a16:creationId xmlns:a16="http://schemas.microsoft.com/office/drawing/2014/main" id="{4A2B876F-92DD-498B-B937-78EEB04C1EC5}"/>
                </a:ext>
              </a:extLst>
            </p:cNvPr>
            <p:cNvSpPr/>
            <p:nvPr/>
          </p:nvSpPr>
          <p:spPr>
            <a:xfrm>
              <a:off x="6426200" y="4089400"/>
              <a:ext cx="330200" cy="330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26" name="ALi5">
              <a:extLst>
                <a:ext uri="{FF2B5EF4-FFF2-40B4-BE49-F238E27FC236}">
                  <a16:creationId xmlns:a16="http://schemas.microsoft.com/office/drawing/2014/main" id="{1B3C1CF5-07E4-453B-BCE7-4F92BE422FAD}"/>
                </a:ext>
              </a:extLst>
            </p:cNvPr>
            <p:cNvSpPr/>
            <p:nvPr/>
          </p:nvSpPr>
          <p:spPr>
            <a:xfrm>
              <a:off x="64262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5</a:t>
              </a:r>
            </a:p>
          </p:txBody>
        </p:sp>
        <p:sp>
          <p:nvSpPr>
            <p:cNvPr id="27" name="AL6">
              <a:extLst>
                <a:ext uri="{FF2B5EF4-FFF2-40B4-BE49-F238E27FC236}">
                  <a16:creationId xmlns:a16="http://schemas.microsoft.com/office/drawing/2014/main" id="{601E16EF-1C78-4451-ACB7-C5B1AB243E84}"/>
                </a:ext>
              </a:extLst>
            </p:cNvPr>
            <p:cNvSpPr/>
            <p:nvPr/>
          </p:nvSpPr>
          <p:spPr>
            <a:xfrm>
              <a:off x="6756400" y="4089400"/>
              <a:ext cx="330200" cy="330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28" name="ALi6">
              <a:extLst>
                <a:ext uri="{FF2B5EF4-FFF2-40B4-BE49-F238E27FC236}">
                  <a16:creationId xmlns:a16="http://schemas.microsoft.com/office/drawing/2014/main" id="{8668F948-1FC6-4804-A702-15C5F33BD3B7}"/>
                </a:ext>
              </a:extLst>
            </p:cNvPr>
            <p:cNvSpPr/>
            <p:nvPr/>
          </p:nvSpPr>
          <p:spPr>
            <a:xfrm>
              <a:off x="67564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6</a:t>
              </a:r>
            </a:p>
          </p:txBody>
        </p:sp>
        <p:sp>
          <p:nvSpPr>
            <p:cNvPr id="29" name="AL7">
              <a:extLst>
                <a:ext uri="{FF2B5EF4-FFF2-40B4-BE49-F238E27FC236}">
                  <a16:creationId xmlns:a16="http://schemas.microsoft.com/office/drawing/2014/main" id="{41C55AD8-EDD5-4918-B041-5B962C6CB7DF}"/>
                </a:ext>
              </a:extLst>
            </p:cNvPr>
            <p:cNvSpPr/>
            <p:nvPr/>
          </p:nvSpPr>
          <p:spPr>
            <a:xfrm>
              <a:off x="7086600" y="4089400"/>
              <a:ext cx="330200" cy="33020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BFBFBF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30" name="ALi7">
              <a:extLst>
                <a:ext uri="{FF2B5EF4-FFF2-40B4-BE49-F238E27FC236}">
                  <a16:creationId xmlns:a16="http://schemas.microsoft.com/office/drawing/2014/main" id="{E4AA84BF-23AF-4523-8E7A-1F21D28E17CD}"/>
                </a:ext>
              </a:extLst>
            </p:cNvPr>
            <p:cNvSpPr/>
            <p:nvPr/>
          </p:nvSpPr>
          <p:spPr>
            <a:xfrm>
              <a:off x="7086600" y="4445000"/>
              <a:ext cx="3302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7</a:t>
              </a:r>
            </a:p>
          </p:txBody>
        </p:sp>
        <p:sp>
          <p:nvSpPr>
            <p:cNvPr id="31" name="AL Out">
              <a:extLst>
                <a:ext uri="{FF2B5EF4-FFF2-40B4-BE49-F238E27FC236}">
                  <a16:creationId xmlns:a16="http://schemas.microsoft.com/office/drawing/2014/main" id="{CD3DB67C-76A7-47A2-B3A6-1283B2BE11AB}"/>
                </a:ext>
              </a:extLst>
            </p:cNvPr>
            <p:cNvSpPr/>
            <p:nvPr/>
          </p:nvSpPr>
          <p:spPr>
            <a:xfrm>
              <a:off x="4775200" y="4089400"/>
              <a:ext cx="2641600" cy="330200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32" name="AL Hl">
              <a:extLst>
                <a:ext uri="{FF2B5EF4-FFF2-40B4-BE49-F238E27FC236}">
                  <a16:creationId xmlns:a16="http://schemas.microsoft.com/office/drawing/2014/main" id="{8C7ACEBD-1A5E-4E72-9FB2-136AAB810A69}"/>
                </a:ext>
              </a:extLst>
            </p:cNvPr>
            <p:cNvSpPr/>
            <p:nvPr/>
          </p:nvSpPr>
          <p:spPr>
            <a:xfrm>
              <a:off x="5435600" y="4089400"/>
              <a:ext cx="330200" cy="330200"/>
            </a:xfrm>
            <a:prstGeom prst="rect">
              <a:avLst/>
            </a:prstGeom>
            <a:noFill/>
            <a:ln w="28575">
              <a:solidFill>
                <a:srgbClr val="C55A11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E643F1CE-A35F-4A66-A1FD-1922A4CF028C}"/>
              </a:ext>
            </a:extLst>
          </p:cNvPr>
          <p:cNvGrpSpPr/>
          <p:nvPr/>
        </p:nvGrpSpPr>
        <p:grpSpPr>
          <a:xfrm>
            <a:off x="1495928" y="4216128"/>
            <a:ext cx="3352800" cy="889000"/>
            <a:chOff x="8077200" y="3733800"/>
            <a:chExt cx="3352800" cy="889000"/>
          </a:xfrm>
        </p:grpSpPr>
        <p:sp>
          <p:nvSpPr>
            <p:cNvPr id="35" name="FigLab 3">
              <a:extLst>
                <a:ext uri="{FF2B5EF4-FFF2-40B4-BE49-F238E27FC236}">
                  <a16:creationId xmlns:a16="http://schemas.microsoft.com/office/drawing/2014/main" id="{25F782B5-8259-4E45-A378-CDDE28A56F77}"/>
                </a:ext>
              </a:extLst>
            </p:cNvPr>
            <p:cNvSpPr/>
            <p:nvPr/>
          </p:nvSpPr>
          <p:spPr>
            <a:xfrm>
              <a:off x="8077200" y="3733800"/>
              <a:ext cx="3352800" cy="2540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3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Particles</a:t>
              </a:r>
            </a:p>
          </p:txBody>
        </p:sp>
        <p:sp>
          <p:nvSpPr>
            <p:cNvPr id="36" name="P0">
              <a:extLst>
                <a:ext uri="{FF2B5EF4-FFF2-40B4-BE49-F238E27FC236}">
                  <a16:creationId xmlns:a16="http://schemas.microsoft.com/office/drawing/2014/main" id="{47E60E32-10C5-46D6-9CBD-E6EFCFDEB69A}"/>
                </a:ext>
              </a:extLst>
            </p:cNvPr>
            <p:cNvSpPr/>
            <p:nvPr/>
          </p:nvSpPr>
          <p:spPr>
            <a:xfrm>
              <a:off x="8382000" y="4089400"/>
              <a:ext cx="304800" cy="3302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37" name="Pi0">
              <a:extLst>
                <a:ext uri="{FF2B5EF4-FFF2-40B4-BE49-F238E27FC236}">
                  <a16:creationId xmlns:a16="http://schemas.microsoft.com/office/drawing/2014/main" id="{9F86E196-E5F5-4FB6-9986-68F7DC81FCD1}"/>
                </a:ext>
              </a:extLst>
            </p:cNvPr>
            <p:cNvSpPr/>
            <p:nvPr/>
          </p:nvSpPr>
          <p:spPr>
            <a:xfrm>
              <a:off x="83820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0</a:t>
              </a:r>
            </a:p>
          </p:txBody>
        </p:sp>
        <p:sp>
          <p:nvSpPr>
            <p:cNvPr id="38" name="P1">
              <a:extLst>
                <a:ext uri="{FF2B5EF4-FFF2-40B4-BE49-F238E27FC236}">
                  <a16:creationId xmlns:a16="http://schemas.microsoft.com/office/drawing/2014/main" id="{C409F993-9427-4FF6-BF51-34948C2D9E8C}"/>
                </a:ext>
              </a:extLst>
            </p:cNvPr>
            <p:cNvSpPr/>
            <p:nvPr/>
          </p:nvSpPr>
          <p:spPr>
            <a:xfrm>
              <a:off x="8686800" y="4089400"/>
              <a:ext cx="304800" cy="330200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39" name="Pi1">
              <a:extLst>
                <a:ext uri="{FF2B5EF4-FFF2-40B4-BE49-F238E27FC236}">
                  <a16:creationId xmlns:a16="http://schemas.microsoft.com/office/drawing/2014/main" id="{AC5F4C39-3297-4742-BA0F-05578A0E9AF2}"/>
                </a:ext>
              </a:extLst>
            </p:cNvPr>
            <p:cNvSpPr/>
            <p:nvPr/>
          </p:nvSpPr>
          <p:spPr>
            <a:xfrm>
              <a:off x="86868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1</a:t>
              </a:r>
            </a:p>
          </p:txBody>
        </p:sp>
        <p:sp>
          <p:nvSpPr>
            <p:cNvPr id="40" name="P2">
              <a:extLst>
                <a:ext uri="{FF2B5EF4-FFF2-40B4-BE49-F238E27FC236}">
                  <a16:creationId xmlns:a16="http://schemas.microsoft.com/office/drawing/2014/main" id="{5C55BD29-8346-4A0F-9E4D-727E76B2316B}"/>
                </a:ext>
              </a:extLst>
            </p:cNvPr>
            <p:cNvSpPr/>
            <p:nvPr/>
          </p:nvSpPr>
          <p:spPr>
            <a:xfrm>
              <a:off x="8991600" y="4089400"/>
              <a:ext cx="304800" cy="330200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41" name="Pi2">
              <a:extLst>
                <a:ext uri="{FF2B5EF4-FFF2-40B4-BE49-F238E27FC236}">
                  <a16:creationId xmlns:a16="http://schemas.microsoft.com/office/drawing/2014/main" id="{E73D4A9E-D658-4661-87D3-DCBBD39CAB93}"/>
                </a:ext>
              </a:extLst>
            </p:cNvPr>
            <p:cNvSpPr/>
            <p:nvPr/>
          </p:nvSpPr>
          <p:spPr>
            <a:xfrm>
              <a:off x="89916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2</a:t>
              </a:r>
            </a:p>
          </p:txBody>
        </p:sp>
        <p:sp>
          <p:nvSpPr>
            <p:cNvPr id="42" name="P3">
              <a:extLst>
                <a:ext uri="{FF2B5EF4-FFF2-40B4-BE49-F238E27FC236}">
                  <a16:creationId xmlns:a16="http://schemas.microsoft.com/office/drawing/2014/main" id="{AE8C9ED0-0DB3-45D6-8B98-8F6B42CDDFDA}"/>
                </a:ext>
              </a:extLst>
            </p:cNvPr>
            <p:cNvSpPr/>
            <p:nvPr/>
          </p:nvSpPr>
          <p:spPr>
            <a:xfrm>
              <a:off x="9296400" y="4089400"/>
              <a:ext cx="304800" cy="3302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43" name="Pi3">
              <a:extLst>
                <a:ext uri="{FF2B5EF4-FFF2-40B4-BE49-F238E27FC236}">
                  <a16:creationId xmlns:a16="http://schemas.microsoft.com/office/drawing/2014/main" id="{1D2D8E44-97FD-47BA-8310-7E752339E7C8}"/>
                </a:ext>
              </a:extLst>
            </p:cNvPr>
            <p:cNvSpPr/>
            <p:nvPr/>
          </p:nvSpPr>
          <p:spPr>
            <a:xfrm>
              <a:off x="92964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3</a:t>
              </a:r>
            </a:p>
          </p:txBody>
        </p:sp>
        <p:sp>
          <p:nvSpPr>
            <p:cNvPr id="44" name="P4">
              <a:extLst>
                <a:ext uri="{FF2B5EF4-FFF2-40B4-BE49-F238E27FC236}">
                  <a16:creationId xmlns:a16="http://schemas.microsoft.com/office/drawing/2014/main" id="{1D46E8DC-70AB-4430-8145-43DE14398D04}"/>
                </a:ext>
              </a:extLst>
            </p:cNvPr>
            <p:cNvSpPr/>
            <p:nvPr/>
          </p:nvSpPr>
          <p:spPr>
            <a:xfrm>
              <a:off x="9601200" y="4089400"/>
              <a:ext cx="304800" cy="3302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45" name="Pi4">
              <a:extLst>
                <a:ext uri="{FF2B5EF4-FFF2-40B4-BE49-F238E27FC236}">
                  <a16:creationId xmlns:a16="http://schemas.microsoft.com/office/drawing/2014/main" id="{1110CDBC-6D45-428D-99A2-31F38E23C6F1}"/>
                </a:ext>
              </a:extLst>
            </p:cNvPr>
            <p:cNvSpPr/>
            <p:nvPr/>
          </p:nvSpPr>
          <p:spPr>
            <a:xfrm>
              <a:off x="96012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4</a:t>
              </a:r>
            </a:p>
          </p:txBody>
        </p:sp>
        <p:sp>
          <p:nvSpPr>
            <p:cNvPr id="46" name="P5">
              <a:extLst>
                <a:ext uri="{FF2B5EF4-FFF2-40B4-BE49-F238E27FC236}">
                  <a16:creationId xmlns:a16="http://schemas.microsoft.com/office/drawing/2014/main" id="{BC611DA1-E24A-4BB1-A491-A12234B73E37}"/>
                </a:ext>
              </a:extLst>
            </p:cNvPr>
            <p:cNvSpPr/>
            <p:nvPr/>
          </p:nvSpPr>
          <p:spPr>
            <a:xfrm>
              <a:off x="9906000" y="4089400"/>
              <a:ext cx="304800" cy="3302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47" name="Pi5">
              <a:extLst>
                <a:ext uri="{FF2B5EF4-FFF2-40B4-BE49-F238E27FC236}">
                  <a16:creationId xmlns:a16="http://schemas.microsoft.com/office/drawing/2014/main" id="{97672B55-CA87-472C-A102-0904500C88B3}"/>
                </a:ext>
              </a:extLst>
            </p:cNvPr>
            <p:cNvSpPr/>
            <p:nvPr/>
          </p:nvSpPr>
          <p:spPr>
            <a:xfrm>
              <a:off x="99060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C55A11"/>
                  </a:solidFill>
                  <a:latin typeface="페이퍼로지 7 Bold"/>
                  <a:ea typeface="페이퍼로지 7 Bold"/>
                </a:rPr>
                <a:t>5</a:t>
              </a:r>
            </a:p>
          </p:txBody>
        </p:sp>
        <p:sp>
          <p:nvSpPr>
            <p:cNvPr id="48" name="P6">
              <a:extLst>
                <a:ext uri="{FF2B5EF4-FFF2-40B4-BE49-F238E27FC236}">
                  <a16:creationId xmlns:a16="http://schemas.microsoft.com/office/drawing/2014/main" id="{BE4B3772-C354-4686-A393-97FDA17107E7}"/>
                </a:ext>
              </a:extLst>
            </p:cNvPr>
            <p:cNvSpPr/>
            <p:nvPr/>
          </p:nvSpPr>
          <p:spPr>
            <a:xfrm>
              <a:off x="10210800" y="4089400"/>
              <a:ext cx="304800" cy="330200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49" name="Pi6">
              <a:extLst>
                <a:ext uri="{FF2B5EF4-FFF2-40B4-BE49-F238E27FC236}">
                  <a16:creationId xmlns:a16="http://schemas.microsoft.com/office/drawing/2014/main" id="{E5E4BB45-A5CE-4C4F-B531-21B6CC982FE2}"/>
                </a:ext>
              </a:extLst>
            </p:cNvPr>
            <p:cNvSpPr/>
            <p:nvPr/>
          </p:nvSpPr>
          <p:spPr>
            <a:xfrm>
              <a:off x="102108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6</a:t>
              </a:r>
            </a:p>
          </p:txBody>
        </p:sp>
        <p:sp>
          <p:nvSpPr>
            <p:cNvPr id="50" name="P7">
              <a:extLst>
                <a:ext uri="{FF2B5EF4-FFF2-40B4-BE49-F238E27FC236}">
                  <a16:creationId xmlns:a16="http://schemas.microsoft.com/office/drawing/2014/main" id="{FBD3EC95-FC14-4515-8E16-FCEAAA7A3FE7}"/>
                </a:ext>
              </a:extLst>
            </p:cNvPr>
            <p:cNvSpPr/>
            <p:nvPr/>
          </p:nvSpPr>
          <p:spPr>
            <a:xfrm>
              <a:off x="10515600" y="4089400"/>
              <a:ext cx="304800" cy="330200"/>
            </a:xfrm>
            <a:prstGeom prst="rect">
              <a:avLst/>
            </a:prstGeom>
            <a:solidFill>
              <a:srgbClr val="C0000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51" name="Pi7">
              <a:extLst>
                <a:ext uri="{FF2B5EF4-FFF2-40B4-BE49-F238E27FC236}">
                  <a16:creationId xmlns:a16="http://schemas.microsoft.com/office/drawing/2014/main" id="{1F72514D-697E-45D0-98B5-BA2BA8AD5277}"/>
                </a:ext>
              </a:extLst>
            </p:cNvPr>
            <p:cNvSpPr/>
            <p:nvPr/>
          </p:nvSpPr>
          <p:spPr>
            <a:xfrm>
              <a:off x="105156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7</a:t>
              </a:r>
            </a:p>
          </p:txBody>
        </p:sp>
        <p:sp>
          <p:nvSpPr>
            <p:cNvPr id="52" name="P8">
              <a:extLst>
                <a:ext uri="{FF2B5EF4-FFF2-40B4-BE49-F238E27FC236}">
                  <a16:creationId xmlns:a16="http://schemas.microsoft.com/office/drawing/2014/main" id="{5608C975-2A9C-40A3-84B5-ABA4BADB192E}"/>
                </a:ext>
              </a:extLst>
            </p:cNvPr>
            <p:cNvSpPr/>
            <p:nvPr/>
          </p:nvSpPr>
          <p:spPr>
            <a:xfrm>
              <a:off x="10820400" y="4089400"/>
              <a:ext cx="304800" cy="330200"/>
            </a:xfrm>
            <a:prstGeom prst="rect">
              <a:avLst/>
            </a:prstGeom>
            <a:solidFill>
              <a:srgbClr val="00B050"/>
            </a:solidFill>
            <a:ln w="9525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53" name="Pi8">
              <a:extLst>
                <a:ext uri="{FF2B5EF4-FFF2-40B4-BE49-F238E27FC236}">
                  <a16:creationId xmlns:a16="http://schemas.microsoft.com/office/drawing/2014/main" id="{AF896115-0271-4F9D-987E-AAA5F7354E02}"/>
                </a:ext>
              </a:extLst>
            </p:cNvPr>
            <p:cNvSpPr/>
            <p:nvPr/>
          </p:nvSpPr>
          <p:spPr>
            <a:xfrm>
              <a:off x="10820400" y="4445000"/>
              <a:ext cx="304800" cy="177800"/>
            </a:xfrm>
            <a:prstGeom prst="rect">
              <a:avLst/>
            </a:prstGeom>
            <a:noFill/>
            <a:ln>
              <a:noFill/>
            </a:ln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lang="ko-KR" altLang="en-US" sz="1100" dirty="0">
                  <a:solidFill>
                    <a:srgbClr val="7F7F7F"/>
                  </a:solidFill>
                  <a:latin typeface="페이퍼로지 4 Regular"/>
                  <a:ea typeface="페이퍼로지 4 Regular"/>
                </a:rPr>
                <a:t>8</a:t>
              </a:r>
            </a:p>
          </p:txBody>
        </p:sp>
        <p:sp>
          <p:nvSpPr>
            <p:cNvPr id="54" name="P Out">
              <a:extLst>
                <a:ext uri="{FF2B5EF4-FFF2-40B4-BE49-F238E27FC236}">
                  <a16:creationId xmlns:a16="http://schemas.microsoft.com/office/drawing/2014/main" id="{9A8794B1-CCF9-42D9-AC41-6FCED4670629}"/>
                </a:ext>
              </a:extLst>
            </p:cNvPr>
            <p:cNvSpPr/>
            <p:nvPr/>
          </p:nvSpPr>
          <p:spPr>
            <a:xfrm>
              <a:off x="8382000" y="4089400"/>
              <a:ext cx="2743200" cy="330200"/>
            </a:xfrm>
            <a:prstGeom prst="rect">
              <a:avLst/>
            </a:prstGeom>
            <a:noFill/>
            <a:ln w="19050">
              <a:solidFill>
                <a:srgbClr val="000000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  <p:sp>
          <p:nvSpPr>
            <p:cNvPr id="55" name="P Hl">
              <a:extLst>
                <a:ext uri="{FF2B5EF4-FFF2-40B4-BE49-F238E27FC236}">
                  <a16:creationId xmlns:a16="http://schemas.microsoft.com/office/drawing/2014/main" id="{2A47BA84-7E6C-4406-A890-9F6C3240BE95}"/>
                </a:ext>
              </a:extLst>
            </p:cNvPr>
            <p:cNvSpPr/>
            <p:nvPr/>
          </p:nvSpPr>
          <p:spPr>
            <a:xfrm>
              <a:off x="9906000" y="4089400"/>
              <a:ext cx="304800" cy="330200"/>
            </a:xfrm>
            <a:prstGeom prst="rect">
              <a:avLst/>
            </a:prstGeom>
            <a:noFill/>
            <a:ln w="28575">
              <a:solidFill>
                <a:srgbClr val="C55A11"/>
              </a:solidFill>
            </a:ln>
          </p:spPr>
          <p:txBody>
            <a:bodyPr wrap="none" lIns="0" tIns="0" rIns="0" bIns="0" anchor="ctr">
              <a:noAutofit/>
            </a:bodyPr>
            <a:lstStyle/>
            <a:p>
              <a:endParaRPr lang="en-US" sz="1000"/>
            </a:p>
          </p:txBody>
        </p:sp>
      </p:grpSp>
      <p:sp>
        <p:nvSpPr>
          <p:cNvPr id="57" name="Rule 1">
            <a:extLst>
              <a:ext uri="{FF2B5EF4-FFF2-40B4-BE49-F238E27FC236}">
                <a16:creationId xmlns:a16="http://schemas.microsoft.com/office/drawing/2014/main" id="{99E734A6-0BA6-4916-84C8-ED7444B9E3DB}"/>
              </a:ext>
            </a:extLst>
          </p:cNvPr>
          <p:cNvSpPr/>
          <p:nvPr/>
        </p:nvSpPr>
        <p:spPr>
          <a:xfrm>
            <a:off x="1699128" y="2797133"/>
            <a:ext cx="2946400" cy="0"/>
          </a:xfrm>
          <a:prstGeom prst="rect">
            <a:avLst/>
          </a:prstGeom>
          <a:noFill/>
          <a:ln w="9525">
            <a:solidFill>
              <a:srgbClr val="E0E0E0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/>
          </a:p>
        </p:txBody>
      </p:sp>
      <p:cxnSp>
        <p:nvCxnSpPr>
          <p:cNvPr id="58" name="A0">
            <a:extLst>
              <a:ext uri="{FF2B5EF4-FFF2-40B4-BE49-F238E27FC236}">
                <a16:creationId xmlns:a16="http://schemas.microsoft.com/office/drawing/2014/main" id="{753BACA8-2EBB-4E35-A0D1-62EC9DB1F30C}"/>
              </a:ext>
            </a:extLst>
          </p:cNvPr>
          <p:cNvCxnSpPr>
            <a:cxnSpLocks/>
            <a:stCxn id="64" idx="2"/>
          </p:cNvCxnSpPr>
          <p:nvPr/>
        </p:nvCxnSpPr>
        <p:spPr>
          <a:xfrm flipH="1">
            <a:off x="2715128" y="2669508"/>
            <a:ext cx="457200" cy="592974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cxnSp>
        <p:nvCxnSpPr>
          <p:cNvPr id="60" name="A0">
            <a:extLst>
              <a:ext uri="{FF2B5EF4-FFF2-40B4-BE49-F238E27FC236}">
                <a16:creationId xmlns:a16="http://schemas.microsoft.com/office/drawing/2014/main" id="{D952FAB2-41D3-4036-9FEC-9F284AF518BB}"/>
              </a:ext>
            </a:extLst>
          </p:cNvPr>
          <p:cNvCxnSpPr>
            <a:cxnSpLocks/>
            <a:endCxn id="55" idx="0"/>
          </p:cNvCxnSpPr>
          <p:nvPr/>
        </p:nvCxnSpPr>
        <p:spPr>
          <a:xfrm>
            <a:off x="2715128" y="4008145"/>
            <a:ext cx="762000" cy="563583"/>
          </a:xfrm>
          <a:prstGeom prst="straightConnector1">
            <a:avLst/>
          </a:prstGeom>
          <a:ln w="12700">
            <a:solidFill>
              <a:srgbClr val="262626"/>
            </a:solidFill>
            <a:tailEnd type="triangle" w="med" len="med"/>
          </a:ln>
        </p:spPr>
      </p:cxnSp>
      <p:sp>
        <p:nvSpPr>
          <p:cNvPr id="64" name="Draw Note">
            <a:extLst>
              <a:ext uri="{FF2B5EF4-FFF2-40B4-BE49-F238E27FC236}">
                <a16:creationId xmlns:a16="http://schemas.microsoft.com/office/drawing/2014/main" id="{F843CB5F-2954-43F1-8CF0-1F3E753DD044}"/>
              </a:ext>
            </a:extLst>
          </p:cNvPr>
          <p:cNvSpPr/>
          <p:nvPr/>
        </p:nvSpPr>
        <p:spPr>
          <a:xfrm>
            <a:off x="2310065" y="2237708"/>
            <a:ext cx="1724526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rgbClr val="7F7F7F"/>
                </a:solidFill>
                <a:latin typeface="페이퍼로지 4 Regular"/>
                <a:ea typeface="페이퍼로지 4 Regular"/>
              </a:rPr>
              <a:t>Instance ID</a:t>
            </a:r>
            <a:endParaRPr lang="ko-KR" altLang="en-US" sz="1400" dirty="0">
              <a:solidFill>
                <a:srgbClr val="7F7F7F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69" name="Desc 1-0">
            <a:extLst>
              <a:ext uri="{FF2B5EF4-FFF2-40B4-BE49-F238E27FC236}">
                <a16:creationId xmlns:a16="http://schemas.microsoft.com/office/drawing/2014/main" id="{F21ADB7B-C91B-496E-A796-7FEF4117BB6D}"/>
              </a:ext>
            </a:extLst>
          </p:cNvPr>
          <p:cNvSpPr/>
          <p:nvPr/>
        </p:nvSpPr>
        <p:spPr>
          <a:xfrm>
            <a:off x="1502612" y="5576219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2)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원자 연산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InterLockedAdd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)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이 너무 많다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  <a:endParaRPr lang="ko-KR" altLang="en-US" sz="14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8A7FC534-1999-4CE4-AC59-43D299E038F7}"/>
              </a:ext>
            </a:extLst>
          </p:cNvPr>
          <p:cNvCxnSpPr/>
          <p:nvPr/>
        </p:nvCxnSpPr>
        <p:spPr>
          <a:xfrm>
            <a:off x="1395665" y="5350042"/>
            <a:ext cx="3553326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Badge 1">
            <a:extLst>
              <a:ext uri="{FF2B5EF4-FFF2-40B4-BE49-F238E27FC236}">
                <a16:creationId xmlns:a16="http://schemas.microsoft.com/office/drawing/2014/main" id="{C0DACF55-8743-4607-AC43-F6409B6057F8}"/>
              </a:ext>
            </a:extLst>
          </p:cNvPr>
          <p:cNvSpPr/>
          <p:nvPr/>
        </p:nvSpPr>
        <p:spPr>
          <a:xfrm>
            <a:off x="5388812" y="1084840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  <a:endParaRPr lang="ko-KR" altLang="en-US" sz="1400" dirty="0">
              <a:solidFill>
                <a:srgbClr val="FFFFFF"/>
              </a:solidFill>
              <a:latin typeface="페이퍼로지 7 Bold"/>
              <a:ea typeface="페이퍼로지 7 Bold"/>
            </a:endParaRPr>
          </a:p>
        </p:txBody>
      </p:sp>
      <p:sp>
        <p:nvSpPr>
          <p:cNvPr id="75" name="Head 1">
            <a:extLst>
              <a:ext uri="{FF2B5EF4-FFF2-40B4-BE49-F238E27FC236}">
                <a16:creationId xmlns:a16="http://schemas.microsoft.com/office/drawing/2014/main" id="{48D802F6-4DE6-4353-945A-9119DB5F5110}"/>
              </a:ext>
            </a:extLst>
          </p:cNvPr>
          <p:cNvSpPr/>
          <p:nvPr/>
        </p:nvSpPr>
        <p:spPr>
          <a:xfrm>
            <a:off x="5846012" y="1059440"/>
            <a:ext cx="2792664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700" dirty="0" err="1">
                <a:solidFill>
                  <a:srgbClr val="262626"/>
                </a:solidFill>
                <a:latin typeface="페이퍼로지 7 Bold"/>
                <a:ea typeface="페이퍼로지 7 Bold"/>
              </a:rPr>
              <a:t>AliveList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 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방식이 </a:t>
            </a:r>
            <a:b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</a:br>
            <a:r>
              <a:rPr lang="en-US" altLang="ko-KR" sz="1700" dirty="0" err="1">
                <a:solidFill>
                  <a:srgbClr val="262626"/>
                </a:solidFill>
                <a:latin typeface="페이퍼로지 7 Bold"/>
                <a:ea typeface="페이퍼로지 7 Bold"/>
              </a:rPr>
              <a:t>SlotReuse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 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방식보다 나은 점</a:t>
            </a:r>
          </a:p>
        </p:txBody>
      </p:sp>
      <p:sp>
        <p:nvSpPr>
          <p:cNvPr id="76" name="Desc 1-0">
            <a:extLst>
              <a:ext uri="{FF2B5EF4-FFF2-40B4-BE49-F238E27FC236}">
                <a16:creationId xmlns:a16="http://schemas.microsoft.com/office/drawing/2014/main" id="{78B51508-5094-45FD-B46C-5C839F3F96EE}"/>
              </a:ext>
            </a:extLst>
          </p:cNvPr>
          <p:cNvSpPr/>
          <p:nvPr/>
        </p:nvSpPr>
        <p:spPr>
          <a:xfrm>
            <a:off x="5343359" y="1729708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1)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정렬이 가능하다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  <a:endParaRPr lang="ko-KR" altLang="en-US" sz="14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127" name="장점 Item 1">
            <a:extLst>
              <a:ext uri="{FF2B5EF4-FFF2-40B4-BE49-F238E27FC236}">
                <a16:creationId xmlns:a16="http://schemas.microsoft.com/office/drawing/2014/main" id="{A28EF0F3-B19C-4688-A29B-7F9ED6EE9452}"/>
              </a:ext>
            </a:extLst>
          </p:cNvPr>
          <p:cNvSpPr/>
          <p:nvPr/>
        </p:nvSpPr>
        <p:spPr>
          <a:xfrm>
            <a:off x="5557254" y="2013765"/>
            <a:ext cx="3048000" cy="718221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600"/>
              </a:spcBef>
            </a:pPr>
            <a:r>
              <a:rPr lang="ko-KR" altLang="en-US" sz="1400" b="1" dirty="0" err="1">
                <a:solidFill>
                  <a:srgbClr val="595959"/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400" b="1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충돌</a:t>
            </a:r>
            <a:r>
              <a:rPr lang="en-US" altLang="ko-KR" sz="1400" b="1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, </a:t>
            </a:r>
            <a:r>
              <a:rPr lang="ko-KR" altLang="en-US" sz="1400" b="1" dirty="0" err="1">
                <a:solidFill>
                  <a:srgbClr val="595959"/>
                </a:solidFill>
                <a:latin typeface="페이퍼로지 4 Regular"/>
                <a:ea typeface="페이퍼로지 4 Regular"/>
              </a:rPr>
              <a:t>컬링</a:t>
            </a:r>
            <a:r>
              <a:rPr lang="en-US" altLang="ko-KR" sz="1400" b="1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, LOD</a:t>
            </a:r>
            <a:r>
              <a:rPr lang="ko-KR" altLang="en-US" sz="1400" b="1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도입</a:t>
            </a: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에 있어서 </a:t>
            </a:r>
            <a:br>
              <a:rPr lang="en-US" altLang="ko-KR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</a:b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정렬을 사용해야 할 경우 </a:t>
            </a:r>
            <a:r>
              <a:rPr lang="en-US" altLang="ko-KR" sz="1400" dirty="0" err="1">
                <a:solidFill>
                  <a:srgbClr val="595959"/>
                </a:solidFill>
                <a:latin typeface="페이퍼로지 4 Regular"/>
                <a:ea typeface="페이퍼로지 4 Regular"/>
              </a:rPr>
              <a:t>AliveList</a:t>
            </a:r>
            <a:r>
              <a:rPr lang="en-US" altLang="ko-KR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 </a:t>
            </a:r>
            <a:r>
              <a:rPr lang="ko-KR" altLang="en-US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버퍼를 이용하여 정렬이 가능하다</a:t>
            </a:r>
            <a:r>
              <a:rPr lang="en-US" altLang="ko-KR" sz="1400" dirty="0">
                <a:solidFill>
                  <a:srgbClr val="595959"/>
                </a:solidFill>
                <a:latin typeface="페이퍼로지 4 Regular"/>
                <a:ea typeface="페이퍼로지 4 Regular"/>
              </a:rPr>
              <a:t>.</a:t>
            </a:r>
            <a:endParaRPr lang="ko-KR" altLang="en-US" sz="1400" dirty="0">
              <a:solidFill>
                <a:srgbClr val="595959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129" name="Desc 1-0">
            <a:extLst>
              <a:ext uri="{FF2B5EF4-FFF2-40B4-BE49-F238E27FC236}">
                <a16:creationId xmlns:a16="http://schemas.microsoft.com/office/drawing/2014/main" id="{04FDBCAC-6850-4372-9AC2-AC032D8B877B}"/>
              </a:ext>
            </a:extLst>
          </p:cNvPr>
          <p:cNvSpPr/>
          <p:nvPr/>
        </p:nvSpPr>
        <p:spPr>
          <a:xfrm>
            <a:off x="5343359" y="3123737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2)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</a:t>
            </a:r>
            <a:r>
              <a:rPr lang="ko-KR" altLang="en-US" sz="14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버퍼 하나에 여러 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RenderPass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가</a:t>
            </a:r>
            <a:b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</a:br>
            <a:r>
              <a:rPr lang="ko-KR" altLang="en-US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사용될 경우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.</a:t>
            </a:r>
            <a:endParaRPr lang="ko-KR" altLang="en-US" sz="1400" dirty="0">
              <a:solidFill>
                <a:srgbClr val="262626"/>
              </a:solidFill>
              <a:latin typeface="페이퍼로지 4 Regular"/>
              <a:ea typeface="페이퍼로지 4 Regular"/>
            </a:endParaRPr>
          </a:p>
        </p:txBody>
      </p:sp>
      <p:sp>
        <p:nvSpPr>
          <p:cNvPr id="131" name="Card 1">
            <a:extLst>
              <a:ext uri="{FF2B5EF4-FFF2-40B4-BE49-F238E27FC236}">
                <a16:creationId xmlns:a16="http://schemas.microsoft.com/office/drawing/2014/main" id="{90E70DEA-5C24-405D-9128-B5B5C7E3EB8E}"/>
              </a:ext>
            </a:extLst>
          </p:cNvPr>
          <p:cNvSpPr/>
          <p:nvPr/>
        </p:nvSpPr>
        <p:spPr>
          <a:xfrm>
            <a:off x="5189622" y="3728745"/>
            <a:ext cx="5827294" cy="273873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 dirty="0"/>
          </a:p>
        </p:txBody>
      </p:sp>
      <p:sp>
        <p:nvSpPr>
          <p:cNvPr id="132" name="Badge 1">
            <a:extLst>
              <a:ext uri="{FF2B5EF4-FFF2-40B4-BE49-F238E27FC236}">
                <a16:creationId xmlns:a16="http://schemas.microsoft.com/office/drawing/2014/main" id="{A006D4A1-DFEF-402C-AD5C-8B2DB2EC6626}"/>
              </a:ext>
            </a:extLst>
          </p:cNvPr>
          <p:cNvSpPr/>
          <p:nvPr/>
        </p:nvSpPr>
        <p:spPr>
          <a:xfrm>
            <a:off x="5388812" y="3971374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3</a:t>
            </a:r>
            <a:endParaRPr lang="ko-KR" altLang="en-US" sz="1400" dirty="0">
              <a:solidFill>
                <a:srgbClr val="FFFFFF"/>
              </a:solidFill>
              <a:latin typeface="페이퍼로지 7 Bold"/>
              <a:ea typeface="페이퍼로지 7 Bold"/>
            </a:endParaRPr>
          </a:p>
        </p:txBody>
      </p:sp>
      <p:sp>
        <p:nvSpPr>
          <p:cNvPr id="133" name="Head 1">
            <a:extLst>
              <a:ext uri="{FF2B5EF4-FFF2-40B4-BE49-F238E27FC236}">
                <a16:creationId xmlns:a16="http://schemas.microsoft.com/office/drawing/2014/main" id="{76746AE7-79E7-4197-B1E4-58121478E1E3}"/>
              </a:ext>
            </a:extLst>
          </p:cNvPr>
          <p:cNvSpPr/>
          <p:nvPr/>
        </p:nvSpPr>
        <p:spPr>
          <a:xfrm>
            <a:off x="5846011" y="3945974"/>
            <a:ext cx="5038557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Draw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에서는 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Indirect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 방식을</a:t>
            </a:r>
            <a:b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</a:br>
            <a:r>
              <a:rPr lang="ko-KR" altLang="en-US" sz="1700" dirty="0" err="1">
                <a:solidFill>
                  <a:srgbClr val="262626"/>
                </a:solidFill>
                <a:latin typeface="페이퍼로지 7 Bold"/>
                <a:ea typeface="페이퍼로지 7 Bold"/>
              </a:rPr>
              <a:t>사용하는게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 대부분 유리하다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.</a:t>
            </a:r>
            <a:endParaRPr lang="ko-KR" altLang="en-US" sz="1700" dirty="0">
              <a:solidFill>
                <a:srgbClr val="262626"/>
              </a:solidFill>
              <a:latin typeface="페이퍼로지 7 Bold"/>
              <a:ea typeface="페이퍼로지 7 Bold"/>
            </a:endParaRPr>
          </a:p>
        </p:txBody>
      </p:sp>
      <p:graphicFrame>
        <p:nvGraphicFramePr>
          <p:cNvPr id="137" name="표 136">
            <a:extLst>
              <a:ext uri="{FF2B5EF4-FFF2-40B4-BE49-F238E27FC236}">
                <a16:creationId xmlns:a16="http://schemas.microsoft.com/office/drawing/2014/main" id="{1BAC0128-5E4B-4D38-8DF4-239A0D4890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2817556"/>
              </p:ext>
            </p:extLst>
          </p:nvPr>
        </p:nvGraphicFramePr>
        <p:xfrm>
          <a:off x="5343359" y="4808526"/>
          <a:ext cx="5445965" cy="1493520"/>
        </p:xfrm>
        <a:graphic>
          <a:graphicData uri="http://schemas.openxmlformats.org/drawingml/2006/table">
            <a:tbl>
              <a:tblPr/>
              <a:tblGrid>
                <a:gridCol w="527977">
                  <a:extLst>
                    <a:ext uri="{9D8B030D-6E8A-4147-A177-3AD203B41FA5}">
                      <a16:colId xmlns:a16="http://schemas.microsoft.com/office/drawing/2014/main" val="1052729689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759022789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2548383527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3594053818"/>
                    </a:ext>
                  </a:extLst>
                </a:gridCol>
                <a:gridCol w="1229497">
                  <a:extLst>
                    <a:ext uri="{9D8B030D-6E8A-4147-A177-3AD203B41FA5}">
                      <a16:colId xmlns:a16="http://schemas.microsoft.com/office/drawing/2014/main" val="1393576916"/>
                    </a:ext>
                  </a:extLst>
                </a:gridCol>
              </a:tblGrid>
              <a:tr h="32385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목표</a:t>
                      </a:r>
                      <a:br>
                        <a:rPr lang="en-US" altLang="ko-KR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</a:br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Alive (Indirect)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SlotReuse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나눔스퀘어 Bold" panose="020B0600000101010101" pitchFamily="50" charset="-127"/>
                          <a:ea typeface="나눔스퀘어 Bold" panose="020B0600000101010101" pitchFamily="50" charset="-127"/>
                        </a:rPr>
                        <a:t>FullScan</a:t>
                      </a:r>
                      <a:endParaRPr lang="en-US" sz="1400" b="1" i="0" u="none" strike="noStrike" dirty="0">
                        <a:solidFill>
                          <a:srgbClr val="FFFFFF"/>
                        </a:solidFill>
                        <a:effectLst/>
                        <a:latin typeface="나눔스퀘어 Bold" panose="020B0600000101010101" pitchFamily="50" charset="-127"/>
                        <a:ea typeface="나눔스퀘어 Bold" panose="020B0600000101010101" pitchFamily="50" charset="-127"/>
                      </a:endParaRP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F29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399300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10%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0.519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0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0.096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0.520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0.524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20541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30%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0.750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FC6F5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0.269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0.752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0.613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69737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50%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0.673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0DA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0.445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0.707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4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0.695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AD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5391087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70%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0.749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ECFF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0.616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0.741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3D2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0.775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9718765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/>
                      <a:r>
                        <a:rPr lang="en-US" altLang="ko-KR" sz="1400" b="0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90%</a:t>
                      </a:r>
                    </a:p>
                  </a:txBody>
                  <a:tcPr marL="0" marR="0" marT="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0.826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ADFF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1" i="0" u="none" strike="noStrike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0.789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0.816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8E8F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나눔스퀘어" panose="020B0600000101010101" pitchFamily="50" charset="-127"/>
                          <a:ea typeface="나눔스퀘어" panose="020B0600000101010101" pitchFamily="50" charset="-127"/>
                        </a:rPr>
                        <a:t>0.857</a:t>
                      </a:r>
                    </a:p>
                  </a:txBody>
                  <a:tcPr marL="0" marR="0" marT="0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EC5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9169257"/>
                  </a:ext>
                </a:extLst>
              </a:tr>
            </a:tbl>
          </a:graphicData>
        </a:graphic>
      </p:graphicFrame>
      <p:sp>
        <p:nvSpPr>
          <p:cNvPr id="138" name="Note">
            <a:extLst>
              <a:ext uri="{FF2B5EF4-FFF2-40B4-BE49-F238E27FC236}">
                <a16:creationId xmlns:a16="http://schemas.microsoft.com/office/drawing/2014/main" id="{96BD2137-FF4D-4A72-927F-4533691EDD11}"/>
              </a:ext>
            </a:extLst>
          </p:cNvPr>
          <p:cNvSpPr/>
          <p:nvPr/>
        </p:nvSpPr>
        <p:spPr>
          <a:xfrm>
            <a:off x="5343359" y="4501428"/>
            <a:ext cx="5101056" cy="307098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Draw </a:t>
            </a:r>
            <a:r>
              <a:rPr lang="ko-KR" altLang="en-US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시간 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400" dirty="0" err="1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ms</a:t>
            </a:r>
            <a:r>
              <a:rPr lang="en-US" altLang="ko-KR" sz="1400" dirty="0">
                <a:solidFill>
                  <a:srgbClr val="262626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ko-KR" altLang="en-US" sz="14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81785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Card 1">
            <a:extLst>
              <a:ext uri="{FF2B5EF4-FFF2-40B4-BE49-F238E27FC236}">
                <a16:creationId xmlns:a16="http://schemas.microsoft.com/office/drawing/2014/main" id="{7C5308DD-8CAC-4BCB-A437-C8C7E35EEA64}"/>
              </a:ext>
            </a:extLst>
          </p:cNvPr>
          <p:cNvSpPr/>
          <p:nvPr/>
        </p:nvSpPr>
        <p:spPr>
          <a:xfrm>
            <a:off x="4406335" y="1847063"/>
            <a:ext cx="7209759" cy="3218725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 dirty="0"/>
          </a:p>
        </p:txBody>
      </p:sp>
      <p:sp>
        <p:nvSpPr>
          <p:cNvPr id="108" name="Badge 1">
            <a:extLst>
              <a:ext uri="{FF2B5EF4-FFF2-40B4-BE49-F238E27FC236}">
                <a16:creationId xmlns:a16="http://schemas.microsoft.com/office/drawing/2014/main" id="{058FDF6C-E77A-439A-BF97-76F2CBC0B736}"/>
              </a:ext>
            </a:extLst>
          </p:cNvPr>
          <p:cNvSpPr/>
          <p:nvPr/>
        </p:nvSpPr>
        <p:spPr>
          <a:xfrm>
            <a:off x="4584135" y="2089693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en-US" altLang="ko-KR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2</a:t>
            </a:r>
            <a:endParaRPr lang="ko-KR" altLang="en-US" sz="1400" dirty="0">
              <a:solidFill>
                <a:srgbClr val="FFFFFF"/>
              </a:solidFill>
              <a:latin typeface="페이퍼로지 7 Bold"/>
              <a:ea typeface="페이퍼로지 7 Bold"/>
            </a:endParaRPr>
          </a:p>
        </p:txBody>
      </p:sp>
      <p:sp>
        <p:nvSpPr>
          <p:cNvPr id="109" name="Head 1">
            <a:extLst>
              <a:ext uri="{FF2B5EF4-FFF2-40B4-BE49-F238E27FC236}">
                <a16:creationId xmlns:a16="http://schemas.microsoft.com/office/drawing/2014/main" id="{6F7D148E-1CC3-4B34-AD33-51925B6A2BA6}"/>
              </a:ext>
            </a:extLst>
          </p:cNvPr>
          <p:cNvSpPr/>
          <p:nvPr/>
        </p:nvSpPr>
        <p:spPr>
          <a:xfrm>
            <a:off x="5041334" y="2064293"/>
            <a:ext cx="4217735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연산 방식의 최적화</a:t>
            </a: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B7DA9126-2E87-4838-B49A-145C74CEBC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계획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DFC15364-5653-47AE-A682-EF8A8171D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A6D8C51-7E1C-4870-B2BB-3BFF1E443F58}" type="slidenum">
              <a:rPr lang="ko-KR" altLang="en-US" smtClean="0"/>
              <a:pPr/>
              <a:t>25</a:t>
            </a:fld>
            <a:endParaRPr lang="ko-KR" altLang="en-US" dirty="0"/>
          </a:p>
        </p:txBody>
      </p:sp>
      <p:sp>
        <p:nvSpPr>
          <p:cNvPr id="4" name="Card 1">
            <a:extLst>
              <a:ext uri="{FF2B5EF4-FFF2-40B4-BE49-F238E27FC236}">
                <a16:creationId xmlns:a16="http://schemas.microsoft.com/office/drawing/2014/main" id="{96C80252-ACEB-4502-85F3-52DE8EAFA3F3}"/>
              </a:ext>
            </a:extLst>
          </p:cNvPr>
          <p:cNvSpPr/>
          <p:nvPr/>
        </p:nvSpPr>
        <p:spPr>
          <a:xfrm>
            <a:off x="479624" y="1064517"/>
            <a:ext cx="3721767" cy="492058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FBFBF"/>
            </a:solidFill>
          </a:ln>
        </p:spPr>
        <p:txBody>
          <a:bodyPr wrap="none" lIns="0" tIns="0" rIns="0" bIns="0" anchor="ctr">
            <a:noAutofit/>
          </a:bodyPr>
          <a:lstStyle/>
          <a:p>
            <a:endParaRPr lang="en-US" sz="1000" dirty="0"/>
          </a:p>
        </p:txBody>
      </p:sp>
      <p:sp>
        <p:nvSpPr>
          <p:cNvPr id="5" name="Badge 1">
            <a:extLst>
              <a:ext uri="{FF2B5EF4-FFF2-40B4-BE49-F238E27FC236}">
                <a16:creationId xmlns:a16="http://schemas.microsoft.com/office/drawing/2014/main" id="{9B9E1CC5-DF48-40F0-BB47-0DAE7F27DBEB}"/>
              </a:ext>
            </a:extLst>
          </p:cNvPr>
          <p:cNvSpPr/>
          <p:nvPr/>
        </p:nvSpPr>
        <p:spPr>
          <a:xfrm>
            <a:off x="657424" y="1307147"/>
            <a:ext cx="355600" cy="355600"/>
          </a:xfrm>
          <a:prstGeom prst="ellipse">
            <a:avLst/>
          </a:prstGeom>
          <a:solidFill>
            <a:srgbClr val="C55A11"/>
          </a:solidFill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ctr"/>
            <a:r>
              <a:rPr lang="ko-KR" altLang="en-US" sz="1400" dirty="0">
                <a:solidFill>
                  <a:srgbClr val="FFFFFF"/>
                </a:solidFill>
                <a:latin typeface="페이퍼로지 7 Bold"/>
                <a:ea typeface="페이퍼로지 7 Bold"/>
              </a:rPr>
              <a:t>1</a:t>
            </a:r>
          </a:p>
        </p:txBody>
      </p:sp>
      <p:sp>
        <p:nvSpPr>
          <p:cNvPr id="6" name="Head 1">
            <a:extLst>
              <a:ext uri="{FF2B5EF4-FFF2-40B4-BE49-F238E27FC236}">
                <a16:creationId xmlns:a16="http://schemas.microsoft.com/office/drawing/2014/main" id="{4CA84F4C-A2C6-4DB1-9611-DF0341C426DB}"/>
              </a:ext>
            </a:extLst>
          </p:cNvPr>
          <p:cNvSpPr/>
          <p:nvPr/>
        </p:nvSpPr>
        <p:spPr>
          <a:xfrm>
            <a:off x="2175043" y="1801220"/>
            <a:ext cx="4715040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endParaRPr lang="ko-KR" altLang="en-US" sz="1700" dirty="0">
              <a:solidFill>
                <a:srgbClr val="262626"/>
              </a:solidFill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7" name="Desc 1-0">
            <a:extLst>
              <a:ext uri="{FF2B5EF4-FFF2-40B4-BE49-F238E27FC236}">
                <a16:creationId xmlns:a16="http://schemas.microsoft.com/office/drawing/2014/main" id="{761ECC4A-BCD5-4440-B520-77BA26DD190C}"/>
              </a:ext>
            </a:extLst>
          </p:cNvPr>
          <p:cNvSpPr/>
          <p:nvPr/>
        </p:nvSpPr>
        <p:spPr>
          <a:xfrm>
            <a:off x="586571" y="1949327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1)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원자 연산을 줄일 수 있는 방식</a:t>
            </a:r>
          </a:p>
        </p:txBody>
      </p:sp>
      <p:sp>
        <p:nvSpPr>
          <p:cNvPr id="69" name="Desc 1-0">
            <a:extLst>
              <a:ext uri="{FF2B5EF4-FFF2-40B4-BE49-F238E27FC236}">
                <a16:creationId xmlns:a16="http://schemas.microsoft.com/office/drawing/2014/main" id="{F21ADB7B-C91B-496E-A796-7FEF4117BB6D}"/>
              </a:ext>
            </a:extLst>
          </p:cNvPr>
          <p:cNvSpPr/>
          <p:nvPr/>
        </p:nvSpPr>
        <p:spPr>
          <a:xfrm>
            <a:off x="586571" y="2563447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2)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</a:t>
            </a: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Append 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방식</a:t>
            </a:r>
          </a:p>
        </p:txBody>
      </p:sp>
      <p:sp>
        <p:nvSpPr>
          <p:cNvPr id="68" name="Head 1">
            <a:extLst>
              <a:ext uri="{FF2B5EF4-FFF2-40B4-BE49-F238E27FC236}">
                <a16:creationId xmlns:a16="http://schemas.microsoft.com/office/drawing/2014/main" id="{829141A9-881A-443B-960A-4DA71AB4A343}"/>
              </a:ext>
            </a:extLst>
          </p:cNvPr>
          <p:cNvSpPr/>
          <p:nvPr/>
        </p:nvSpPr>
        <p:spPr>
          <a:xfrm>
            <a:off x="1114623" y="1281747"/>
            <a:ext cx="4217735" cy="406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더 나은 방향의 버퍼</a:t>
            </a:r>
            <a:r>
              <a:rPr lang="en-US" altLang="ko-KR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/</a:t>
            </a:r>
            <a:r>
              <a:rPr lang="ko-KR" altLang="en-US" sz="1700" dirty="0">
                <a:solidFill>
                  <a:srgbClr val="262626"/>
                </a:solidFill>
                <a:latin typeface="페이퍼로지 7 Bold"/>
                <a:ea typeface="페이퍼로지 7 Bold"/>
              </a:rPr>
              <a:t>연산 만들기</a:t>
            </a:r>
          </a:p>
        </p:txBody>
      </p:sp>
      <p:sp>
        <p:nvSpPr>
          <p:cNvPr id="70" name="Desc 1-0">
            <a:extLst>
              <a:ext uri="{FF2B5EF4-FFF2-40B4-BE49-F238E27FC236}">
                <a16:creationId xmlns:a16="http://schemas.microsoft.com/office/drawing/2014/main" id="{31FDD51B-20EA-41C6-82F7-A8E5C7C95EC2}"/>
              </a:ext>
            </a:extLst>
          </p:cNvPr>
          <p:cNvSpPr/>
          <p:nvPr/>
        </p:nvSpPr>
        <p:spPr>
          <a:xfrm>
            <a:off x="586571" y="3177567"/>
            <a:ext cx="3048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>
            <a:noAutofit/>
          </a:bodyPr>
          <a:lstStyle/>
          <a:p>
            <a:pPr algn="l"/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3) Burst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에 특화된 </a:t>
            </a:r>
            <a:r>
              <a:rPr lang="ko-KR" altLang="en-US" sz="1600" dirty="0" err="1">
                <a:solidFill>
                  <a:srgbClr val="262626"/>
                </a:solidFill>
                <a:latin typeface="페이퍼로지 4 Regular"/>
                <a:ea typeface="페이퍼로지 4 Regular"/>
              </a:rPr>
              <a:t>파티클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 버퍼</a:t>
            </a:r>
            <a:r>
              <a:rPr lang="en-US" altLang="ko-KR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/</a:t>
            </a:r>
            <a:r>
              <a:rPr lang="ko-KR" altLang="en-US" sz="1600" dirty="0">
                <a:solidFill>
                  <a:srgbClr val="262626"/>
                </a:solidFill>
                <a:latin typeface="페이퍼로지 4 Regular"/>
                <a:ea typeface="페이퍼로지 4 Regular"/>
              </a:rPr>
              <a:t>연산 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2601C6-DF38-4425-9E4A-8AFE46C4A9AA}"/>
              </a:ext>
            </a:extLst>
          </p:cNvPr>
          <p:cNvSpPr txBox="1"/>
          <p:nvPr/>
        </p:nvSpPr>
        <p:spPr>
          <a:xfrm>
            <a:off x="4560143" y="3171976"/>
            <a:ext cx="1628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Particle Emitter</a:t>
            </a: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2BF216C5-6885-4D75-AB83-9056C5024ACE}"/>
              </a:ext>
            </a:extLst>
          </p:cNvPr>
          <p:cNvCxnSpPr>
            <a:cxnSpLocks/>
          </p:cNvCxnSpPr>
          <p:nvPr/>
        </p:nvCxnSpPr>
        <p:spPr>
          <a:xfrm>
            <a:off x="4872460" y="3479753"/>
            <a:ext cx="0" cy="11099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CF482C0C-A326-4C33-A9D4-6C35238C710C}"/>
              </a:ext>
            </a:extLst>
          </p:cNvPr>
          <p:cNvCxnSpPr>
            <a:cxnSpLocks/>
          </p:cNvCxnSpPr>
          <p:nvPr/>
        </p:nvCxnSpPr>
        <p:spPr>
          <a:xfrm>
            <a:off x="4872460" y="3713755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887EBC64-6E70-438D-8CE8-02A40D570B46}"/>
              </a:ext>
            </a:extLst>
          </p:cNvPr>
          <p:cNvCxnSpPr>
            <a:cxnSpLocks/>
          </p:cNvCxnSpPr>
          <p:nvPr/>
        </p:nvCxnSpPr>
        <p:spPr>
          <a:xfrm>
            <a:off x="4872460" y="3994492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693B25CB-624A-4AFB-966D-4F81D6F5AD6C}"/>
              </a:ext>
            </a:extLst>
          </p:cNvPr>
          <p:cNvSpPr txBox="1"/>
          <p:nvPr/>
        </p:nvSpPr>
        <p:spPr>
          <a:xfrm>
            <a:off x="5138538" y="3554051"/>
            <a:ext cx="105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Gravity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99004ED-B07C-4597-8F5F-E2EAFA161034}"/>
              </a:ext>
            </a:extLst>
          </p:cNvPr>
          <p:cNvSpPr txBox="1"/>
          <p:nvPr/>
        </p:nvSpPr>
        <p:spPr>
          <a:xfrm>
            <a:off x="5138538" y="3869849"/>
            <a:ext cx="105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Drag</a:t>
            </a:r>
          </a:p>
        </p:txBody>
      </p: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C5814D32-1981-4620-9320-C6D2827F5C4C}"/>
              </a:ext>
            </a:extLst>
          </p:cNvPr>
          <p:cNvCxnSpPr>
            <a:cxnSpLocks/>
          </p:cNvCxnSpPr>
          <p:nvPr/>
        </p:nvCxnSpPr>
        <p:spPr>
          <a:xfrm>
            <a:off x="4872460" y="4281044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C1068726-66AC-4257-B922-216B8ED6B9D5}"/>
              </a:ext>
            </a:extLst>
          </p:cNvPr>
          <p:cNvSpPr txBox="1"/>
          <p:nvPr/>
        </p:nvSpPr>
        <p:spPr>
          <a:xfrm>
            <a:off x="5138538" y="4156401"/>
            <a:ext cx="149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Vortex Force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1551F150-AE93-419B-9EA3-76FC021D9DCE}"/>
              </a:ext>
            </a:extLst>
          </p:cNvPr>
          <p:cNvSpPr txBox="1"/>
          <p:nvPr/>
        </p:nvSpPr>
        <p:spPr>
          <a:xfrm>
            <a:off x="5971960" y="3562072"/>
            <a:ext cx="1289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Dispatch</a:t>
            </a:r>
          </a:p>
        </p:txBody>
      </p:sp>
      <p:sp>
        <p:nvSpPr>
          <p:cNvPr id="86" name="타원 85">
            <a:extLst>
              <a:ext uri="{FF2B5EF4-FFF2-40B4-BE49-F238E27FC236}">
                <a16:creationId xmlns:a16="http://schemas.microsoft.com/office/drawing/2014/main" id="{4825E926-8449-4443-BF75-F5AA3D3BF491}"/>
              </a:ext>
            </a:extLst>
          </p:cNvPr>
          <p:cNvSpPr/>
          <p:nvPr/>
        </p:nvSpPr>
        <p:spPr>
          <a:xfrm>
            <a:off x="7284422" y="2718055"/>
            <a:ext cx="193713" cy="193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 pitchFamily="2" charset="-127"/>
              <a:ea typeface="페이퍼로지 4 Regular" pitchFamily="2" charset="-127"/>
            </a:endParaRPr>
          </a:p>
        </p:txBody>
      </p: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F42D2B52-B680-4A2A-A5DA-2CAE4312A5E7}"/>
              </a:ext>
            </a:extLst>
          </p:cNvPr>
          <p:cNvCxnSpPr>
            <a:cxnSpLocks/>
          </p:cNvCxnSpPr>
          <p:nvPr/>
        </p:nvCxnSpPr>
        <p:spPr>
          <a:xfrm flipV="1">
            <a:off x="7395655" y="2507070"/>
            <a:ext cx="242298" cy="2109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E2BC99F5-54AD-4547-95E3-B448E7BEC25D}"/>
                  </a:ext>
                </a:extLst>
              </p:cNvPr>
              <p:cNvSpPr txBox="1"/>
              <p:nvPr/>
            </p:nvSpPr>
            <p:spPr>
              <a:xfrm>
                <a:off x="7611404" y="2230071"/>
                <a:ext cx="18306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mc:Choice>
        <mc:Fallback>
          <p:sp>
            <p:nvSpPr>
              <p:cNvPr id="88" name="TextBox 87">
                <a:extLst>
                  <a:ext uri="{FF2B5EF4-FFF2-40B4-BE49-F238E27FC236}">
                    <a16:creationId xmlns:a16="http://schemas.microsoft.com/office/drawing/2014/main" id="{E2BC99F5-54AD-4547-95E3-B448E7BEC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11404" y="2230071"/>
                <a:ext cx="183062" cy="276999"/>
              </a:xfrm>
              <a:prstGeom prst="rect">
                <a:avLst/>
              </a:prstGeom>
              <a:blipFill>
                <a:blip r:embed="rId2"/>
                <a:stretch>
                  <a:fillRect l="-20000" r="-16667" b="-4444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9" name="타원 88">
            <a:extLst>
              <a:ext uri="{FF2B5EF4-FFF2-40B4-BE49-F238E27FC236}">
                <a16:creationId xmlns:a16="http://schemas.microsoft.com/office/drawing/2014/main" id="{E3A0B28C-2E32-46B3-BED3-8DF8748FE27C}"/>
              </a:ext>
            </a:extLst>
          </p:cNvPr>
          <p:cNvSpPr/>
          <p:nvPr/>
        </p:nvSpPr>
        <p:spPr>
          <a:xfrm>
            <a:off x="8429579" y="2644346"/>
            <a:ext cx="193713" cy="193713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 pitchFamily="2" charset="-127"/>
              <a:ea typeface="페이퍼로지 4 Regular" pitchFamily="2" charset="-127"/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B93BDF32-EC02-40F3-9239-D0373AD2B30E}"/>
              </a:ext>
            </a:extLst>
          </p:cNvPr>
          <p:cNvCxnSpPr>
            <a:cxnSpLocks/>
          </p:cNvCxnSpPr>
          <p:nvPr/>
        </p:nvCxnSpPr>
        <p:spPr>
          <a:xfrm>
            <a:off x="8605307" y="2775564"/>
            <a:ext cx="286729" cy="6906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87A6F24-2F31-45AB-A718-C294F2BB3277}"/>
                  </a:ext>
                </a:extLst>
              </p:cNvPr>
              <p:cNvSpPr txBox="1"/>
              <p:nvPr/>
            </p:nvSpPr>
            <p:spPr>
              <a:xfrm>
                <a:off x="8828598" y="2533099"/>
                <a:ext cx="235642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altLang="ko-KR" b="0" i="1" smtClean="0">
                          <a:latin typeface="Cambria Math" panose="02040503050406030204" pitchFamily="18" charset="0"/>
                        </a:rPr>
                        <m:t>′</m:t>
                      </m:r>
                    </m:oMath>
                  </m:oMathPara>
                </a14:m>
                <a:endParaRPr lang="ko-KR" altLang="en-US" dirty="0">
                  <a:latin typeface="페이퍼로지 4 Regular" pitchFamily="2" charset="-127"/>
                  <a:ea typeface="페이퍼로지 4 Regular" pitchFamily="2" charset="-127"/>
                </a:endParaRPr>
              </a:p>
            </p:txBody>
          </p:sp>
        </mc:Choice>
        <mc:Fallback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F87A6F24-2F31-45AB-A718-C294F2BB32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28598" y="2533099"/>
                <a:ext cx="235642" cy="276999"/>
              </a:xfrm>
              <a:prstGeom prst="rect">
                <a:avLst/>
              </a:prstGeom>
              <a:blipFill>
                <a:blip r:embed="rId3"/>
                <a:stretch>
                  <a:fillRect l="-28205" r="-28205" b="-1555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2" name="직선 화살표 연결선 91">
            <a:extLst>
              <a:ext uri="{FF2B5EF4-FFF2-40B4-BE49-F238E27FC236}">
                <a16:creationId xmlns:a16="http://schemas.microsoft.com/office/drawing/2014/main" id="{4185D5EB-909D-49FA-98C9-5E6733C623B3}"/>
              </a:ext>
            </a:extLst>
          </p:cNvPr>
          <p:cNvCxnSpPr>
            <a:cxnSpLocks/>
          </p:cNvCxnSpPr>
          <p:nvPr/>
        </p:nvCxnSpPr>
        <p:spPr>
          <a:xfrm flipV="1">
            <a:off x="7769711" y="2749592"/>
            <a:ext cx="547320" cy="1"/>
          </a:xfrm>
          <a:prstGeom prst="straightConnector1">
            <a:avLst/>
          </a:prstGeom>
          <a:ln w="12700">
            <a:solidFill>
              <a:schemeClr val="accent2">
                <a:lumMod val="75000"/>
              </a:schemeClr>
            </a:solidFill>
            <a:prstDash val="lg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B5DD9C65-1459-48EA-93EF-A7CFE2D261CA}"/>
              </a:ext>
            </a:extLst>
          </p:cNvPr>
          <p:cNvSpPr txBox="1"/>
          <p:nvPr/>
        </p:nvSpPr>
        <p:spPr>
          <a:xfrm>
            <a:off x="8444684" y="3137920"/>
            <a:ext cx="16287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Particle Emitter</a:t>
            </a:r>
          </a:p>
        </p:txBody>
      </p:sp>
      <p:cxnSp>
        <p:nvCxnSpPr>
          <p:cNvPr id="94" name="직선 연결선 93">
            <a:extLst>
              <a:ext uri="{FF2B5EF4-FFF2-40B4-BE49-F238E27FC236}">
                <a16:creationId xmlns:a16="http://schemas.microsoft.com/office/drawing/2014/main" id="{CD8703E2-0C94-4730-B2A2-3BFC5949D51E}"/>
              </a:ext>
            </a:extLst>
          </p:cNvPr>
          <p:cNvCxnSpPr>
            <a:cxnSpLocks/>
          </p:cNvCxnSpPr>
          <p:nvPr/>
        </p:nvCxnSpPr>
        <p:spPr>
          <a:xfrm>
            <a:off x="8757001" y="3445697"/>
            <a:ext cx="0" cy="110991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직선 연결선 94">
            <a:extLst>
              <a:ext uri="{FF2B5EF4-FFF2-40B4-BE49-F238E27FC236}">
                <a16:creationId xmlns:a16="http://schemas.microsoft.com/office/drawing/2014/main" id="{ABB55953-1E63-415A-8C47-72C51BF29791}"/>
              </a:ext>
            </a:extLst>
          </p:cNvPr>
          <p:cNvCxnSpPr>
            <a:cxnSpLocks/>
          </p:cNvCxnSpPr>
          <p:nvPr/>
        </p:nvCxnSpPr>
        <p:spPr>
          <a:xfrm>
            <a:off x="8757001" y="3679699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D0F2C353-4C21-48AA-B5A1-6C314F06250E}"/>
              </a:ext>
            </a:extLst>
          </p:cNvPr>
          <p:cNvCxnSpPr>
            <a:cxnSpLocks/>
          </p:cNvCxnSpPr>
          <p:nvPr/>
        </p:nvCxnSpPr>
        <p:spPr>
          <a:xfrm>
            <a:off x="8757001" y="3960436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5F502A4E-1A79-4442-A467-7BC88C72D61D}"/>
              </a:ext>
            </a:extLst>
          </p:cNvPr>
          <p:cNvSpPr txBox="1"/>
          <p:nvPr/>
        </p:nvSpPr>
        <p:spPr>
          <a:xfrm>
            <a:off x="9023079" y="3519995"/>
            <a:ext cx="105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Gravity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3E12DED4-1190-47AD-864B-26B0E76A9003}"/>
              </a:ext>
            </a:extLst>
          </p:cNvPr>
          <p:cNvSpPr txBox="1"/>
          <p:nvPr/>
        </p:nvSpPr>
        <p:spPr>
          <a:xfrm>
            <a:off x="9023079" y="3835793"/>
            <a:ext cx="105037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Drag</a:t>
            </a: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E6E33C39-3D48-4041-800C-E804E49FB800}"/>
              </a:ext>
            </a:extLst>
          </p:cNvPr>
          <p:cNvCxnSpPr>
            <a:cxnSpLocks/>
          </p:cNvCxnSpPr>
          <p:nvPr/>
        </p:nvCxnSpPr>
        <p:spPr>
          <a:xfrm>
            <a:off x="8757001" y="4246988"/>
            <a:ext cx="26695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3EB5B872-6F5F-4CEE-A0EE-C10F2F164FAD}"/>
              </a:ext>
            </a:extLst>
          </p:cNvPr>
          <p:cNvSpPr txBox="1"/>
          <p:nvPr/>
        </p:nvSpPr>
        <p:spPr>
          <a:xfrm>
            <a:off x="9023079" y="4122345"/>
            <a:ext cx="14915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Vortex Force</a:t>
            </a:r>
          </a:p>
        </p:txBody>
      </p:sp>
      <p:sp>
        <p:nvSpPr>
          <p:cNvPr id="101" name="오른쪽 중괄호 100">
            <a:extLst>
              <a:ext uri="{FF2B5EF4-FFF2-40B4-BE49-F238E27FC236}">
                <a16:creationId xmlns:a16="http://schemas.microsoft.com/office/drawing/2014/main" id="{781D1109-8763-4B61-9EA5-24400E95C38A}"/>
              </a:ext>
            </a:extLst>
          </p:cNvPr>
          <p:cNvSpPr/>
          <p:nvPr/>
        </p:nvSpPr>
        <p:spPr>
          <a:xfrm>
            <a:off x="10225854" y="3479753"/>
            <a:ext cx="296782" cy="1036338"/>
          </a:xfrm>
          <a:prstGeom prst="rightBrace">
            <a:avLst>
              <a:gd name="adj1" fmla="val 78602"/>
              <a:gd name="adj2" fmla="val 50000"/>
            </a:avLst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565F3D5A-A7D4-4612-82B4-E70E15BDE0C3}"/>
              </a:ext>
            </a:extLst>
          </p:cNvPr>
          <p:cNvSpPr txBox="1"/>
          <p:nvPr/>
        </p:nvSpPr>
        <p:spPr>
          <a:xfrm>
            <a:off x="10429440" y="3850961"/>
            <a:ext cx="1289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Dispatch</a:t>
            </a: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3B0F031F-33E7-4F40-A29B-2ECA9332E02F}"/>
              </a:ext>
            </a:extLst>
          </p:cNvPr>
          <p:cNvCxnSpPr/>
          <p:nvPr/>
        </p:nvCxnSpPr>
        <p:spPr>
          <a:xfrm>
            <a:off x="5884304" y="3729401"/>
            <a:ext cx="2896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067CC30-9769-410D-9691-794695C1DAE5}"/>
              </a:ext>
            </a:extLst>
          </p:cNvPr>
          <p:cNvSpPr txBox="1"/>
          <p:nvPr/>
        </p:nvSpPr>
        <p:spPr>
          <a:xfrm>
            <a:off x="5844199" y="3859237"/>
            <a:ext cx="1289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Dispatch</a:t>
            </a:r>
          </a:p>
        </p:txBody>
      </p:sp>
      <p:cxnSp>
        <p:nvCxnSpPr>
          <p:cNvPr id="104" name="직선 화살표 연결선 103">
            <a:extLst>
              <a:ext uri="{FF2B5EF4-FFF2-40B4-BE49-F238E27FC236}">
                <a16:creationId xmlns:a16="http://schemas.microsoft.com/office/drawing/2014/main" id="{9B00B823-BB51-4ED9-ADA0-C2790211B368}"/>
              </a:ext>
            </a:extLst>
          </p:cNvPr>
          <p:cNvCxnSpPr/>
          <p:nvPr/>
        </p:nvCxnSpPr>
        <p:spPr>
          <a:xfrm>
            <a:off x="5756543" y="4026566"/>
            <a:ext cx="2896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11482B12-82B7-4D2A-851F-214B6EF769EC}"/>
              </a:ext>
            </a:extLst>
          </p:cNvPr>
          <p:cNvSpPr txBox="1"/>
          <p:nvPr/>
        </p:nvSpPr>
        <p:spPr>
          <a:xfrm>
            <a:off x="6454990" y="4149565"/>
            <a:ext cx="128958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>
                <a:latin typeface="페이퍼로지 4 Regular" pitchFamily="2" charset="-127"/>
                <a:ea typeface="페이퍼로지 4 Regular" pitchFamily="2" charset="-127"/>
              </a:rPr>
              <a:t>Dispatch</a:t>
            </a:r>
          </a:p>
        </p:txBody>
      </p:sp>
      <p:cxnSp>
        <p:nvCxnSpPr>
          <p:cNvPr id="106" name="직선 화살표 연결선 105">
            <a:extLst>
              <a:ext uri="{FF2B5EF4-FFF2-40B4-BE49-F238E27FC236}">
                <a16:creationId xmlns:a16="http://schemas.microsoft.com/office/drawing/2014/main" id="{D5A6AD4E-1E03-4211-8DD1-F0B559E5F2AA}"/>
              </a:ext>
            </a:extLst>
          </p:cNvPr>
          <p:cNvCxnSpPr/>
          <p:nvPr/>
        </p:nvCxnSpPr>
        <p:spPr>
          <a:xfrm>
            <a:off x="6367334" y="4316894"/>
            <a:ext cx="28969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E49BF505-7565-424C-9A89-F0AEC7E1067B}"/>
              </a:ext>
            </a:extLst>
          </p:cNvPr>
          <p:cNvCxnSpPr/>
          <p:nvPr/>
        </p:nvCxnSpPr>
        <p:spPr>
          <a:xfrm>
            <a:off x="7663543" y="3954879"/>
            <a:ext cx="836620" cy="0"/>
          </a:xfrm>
          <a:prstGeom prst="straightConnector1">
            <a:avLst/>
          </a:prstGeom>
          <a:ln w="38100">
            <a:solidFill>
              <a:srgbClr val="C55A1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0" name="Chart 3">
            <a:extLst>
              <a:ext uri="{FF2B5EF4-FFF2-40B4-BE49-F238E27FC236}">
                <a16:creationId xmlns:a16="http://schemas.microsoft.com/office/drawing/2014/main" id="{00000000-0008-0000-0300-00000A0000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97807378"/>
              </p:ext>
            </p:extLst>
          </p:nvPr>
        </p:nvGraphicFramePr>
        <p:xfrm>
          <a:off x="553988" y="3603106"/>
          <a:ext cx="3604824" cy="220576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  <p:extLst>
      <p:ext uri="{BB962C8B-B14F-4D97-AF65-F5344CB8AC3E}">
        <p14:creationId xmlns:p14="http://schemas.microsoft.com/office/powerpoint/2010/main" val="428249422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5861DF2C-F32A-45C8-A3EA-A09A4BE751EB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f3b30c6e-033a-4d84-9562-f4f499294daf&quot;"/>
  </we:properties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109EFB4C-CA7A-4E2F-8746-8ACC594B45EC}">
  <we:reference id="wa200010725" version="1.0.0.1" store="en-US" storeType="OMEX"/>
  <we:alternateReferences>
    <we:reference id="wa200010725" version="1.0.0.1" store="" storeType="OMEX"/>
  </we:alternateReferences>
  <we:properties>
    <we:property name="claude.fileId" value="&quot;549b5f9e-592b-4981-9e51-e6eb0456fcb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2227</Words>
  <Application>Microsoft Office PowerPoint</Application>
  <PresentationFormat>와이드스크린</PresentationFormat>
  <Paragraphs>888</Paragraphs>
  <Slides>25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25</vt:i4>
      </vt:variant>
    </vt:vector>
  </HeadingPairs>
  <TitlesOfParts>
    <vt:vector size="34" baseType="lpstr">
      <vt:lpstr>나눔스퀘어</vt:lpstr>
      <vt:lpstr>페이퍼로지 7 Bold</vt:lpstr>
      <vt:lpstr>Cambria Math</vt:lpstr>
      <vt:lpstr>나눔스퀘어 Bold</vt:lpstr>
      <vt:lpstr>페이퍼로지 4 Regular</vt:lpstr>
      <vt:lpstr>Calibri</vt:lpstr>
      <vt:lpstr>맑은 고딕</vt:lpstr>
      <vt:lpstr>Arial</vt:lpstr>
      <vt:lpstr>Office 테마</vt:lpstr>
      <vt:lpstr>GPU 기반 파티클 시스템 구현 및 최적화</vt:lpstr>
      <vt:lpstr>프로젝트 개요</vt:lpstr>
      <vt:lpstr>파티클의 메모리 관리</vt:lpstr>
      <vt:lpstr>GPU 파티클 버퍼 구조</vt:lpstr>
      <vt:lpstr>GPU 파티클 실행 흐름</vt:lpstr>
      <vt:lpstr>매 프레임 버퍼 접근 비용</vt:lpstr>
      <vt:lpstr>사용 버퍼 구성 (SlotReuse)</vt:lpstr>
      <vt:lpstr>SlotReuse 핵심 동작</vt:lpstr>
      <vt:lpstr>Emit 단계</vt:lpstr>
      <vt:lpstr>Simulate 단계 (Dead 포함)</vt:lpstr>
      <vt:lpstr>SlotReuse 장단점 (예상)</vt:lpstr>
      <vt:lpstr>AliveList 방식</vt:lpstr>
      <vt:lpstr>AliveList 버퍼 구성</vt:lpstr>
      <vt:lpstr>Emit 단계 (AliveList)</vt:lpstr>
      <vt:lpstr>PreSimulate 단계</vt:lpstr>
      <vt:lpstr>Simulate 단계 (AliveList)</vt:lpstr>
      <vt:lpstr>AfterSim 단계</vt:lpstr>
      <vt:lpstr>Draw 단계</vt:lpstr>
      <vt:lpstr>AliveList 장단점 (예상)</vt:lpstr>
      <vt:lpstr>성능 측정</vt:lpstr>
      <vt:lpstr>PowerPoint 프레젠테이션</vt:lpstr>
      <vt:lpstr>PowerPoint 프레젠테이션</vt:lpstr>
      <vt:lpstr>PowerPoint 프레젠테이션</vt:lpstr>
      <vt:lpstr>평가</vt:lpstr>
      <vt:lpstr>계획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 주제 선정</dc:title>
  <dc:creator>김민용</dc:creator>
  <cp:lastModifiedBy>김민용</cp:lastModifiedBy>
  <cp:revision>55</cp:revision>
  <dcterms:created xsi:type="dcterms:W3CDTF">2026-10-16T01:37:09Z</dcterms:created>
  <dcterms:modified xsi:type="dcterms:W3CDTF">2026-10-23T06:42:01Z</dcterms:modified>
</cp:coreProperties>
</file>