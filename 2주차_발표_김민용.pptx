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74" r:id="rId2"/>
    <p:sldId id="275" r:id="rId3"/>
    <p:sldId id="293" r:id="rId4"/>
    <p:sldId id="294" r:id="rId5"/>
    <p:sldId id="297" r:id="rId6"/>
    <p:sldId id="302" r:id="rId7"/>
    <p:sldId id="306" r:id="rId8"/>
    <p:sldId id="307" r:id="rId9"/>
    <p:sldId id="308" r:id="rId10"/>
    <p:sldId id="311" r:id="rId11"/>
    <p:sldId id="315" r:id="rId12"/>
    <p:sldId id="318" r:id="rId13"/>
    <p:sldId id="325" r:id="rId14"/>
    <p:sldId id="326" r:id="rId15"/>
    <p:sldId id="330" r:id="rId16"/>
    <p:sldId id="331" r:id="rId17"/>
    <p:sldId id="332" r:id="rId18"/>
    <p:sldId id="335" r:id="rId19"/>
    <p:sldId id="278" r:id="rId20"/>
    <p:sldId id="289" r:id="rId21"/>
    <p:sldId id="286" r:id="rId22"/>
  </p:sldIdLst>
  <p:sldSz cx="12192000" cy="6858000"/>
  <p:notesSz cx="6858000" cy="9144000"/>
  <p:embeddedFontLst>
    <p:embeddedFont>
      <p:font typeface="페이퍼로지 4 Regular" pitchFamily="2" charset="-127"/>
      <p:regular r:id="rId24"/>
    </p:embeddedFont>
    <p:embeddedFont>
      <p:font typeface="페이퍼로지 7 Bold" pitchFamily="2" charset="-127"/>
      <p:bold r:id="rId25"/>
    </p:embeddedFont>
    <p:embeddedFont>
      <p:font typeface="나눔스퀘어" panose="020B0600000101010101" pitchFamily="50" charset="-127"/>
      <p:regular r:id="rId26"/>
    </p:embeddedFont>
    <p:embeddedFont>
      <p:font typeface="나눔스퀘어 Bold" panose="020B0600000101010101" pitchFamily="50" charset="-127"/>
      <p:bold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CC3300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348A3-555B-4632-ACDD-9B44C2A33516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52B06-7358-4226-9967-FF54C814E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96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FB08C-AB04-44B5-9E25-0A0A76B5C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540996-D710-4A39-BCFF-825E5AF4D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728A1-6762-4DE4-B115-1106842C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1C9C-DBCA-4226-9D31-9BEB85C6A3B1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1F013-F509-4BB7-936C-02C9B732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251AC-2A7B-499C-83EC-EBC67DE4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8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8AA9D-D948-4938-8D06-E872CC9D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91B3F-9351-4435-9596-3C236C51F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48247-E626-496E-9293-6FAFCC3E5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8C0-B0C7-4F33-ADE7-8201F53502F8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EEAD4F-12CB-4DEE-8615-F29F443A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200B15-2E31-48DD-9391-4EBE1E7B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40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32154-1C48-4AC5-AD54-174C2BB0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671690-2AAD-4FF1-87D2-1A6675997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44314-95A3-410C-A2D3-AEE6E9D6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3534-BF9D-4B49-84C0-D43276B69AF3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8647D-EA0E-4480-B886-E5BFF34E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898A7-57ED-4C5F-891E-D5C96E11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1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C2CEC-5DD8-48ED-87B6-4B30850CA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6C34F-0A9E-48BD-85C2-F3B1B2B56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8C0B01-ADC4-4878-9D4A-1B6631BE9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A44A81-D82D-4E43-9BFF-B6125D23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7199-9A02-4D02-8F93-72EE1A79BC07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030563-C8C4-4A44-AE73-510558E8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DEF5DB-5E4D-4CCE-9AEF-169111A5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9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3B384-9E31-40EF-A31D-B3FA35B6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D2543A-8450-40F8-885A-68912FC52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CD6437-F493-4AFD-A022-DFDDEF5B1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35F635-3CD4-4335-A903-5A20E66D0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2304A3-4F9F-4818-856C-802E1D022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23F0C6-4E83-4275-B99F-105C76D7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0B2B-88FD-4E3E-8F17-5D6A449C1D45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4AD2CF-5817-43D8-9B1B-3F96BD6B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DDE332-D9AA-4F0C-9180-27F3BD62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536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7A4EE-9A5D-4590-B106-724C7053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" y="16042"/>
            <a:ext cx="11353800" cy="741780"/>
          </a:xfrm>
        </p:spPr>
        <p:txBody>
          <a:bodyPr>
            <a:normAutofit/>
          </a:bodyPr>
          <a:lstStyle>
            <a:lvl1pPr>
              <a:defRPr sz="36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4ECD32-E885-480B-B74E-793A5FDE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19D-31F5-4E45-A92B-D9D76DAEE096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243688-83A8-4E33-944F-693DC5A7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FE3188-7A26-4A66-8ED2-42F298C2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4572"/>
            <a:ext cx="2743200" cy="365125"/>
          </a:xfrm>
        </p:spPr>
        <p:txBody>
          <a:bodyPr/>
          <a:lstStyle>
            <a:lvl1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6A6D8C51-7E1C-4870-B2BB-3BFF1E443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1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5C9C77-357A-478D-BEEE-66DC4C7F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5459-FD2D-4AAB-8C0B-EB08E31BEE11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7BED9B-A612-4B6B-8E42-8E79217CF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CAC13-82E3-420E-AB7B-43C3CC4C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6A6D8C51-7E1C-4870-B2BB-3BFF1E443F58}" type="slidenum">
              <a:rPr lang="ko-KR" altLang="en-US" smtClean="0"/>
              <a:pPr/>
              <a:t>‹#›</a:t>
            </a:fld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987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C3AF8-D59F-4842-B02C-BDF9ECBB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038F4-FB8D-4E32-A19A-1803B2F1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CD2810-62C2-49DB-B46E-D3DDAD82B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9ADE84-D336-4557-9088-A0158D35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79DF2-FB9C-48C5-9703-637EFCE4D192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D3A7B9-4669-4595-A033-E1EB6590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B38EE2-2B70-4765-AA03-4AB672AD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81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25795-DB7E-4619-9D52-DA2FA6D2E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5F6F44-6EB6-407D-991E-8BD52F22E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C6D4CA-3ECF-4A99-A2AF-CFA428A4A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B090D2-E1E8-48C2-86D6-2FE5EC63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729B-9ACA-4E8A-A8B1-34727813112F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34200F-FE3E-4BFD-9330-2C3580AA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FC06C2-9E4E-45FB-8274-C5576A5A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93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090BA-79A5-47C9-B1B5-9E97E3DEB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1B1CCB-357E-46D9-8FC6-7732CB15B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BA0E6-34DB-41A0-A53C-27284CC77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0355-6AFC-475A-A063-F8DA9442638C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D1E829-AECB-4D89-B142-F8302A15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4D6A7-C463-486C-83F0-43DD78A5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8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6778F9-A54E-4EF0-93E5-B35CBAE5A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0DAEF4-3EF1-41AC-8964-6C5A3FBA3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F93B7-6248-4CCC-8C40-038E3FAE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D67D-F4F2-4B4E-A332-1994F67D1DFA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3D7D7-EA44-49FC-94A4-4CFD09C8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CDE31-F241-4FD0-9E21-3E1F0C5C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136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A184BE-4C12-4548-B4E4-1833EFC77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8F320-877C-439F-88D9-963DA3AA3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B40274-7D58-4C15-B671-74E8316DC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53A30-4534-4662-9938-E1A4C55BD387}" type="datetime1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133448-61A2-4838-B99D-B70A98221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6444D-1565-40A9-9830-FDF2BB12C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D8C51-7E1C-4870-B2BB-3BFF1E44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2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E2975-C1EC-4BE9-8EE8-7F5682CBC8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GPU </a:t>
            </a:r>
            <a:r>
              <a:rPr lang="ko-KR" altLang="en-US" sz="4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4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</a:t>
            </a:r>
            <a:r>
              <a:rPr lang="ko-KR" altLang="en-US" sz="4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시스템 구현 및 최적화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33DACC-1DDD-4A8C-8AAA-A19A5CB0F1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4F827B-C94A-42AB-98BF-876410EA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t>1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4926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pPr/>
              <a:t>2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476A-95FE-4C0C-B446-4AF9BFA5555C}"/>
              </a:ext>
            </a:extLst>
          </p:cNvPr>
          <p:cNvSpPr txBox="1"/>
          <p:nvPr/>
        </p:nvSpPr>
        <p:spPr>
          <a:xfrm>
            <a:off x="1556083" y="1023852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페이퍼로지 4 Regular"/>
                <a:ea typeface="페이퍼로지 4 Regular"/>
              </a:rPr>
              <a:t>1) GPU </a:t>
            </a:r>
            <a:r>
              <a:rPr lang="ko-KR" altLang="en-US" sz="1600" dirty="0">
                <a:latin typeface="페이퍼로지 4 Regular"/>
                <a:ea typeface="페이퍼로지 4 Regular"/>
              </a:rPr>
              <a:t>기반 </a:t>
            </a:r>
            <a:r>
              <a:rPr lang="ko-KR" altLang="en-US" sz="1600" dirty="0" err="1">
                <a:latin typeface="페이퍼로지 4 Regular"/>
                <a:ea typeface="페이퍼로지 4 Regular"/>
              </a:rPr>
              <a:t>파티클과</a:t>
            </a:r>
            <a:r>
              <a:rPr lang="ko-KR" altLang="en-US" sz="1600" dirty="0">
                <a:latin typeface="페이퍼로지 4 Regular"/>
                <a:ea typeface="페이퍼로지 4 Regular"/>
              </a:rPr>
              <a:t> 최적화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8DF081B-D912-458F-9CF7-5B0F56C0505F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684195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A2670E-7624-4FB2-93E8-FF2F2BC06C98}"/>
              </a:ext>
            </a:extLst>
          </p:cNvPr>
          <p:cNvSpPr txBox="1"/>
          <p:nvPr/>
        </p:nvSpPr>
        <p:spPr>
          <a:xfrm>
            <a:off x="7892718" y="1100219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페이퍼로지 4 Regular"/>
                <a:ea typeface="페이퍼로지 4 Regular"/>
              </a:rPr>
              <a:t>2) </a:t>
            </a:r>
            <a:r>
              <a:rPr lang="ko-KR" altLang="en-US" sz="1600" dirty="0">
                <a:latin typeface="페이퍼로지 4 Regular"/>
                <a:ea typeface="페이퍼로지 4 Regular"/>
              </a:rPr>
              <a:t>환경과 상호작용하는 </a:t>
            </a:r>
            <a:r>
              <a:rPr lang="ko-KR" altLang="en-US" sz="1600" dirty="0" err="1">
                <a:latin typeface="페이퍼로지 4 Regular"/>
                <a:ea typeface="페이퍼로지 4 Regular"/>
              </a:rPr>
              <a:t>파티클</a:t>
            </a:r>
            <a:endParaRPr lang="ko-KR" altLang="en-US" sz="1600" dirty="0">
              <a:latin typeface="페이퍼로지 4 Regular"/>
              <a:ea typeface="페이퍼로지 4 Regular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1AEE21-D774-4AF1-8C93-9A91FDFE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571" y="1641808"/>
            <a:ext cx="4544556" cy="3160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41C869-0086-4A3F-9F21-ED948D32CBB8}"/>
              </a:ext>
            </a:extLst>
          </p:cNvPr>
          <p:cNvSpPr txBox="1"/>
          <p:nvPr/>
        </p:nvSpPr>
        <p:spPr>
          <a:xfrm>
            <a:off x="6708766" y="5393700"/>
            <a:ext cx="499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1)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지형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(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객체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)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와 충돌하는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파티클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페이퍼로지 4 Regular"/>
              <a:ea typeface="페이퍼로지 4 Regular"/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2)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충돌한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파티클에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 따라서 반응을 하는 지형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(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객체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페이퍼로지 4 Regular"/>
              <a:ea typeface="페이퍼로지 4 Regular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FB6E44-AEDC-43D0-8912-EF4D92A09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43" y="1641808"/>
            <a:ext cx="4048626" cy="292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210DCD-2164-4EE9-BA6D-003D74F49533}"/>
              </a:ext>
            </a:extLst>
          </p:cNvPr>
          <p:cNvSpPr txBox="1"/>
          <p:nvPr/>
        </p:nvSpPr>
        <p:spPr>
          <a:xfrm>
            <a:off x="1459722" y="4802102"/>
            <a:ext cx="2992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페이퍼로지 7 Bold"/>
                <a:ea typeface="페이퍼로지 7 Bold"/>
              </a:rPr>
              <a:t>1) </a:t>
            </a:r>
            <a:r>
              <a:rPr lang="ko-KR" altLang="en-US" sz="1600" dirty="0" err="1">
                <a:latin typeface="페이퍼로지 7 Bold"/>
                <a:ea typeface="페이퍼로지 7 Bold"/>
              </a:rPr>
              <a:t>파티클의</a:t>
            </a:r>
            <a:r>
              <a:rPr lang="ko-KR" altLang="en-US" sz="1600" dirty="0">
                <a:latin typeface="페이퍼로지 7 Bold"/>
                <a:ea typeface="페이퍼로지 7 Bold"/>
              </a:rPr>
              <a:t> 메모리 관리</a:t>
            </a:r>
            <a:endParaRPr lang="en-US" altLang="ko-KR" sz="1600" dirty="0">
              <a:latin typeface="페이퍼로지 7 Bold"/>
              <a:ea typeface="페이퍼로지 7 Bold"/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2)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파티클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 업데이트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페이퍼로지 4 Regular"/>
              <a:ea typeface="페이퍼로지 4 Regular"/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3)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거리기반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LOD</a:t>
            </a: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4)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렌더링 기법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페이퍼로지 4 Regular"/>
              <a:ea typeface="페이퍼로지 4 Regular"/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5)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페이퍼로지 4 Regular"/>
                <a:ea typeface="페이퍼로지 4 Regular"/>
              </a:rPr>
              <a:t>그외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페이퍼로지 4 Regular"/>
              <a:ea typeface="페이퍼로지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5207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5EE88E4-09F2-7F38-65D0-7C6DED80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GPU 파티클 버퍼 구조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C87E97-4DB8-8B52-555B-024806F2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t>3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301" name="Buffer Particle 1"/>
          <p:cNvSpPr/>
          <p:nvPr/>
        </p:nvSpPr>
        <p:spPr>
          <a:xfrm>
            <a:off x="28575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2" name="Buffer Particle 2"/>
          <p:cNvSpPr/>
          <p:nvPr/>
        </p:nvSpPr>
        <p:spPr>
          <a:xfrm>
            <a:off x="31877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3" name="Buffer Particle 3"/>
          <p:cNvSpPr/>
          <p:nvPr/>
        </p:nvSpPr>
        <p:spPr>
          <a:xfrm>
            <a:off x="35179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4" name="Buffer Particle 4"/>
          <p:cNvSpPr/>
          <p:nvPr/>
        </p:nvSpPr>
        <p:spPr>
          <a:xfrm>
            <a:off x="38481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5" name="Buffer Particle 5"/>
          <p:cNvSpPr/>
          <p:nvPr/>
        </p:nvSpPr>
        <p:spPr>
          <a:xfrm>
            <a:off x="41783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6" name="Buffer Particle 6"/>
          <p:cNvSpPr/>
          <p:nvPr/>
        </p:nvSpPr>
        <p:spPr>
          <a:xfrm>
            <a:off x="45085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7" name="Buffer Particle 7"/>
          <p:cNvSpPr/>
          <p:nvPr/>
        </p:nvSpPr>
        <p:spPr>
          <a:xfrm>
            <a:off x="48387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8" name="Buffer Particle 8"/>
          <p:cNvSpPr/>
          <p:nvPr/>
        </p:nvSpPr>
        <p:spPr>
          <a:xfrm>
            <a:off x="51689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09" name="Buffer Particle 9"/>
          <p:cNvSpPr/>
          <p:nvPr/>
        </p:nvSpPr>
        <p:spPr>
          <a:xfrm>
            <a:off x="54991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0" name="Buffer Particle 10"/>
          <p:cNvSpPr/>
          <p:nvPr/>
        </p:nvSpPr>
        <p:spPr>
          <a:xfrm>
            <a:off x="58293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1" name="Buffer Ellipsis"/>
          <p:cNvSpPr/>
          <p:nvPr/>
        </p:nvSpPr>
        <p:spPr>
          <a:xfrm>
            <a:off x="6159500" y="1778000"/>
            <a:ext cx="5080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…</a:t>
            </a:r>
          </a:p>
        </p:txBody>
      </p:sp>
      <p:sp>
        <p:nvSpPr>
          <p:cNvPr id="312" name="Buffer Particle 11"/>
          <p:cNvSpPr/>
          <p:nvPr/>
        </p:nvSpPr>
        <p:spPr>
          <a:xfrm>
            <a:off x="66675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3" name="Buffer Particle 12"/>
          <p:cNvSpPr/>
          <p:nvPr/>
        </p:nvSpPr>
        <p:spPr>
          <a:xfrm>
            <a:off x="69977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4" name="Buffer Particle 13"/>
          <p:cNvSpPr/>
          <p:nvPr/>
        </p:nvSpPr>
        <p:spPr>
          <a:xfrm>
            <a:off x="73279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5" name="Buffer Particle 14"/>
          <p:cNvSpPr/>
          <p:nvPr/>
        </p:nvSpPr>
        <p:spPr>
          <a:xfrm>
            <a:off x="76581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6" name="Buffer Particle 15"/>
          <p:cNvSpPr/>
          <p:nvPr/>
        </p:nvSpPr>
        <p:spPr>
          <a:xfrm>
            <a:off x="79883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7" name="Buffer Particle 16"/>
          <p:cNvSpPr/>
          <p:nvPr/>
        </p:nvSpPr>
        <p:spPr>
          <a:xfrm>
            <a:off x="83185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8" name="Buffer Particle 17"/>
          <p:cNvSpPr/>
          <p:nvPr/>
        </p:nvSpPr>
        <p:spPr>
          <a:xfrm>
            <a:off x="86487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19" name="Buffer Particle 18"/>
          <p:cNvSpPr/>
          <p:nvPr/>
        </p:nvSpPr>
        <p:spPr>
          <a:xfrm>
            <a:off x="89789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20" name="Buffer Particle 19"/>
          <p:cNvSpPr/>
          <p:nvPr/>
        </p:nvSpPr>
        <p:spPr>
          <a:xfrm>
            <a:off x="9309100" y="1778000"/>
            <a:ext cx="330200" cy="4064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21" name="Buffer Particle 20"/>
          <p:cNvSpPr/>
          <p:nvPr/>
        </p:nvSpPr>
        <p:spPr>
          <a:xfrm>
            <a:off x="9639300" y="1778000"/>
            <a:ext cx="330200" cy="4064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22" name="Buffer Outline"/>
          <p:cNvSpPr/>
          <p:nvPr/>
        </p:nvSpPr>
        <p:spPr>
          <a:xfrm>
            <a:off x="2857500" y="1778000"/>
            <a:ext cx="7112000" cy="406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4 Regular"/>
              <a:ea typeface="페이퍼로지 4 Regular"/>
            </a:endParaRPr>
          </a:p>
        </p:txBody>
      </p:sp>
      <p:sp>
        <p:nvSpPr>
          <p:cNvPr id="323" name="Buffer Name"/>
          <p:cNvSpPr/>
          <p:nvPr/>
        </p:nvSpPr>
        <p:spPr>
          <a:xfrm>
            <a:off x="571500" y="17780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Particle</a:t>
            </a:r>
            <a:r>
              <a:rPr lang="en-US" altLang="ko-KR" sz="1400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s</a:t>
            </a:r>
            <a:r>
              <a:rPr lang="ko-KR" altLang="en-US" sz="1400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br>
              <a:rPr lang="en-US" altLang="ko-KR" sz="1400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1400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StructuredBuffer</a:t>
            </a:r>
            <a:r>
              <a:rPr lang="en-US" altLang="ko-KR" sz="1400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cxnSp>
        <p:nvCxnSpPr>
          <p:cNvPr id="324" name="Buffer Arrow"/>
          <p:cNvCxnSpPr/>
          <p:nvPr/>
        </p:nvCxnSpPr>
        <p:spPr>
          <a:xfrm>
            <a:off x="2400300" y="1981200"/>
            <a:ext cx="381000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325" name="Total Count"/>
          <p:cNvSpPr/>
          <p:nvPr/>
        </p:nvSpPr>
        <p:spPr>
          <a:xfrm>
            <a:off x="10121900" y="1778000"/>
            <a:ext cx="1905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000000"/>
                </a:solidFill>
                <a:latin typeface="페이퍼로지 4 Regular"/>
                <a:ea typeface="페이퍼로지 4 Regular"/>
              </a:rPr>
              <a:t>Total Count : </a:t>
            </a:r>
            <a:r>
              <a:rPr lang="ko-KR" altLang="en-US" sz="14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1M</a:t>
            </a:r>
          </a:p>
        </p:txBody>
      </p:sp>
      <p:sp>
        <p:nvSpPr>
          <p:cNvPr id="326" name="Legend Alive Swatch"/>
          <p:cNvSpPr/>
          <p:nvPr/>
        </p:nvSpPr>
        <p:spPr>
          <a:xfrm>
            <a:off x="7112000" y="2374900"/>
            <a:ext cx="177800" cy="177800"/>
          </a:xfrm>
          <a:prstGeom prst="rect">
            <a:avLst/>
          </a:prstGeom>
          <a:solidFill>
            <a:srgbClr val="00B050"/>
          </a:solidFill>
          <a:ln w="635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27" name="Legend Alive"/>
          <p:cNvSpPr/>
          <p:nvPr/>
        </p:nvSpPr>
        <p:spPr>
          <a:xfrm>
            <a:off x="7366000" y="23368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000000"/>
                </a:solidFill>
                <a:latin typeface="페이퍼로지 4 Regular"/>
                <a:ea typeface="페이퍼로지 4 Regular"/>
              </a:rPr>
              <a:t>Alive : </a:t>
            </a:r>
            <a:r>
              <a:rPr lang="ko-KR" altLang="en-US" sz="14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500K</a:t>
            </a:r>
          </a:p>
        </p:txBody>
      </p:sp>
      <p:sp>
        <p:nvSpPr>
          <p:cNvPr id="328" name="Legend Dead Swatch"/>
          <p:cNvSpPr/>
          <p:nvPr/>
        </p:nvSpPr>
        <p:spPr>
          <a:xfrm>
            <a:off x="8763000" y="2374900"/>
            <a:ext cx="177800" cy="177800"/>
          </a:xfrm>
          <a:prstGeom prst="rect">
            <a:avLst/>
          </a:prstGeom>
          <a:solidFill>
            <a:srgbClr val="C00000"/>
          </a:solidFill>
          <a:ln w="635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329" name="Legend Dead"/>
          <p:cNvSpPr/>
          <p:nvPr/>
        </p:nvSpPr>
        <p:spPr>
          <a:xfrm>
            <a:off x="9017000" y="23368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000000"/>
                </a:solidFill>
                <a:latin typeface="페이퍼로지 4 Regular"/>
                <a:ea typeface="페이퍼로지 4 Regular"/>
              </a:rPr>
              <a:t>Dead : </a:t>
            </a:r>
            <a:r>
              <a:rPr lang="ko-KR" altLang="en-US" sz="14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500K</a:t>
            </a:r>
          </a:p>
        </p:txBody>
      </p:sp>
      <p:sp>
        <p:nvSpPr>
          <p:cNvPr id="402" name="Zoom Highlight"/>
          <p:cNvSpPr/>
          <p:nvPr/>
        </p:nvSpPr>
        <p:spPr>
          <a:xfrm>
            <a:off x="3517900" y="1778000"/>
            <a:ext cx="330200" cy="406400"/>
          </a:xfrm>
          <a:prstGeom prst="rect">
            <a:avLst/>
          </a:prstGeom>
          <a:noFill/>
          <a:ln w="28575">
            <a:solidFill>
              <a:srgbClr val="262626"/>
            </a:solidFill>
          </a:ln>
        </p:spPr>
        <p:txBody>
          <a:bodyPr/>
          <a:lstStyle/>
          <a:p>
            <a:endParaRPr lang="ko-KR"/>
          </a:p>
        </p:txBody>
      </p:sp>
      <p:cxnSp>
        <p:nvCxnSpPr>
          <p:cNvPr id="403" name="Zoom Line L"/>
          <p:cNvCxnSpPr/>
          <p:nvPr/>
        </p:nvCxnSpPr>
        <p:spPr>
          <a:xfrm flipH="1">
            <a:off x="1524000" y="2184400"/>
            <a:ext cx="1993900" cy="99060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cxnSp>
        <p:nvCxnSpPr>
          <p:cNvPr id="404" name="Zoom Line R"/>
          <p:cNvCxnSpPr/>
          <p:nvPr/>
        </p:nvCxnSpPr>
        <p:spPr>
          <a:xfrm>
            <a:off x="3848100" y="2184400"/>
            <a:ext cx="2247900" cy="99060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405" name="Struct Card"/>
          <p:cNvSpPr/>
          <p:nvPr/>
        </p:nvSpPr>
        <p:spPr>
          <a:xfrm>
            <a:off x="1524000" y="3175000"/>
            <a:ext cx="4572000" cy="260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06" name="Struct Header"/>
          <p:cNvSpPr txBox="1"/>
          <p:nvPr/>
        </p:nvSpPr>
        <p:spPr>
          <a:xfrm>
            <a:off x="1727200" y="3327400"/>
            <a:ext cx="4165600" cy="330200"/>
          </a:xfrm>
          <a:prstGeom prst="rect">
            <a:avLst/>
          </a:prstGeom>
          <a:noFill/>
        </p:spPr>
        <p:txBody>
          <a:bodyPr wrap="square" lIns="91440" tIns="0" rIns="91440" bIns="0" anchor="ctr">
            <a:noAutofit/>
          </a:bodyPr>
          <a:lstStyle/>
          <a:p>
            <a:pPr algn="l">
              <a:buNone/>
            </a:pP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Particle</a:t>
            </a:r>
          </a:p>
        </p:txBody>
      </p:sp>
      <p:cxnSp>
        <p:nvCxnSpPr>
          <p:cNvPr id="407" name="Struct Rule"/>
          <p:cNvCxnSpPr/>
          <p:nvPr/>
        </p:nvCxnSpPr>
        <p:spPr>
          <a:xfrm>
            <a:off x="1727200" y="3733800"/>
            <a:ext cx="4165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08" name="Struct Fields"/>
          <p:cNvSpPr txBox="1"/>
          <p:nvPr/>
        </p:nvSpPr>
        <p:spPr>
          <a:xfrm>
            <a:off x="1727200" y="3860800"/>
            <a:ext cx="2540000" cy="1778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Position</a:t>
            </a:r>
          </a:p>
          <a:p>
            <a:pPr algn="l"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Velocity</a:t>
            </a:r>
          </a:p>
          <a:p>
            <a:pPr algn="l"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Color</a:t>
            </a:r>
          </a:p>
          <a:p>
            <a:pPr algn="l"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Age</a:t>
            </a:r>
          </a:p>
          <a:p>
            <a:pPr algn="l">
              <a:spcBef>
                <a:spcPts val="600"/>
              </a:spcBef>
              <a:buNone/>
            </a:pPr>
            <a:r>
              <a:rPr lang="ko-KR" altLang="en-US" sz="1600" dirty="0" err="1">
                <a:solidFill>
                  <a:srgbClr val="262626"/>
                </a:solidFill>
                <a:latin typeface="페이퍼로지 4 Regular"/>
                <a:ea typeface="페이퍼로지 4 Regular"/>
              </a:rPr>
              <a:t>Lifetime</a:t>
            </a:r>
            <a:endParaRPr lang="en-US" altLang="ko-KR" sz="1600" dirty="0">
              <a:solidFill>
                <a:srgbClr val="262626"/>
              </a:solidFill>
              <a:latin typeface="페이퍼로지 4 Regular"/>
              <a:ea typeface="페이퍼로지 4 Regular"/>
            </a:endParaRPr>
          </a:p>
          <a:p>
            <a:pPr algn="l">
              <a:spcBef>
                <a:spcPts val="600"/>
              </a:spcBef>
              <a:buNone/>
            </a:pPr>
            <a:r>
              <a:rPr lang="en-US" altLang="ko-KR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flag</a:t>
            </a:r>
            <a:endParaRPr lang="ko-KR" altLang="en-US" sz="1600" dirty="0">
              <a:solidFill>
                <a:srgbClr val="262626"/>
              </a:solidFill>
              <a:latin typeface="페이퍼로지 4 Regular"/>
              <a:ea typeface="페이퍼로지 4 Regular"/>
            </a:endParaRPr>
          </a:p>
        </p:txBody>
      </p:sp>
      <p:sp>
        <p:nvSpPr>
          <p:cNvPr id="409" name="Struct Types"/>
          <p:cNvSpPr txBox="1"/>
          <p:nvPr/>
        </p:nvSpPr>
        <p:spPr>
          <a:xfrm>
            <a:off x="3810000" y="3860800"/>
            <a:ext cx="2082800" cy="1778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algn="r">
              <a:buNone/>
            </a:pPr>
            <a:r>
              <a:rPr lang="ko-KR" altLang="en-US" sz="16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float3</a:t>
            </a:r>
          </a:p>
          <a:p>
            <a:pPr algn="r"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float3</a:t>
            </a:r>
          </a:p>
          <a:p>
            <a:pPr algn="r">
              <a:spcBef>
                <a:spcPts val="600"/>
              </a:spcBef>
              <a:buNone/>
            </a:pPr>
            <a:r>
              <a:rPr lang="en-US" altLang="ko-KR" sz="1600" dirty="0" err="1">
                <a:solidFill>
                  <a:srgbClr val="7F7F7F"/>
                </a:solidFill>
                <a:latin typeface="페이퍼로지 4 Regular"/>
                <a:ea typeface="페이퍼로지 4 Regular"/>
              </a:rPr>
              <a:t>uint</a:t>
            </a:r>
            <a:endParaRPr lang="ko-KR" altLang="en-US" sz="1600" dirty="0">
              <a:solidFill>
                <a:srgbClr val="7F7F7F"/>
              </a:solidFill>
              <a:latin typeface="페이퍼로지 4 Regular"/>
              <a:ea typeface="페이퍼로지 4 Regular"/>
            </a:endParaRPr>
          </a:p>
          <a:p>
            <a:pPr algn="r"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float</a:t>
            </a:r>
          </a:p>
          <a:p>
            <a:pPr algn="r">
              <a:spcBef>
                <a:spcPts val="600"/>
              </a:spcBef>
              <a:buNone/>
            </a:pPr>
            <a:r>
              <a:rPr lang="en-US" altLang="ko-KR" sz="16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F</a:t>
            </a:r>
            <a:r>
              <a:rPr lang="ko-KR" altLang="en-US" sz="1600" dirty="0" err="1">
                <a:solidFill>
                  <a:srgbClr val="7F7F7F"/>
                </a:solidFill>
                <a:latin typeface="페이퍼로지 4 Regular"/>
                <a:ea typeface="페이퍼로지 4 Regular"/>
              </a:rPr>
              <a:t>loat</a:t>
            </a:r>
            <a:endParaRPr lang="en-US" altLang="ko-KR" sz="1600" dirty="0">
              <a:solidFill>
                <a:srgbClr val="7F7F7F"/>
              </a:solidFill>
              <a:latin typeface="페이퍼로지 4 Regular"/>
              <a:ea typeface="페이퍼로지 4 Regular"/>
            </a:endParaRPr>
          </a:p>
          <a:p>
            <a:pPr algn="r">
              <a:spcBef>
                <a:spcPts val="600"/>
              </a:spcBef>
              <a:buNone/>
            </a:pPr>
            <a:r>
              <a:rPr lang="en-US" altLang="ko-KR" sz="1600" dirty="0" err="1">
                <a:solidFill>
                  <a:srgbClr val="7F7F7F"/>
                </a:solidFill>
                <a:latin typeface="페이퍼로지 4 Regular"/>
                <a:ea typeface="페이퍼로지 4 Regular"/>
              </a:rPr>
              <a:t>uint</a:t>
            </a:r>
            <a:endParaRPr lang="ko-KR" altLang="en-US" sz="1600" dirty="0">
              <a:solidFill>
                <a:srgbClr val="7F7F7F"/>
              </a:solidFill>
              <a:latin typeface="페이퍼로지 4 Regular"/>
              <a:ea typeface="페이퍼로지 4 Regular"/>
            </a:endParaRPr>
          </a:p>
        </p:txBody>
      </p:sp>
      <p:sp>
        <p:nvSpPr>
          <p:cNvPr id="410" name="Buffer Notes"/>
          <p:cNvSpPr txBox="1"/>
          <p:nvPr/>
        </p:nvSpPr>
        <p:spPr>
          <a:xfrm>
            <a:off x="6858000" y="3810000"/>
            <a:ext cx="4826000" cy="2413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285750" indent="-285750" algn="l">
              <a:buFont typeface="Arial"/>
              <a:buChar char="•"/>
            </a:pPr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버퍼 원소 1개 = </a:t>
            </a: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파티클 1개</a:t>
            </a:r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의 데이터</a:t>
            </a:r>
          </a:p>
          <a:p>
            <a:pPr marL="285750" indent="-285750" algn="l">
              <a:spcBef>
                <a:spcPts val="1400"/>
              </a:spcBef>
              <a:buFont typeface="Arial"/>
              <a:buChar char="•"/>
            </a:pPr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Alive와 Dead 파티클이 </a:t>
            </a: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섞여서</a:t>
            </a:r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 저장됨</a:t>
            </a:r>
          </a:p>
          <a:p>
            <a:pPr marL="285750" indent="-285750" algn="l">
              <a:spcBef>
                <a:spcPts val="1400"/>
              </a:spcBef>
              <a:buFont typeface="Arial"/>
              <a:buChar char="•"/>
            </a:pPr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버퍼 크기는 최대 파티클 수(</a:t>
            </a: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1M</a:t>
            </a:r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)로 고정</a:t>
            </a:r>
          </a:p>
        </p:txBody>
      </p:sp>
    </p:spTree>
    <p:extLst>
      <p:ext uri="{BB962C8B-B14F-4D97-AF65-F5344CB8AC3E}">
        <p14:creationId xmlns:p14="http://schemas.microsoft.com/office/powerpoint/2010/main" val="212482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1D0FA5-326E-B1AA-ADFA-0DDC74A9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GPU 파티클 실행 흐름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C87E97-4DB8-8B52-555B-024806F2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t>4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101" name="Stage Emit Card"/>
          <p:cNvSpPr/>
          <p:nvPr/>
        </p:nvSpPr>
        <p:spPr>
          <a:xfrm>
            <a:off x="762000" y="2590800"/>
            <a:ext cx="2286000" cy="15239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102" name="Stage Emit Title"/>
          <p:cNvSpPr/>
          <p:nvPr/>
        </p:nvSpPr>
        <p:spPr>
          <a:xfrm>
            <a:off x="762000" y="27178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Emit</a:t>
            </a:r>
          </a:p>
        </p:txBody>
      </p:sp>
      <p:sp>
        <p:nvSpPr>
          <p:cNvPr id="103" name="Stage Emit Desc"/>
          <p:cNvSpPr/>
          <p:nvPr/>
        </p:nvSpPr>
        <p:spPr>
          <a:xfrm>
            <a:off x="762000" y="3124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새 파티클 생성</a:t>
            </a:r>
          </a:p>
        </p:txBody>
      </p:sp>
      <p:sp>
        <p:nvSpPr>
          <p:cNvPr id="112" name="Stage Emit Call"/>
          <p:cNvSpPr/>
          <p:nvPr/>
        </p:nvSpPr>
        <p:spPr>
          <a:xfrm>
            <a:off x="939800" y="3568700"/>
            <a:ext cx="1930400" cy="38100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Dispatch(1M)</a:t>
            </a:r>
          </a:p>
        </p:txBody>
      </p:sp>
      <p:cxnSp>
        <p:nvCxnSpPr>
          <p:cNvPr id="113" name="Flow Arrow 1"/>
          <p:cNvCxnSpPr/>
          <p:nvPr/>
        </p:nvCxnSpPr>
        <p:spPr>
          <a:xfrm>
            <a:off x="3124200" y="3479800"/>
            <a:ext cx="3556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</p:cxnSp>
      <p:sp>
        <p:nvSpPr>
          <p:cNvPr id="114" name="Stage Simulate Card"/>
          <p:cNvSpPr/>
          <p:nvPr/>
        </p:nvSpPr>
        <p:spPr>
          <a:xfrm>
            <a:off x="3556000" y="2590800"/>
            <a:ext cx="2286000" cy="15239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115" name="Stage Simulate Title"/>
          <p:cNvSpPr/>
          <p:nvPr/>
        </p:nvSpPr>
        <p:spPr>
          <a:xfrm>
            <a:off x="3556000" y="27178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Simulate</a:t>
            </a:r>
          </a:p>
        </p:txBody>
      </p:sp>
      <p:sp>
        <p:nvSpPr>
          <p:cNvPr id="116" name="Stage Simulate Desc"/>
          <p:cNvSpPr/>
          <p:nvPr/>
        </p:nvSpPr>
        <p:spPr>
          <a:xfrm>
            <a:off x="3556000" y="3124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위치·속도·수명 갱신</a:t>
            </a:r>
          </a:p>
        </p:txBody>
      </p:sp>
      <p:sp>
        <p:nvSpPr>
          <p:cNvPr id="125" name="Stage Simulate Call"/>
          <p:cNvSpPr/>
          <p:nvPr/>
        </p:nvSpPr>
        <p:spPr>
          <a:xfrm>
            <a:off x="3733800" y="3568700"/>
            <a:ext cx="1930400" cy="38100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Dispatch(1M)</a:t>
            </a:r>
          </a:p>
        </p:txBody>
      </p:sp>
      <p:cxnSp>
        <p:nvCxnSpPr>
          <p:cNvPr id="126" name="Flow Arrow 2"/>
          <p:cNvCxnSpPr/>
          <p:nvPr/>
        </p:nvCxnSpPr>
        <p:spPr>
          <a:xfrm>
            <a:off x="5918200" y="3479800"/>
            <a:ext cx="3556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</p:cxnSp>
      <p:sp>
        <p:nvSpPr>
          <p:cNvPr id="127" name="Stage Dead Card"/>
          <p:cNvSpPr/>
          <p:nvPr/>
        </p:nvSpPr>
        <p:spPr>
          <a:xfrm>
            <a:off x="6350000" y="2590800"/>
            <a:ext cx="2286000" cy="15239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128" name="Stage Dead Title"/>
          <p:cNvSpPr/>
          <p:nvPr/>
        </p:nvSpPr>
        <p:spPr>
          <a:xfrm>
            <a:off x="6350000" y="27178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Dead</a:t>
            </a:r>
          </a:p>
        </p:txBody>
      </p:sp>
      <p:sp>
        <p:nvSpPr>
          <p:cNvPr id="129" name="Stage Dead Desc"/>
          <p:cNvSpPr/>
          <p:nvPr/>
        </p:nvSpPr>
        <p:spPr>
          <a:xfrm>
            <a:off x="6350000" y="3124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수명 끝난 파티클 회수</a:t>
            </a:r>
          </a:p>
        </p:txBody>
      </p:sp>
      <p:sp>
        <p:nvSpPr>
          <p:cNvPr id="138" name="Stage Dead Call"/>
          <p:cNvSpPr/>
          <p:nvPr/>
        </p:nvSpPr>
        <p:spPr>
          <a:xfrm>
            <a:off x="6527800" y="3568700"/>
            <a:ext cx="1930400" cy="38100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Dispatch(1M)</a:t>
            </a:r>
          </a:p>
        </p:txBody>
      </p:sp>
      <p:cxnSp>
        <p:nvCxnSpPr>
          <p:cNvPr id="139" name="Flow Arrow 3"/>
          <p:cNvCxnSpPr/>
          <p:nvPr/>
        </p:nvCxnSpPr>
        <p:spPr>
          <a:xfrm>
            <a:off x="8712200" y="3479800"/>
            <a:ext cx="3556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</p:cxnSp>
      <p:sp>
        <p:nvSpPr>
          <p:cNvPr id="140" name="Stage Render Card"/>
          <p:cNvSpPr/>
          <p:nvPr/>
        </p:nvSpPr>
        <p:spPr>
          <a:xfrm>
            <a:off x="9144000" y="2590800"/>
            <a:ext cx="2286000" cy="15239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dirty="0">
              <a:latin typeface="페이퍼로지 7 Bold"/>
              <a:ea typeface="페이퍼로지 7 Bold"/>
            </a:endParaRPr>
          </a:p>
        </p:txBody>
      </p:sp>
      <p:sp>
        <p:nvSpPr>
          <p:cNvPr id="141" name="Stage Render Title"/>
          <p:cNvSpPr/>
          <p:nvPr/>
        </p:nvSpPr>
        <p:spPr>
          <a:xfrm>
            <a:off x="9144000" y="27178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00"/>
                </a:solidFill>
                <a:latin typeface="페이퍼로지 7 Bold"/>
                <a:ea typeface="페이퍼로지 7 Bold"/>
              </a:rPr>
              <a:t>Render</a:t>
            </a:r>
          </a:p>
        </p:txBody>
      </p:sp>
      <p:sp>
        <p:nvSpPr>
          <p:cNvPr id="142" name="Stage Render Desc"/>
          <p:cNvSpPr/>
          <p:nvPr/>
        </p:nvSpPr>
        <p:spPr>
          <a:xfrm>
            <a:off x="9144000" y="3124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살아있는 파티클 그리기</a:t>
            </a:r>
          </a:p>
        </p:txBody>
      </p:sp>
      <p:sp>
        <p:nvSpPr>
          <p:cNvPr id="151" name="Stage Render Call"/>
          <p:cNvSpPr/>
          <p:nvPr/>
        </p:nvSpPr>
        <p:spPr>
          <a:xfrm>
            <a:off x="9321800" y="3568700"/>
            <a:ext cx="1930400" cy="381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DrawInstanced(1M)</a:t>
            </a:r>
          </a:p>
        </p:txBody>
      </p:sp>
      <p:cxnSp>
        <p:nvCxnSpPr>
          <p:cNvPr id="152" name="Bracket Base"/>
          <p:cNvCxnSpPr/>
          <p:nvPr/>
        </p:nvCxnSpPr>
        <p:spPr>
          <a:xfrm>
            <a:off x="762000" y="4394200"/>
            <a:ext cx="1066800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53" name="Bracket Left"/>
          <p:cNvCxnSpPr/>
          <p:nvPr/>
        </p:nvCxnSpPr>
        <p:spPr>
          <a:xfrm>
            <a:off x="762000" y="4292600"/>
            <a:ext cx="0" cy="10160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54" name="Bracket Right"/>
          <p:cNvCxnSpPr/>
          <p:nvPr/>
        </p:nvCxnSpPr>
        <p:spPr>
          <a:xfrm>
            <a:off x="11430000" y="4292600"/>
            <a:ext cx="0" cy="10160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9ED52FC-4C21-8129-AEF9-2DAF3032EC33}"/>
              </a:ext>
            </a:extLst>
          </p:cNvPr>
          <p:cNvSpPr txBox="1"/>
          <p:nvPr/>
        </p:nvSpPr>
        <p:spPr>
          <a:xfrm>
            <a:off x="2995023" y="4545568"/>
            <a:ext cx="62019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dirty="0">
                <a:latin typeface="페이퍼로지 4 Regular"/>
                <a:ea typeface="페이퍼로지 4 Regular"/>
              </a:rPr>
              <a:t>4</a:t>
            </a:r>
            <a:r>
              <a:rPr lang="ko-KR" altLang="en-US" dirty="0">
                <a:latin typeface="페이퍼로지 4 Regular"/>
                <a:ea typeface="페이퍼로지 4 Regular"/>
              </a:rPr>
              <a:t>단계 모두 </a:t>
            </a:r>
            <a:r>
              <a:rPr lang="ko-KR" altLang="en-US" dirty="0" err="1">
                <a:solidFill>
                  <a:srgbClr val="C55A11"/>
                </a:solidFill>
                <a:latin typeface="페이퍼로지 7 Bold"/>
                <a:ea typeface="페이퍼로지 7 Bold"/>
              </a:rPr>
              <a:t>파티클</a:t>
            </a:r>
            <a:r>
              <a:rPr lang="ko-KR" altLang="en-US" dirty="0">
                <a:solidFill>
                  <a:srgbClr val="C55A11"/>
                </a:solidFill>
                <a:latin typeface="페이퍼로지 7 Bold"/>
                <a:ea typeface="페이퍼로지 7 Bold"/>
              </a:rPr>
              <a:t> 개수</a:t>
            </a:r>
            <a:r>
              <a:rPr lang="en-US" altLang="ko-KR" dirty="0">
                <a:solidFill>
                  <a:srgbClr val="C55A11"/>
                </a:solidFill>
                <a:latin typeface="페이퍼로지 7 Bold"/>
                <a:ea typeface="페이퍼로지 7 Bold"/>
              </a:rPr>
              <a:t>(Total Count = 1M)</a:t>
            </a:r>
            <a:r>
              <a:rPr lang="ko-KR" altLang="en-US" dirty="0">
                <a:latin typeface="페이퍼로지 4 Regular"/>
                <a:ea typeface="페이퍼로지 4 Regular"/>
              </a:rPr>
              <a:t>만큼 스레드를 실행</a:t>
            </a:r>
          </a:p>
        </p:txBody>
      </p:sp>
    </p:spTree>
    <p:extLst>
      <p:ext uri="{BB962C8B-B14F-4D97-AF65-F5344CB8AC3E}">
        <p14:creationId xmlns:p14="http://schemas.microsoft.com/office/powerpoint/2010/main" val="155758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F2F9DB-006F-B456-B7A8-31CBC18E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 프레임 버퍼 접근 비용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C87E97-4DB8-8B52-555B-024806F2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t>5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410" name="Cost Emit"/>
          <p:cNvSpPr/>
          <p:nvPr/>
        </p:nvSpPr>
        <p:spPr>
          <a:xfrm>
            <a:off x="762000" y="1587500"/>
            <a:ext cx="19050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00" tIns="0" rIns="88900" bIns="0" anchor="ctr">
            <a:noAutofit/>
          </a:bodyPr>
          <a:lstStyle/>
          <a:p>
            <a:pPr algn="ctr">
              <a:buNone/>
            </a:pP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Emit  </a:t>
            </a:r>
            <a:r>
              <a:rPr lang="ko-KR" altLang="en-US" sz="18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1M</a:t>
            </a:r>
          </a:p>
        </p:txBody>
      </p:sp>
      <p:sp>
        <p:nvSpPr>
          <p:cNvPr id="411" name="Plus 1"/>
          <p:cNvSpPr txBox="1"/>
          <p:nvPr/>
        </p:nvSpPr>
        <p:spPr>
          <a:xfrm>
            <a:off x="2667000" y="1587500"/>
            <a:ext cx="25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2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+</a:t>
            </a:r>
          </a:p>
        </p:txBody>
      </p:sp>
      <p:sp>
        <p:nvSpPr>
          <p:cNvPr id="412" name="Cost Simulate"/>
          <p:cNvSpPr/>
          <p:nvPr/>
        </p:nvSpPr>
        <p:spPr>
          <a:xfrm>
            <a:off x="2921000" y="1587500"/>
            <a:ext cx="19050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00" tIns="0" rIns="88900" bIns="0" anchor="ctr">
            <a:noAutofit/>
          </a:bodyPr>
          <a:lstStyle/>
          <a:p>
            <a:pPr algn="ctr">
              <a:buNone/>
            </a:pP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Simulate  </a:t>
            </a:r>
            <a:r>
              <a:rPr lang="ko-KR" altLang="en-US" sz="18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1M</a:t>
            </a:r>
          </a:p>
        </p:txBody>
      </p:sp>
      <p:sp>
        <p:nvSpPr>
          <p:cNvPr id="413" name="Plus 2"/>
          <p:cNvSpPr txBox="1"/>
          <p:nvPr/>
        </p:nvSpPr>
        <p:spPr>
          <a:xfrm>
            <a:off x="4826000" y="1587500"/>
            <a:ext cx="25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2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+</a:t>
            </a:r>
          </a:p>
        </p:txBody>
      </p:sp>
      <p:sp>
        <p:nvSpPr>
          <p:cNvPr id="414" name="Cost Dead"/>
          <p:cNvSpPr/>
          <p:nvPr/>
        </p:nvSpPr>
        <p:spPr>
          <a:xfrm>
            <a:off x="5080000" y="1587500"/>
            <a:ext cx="19050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00" tIns="0" rIns="88900" bIns="0" anchor="ctr">
            <a:noAutofit/>
          </a:bodyPr>
          <a:lstStyle/>
          <a:p>
            <a:pPr algn="ctr">
              <a:buNone/>
            </a:pP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Dead  </a:t>
            </a:r>
            <a:r>
              <a:rPr lang="ko-KR" altLang="en-US" sz="18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1M</a:t>
            </a:r>
          </a:p>
        </p:txBody>
      </p:sp>
      <p:sp>
        <p:nvSpPr>
          <p:cNvPr id="415" name="Plus 3"/>
          <p:cNvSpPr txBox="1"/>
          <p:nvPr/>
        </p:nvSpPr>
        <p:spPr>
          <a:xfrm>
            <a:off x="6985000" y="1587500"/>
            <a:ext cx="25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2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+</a:t>
            </a:r>
          </a:p>
        </p:txBody>
      </p:sp>
      <p:sp>
        <p:nvSpPr>
          <p:cNvPr id="416" name="Cost Render"/>
          <p:cNvSpPr/>
          <p:nvPr/>
        </p:nvSpPr>
        <p:spPr>
          <a:xfrm>
            <a:off x="7239000" y="1587500"/>
            <a:ext cx="19050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00" tIns="0" rIns="88900" bIns="0" anchor="ctr">
            <a:noAutofit/>
          </a:bodyPr>
          <a:lstStyle/>
          <a:p>
            <a:pPr algn="ctr">
              <a:buNone/>
            </a:pP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Render  </a:t>
            </a:r>
            <a:r>
              <a:rPr lang="ko-KR" altLang="en-US" sz="18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1M</a:t>
            </a:r>
          </a:p>
        </p:txBody>
      </p:sp>
      <p:sp>
        <p:nvSpPr>
          <p:cNvPr id="417" name="Equals"/>
          <p:cNvSpPr txBox="1"/>
          <p:nvPr/>
        </p:nvSpPr>
        <p:spPr>
          <a:xfrm>
            <a:off x="9207500" y="1587500"/>
            <a:ext cx="4445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2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=</a:t>
            </a:r>
          </a:p>
        </p:txBody>
      </p:sp>
      <p:sp>
        <p:nvSpPr>
          <p:cNvPr id="418" name="Total Access"/>
          <p:cNvSpPr txBox="1"/>
          <p:nvPr/>
        </p:nvSpPr>
        <p:spPr>
          <a:xfrm>
            <a:off x="9652000" y="1422400"/>
            <a:ext cx="2540000" cy="965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l">
              <a:buNone/>
            </a:pPr>
            <a:r>
              <a:rPr lang="ko-KR" altLang="en-US" sz="4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4M</a:t>
            </a:r>
            <a:r>
              <a:rPr lang="ko-KR" altLang="en-US" sz="18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 / 프레임</a:t>
            </a:r>
          </a:p>
        </p:txBody>
      </p:sp>
      <p:sp>
        <p:nvSpPr>
          <p:cNvPr id="419" name="Waste Note"/>
          <p:cNvSpPr txBox="1"/>
          <p:nvPr/>
        </p:nvSpPr>
        <p:spPr>
          <a:xfrm>
            <a:off x="762000" y="2603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88900" tIns="0" rIns="88900" bIns="0" anchor="ctr">
            <a:noAutofit/>
          </a:bodyPr>
          <a:lstStyle/>
          <a:p>
            <a:pPr algn="ctr">
              <a:buNone/>
            </a:pPr>
            <a:r>
              <a:rPr lang="ko-KR" altLang="en-US" sz="18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Alive 파티클은 500K인데, </a:t>
            </a:r>
            <a:r>
              <a:rPr lang="ko-KR" altLang="en-US" sz="1800" dirty="0" err="1">
                <a:solidFill>
                  <a:srgbClr val="C55A11"/>
                </a:solidFill>
                <a:latin typeface="페이퍼로지 7 Bold"/>
                <a:ea typeface="페이퍼로지 7 Bold"/>
              </a:rPr>
              <a:t>Dead</a:t>
            </a:r>
            <a:r>
              <a:rPr lang="ko-KR" altLang="en-US" sz="18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 </a:t>
            </a:r>
            <a:r>
              <a:rPr lang="ko-KR" altLang="en-US" sz="1800" dirty="0" err="1">
                <a:solidFill>
                  <a:srgbClr val="C55A11"/>
                </a:solidFill>
                <a:latin typeface="페이퍼로지 7 Bold"/>
                <a:ea typeface="페이퍼로지 7 Bold"/>
              </a:rPr>
              <a:t>파티클</a:t>
            </a:r>
            <a:r>
              <a:rPr lang="ko-KR" altLang="en-US" sz="1800" dirty="0" err="1">
                <a:solidFill>
                  <a:srgbClr val="595959"/>
                </a:solidFill>
                <a:latin typeface="페이퍼로지 4 Regular"/>
                <a:ea typeface="페이퍼로지 4 Regular"/>
              </a:rPr>
              <a:t>까지</a:t>
            </a:r>
            <a:r>
              <a:rPr lang="ko-KR" altLang="en-US" sz="18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 매 프레임 읽고 쓴다</a:t>
            </a:r>
          </a:p>
        </p:txBody>
      </p:sp>
      <p:sp>
        <p:nvSpPr>
          <p:cNvPr id="420" name="Card 1"/>
          <p:cNvSpPr/>
          <p:nvPr/>
        </p:nvSpPr>
        <p:spPr>
          <a:xfrm>
            <a:off x="762000" y="368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00" tIns="0" rIns="88900" bIns="0" anchor="ctr">
            <a:noAutofit/>
          </a:bodyPr>
          <a:lstStyle/>
          <a:p>
            <a:endParaRPr lang="ko-KR"/>
          </a:p>
        </p:txBody>
      </p:sp>
      <p:sp>
        <p:nvSpPr>
          <p:cNvPr id="421" name="Card 1 Badge"/>
          <p:cNvSpPr/>
          <p:nvPr/>
        </p:nvSpPr>
        <p:spPr>
          <a:xfrm>
            <a:off x="1066800" y="3987800"/>
            <a:ext cx="457200" cy="4572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8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422" name="Card 1 Head"/>
          <p:cNvSpPr txBox="1"/>
          <p:nvPr/>
        </p:nvSpPr>
        <p:spPr>
          <a:xfrm>
            <a:off x="1676400" y="39624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l">
              <a:buNone/>
            </a:pPr>
            <a:r>
              <a:rPr lang="ko-KR" altLang="en-US" sz="22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버퍼 접근 방식 개선</a:t>
            </a:r>
          </a:p>
        </p:txBody>
      </p:sp>
      <p:sp>
        <p:nvSpPr>
          <p:cNvPr id="423" name="Card 1 Desc"/>
          <p:cNvSpPr txBox="1"/>
          <p:nvPr/>
        </p:nvSpPr>
        <p:spPr>
          <a:xfrm>
            <a:off x="1066800" y="4699000"/>
            <a:ext cx="4597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단계마다 1M 버퍼 전체를 읽고 쓰지 않도록</a:t>
            </a:r>
            <a:br>
              <a:rPr lang="ko-KR" sz="1800" dirty="0"/>
            </a:b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접근 방식</a:t>
            </a:r>
            <a:r>
              <a:rPr lang="ko-KR" altLang="en-US" sz="18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을 바꾼다</a:t>
            </a:r>
          </a:p>
        </p:txBody>
      </p:sp>
      <p:sp>
        <p:nvSpPr>
          <p:cNvPr id="424" name="Card 2"/>
          <p:cNvSpPr/>
          <p:nvPr/>
        </p:nvSpPr>
        <p:spPr>
          <a:xfrm>
            <a:off x="6223000" y="368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00" tIns="0" rIns="88900" bIns="0" anchor="ctr">
            <a:noAutofit/>
          </a:bodyPr>
          <a:lstStyle/>
          <a:p>
            <a:endParaRPr lang="ko-KR"/>
          </a:p>
        </p:txBody>
      </p:sp>
      <p:sp>
        <p:nvSpPr>
          <p:cNvPr id="425" name="Card 2 Badge"/>
          <p:cNvSpPr/>
          <p:nvPr/>
        </p:nvSpPr>
        <p:spPr>
          <a:xfrm>
            <a:off x="6527800" y="3987800"/>
            <a:ext cx="457200" cy="4572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8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426" name="Card 2 Head"/>
          <p:cNvSpPr txBox="1"/>
          <p:nvPr/>
        </p:nvSpPr>
        <p:spPr>
          <a:xfrm>
            <a:off x="7137400" y="39624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l">
              <a:buNone/>
            </a:pPr>
            <a:r>
              <a:rPr lang="ko-KR" altLang="en-US" sz="22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버퍼 접근 개수 축소</a:t>
            </a:r>
          </a:p>
        </p:txBody>
      </p:sp>
      <p:sp>
        <p:nvSpPr>
          <p:cNvPr id="427" name="Card 2 Desc"/>
          <p:cNvSpPr txBox="1"/>
          <p:nvPr/>
        </p:nvSpPr>
        <p:spPr>
          <a:xfrm>
            <a:off x="6527800" y="4699000"/>
            <a:ext cx="4597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1M 전체 대신 </a:t>
            </a: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 파티클만</a:t>
            </a:r>
            <a:r>
              <a:rPr lang="ko-KR" altLang="en-US" sz="18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 처리해</a:t>
            </a:r>
            <a:br>
              <a:rPr lang="ko-KR" sz="1800"/>
            </a:br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접근 개수</a:t>
            </a:r>
            <a:r>
              <a:rPr lang="ko-KR" altLang="en-US" sz="1800" dirty="0">
                <a:solidFill>
                  <a:srgbClr val="404040"/>
                </a:solidFill>
                <a:latin typeface="페이퍼로지 4 Regular"/>
                <a:ea typeface="페이퍼로지 4 Regular"/>
              </a:rPr>
              <a:t>를 줄인다</a:t>
            </a:r>
          </a:p>
        </p:txBody>
      </p:sp>
    </p:spTree>
    <p:extLst>
      <p:ext uri="{BB962C8B-B14F-4D97-AF65-F5344CB8AC3E}">
        <p14:creationId xmlns:p14="http://schemas.microsoft.com/office/powerpoint/2010/main" val="306523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A766A-3D9C-31B3-E696-A95F359D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버퍼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pPr/>
              <a:t>6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graphicFrame>
        <p:nvGraphicFramePr>
          <p:cNvPr id="501" name="Buffer Table"/>
          <p:cNvGraphicFramePr>
            <a:graphicFrameLocks noGrp="1"/>
          </p:cNvGraphicFramePr>
          <p:nvPr/>
        </p:nvGraphicFramePr>
        <p:xfrm>
          <a:off x="762000" y="1841500"/>
          <a:ext cx="10668000" cy="3705860"/>
        </p:xfrm>
        <a:graphic>
          <a:graphicData uri="http://schemas.openxmlformats.org/drawingml/2006/table">
            <a:tbl>
              <a:tblPr first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버퍼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담는 값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원소 타입 / 버퍼 타입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원소 수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Particles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파티클 1개의 데이터 (3페이지 구조체)</a:t>
                      </a:r>
                    </a:p>
                  </a:txBody>
                  <a:tcPr marL="127000" marR="127000" marT="152400" marB="1143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Particle 구조체</a:t>
                      </a:r>
                    </a:p>
                    <a:p>
                      <a:pPr algn="l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StructuredBuffer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maxParticles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Counter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AliveCount, DeadCount, </a:t>
                      </a:r>
                      <a:r>
                        <a:rPr lang="en-US" altLang="ko-KR" sz="1600" dirty="0" err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EmitCount</a:t>
                      </a:r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, </a:t>
                      </a:r>
                      <a:b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</a:br>
                      <a:r>
                        <a:rPr lang="en-US" altLang="ko-KR" sz="1600" dirty="0" err="1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AliveAfterSimulation</a:t>
                      </a:r>
                      <a:r>
                        <a:rPr lang="en-US" altLang="ko-KR" sz="16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 (</a:t>
                      </a:r>
                      <a:r>
                        <a:rPr lang="en-US" altLang="ko-KR" sz="1600" dirty="0" err="1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현재</a:t>
                      </a:r>
                      <a:r>
                        <a:rPr lang="en-US" altLang="ko-KR" sz="16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미사용</a:t>
                      </a:r>
                      <a:r>
                        <a:rPr lang="en-US" altLang="ko-KR" sz="16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)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uint</a:t>
                      </a:r>
                    </a:p>
                    <a:p>
                      <a:pPr algn="l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ByteAddressBuffer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4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DeadList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Dead 파티클의 </a:t>
                      </a:r>
                      <a:r>
                        <a:rPr lang="en-US" altLang="ko-KR" sz="1600" dirty="0">
                          <a:solidFill>
                            <a:srgbClr val="C55A11"/>
                          </a:solidFill>
                          <a:latin typeface="페이퍼로지 7 Bold"/>
                          <a:ea typeface="페이퍼로지 7 Bold"/>
                        </a:rPr>
                        <a:t>Particles 인덱스</a:t>
                      </a:r>
                    </a:p>
                  </a:txBody>
                  <a:tcPr marL="127000" marR="127000" marT="152400" marB="1143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uint</a:t>
                      </a:r>
                    </a:p>
                    <a:p>
                      <a:pPr algn="l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StructuredBuffer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maxParticles</a:t>
                      </a:r>
                    </a:p>
                  </a:txBody>
                  <a:tcPr marL="127000" marR="127000" marT="1524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1" name="Particles Cell 0"/>
          <p:cNvSpPr/>
          <p:nvPr/>
        </p:nvSpPr>
        <p:spPr>
          <a:xfrm>
            <a:off x="2413000" y="28575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2" name="Particles Cell 1"/>
          <p:cNvSpPr/>
          <p:nvPr/>
        </p:nvSpPr>
        <p:spPr>
          <a:xfrm>
            <a:off x="2768600" y="28575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3" name="Particles Cell 2"/>
          <p:cNvSpPr/>
          <p:nvPr/>
        </p:nvSpPr>
        <p:spPr>
          <a:xfrm>
            <a:off x="3124200" y="28575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4" name="Particles Cell 3"/>
          <p:cNvSpPr/>
          <p:nvPr/>
        </p:nvSpPr>
        <p:spPr>
          <a:xfrm>
            <a:off x="3479800" y="28575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5" name="Particles Cell 4"/>
          <p:cNvSpPr/>
          <p:nvPr/>
        </p:nvSpPr>
        <p:spPr>
          <a:xfrm>
            <a:off x="3835400" y="28575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6" name="Particles Cell 5"/>
          <p:cNvSpPr/>
          <p:nvPr/>
        </p:nvSpPr>
        <p:spPr>
          <a:xfrm>
            <a:off x="4191000" y="28575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7" name="Particles Cell 6"/>
          <p:cNvSpPr/>
          <p:nvPr/>
        </p:nvSpPr>
        <p:spPr>
          <a:xfrm>
            <a:off x="4546600" y="28575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8" name="Particles Cell 7"/>
          <p:cNvSpPr/>
          <p:nvPr/>
        </p:nvSpPr>
        <p:spPr>
          <a:xfrm>
            <a:off x="4902200" y="28575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19" name="Particles Ellipsis"/>
          <p:cNvSpPr/>
          <p:nvPr/>
        </p:nvSpPr>
        <p:spPr>
          <a:xfrm>
            <a:off x="5257800" y="2857500"/>
            <a:ext cx="457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520" name="Particles Cell End 0"/>
          <p:cNvSpPr/>
          <p:nvPr/>
        </p:nvSpPr>
        <p:spPr>
          <a:xfrm>
            <a:off x="5715000" y="28575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21" name="Particles Cell End 1"/>
          <p:cNvSpPr/>
          <p:nvPr/>
        </p:nvSpPr>
        <p:spPr>
          <a:xfrm>
            <a:off x="6070600" y="28575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22" name="Particles Cell End 2"/>
          <p:cNvSpPr/>
          <p:nvPr/>
        </p:nvSpPr>
        <p:spPr>
          <a:xfrm>
            <a:off x="6426200" y="28575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23" name="Particles Outline"/>
          <p:cNvSpPr/>
          <p:nvPr/>
        </p:nvSpPr>
        <p:spPr>
          <a:xfrm>
            <a:off x="2413000" y="2857500"/>
            <a:ext cx="43688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24" name="Particles Index 0"/>
          <p:cNvSpPr/>
          <p:nvPr/>
        </p:nvSpPr>
        <p:spPr>
          <a:xfrm>
            <a:off x="24130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525" name="Particles Index 1"/>
          <p:cNvSpPr/>
          <p:nvPr/>
        </p:nvSpPr>
        <p:spPr>
          <a:xfrm>
            <a:off x="27686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526" name="Particles Index 2"/>
          <p:cNvSpPr/>
          <p:nvPr/>
        </p:nvSpPr>
        <p:spPr>
          <a:xfrm>
            <a:off x="31242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527" name="Particles Index 3"/>
          <p:cNvSpPr/>
          <p:nvPr/>
        </p:nvSpPr>
        <p:spPr>
          <a:xfrm>
            <a:off x="34798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528" name="Particles Index 4"/>
          <p:cNvSpPr/>
          <p:nvPr/>
        </p:nvSpPr>
        <p:spPr>
          <a:xfrm>
            <a:off x="38354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529" name="Particles Index 5"/>
          <p:cNvSpPr/>
          <p:nvPr/>
        </p:nvSpPr>
        <p:spPr>
          <a:xfrm>
            <a:off x="41910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530" name="Particles Index 6"/>
          <p:cNvSpPr/>
          <p:nvPr/>
        </p:nvSpPr>
        <p:spPr>
          <a:xfrm>
            <a:off x="45466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531" name="Particles Index 7"/>
          <p:cNvSpPr/>
          <p:nvPr/>
        </p:nvSpPr>
        <p:spPr>
          <a:xfrm>
            <a:off x="4902200" y="3200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532" name="Legend Alive Swatch"/>
          <p:cNvSpPr/>
          <p:nvPr/>
        </p:nvSpPr>
        <p:spPr>
          <a:xfrm>
            <a:off x="5461000" y="3225800"/>
            <a:ext cx="127000" cy="1270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33" name="Legend Alive"/>
          <p:cNvSpPr/>
          <p:nvPr/>
        </p:nvSpPr>
        <p:spPr>
          <a:xfrm>
            <a:off x="5638800" y="32004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ko-KR" sz="11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Alive</a:t>
            </a:r>
          </a:p>
        </p:txBody>
      </p:sp>
      <p:sp>
        <p:nvSpPr>
          <p:cNvPr id="534" name="Legend Dead Swatch"/>
          <p:cNvSpPr/>
          <p:nvPr/>
        </p:nvSpPr>
        <p:spPr>
          <a:xfrm>
            <a:off x="6172200" y="3225800"/>
            <a:ext cx="127000" cy="1270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35" name="Legend Dead"/>
          <p:cNvSpPr/>
          <p:nvPr/>
        </p:nvSpPr>
        <p:spPr>
          <a:xfrm>
            <a:off x="6350000" y="32004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ko-KR" sz="11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Dead</a:t>
            </a:r>
          </a:p>
        </p:txBody>
      </p:sp>
      <p:sp>
        <p:nvSpPr>
          <p:cNvPr id="536" name="DeadList Cell 0"/>
          <p:cNvSpPr/>
          <p:nvPr/>
        </p:nvSpPr>
        <p:spPr>
          <a:xfrm>
            <a:off x="2413000" y="49403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537" name="DeadList Cell 1"/>
          <p:cNvSpPr/>
          <p:nvPr/>
        </p:nvSpPr>
        <p:spPr>
          <a:xfrm>
            <a:off x="2768600" y="49403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538" name="DeadList Cell 2"/>
          <p:cNvSpPr/>
          <p:nvPr/>
        </p:nvSpPr>
        <p:spPr>
          <a:xfrm>
            <a:off x="3124200" y="49403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7</a:t>
            </a:r>
          </a:p>
        </p:txBody>
      </p:sp>
      <p:sp>
        <p:nvSpPr>
          <p:cNvPr id="539" name="DeadList Cell 3"/>
          <p:cNvSpPr/>
          <p:nvPr/>
        </p:nvSpPr>
        <p:spPr>
          <a:xfrm>
            <a:off x="3479800" y="49403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540" name="DeadList Ellipsis"/>
          <p:cNvSpPr/>
          <p:nvPr/>
        </p:nvSpPr>
        <p:spPr>
          <a:xfrm>
            <a:off x="3835400" y="4940300"/>
            <a:ext cx="457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541" name="DeadList Empty 0"/>
          <p:cNvSpPr/>
          <p:nvPr/>
        </p:nvSpPr>
        <p:spPr>
          <a:xfrm>
            <a:off x="4292600" y="49403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42" name="DeadList Empty 1"/>
          <p:cNvSpPr/>
          <p:nvPr/>
        </p:nvSpPr>
        <p:spPr>
          <a:xfrm>
            <a:off x="4648200" y="49403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43" name="DeadList Empty 2"/>
          <p:cNvSpPr/>
          <p:nvPr/>
        </p:nvSpPr>
        <p:spPr>
          <a:xfrm>
            <a:off x="5003800" y="49403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44" name="DeadList Empty 3"/>
          <p:cNvSpPr/>
          <p:nvPr/>
        </p:nvSpPr>
        <p:spPr>
          <a:xfrm>
            <a:off x="5359400" y="49403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45" name="DeadList Empty 4"/>
          <p:cNvSpPr/>
          <p:nvPr/>
        </p:nvSpPr>
        <p:spPr>
          <a:xfrm>
            <a:off x="5715000" y="49403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46" name="DeadList Empty 5"/>
          <p:cNvSpPr/>
          <p:nvPr/>
        </p:nvSpPr>
        <p:spPr>
          <a:xfrm>
            <a:off x="6070600" y="49403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47" name="DeadList Empty 6"/>
          <p:cNvSpPr/>
          <p:nvPr/>
        </p:nvSpPr>
        <p:spPr>
          <a:xfrm>
            <a:off x="6426200" y="49403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548" name="DeadList Outline"/>
          <p:cNvSpPr/>
          <p:nvPr/>
        </p:nvSpPr>
        <p:spPr>
          <a:xfrm>
            <a:off x="2413000" y="4940300"/>
            <a:ext cx="43688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5450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CBD29-59A9-2790-A8BF-63C7B1CD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SlotReuse</a:t>
            </a:r>
            <a:r>
              <a:rPr lang="en-US" altLang="ko-KR" dirty="0"/>
              <a:t> </a:t>
            </a:r>
            <a:r>
              <a:rPr lang="ko-KR" altLang="en-US" dirty="0"/>
              <a:t>핵심 동작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313CB47-A89C-5C7B-F83A-8AA359CA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601" name="Summary"/>
          <p:cNvSpPr/>
          <p:nvPr/>
        </p:nvSpPr>
        <p:spPr>
          <a:xfrm>
            <a:off x="762000" y="10795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죽은 파티클의 </a:t>
            </a:r>
            <a:r>
              <a:rPr lang="ko-KR" altLang="en-US" sz="16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slot을 DeadList에 반납</a:t>
            </a:r>
            <a:r>
              <a:rPr lang="ko-KR" altLang="en-US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하고, Emit할 때 </a:t>
            </a:r>
            <a:r>
              <a:rPr lang="ko-KR" altLang="en-US" sz="16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그 slot을 꺼내 재사용</a:t>
            </a:r>
            <a:r>
              <a:rPr lang="ko-KR" altLang="en-US" sz="16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한다</a:t>
            </a:r>
          </a:p>
        </p:txBody>
      </p:sp>
      <p:sp>
        <p:nvSpPr>
          <p:cNvPr id="602" name="DeadList Card"/>
          <p:cNvSpPr/>
          <p:nvPr/>
        </p:nvSpPr>
        <p:spPr>
          <a:xfrm>
            <a:off x="762000" y="1905000"/>
            <a:ext cx="3175000" cy="241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03" name="Particles Card"/>
          <p:cNvSpPr/>
          <p:nvPr/>
        </p:nvSpPr>
        <p:spPr>
          <a:xfrm>
            <a:off x="8255000" y="1905000"/>
            <a:ext cx="3175000" cy="241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04" name="DeadList Head"/>
          <p:cNvSpPr/>
          <p:nvPr/>
        </p:nvSpPr>
        <p:spPr>
          <a:xfrm>
            <a:off x="762000" y="20828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DeadList</a:t>
            </a:r>
          </a:p>
        </p:txBody>
      </p:sp>
      <p:sp>
        <p:nvSpPr>
          <p:cNvPr id="605" name="DeadList Sub"/>
          <p:cNvSpPr/>
          <p:nvPr/>
        </p:nvSpPr>
        <p:spPr>
          <a:xfrm>
            <a:off x="762000" y="2438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비어 있는 slot 번호 (Stack)</a:t>
            </a:r>
          </a:p>
        </p:txBody>
      </p:sp>
      <p:sp>
        <p:nvSpPr>
          <p:cNvPr id="606" name="Particles Head"/>
          <p:cNvSpPr/>
          <p:nvPr/>
        </p:nvSpPr>
        <p:spPr>
          <a:xfrm>
            <a:off x="8255000" y="20828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Particles</a:t>
            </a:r>
          </a:p>
        </p:txBody>
      </p:sp>
      <p:sp>
        <p:nvSpPr>
          <p:cNvPr id="607" name="Particles Sub"/>
          <p:cNvSpPr/>
          <p:nvPr/>
        </p:nvSpPr>
        <p:spPr>
          <a:xfrm>
            <a:off x="8255000" y="2438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파티클 데이터 (slot = 인덱스)</a:t>
            </a:r>
          </a:p>
        </p:txBody>
      </p:sp>
      <p:sp>
        <p:nvSpPr>
          <p:cNvPr id="608" name="DL 0"/>
          <p:cNvSpPr/>
          <p:nvPr/>
        </p:nvSpPr>
        <p:spPr>
          <a:xfrm>
            <a:off x="1092200" y="30734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609" name="DL 1"/>
          <p:cNvSpPr/>
          <p:nvPr/>
        </p:nvSpPr>
        <p:spPr>
          <a:xfrm>
            <a:off x="1447800" y="30734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10" name="DL 2"/>
          <p:cNvSpPr/>
          <p:nvPr/>
        </p:nvSpPr>
        <p:spPr>
          <a:xfrm>
            <a:off x="1803400" y="30734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7</a:t>
            </a:r>
          </a:p>
        </p:txBody>
      </p:sp>
      <p:sp>
        <p:nvSpPr>
          <p:cNvPr id="611" name="DL 3"/>
          <p:cNvSpPr/>
          <p:nvPr/>
        </p:nvSpPr>
        <p:spPr>
          <a:xfrm>
            <a:off x="2159000" y="3073400"/>
            <a:ext cx="3556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12" name="DL Ell"/>
          <p:cNvSpPr/>
          <p:nvPr/>
        </p:nvSpPr>
        <p:spPr>
          <a:xfrm>
            <a:off x="2514600" y="3073400"/>
            <a:ext cx="3810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613" name="DL E0"/>
          <p:cNvSpPr/>
          <p:nvPr/>
        </p:nvSpPr>
        <p:spPr>
          <a:xfrm>
            <a:off x="2895600" y="30734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4" name="DL E1"/>
          <p:cNvSpPr/>
          <p:nvPr/>
        </p:nvSpPr>
        <p:spPr>
          <a:xfrm>
            <a:off x="3251200" y="30734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5" name="DL Outline"/>
          <p:cNvSpPr/>
          <p:nvPr/>
        </p:nvSpPr>
        <p:spPr>
          <a:xfrm>
            <a:off x="1092200" y="3073400"/>
            <a:ext cx="25146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6" name="DL Top"/>
          <p:cNvSpPr/>
          <p:nvPr/>
        </p:nvSpPr>
        <p:spPr>
          <a:xfrm>
            <a:off x="2082800" y="34544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top</a:t>
            </a:r>
          </a:p>
        </p:txBody>
      </p:sp>
      <p:sp>
        <p:nvSpPr>
          <p:cNvPr id="617" name="P 0"/>
          <p:cNvSpPr/>
          <p:nvPr/>
        </p:nvSpPr>
        <p:spPr>
          <a:xfrm>
            <a:off x="8420100" y="30734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8" name="P 1"/>
          <p:cNvSpPr/>
          <p:nvPr/>
        </p:nvSpPr>
        <p:spPr>
          <a:xfrm>
            <a:off x="8775700" y="30734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9" name="P 2"/>
          <p:cNvSpPr/>
          <p:nvPr/>
        </p:nvSpPr>
        <p:spPr>
          <a:xfrm>
            <a:off x="9131300" y="30734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0" name="P 3"/>
          <p:cNvSpPr/>
          <p:nvPr/>
        </p:nvSpPr>
        <p:spPr>
          <a:xfrm>
            <a:off x="9486900" y="30734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1" name="P 4"/>
          <p:cNvSpPr/>
          <p:nvPr/>
        </p:nvSpPr>
        <p:spPr>
          <a:xfrm>
            <a:off x="9842500" y="30734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2" name="P 5"/>
          <p:cNvSpPr/>
          <p:nvPr/>
        </p:nvSpPr>
        <p:spPr>
          <a:xfrm>
            <a:off x="10198100" y="30734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3" name="P 6"/>
          <p:cNvSpPr/>
          <p:nvPr/>
        </p:nvSpPr>
        <p:spPr>
          <a:xfrm>
            <a:off x="10553700" y="30734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4" name="P 7"/>
          <p:cNvSpPr/>
          <p:nvPr/>
        </p:nvSpPr>
        <p:spPr>
          <a:xfrm>
            <a:off x="10909300" y="30734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5" name="P Outline"/>
          <p:cNvSpPr/>
          <p:nvPr/>
        </p:nvSpPr>
        <p:spPr>
          <a:xfrm>
            <a:off x="8420100" y="3073400"/>
            <a:ext cx="28448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6" name="P idx 0"/>
          <p:cNvSpPr/>
          <p:nvPr/>
        </p:nvSpPr>
        <p:spPr>
          <a:xfrm>
            <a:off x="84201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27" name="P idx 1"/>
          <p:cNvSpPr/>
          <p:nvPr/>
        </p:nvSpPr>
        <p:spPr>
          <a:xfrm>
            <a:off x="87757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28" name="P idx 2"/>
          <p:cNvSpPr/>
          <p:nvPr/>
        </p:nvSpPr>
        <p:spPr>
          <a:xfrm>
            <a:off x="91313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629" name="P idx 3"/>
          <p:cNvSpPr/>
          <p:nvPr/>
        </p:nvSpPr>
        <p:spPr>
          <a:xfrm>
            <a:off x="94869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30" name="P idx 4"/>
          <p:cNvSpPr/>
          <p:nvPr/>
        </p:nvSpPr>
        <p:spPr>
          <a:xfrm>
            <a:off x="98425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631" name="P idx 5"/>
          <p:cNvSpPr/>
          <p:nvPr/>
        </p:nvSpPr>
        <p:spPr>
          <a:xfrm>
            <a:off x="101981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632" name="P idx 6"/>
          <p:cNvSpPr/>
          <p:nvPr/>
        </p:nvSpPr>
        <p:spPr>
          <a:xfrm>
            <a:off x="105537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33" name="P idx 7"/>
          <p:cNvSpPr/>
          <p:nvPr/>
        </p:nvSpPr>
        <p:spPr>
          <a:xfrm>
            <a:off x="10909300" y="3441700"/>
            <a:ext cx="355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cxnSp>
        <p:nvCxnSpPr>
          <p:cNvPr id="634" name="Emit Arrow"/>
          <p:cNvCxnSpPr/>
          <p:nvPr/>
        </p:nvCxnSpPr>
        <p:spPr>
          <a:xfrm>
            <a:off x="4127500" y="2692400"/>
            <a:ext cx="3937000" cy="0"/>
          </a:xfrm>
          <a:prstGeom prst="straightConnector1">
            <a:avLst/>
          </a:prstGeom>
          <a:ln w="28575">
            <a:solidFill>
              <a:srgbClr val="C55A11"/>
            </a:solidFill>
            <a:tailEnd type="triangle" w="med" len="med"/>
          </a:ln>
        </p:spPr>
      </p:cxnSp>
      <p:sp>
        <p:nvSpPr>
          <p:cNvPr id="635" name="Emit Label 1"/>
          <p:cNvSpPr/>
          <p:nvPr/>
        </p:nvSpPr>
        <p:spPr>
          <a:xfrm>
            <a:off x="4127500" y="20828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Emit</a:t>
            </a:r>
            <a:r>
              <a:rPr lang="ko-KR" altLang="en-US" sz="1400" dirty="0">
                <a:solidFill>
                  <a:srgbClr val="C55A11"/>
                </a:solidFill>
                <a:latin typeface="페이퍼로지 4 Regular"/>
                <a:ea typeface="페이퍼로지 4 Regular"/>
              </a:rPr>
              <a:t>  slot 꺼내기 (Pop)</a:t>
            </a:r>
          </a:p>
        </p:txBody>
      </p:sp>
      <p:sp>
        <p:nvSpPr>
          <p:cNvPr id="636" name="Emit Label 2"/>
          <p:cNvSpPr/>
          <p:nvPr/>
        </p:nvSpPr>
        <p:spPr>
          <a:xfrm>
            <a:off x="4127500" y="2387600"/>
            <a:ext cx="393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Particles[slot]에 새 파티클 저장</a:t>
            </a:r>
          </a:p>
        </p:txBody>
      </p:sp>
      <p:cxnSp>
        <p:nvCxnSpPr>
          <p:cNvPr id="637" name="Sim Arrow"/>
          <p:cNvCxnSpPr/>
          <p:nvPr/>
        </p:nvCxnSpPr>
        <p:spPr>
          <a:xfrm flipH="1">
            <a:off x="4127500" y="3530600"/>
            <a:ext cx="39370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med" len="med"/>
          </a:ln>
        </p:spPr>
      </p:cxnSp>
      <p:sp>
        <p:nvSpPr>
          <p:cNvPr id="638" name="Sim Label 1"/>
          <p:cNvSpPr/>
          <p:nvPr/>
        </p:nvSpPr>
        <p:spPr>
          <a:xfrm>
            <a:off x="4127500" y="36068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Simulate</a:t>
            </a:r>
            <a:r>
              <a:rPr lang="ko-KR" altLang="en-US" sz="1400" dirty="0">
                <a:solidFill>
                  <a:srgbClr val="C00000"/>
                </a:solidFill>
                <a:latin typeface="페이퍼로지 4 Regular"/>
                <a:ea typeface="페이퍼로지 4 Regular"/>
              </a:rPr>
              <a:t>  slot 반납 (Push)</a:t>
            </a:r>
          </a:p>
        </p:txBody>
      </p:sp>
      <p:sp>
        <p:nvSpPr>
          <p:cNvPr id="639" name="Sim Label 2"/>
          <p:cNvSpPr/>
          <p:nvPr/>
        </p:nvSpPr>
        <p:spPr>
          <a:xfrm>
            <a:off x="4127500" y="3911600"/>
            <a:ext cx="393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수명이 다한 파티클의 slot을 DeadList에</a:t>
            </a:r>
          </a:p>
        </p:txBody>
      </p:sp>
      <p:sp>
        <p:nvSpPr>
          <p:cNvPr id="640" name="Counter Label"/>
          <p:cNvSpPr/>
          <p:nvPr/>
        </p:nvSpPr>
        <p:spPr>
          <a:xfrm>
            <a:off x="762000" y="4889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Counter</a:t>
            </a:r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두 단계 모두 InterlockedAdd로 갱신</a:t>
            </a:r>
          </a:p>
        </p:txBody>
      </p:sp>
      <p:sp>
        <p:nvSpPr>
          <p:cNvPr id="641" name="Counter 0"/>
          <p:cNvSpPr/>
          <p:nvPr/>
        </p:nvSpPr>
        <p:spPr>
          <a:xfrm>
            <a:off x="762000" y="5321300"/>
            <a:ext cx="25400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AliveCount</a:t>
            </a:r>
          </a:p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Simulate −1</a:t>
            </a:r>
          </a:p>
        </p:txBody>
      </p:sp>
      <p:sp>
        <p:nvSpPr>
          <p:cNvPr id="642" name="Counter 1"/>
          <p:cNvSpPr/>
          <p:nvPr/>
        </p:nvSpPr>
        <p:spPr>
          <a:xfrm>
            <a:off x="3470910" y="5321300"/>
            <a:ext cx="25400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DeadCount</a:t>
            </a:r>
          </a:p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Emit −1 · Simulate +1</a:t>
            </a:r>
          </a:p>
        </p:txBody>
      </p:sp>
      <p:sp>
        <p:nvSpPr>
          <p:cNvPr id="643" name="Counter 2"/>
          <p:cNvSpPr/>
          <p:nvPr/>
        </p:nvSpPr>
        <p:spPr>
          <a:xfrm>
            <a:off x="6179820" y="5321300"/>
            <a:ext cx="25400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EmitCount</a:t>
            </a:r>
          </a:p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CPU에서 계산</a:t>
            </a:r>
          </a:p>
        </p:txBody>
      </p:sp>
      <p:sp>
        <p:nvSpPr>
          <p:cNvPr id="644" name="Counter 3"/>
          <p:cNvSpPr/>
          <p:nvPr/>
        </p:nvSpPr>
        <p:spPr>
          <a:xfrm>
            <a:off x="8888730" y="5321300"/>
            <a:ext cx="2540000" cy="78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AliveAfterSimulation</a:t>
            </a:r>
          </a:p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현재 미사용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A94EFB3-EB46-9112-67E7-02730C0994F7}"/>
              </a:ext>
            </a:extLst>
          </p:cNvPr>
          <p:cNvCxnSpPr>
            <a:cxnSpLocks/>
          </p:cNvCxnSpPr>
          <p:nvPr/>
        </p:nvCxnSpPr>
        <p:spPr>
          <a:xfrm>
            <a:off x="609600" y="4768645"/>
            <a:ext cx="109728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495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964D3-9C32-C5CD-593A-97E1533F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Emit 단계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34328C-C010-6001-0E50-4FA29C6F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601" name="CPU Box"/>
          <p:cNvSpPr/>
          <p:nvPr/>
        </p:nvSpPr>
        <p:spPr>
          <a:xfrm>
            <a:off x="762000" y="1079500"/>
            <a:ext cx="2921000" cy="508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CPU</a:t>
            </a:r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  EmitCount 계산</a:t>
            </a:r>
          </a:p>
        </p:txBody>
      </p:sp>
      <p:cxnSp>
        <p:nvCxnSpPr>
          <p:cNvPr id="602" name="CPU Arrow"/>
          <p:cNvCxnSpPr/>
          <p:nvPr/>
        </p:nvCxnSpPr>
        <p:spPr>
          <a:xfrm>
            <a:off x="3759200" y="1333500"/>
            <a:ext cx="63500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603" name="Dispatch"/>
          <p:cNvSpPr/>
          <p:nvPr/>
        </p:nvSpPr>
        <p:spPr>
          <a:xfrm>
            <a:off x="4470400" y="1130300"/>
            <a:ext cx="2921000" cy="4064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Dispatch(EmitCount)</a:t>
            </a:r>
          </a:p>
        </p:txBody>
      </p:sp>
      <p:sp>
        <p:nvSpPr>
          <p:cNvPr id="604" name="Thread Note"/>
          <p:cNvSpPr/>
          <p:nvPr/>
        </p:nvSpPr>
        <p:spPr>
          <a:xfrm>
            <a:off x="7620000" y="10795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스레드 1개 = 새 파티클 1개</a:t>
            </a:r>
          </a:p>
        </p:txBody>
      </p:sp>
      <p:sp>
        <p:nvSpPr>
          <p:cNvPr id="605" name="Card 1"/>
          <p:cNvSpPr/>
          <p:nvPr/>
        </p:nvSpPr>
        <p:spPr>
          <a:xfrm>
            <a:off x="762000" y="1905000"/>
            <a:ext cx="31750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06" name="Badge 1"/>
          <p:cNvSpPr/>
          <p:nvPr/>
        </p:nvSpPr>
        <p:spPr>
          <a:xfrm>
            <a:off x="990600" y="2133600"/>
            <a:ext cx="381000" cy="3810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07" name="Step 1"/>
          <p:cNvSpPr/>
          <p:nvPr/>
        </p:nvSpPr>
        <p:spPr>
          <a:xfrm>
            <a:off x="1498600" y="2133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DeadCount 감소</a:t>
            </a:r>
          </a:p>
        </p:txBody>
      </p:sp>
      <p:sp>
        <p:nvSpPr>
          <p:cNvPr id="608" name="Desc 1"/>
          <p:cNvSpPr/>
          <p:nvPr/>
        </p:nvSpPr>
        <p:spPr>
          <a:xfrm>
            <a:off x="990600" y="2667000"/>
            <a:ext cx="2717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400" dirty="0">
                <a:solidFill>
                  <a:schemeClr val="accent5">
                    <a:lumMod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InterlockedAdd</a:t>
            </a:r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(DeadCount, −1)</a:t>
            </a:r>
          </a:p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감소 전 값 = index</a:t>
            </a:r>
          </a:p>
        </p:txBody>
      </p:sp>
      <p:sp>
        <p:nvSpPr>
          <p:cNvPr id="609" name="Rule 1"/>
          <p:cNvSpPr/>
          <p:nvPr/>
        </p:nvSpPr>
        <p:spPr>
          <a:xfrm>
            <a:off x="990600" y="3403600"/>
            <a:ext cx="27178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0" name="Card 2"/>
          <p:cNvSpPr/>
          <p:nvPr/>
        </p:nvSpPr>
        <p:spPr>
          <a:xfrm>
            <a:off x="4508500" y="1905000"/>
            <a:ext cx="31750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1" name="Badge 2"/>
          <p:cNvSpPr/>
          <p:nvPr/>
        </p:nvSpPr>
        <p:spPr>
          <a:xfrm>
            <a:off x="4737100" y="2133600"/>
            <a:ext cx="381000" cy="3810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12" name="Step 2"/>
          <p:cNvSpPr/>
          <p:nvPr/>
        </p:nvSpPr>
        <p:spPr>
          <a:xfrm>
            <a:off x="5245100" y="2133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slot 얻기</a:t>
            </a:r>
          </a:p>
        </p:txBody>
      </p:sp>
      <p:sp>
        <p:nvSpPr>
          <p:cNvPr id="613" name="Desc 2"/>
          <p:cNvSpPr/>
          <p:nvPr/>
        </p:nvSpPr>
        <p:spPr>
          <a:xfrm>
            <a:off x="4737100" y="2667000"/>
            <a:ext cx="2717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DeadList[index]의 값</a:t>
            </a:r>
          </a:p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= 재사용할 slot</a:t>
            </a:r>
          </a:p>
        </p:txBody>
      </p:sp>
      <p:sp>
        <p:nvSpPr>
          <p:cNvPr id="614" name="Rule 2"/>
          <p:cNvSpPr/>
          <p:nvPr/>
        </p:nvSpPr>
        <p:spPr>
          <a:xfrm>
            <a:off x="4737100" y="3403600"/>
            <a:ext cx="27178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5" name="Card 3"/>
          <p:cNvSpPr/>
          <p:nvPr/>
        </p:nvSpPr>
        <p:spPr>
          <a:xfrm>
            <a:off x="8255000" y="1905000"/>
            <a:ext cx="31750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16" name="Badge 3"/>
          <p:cNvSpPr/>
          <p:nvPr/>
        </p:nvSpPr>
        <p:spPr>
          <a:xfrm>
            <a:off x="8483600" y="2133600"/>
            <a:ext cx="381000" cy="3810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17" name="Step 3"/>
          <p:cNvSpPr/>
          <p:nvPr/>
        </p:nvSpPr>
        <p:spPr>
          <a:xfrm>
            <a:off x="8991600" y="2133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파티클 초기화</a:t>
            </a:r>
          </a:p>
        </p:txBody>
      </p:sp>
      <p:sp>
        <p:nvSpPr>
          <p:cNvPr id="618" name="Desc 3"/>
          <p:cNvSpPr/>
          <p:nvPr/>
        </p:nvSpPr>
        <p:spPr>
          <a:xfrm>
            <a:off x="8483600" y="2667000"/>
            <a:ext cx="2717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Particles[slot]에</a:t>
            </a:r>
          </a:p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초기화한 파티클 저장</a:t>
            </a:r>
          </a:p>
        </p:txBody>
      </p:sp>
      <p:sp>
        <p:nvSpPr>
          <p:cNvPr id="619" name="Rule 3"/>
          <p:cNvSpPr/>
          <p:nvPr/>
        </p:nvSpPr>
        <p:spPr>
          <a:xfrm>
            <a:off x="8483600" y="3403600"/>
            <a:ext cx="27178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cxnSp>
        <p:nvCxnSpPr>
          <p:cNvPr id="620" name="Step Arrow 1"/>
          <p:cNvCxnSpPr/>
          <p:nvPr/>
        </p:nvCxnSpPr>
        <p:spPr>
          <a:xfrm>
            <a:off x="4013200" y="4318000"/>
            <a:ext cx="419100" cy="0"/>
          </a:xfrm>
          <a:prstGeom prst="straightConnector1">
            <a:avLst/>
          </a:prstGeom>
          <a:ln w="28575">
            <a:solidFill>
              <a:srgbClr val="C55A11"/>
            </a:solidFill>
            <a:tailEnd type="triangle" w="med" len="med"/>
          </a:ln>
        </p:spPr>
      </p:cxnSp>
      <p:cxnSp>
        <p:nvCxnSpPr>
          <p:cNvPr id="621" name="Step Arrow 2"/>
          <p:cNvCxnSpPr/>
          <p:nvPr/>
        </p:nvCxnSpPr>
        <p:spPr>
          <a:xfrm>
            <a:off x="7759700" y="4318000"/>
            <a:ext cx="419100" cy="0"/>
          </a:xfrm>
          <a:prstGeom prst="straightConnector1">
            <a:avLst/>
          </a:prstGeom>
          <a:ln w="28575">
            <a:solidFill>
              <a:srgbClr val="C55A11"/>
            </a:solidFill>
            <a:tailEnd type="triangle" w="med" len="med"/>
          </a:ln>
        </p:spPr>
      </p:cxnSp>
      <p:sp>
        <p:nvSpPr>
          <p:cNvPr id="622" name="F1 Label"/>
          <p:cNvSpPr/>
          <p:nvPr/>
        </p:nvSpPr>
        <p:spPr>
          <a:xfrm>
            <a:off x="762000" y="3683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Counter</a:t>
            </a:r>
          </a:p>
        </p:txBody>
      </p:sp>
      <p:sp>
        <p:nvSpPr>
          <p:cNvPr id="623" name="F1 Cell"/>
          <p:cNvSpPr/>
          <p:nvPr/>
        </p:nvSpPr>
        <p:spPr>
          <a:xfrm>
            <a:off x="1333500" y="4038600"/>
            <a:ext cx="2032000" cy="5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DeadCount</a:t>
            </a:r>
          </a:p>
        </p:txBody>
      </p:sp>
      <p:sp>
        <p:nvSpPr>
          <p:cNvPr id="624" name="F1 Val"/>
          <p:cNvSpPr/>
          <p:nvPr/>
        </p:nvSpPr>
        <p:spPr>
          <a:xfrm>
            <a:off x="762000" y="46990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24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4</a:t>
            </a:r>
            <a:r>
              <a:rPr lang="ko-KR" altLang="en-US" sz="20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→  </a:t>
            </a:r>
            <a:r>
              <a:rPr lang="ko-KR" altLang="en-US" sz="2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25" name="F1 Note"/>
          <p:cNvSpPr/>
          <p:nvPr/>
        </p:nvSpPr>
        <p:spPr>
          <a:xfrm>
            <a:off x="762000" y="5207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4 Regular"/>
                <a:ea typeface="페이퍼로지 4 Regular"/>
              </a:rPr>
              <a:t>감소 전 값 4 → index</a:t>
            </a:r>
          </a:p>
        </p:txBody>
      </p:sp>
      <p:sp>
        <p:nvSpPr>
          <p:cNvPr id="626" name="F2 Label"/>
          <p:cNvSpPr/>
          <p:nvPr/>
        </p:nvSpPr>
        <p:spPr>
          <a:xfrm>
            <a:off x="4508500" y="3683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DeadList</a:t>
            </a:r>
          </a:p>
        </p:txBody>
      </p:sp>
      <p:sp>
        <p:nvSpPr>
          <p:cNvPr id="627" name="F2 DL 0"/>
          <p:cNvSpPr/>
          <p:nvPr/>
        </p:nvSpPr>
        <p:spPr>
          <a:xfrm>
            <a:off x="4838700" y="4089400"/>
            <a:ext cx="355600" cy="3556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628" name="F2 DL 1"/>
          <p:cNvSpPr/>
          <p:nvPr/>
        </p:nvSpPr>
        <p:spPr>
          <a:xfrm>
            <a:off x="5194300" y="4089400"/>
            <a:ext cx="355600" cy="3556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29" name="F2 DL 2"/>
          <p:cNvSpPr/>
          <p:nvPr/>
        </p:nvSpPr>
        <p:spPr>
          <a:xfrm>
            <a:off x="5549900" y="4089400"/>
            <a:ext cx="355600" cy="3556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7</a:t>
            </a:r>
          </a:p>
        </p:txBody>
      </p:sp>
      <p:sp>
        <p:nvSpPr>
          <p:cNvPr id="630" name="F2 DL 3"/>
          <p:cNvSpPr/>
          <p:nvPr/>
        </p:nvSpPr>
        <p:spPr>
          <a:xfrm>
            <a:off x="5905500" y="4089400"/>
            <a:ext cx="355600" cy="35560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31" name="F2 Ell"/>
          <p:cNvSpPr/>
          <p:nvPr/>
        </p:nvSpPr>
        <p:spPr>
          <a:xfrm>
            <a:off x="6261100" y="4089400"/>
            <a:ext cx="3810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632" name="F2 E0"/>
          <p:cNvSpPr/>
          <p:nvPr/>
        </p:nvSpPr>
        <p:spPr>
          <a:xfrm>
            <a:off x="6642100" y="4089400"/>
            <a:ext cx="3556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33" name="F2 E1"/>
          <p:cNvSpPr/>
          <p:nvPr/>
        </p:nvSpPr>
        <p:spPr>
          <a:xfrm>
            <a:off x="6997700" y="4089400"/>
            <a:ext cx="3556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34" name="F2 Outline"/>
          <p:cNvSpPr/>
          <p:nvPr/>
        </p:nvSpPr>
        <p:spPr>
          <a:xfrm>
            <a:off x="4838700" y="4089400"/>
            <a:ext cx="2514600" cy="3556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35" name="F2 Hi"/>
          <p:cNvSpPr/>
          <p:nvPr/>
        </p:nvSpPr>
        <p:spPr>
          <a:xfrm>
            <a:off x="5905500" y="4089400"/>
            <a:ext cx="355600" cy="355600"/>
          </a:xfrm>
          <a:prstGeom prst="rect">
            <a:avLst/>
          </a:prstGeom>
          <a:noFill/>
          <a:ln w="3492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cxnSp>
        <p:nvCxnSpPr>
          <p:cNvPr id="636" name="F2 Down"/>
          <p:cNvCxnSpPr/>
          <p:nvPr/>
        </p:nvCxnSpPr>
        <p:spPr>
          <a:xfrm>
            <a:off x="6083300" y="4495800"/>
            <a:ext cx="0" cy="45720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37" name="F2 Slot"/>
          <p:cNvSpPr/>
          <p:nvPr/>
        </p:nvSpPr>
        <p:spPr>
          <a:xfrm>
            <a:off x="5448300" y="5029200"/>
            <a:ext cx="1270000" cy="355600"/>
          </a:xfrm>
          <a:prstGeom prst="round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slot = 4</a:t>
            </a:r>
          </a:p>
        </p:txBody>
      </p:sp>
      <p:sp>
        <p:nvSpPr>
          <p:cNvPr id="638" name="F3 Label"/>
          <p:cNvSpPr/>
          <p:nvPr/>
        </p:nvSpPr>
        <p:spPr>
          <a:xfrm>
            <a:off x="8255000" y="3683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Particles</a:t>
            </a:r>
          </a:p>
        </p:txBody>
      </p:sp>
      <p:sp>
        <p:nvSpPr>
          <p:cNvPr id="639" name="F3 P 0"/>
          <p:cNvSpPr/>
          <p:nvPr/>
        </p:nvSpPr>
        <p:spPr>
          <a:xfrm>
            <a:off x="8521700" y="4089400"/>
            <a:ext cx="330200" cy="3556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0" name="F3 P 1"/>
          <p:cNvSpPr/>
          <p:nvPr/>
        </p:nvSpPr>
        <p:spPr>
          <a:xfrm>
            <a:off x="8851900" y="4089400"/>
            <a:ext cx="330200" cy="3556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1" name="F3 P 2"/>
          <p:cNvSpPr/>
          <p:nvPr/>
        </p:nvSpPr>
        <p:spPr>
          <a:xfrm>
            <a:off x="9182100" y="4089400"/>
            <a:ext cx="330200" cy="3556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2" name="F3 P 3"/>
          <p:cNvSpPr/>
          <p:nvPr/>
        </p:nvSpPr>
        <p:spPr>
          <a:xfrm>
            <a:off x="9512300" y="4089400"/>
            <a:ext cx="330200" cy="3556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3" name="F3 P 4"/>
          <p:cNvSpPr/>
          <p:nvPr/>
        </p:nvSpPr>
        <p:spPr>
          <a:xfrm>
            <a:off x="9842500" y="4089400"/>
            <a:ext cx="330200" cy="3556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4" name="F3 P 5"/>
          <p:cNvSpPr/>
          <p:nvPr/>
        </p:nvSpPr>
        <p:spPr>
          <a:xfrm>
            <a:off x="10172700" y="4089400"/>
            <a:ext cx="330200" cy="3556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5" name="F3 P 6"/>
          <p:cNvSpPr/>
          <p:nvPr/>
        </p:nvSpPr>
        <p:spPr>
          <a:xfrm>
            <a:off x="10502900" y="4089400"/>
            <a:ext cx="330200" cy="3556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6" name="F3 P 7"/>
          <p:cNvSpPr/>
          <p:nvPr/>
        </p:nvSpPr>
        <p:spPr>
          <a:xfrm>
            <a:off x="10833100" y="4089400"/>
            <a:ext cx="330200" cy="3556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7" name="F3 Outline"/>
          <p:cNvSpPr/>
          <p:nvPr/>
        </p:nvSpPr>
        <p:spPr>
          <a:xfrm>
            <a:off x="8521700" y="4089400"/>
            <a:ext cx="2641600" cy="3556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8" name="F3 Hi"/>
          <p:cNvSpPr/>
          <p:nvPr/>
        </p:nvSpPr>
        <p:spPr>
          <a:xfrm>
            <a:off x="9842500" y="4089400"/>
            <a:ext cx="330200" cy="355600"/>
          </a:xfrm>
          <a:prstGeom prst="rect">
            <a:avLst/>
          </a:prstGeom>
          <a:noFill/>
          <a:ln w="3492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9" name="F3 idx 0"/>
          <p:cNvSpPr/>
          <p:nvPr/>
        </p:nvSpPr>
        <p:spPr>
          <a:xfrm>
            <a:off x="85217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50" name="F3 idx 1"/>
          <p:cNvSpPr/>
          <p:nvPr/>
        </p:nvSpPr>
        <p:spPr>
          <a:xfrm>
            <a:off x="88519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51" name="F3 idx 2"/>
          <p:cNvSpPr/>
          <p:nvPr/>
        </p:nvSpPr>
        <p:spPr>
          <a:xfrm>
            <a:off x="91821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652" name="F3 idx 3"/>
          <p:cNvSpPr/>
          <p:nvPr/>
        </p:nvSpPr>
        <p:spPr>
          <a:xfrm>
            <a:off x="95123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53" name="F3 idx 4"/>
          <p:cNvSpPr/>
          <p:nvPr/>
        </p:nvSpPr>
        <p:spPr>
          <a:xfrm>
            <a:off x="98425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54" name="F3 idx 5"/>
          <p:cNvSpPr/>
          <p:nvPr/>
        </p:nvSpPr>
        <p:spPr>
          <a:xfrm>
            <a:off x="101727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655" name="F3 idx 6"/>
          <p:cNvSpPr/>
          <p:nvPr/>
        </p:nvSpPr>
        <p:spPr>
          <a:xfrm>
            <a:off x="105029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56" name="F3 idx 7"/>
          <p:cNvSpPr/>
          <p:nvPr/>
        </p:nvSpPr>
        <p:spPr>
          <a:xfrm>
            <a:off x="10833100" y="44831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57" name="F3 Note"/>
          <p:cNvSpPr/>
          <p:nvPr/>
        </p:nvSpPr>
        <p:spPr>
          <a:xfrm>
            <a:off x="8255000" y="48260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slot 4: </a:t>
            </a:r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Dead</a:t>
            </a:r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→ </a:t>
            </a:r>
            <a:r>
              <a:rPr lang="ko-KR" altLang="en-US" sz="1300" dirty="0">
                <a:solidFill>
                  <a:srgbClr val="00B050"/>
                </a:solidFill>
                <a:latin typeface="페이퍼로지 7 Bold"/>
                <a:ea typeface="페이퍼로지 7 Bold"/>
              </a:rPr>
              <a:t>Alive</a:t>
            </a:r>
          </a:p>
        </p:txBody>
      </p:sp>
    </p:spTree>
    <p:extLst>
      <p:ext uri="{BB962C8B-B14F-4D97-AF65-F5344CB8AC3E}">
        <p14:creationId xmlns:p14="http://schemas.microsoft.com/office/powerpoint/2010/main" val="178154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1F2E4-18D9-ED5F-F609-92BAA517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Simulate 단계 (Dead 포함)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69A573E-EF5A-4572-BD76-90F9699C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601" name="Dispatch"/>
          <p:cNvSpPr/>
          <p:nvPr/>
        </p:nvSpPr>
        <p:spPr>
          <a:xfrm>
            <a:off x="762000" y="1143000"/>
            <a:ext cx="2540000" cy="4318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Dispatch(maxParticles)</a:t>
            </a:r>
          </a:p>
        </p:txBody>
      </p:sp>
      <p:cxnSp>
        <p:nvCxnSpPr>
          <p:cNvPr id="602" name="A1"/>
          <p:cNvCxnSpPr/>
          <p:nvPr/>
        </p:nvCxnSpPr>
        <p:spPr>
          <a:xfrm>
            <a:off x="2032000" y="1600200"/>
            <a:ext cx="0" cy="3302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603" name="Life"/>
          <p:cNvSpPr/>
          <p:nvPr/>
        </p:nvSpPr>
        <p:spPr>
          <a:xfrm>
            <a:off x="762000" y="1955800"/>
            <a:ext cx="2540000" cy="50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수명 감소</a:t>
            </a:r>
          </a:p>
        </p:txBody>
      </p:sp>
      <p:cxnSp>
        <p:nvCxnSpPr>
          <p:cNvPr id="604" name="A2"/>
          <p:cNvCxnSpPr/>
          <p:nvPr/>
        </p:nvCxnSpPr>
        <p:spPr>
          <a:xfrm>
            <a:off x="2032000" y="2489200"/>
            <a:ext cx="0" cy="3302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605" name="Decision"/>
          <p:cNvSpPr/>
          <p:nvPr/>
        </p:nvSpPr>
        <p:spPr>
          <a:xfrm>
            <a:off x="762000" y="2832100"/>
            <a:ext cx="2540000" cy="10668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수명 &lt; 0 ?</a:t>
            </a:r>
          </a:p>
        </p:txBody>
      </p:sp>
      <p:cxnSp>
        <p:nvCxnSpPr>
          <p:cNvPr id="606" name="Yes Arrow"/>
          <p:cNvCxnSpPr/>
          <p:nvPr/>
        </p:nvCxnSpPr>
        <p:spPr>
          <a:xfrm>
            <a:off x="3327400" y="3365500"/>
            <a:ext cx="431800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med" len="med"/>
          </a:ln>
        </p:spPr>
      </p:cxnSp>
      <p:sp>
        <p:nvSpPr>
          <p:cNvPr id="607" name="Yes"/>
          <p:cNvSpPr/>
          <p:nvPr/>
        </p:nvSpPr>
        <p:spPr>
          <a:xfrm>
            <a:off x="3302000" y="30353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Yes</a:t>
            </a:r>
          </a:p>
        </p:txBody>
      </p:sp>
      <p:sp>
        <p:nvSpPr>
          <p:cNvPr id="608" name="Dead Lane"/>
          <p:cNvSpPr/>
          <p:nvPr/>
        </p:nvSpPr>
        <p:spPr>
          <a:xfrm>
            <a:off x="3810000" y="24511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죽은 파티클</a:t>
            </a:r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slot을 DeadList에 반납</a:t>
            </a:r>
          </a:p>
        </p:txBody>
      </p:sp>
      <p:sp>
        <p:nvSpPr>
          <p:cNvPr id="609" name="Dead Box 1"/>
          <p:cNvSpPr/>
          <p:nvPr/>
        </p:nvSpPr>
        <p:spPr>
          <a:xfrm>
            <a:off x="3810000" y="2832100"/>
            <a:ext cx="2286000" cy="1066800"/>
          </a:xfrm>
          <a:prstGeom prst="roundRect">
            <a:avLst/>
          </a:prstGeom>
          <a:solidFill>
            <a:srgbClr val="FBEDED"/>
          </a:solidFill>
          <a:ln w="9525">
            <a:solidFill>
              <a:srgbClr val="E6B8B7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  </a:t>
            </a:r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죽음 표시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Particles[slot].flag = 0</a:t>
            </a:r>
          </a:p>
        </p:txBody>
      </p:sp>
      <p:cxnSp>
        <p:nvCxnSpPr>
          <p:cNvPr id="610" name="Dead Arrow 1"/>
          <p:cNvCxnSpPr/>
          <p:nvPr/>
        </p:nvCxnSpPr>
        <p:spPr>
          <a:xfrm>
            <a:off x="6121400" y="3365500"/>
            <a:ext cx="254000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611" name="Dead Box 2"/>
          <p:cNvSpPr/>
          <p:nvPr/>
        </p:nvSpPr>
        <p:spPr>
          <a:xfrm>
            <a:off x="6413500" y="2832100"/>
            <a:ext cx="2286000" cy="1066800"/>
          </a:xfrm>
          <a:prstGeom prst="roundRect">
            <a:avLst/>
          </a:prstGeom>
          <a:solidFill>
            <a:srgbClr val="FBEDED"/>
          </a:solidFill>
          <a:ln w="9525">
            <a:solidFill>
              <a:srgbClr val="E6B8B7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2  </a:t>
            </a:r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Counter 갱신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DeadCount +1, AliveCount −1</a:t>
            </a:r>
          </a:p>
          <a:p>
            <a:pPr algn="ctr"/>
            <a:r>
              <a:rPr lang="ko-KR" altLang="en-US" sz="12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증가 전 DeadCount 획득</a:t>
            </a:r>
          </a:p>
        </p:txBody>
      </p:sp>
      <p:cxnSp>
        <p:nvCxnSpPr>
          <p:cNvPr id="612" name="Dead Arrow 2"/>
          <p:cNvCxnSpPr/>
          <p:nvPr/>
        </p:nvCxnSpPr>
        <p:spPr>
          <a:xfrm>
            <a:off x="8724900" y="3365500"/>
            <a:ext cx="254000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613" name="Dead Box 3"/>
          <p:cNvSpPr/>
          <p:nvPr/>
        </p:nvSpPr>
        <p:spPr>
          <a:xfrm>
            <a:off x="9017000" y="2832100"/>
            <a:ext cx="2286000" cy="1066800"/>
          </a:xfrm>
          <a:prstGeom prst="roundRect">
            <a:avLst/>
          </a:prstGeom>
          <a:solidFill>
            <a:srgbClr val="FBEDED"/>
          </a:solidFill>
          <a:ln w="9525">
            <a:solidFill>
              <a:srgbClr val="E6B8B7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3  </a:t>
            </a:r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slot 반납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DeadList[증가 전 값] = slot</a:t>
            </a:r>
          </a:p>
        </p:txBody>
      </p:sp>
      <p:cxnSp>
        <p:nvCxnSpPr>
          <p:cNvPr id="614" name="No Down"/>
          <p:cNvCxnSpPr/>
          <p:nvPr/>
        </p:nvCxnSpPr>
        <p:spPr>
          <a:xfrm>
            <a:off x="2032000" y="3911600"/>
            <a:ext cx="0" cy="1295400"/>
          </a:xfrm>
          <a:prstGeom prst="straightConnector1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615" name="No Arrow"/>
          <p:cNvCxnSpPr/>
          <p:nvPr/>
        </p:nvCxnSpPr>
        <p:spPr>
          <a:xfrm>
            <a:off x="2032000" y="5207000"/>
            <a:ext cx="1727200" cy="0"/>
          </a:xfrm>
          <a:prstGeom prst="straightConnector1">
            <a:avLst/>
          </a:prstGeom>
          <a:ln w="22225">
            <a:solidFill>
              <a:srgbClr val="3A7D2C"/>
            </a:solidFill>
            <a:tailEnd type="triangle" w="med" len="med"/>
          </a:ln>
        </p:spPr>
      </p:cxnSp>
      <p:sp>
        <p:nvSpPr>
          <p:cNvPr id="616" name="No"/>
          <p:cNvSpPr/>
          <p:nvPr/>
        </p:nvSpPr>
        <p:spPr>
          <a:xfrm>
            <a:off x="2108200" y="41275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3A7D2C"/>
                </a:solidFill>
                <a:latin typeface="페이퍼로지 7 Bold"/>
                <a:ea typeface="페이퍼로지 7 Bold"/>
              </a:rPr>
              <a:t>No</a:t>
            </a:r>
          </a:p>
        </p:txBody>
      </p:sp>
      <p:sp>
        <p:nvSpPr>
          <p:cNvPr id="617" name="Alive Lane"/>
          <p:cNvSpPr/>
          <p:nvPr/>
        </p:nvSpPr>
        <p:spPr>
          <a:xfrm>
            <a:off x="3810000" y="45085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500" dirty="0">
                <a:solidFill>
                  <a:srgbClr val="3A7D2C"/>
                </a:solidFill>
                <a:latin typeface="페이퍼로지 7 Bold"/>
                <a:ea typeface="페이퍼로지 7 Bold"/>
              </a:rPr>
              <a:t>살아있는 파티클</a:t>
            </a:r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물리 업데이트</a:t>
            </a:r>
          </a:p>
        </p:txBody>
      </p:sp>
      <p:sp>
        <p:nvSpPr>
          <p:cNvPr id="618" name="Alive Box 1"/>
          <p:cNvSpPr/>
          <p:nvPr/>
        </p:nvSpPr>
        <p:spPr>
          <a:xfrm>
            <a:off x="3810000" y="4889500"/>
            <a:ext cx="2286000" cy="635000"/>
          </a:xfrm>
          <a:prstGeom prst="roundRect">
            <a:avLst/>
          </a:prstGeom>
          <a:solidFill>
            <a:srgbClr val="EAF5E4"/>
          </a:solidFill>
          <a:ln w="9525">
            <a:solidFill>
              <a:srgbClr val="B5D9A6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속도 증감</a:t>
            </a:r>
          </a:p>
        </p:txBody>
      </p:sp>
      <p:sp>
        <p:nvSpPr>
          <p:cNvPr id="619" name="Alive Box 2"/>
          <p:cNvSpPr/>
          <p:nvPr/>
        </p:nvSpPr>
        <p:spPr>
          <a:xfrm>
            <a:off x="6413500" y="4889500"/>
            <a:ext cx="2286000" cy="635000"/>
          </a:xfrm>
          <a:prstGeom prst="roundRect">
            <a:avLst/>
          </a:prstGeom>
          <a:solidFill>
            <a:srgbClr val="EAF5E4"/>
          </a:solidFill>
          <a:ln w="9525">
            <a:solidFill>
              <a:srgbClr val="B5D9A6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위치 적분</a:t>
            </a:r>
          </a:p>
        </p:txBody>
      </p:sp>
      <p:cxnSp>
        <p:nvCxnSpPr>
          <p:cNvPr id="620" name="Alive Arrow"/>
          <p:cNvCxnSpPr/>
          <p:nvPr/>
        </p:nvCxnSpPr>
        <p:spPr>
          <a:xfrm>
            <a:off x="6121400" y="5207000"/>
            <a:ext cx="254000" cy="0"/>
          </a:xfrm>
          <a:prstGeom prst="straightConnector1">
            <a:avLst/>
          </a:prstGeom>
          <a:ln w="15875">
            <a:solidFill>
              <a:srgbClr val="3A7D2C"/>
            </a:solidFill>
            <a:tailEnd type="triangle" w="med" len="med"/>
          </a:ln>
        </p:spPr>
      </p:cxnSp>
      <p:sp>
        <p:nvSpPr>
          <p:cNvPr id="621" name="Fig P Label"/>
          <p:cNvSpPr/>
          <p:nvPr/>
        </p:nvSpPr>
        <p:spPr>
          <a:xfrm>
            <a:off x="4064000" y="106680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Particles</a:t>
            </a:r>
          </a:p>
        </p:txBody>
      </p:sp>
      <p:sp>
        <p:nvSpPr>
          <p:cNvPr id="622" name="Fig P 0"/>
          <p:cNvSpPr/>
          <p:nvPr/>
        </p:nvSpPr>
        <p:spPr>
          <a:xfrm>
            <a:off x="4064000" y="1397000"/>
            <a:ext cx="3302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3" name="Fig P 1"/>
          <p:cNvSpPr/>
          <p:nvPr/>
        </p:nvSpPr>
        <p:spPr>
          <a:xfrm>
            <a:off x="4394200" y="1397000"/>
            <a:ext cx="3302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4" name="Fig P 2"/>
          <p:cNvSpPr/>
          <p:nvPr/>
        </p:nvSpPr>
        <p:spPr>
          <a:xfrm>
            <a:off x="4724400" y="1397000"/>
            <a:ext cx="3302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5" name="Fig P 3"/>
          <p:cNvSpPr/>
          <p:nvPr/>
        </p:nvSpPr>
        <p:spPr>
          <a:xfrm>
            <a:off x="5054600" y="1397000"/>
            <a:ext cx="3302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6" name="Fig P 4"/>
          <p:cNvSpPr/>
          <p:nvPr/>
        </p:nvSpPr>
        <p:spPr>
          <a:xfrm>
            <a:off x="5384800" y="1397000"/>
            <a:ext cx="3302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7" name="Fig P 5"/>
          <p:cNvSpPr/>
          <p:nvPr/>
        </p:nvSpPr>
        <p:spPr>
          <a:xfrm>
            <a:off x="5715000" y="1397000"/>
            <a:ext cx="3302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8" name="Fig P 6"/>
          <p:cNvSpPr/>
          <p:nvPr/>
        </p:nvSpPr>
        <p:spPr>
          <a:xfrm>
            <a:off x="6045200" y="1397000"/>
            <a:ext cx="3302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29" name="Fig P 7"/>
          <p:cNvSpPr/>
          <p:nvPr/>
        </p:nvSpPr>
        <p:spPr>
          <a:xfrm>
            <a:off x="6375400" y="1397000"/>
            <a:ext cx="3302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30" name="Fig P Outline"/>
          <p:cNvSpPr/>
          <p:nvPr/>
        </p:nvSpPr>
        <p:spPr>
          <a:xfrm>
            <a:off x="4064000" y="1397000"/>
            <a:ext cx="26416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31" name="Fig P Hi"/>
          <p:cNvSpPr/>
          <p:nvPr/>
        </p:nvSpPr>
        <p:spPr>
          <a:xfrm>
            <a:off x="4724400" y="1397000"/>
            <a:ext cx="330200" cy="330200"/>
          </a:xfrm>
          <a:prstGeom prst="rect">
            <a:avLst/>
          </a:prstGeom>
          <a:noFill/>
          <a:ln w="3492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32" name="Fig P idx 0"/>
          <p:cNvSpPr/>
          <p:nvPr/>
        </p:nvSpPr>
        <p:spPr>
          <a:xfrm>
            <a:off x="40640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33" name="Fig P idx 1"/>
          <p:cNvSpPr/>
          <p:nvPr/>
        </p:nvSpPr>
        <p:spPr>
          <a:xfrm>
            <a:off x="43942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34" name="Fig P idx 2"/>
          <p:cNvSpPr/>
          <p:nvPr/>
        </p:nvSpPr>
        <p:spPr>
          <a:xfrm>
            <a:off x="47244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35" name="Fig P idx 3"/>
          <p:cNvSpPr/>
          <p:nvPr/>
        </p:nvSpPr>
        <p:spPr>
          <a:xfrm>
            <a:off x="50546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36" name="Fig P idx 4"/>
          <p:cNvSpPr/>
          <p:nvPr/>
        </p:nvSpPr>
        <p:spPr>
          <a:xfrm>
            <a:off x="53848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637" name="Fig P idx 5"/>
          <p:cNvSpPr/>
          <p:nvPr/>
        </p:nvSpPr>
        <p:spPr>
          <a:xfrm>
            <a:off x="57150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638" name="Fig P idx 6"/>
          <p:cNvSpPr/>
          <p:nvPr/>
        </p:nvSpPr>
        <p:spPr>
          <a:xfrm>
            <a:off x="60452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39" name="Fig P idx 7"/>
          <p:cNvSpPr/>
          <p:nvPr/>
        </p:nvSpPr>
        <p:spPr>
          <a:xfrm>
            <a:off x="6375400" y="17526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40" name="Fig D Label"/>
          <p:cNvSpPr/>
          <p:nvPr/>
        </p:nvSpPr>
        <p:spPr>
          <a:xfrm>
            <a:off x="8128000" y="1066800"/>
            <a:ext cx="2311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DeadList</a:t>
            </a:r>
          </a:p>
        </p:txBody>
      </p:sp>
      <p:sp>
        <p:nvSpPr>
          <p:cNvPr id="641" name="Fig D 0"/>
          <p:cNvSpPr/>
          <p:nvPr/>
        </p:nvSpPr>
        <p:spPr>
          <a:xfrm>
            <a:off x="8128000" y="1397000"/>
            <a:ext cx="3302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642" name="Fig D 1"/>
          <p:cNvSpPr/>
          <p:nvPr/>
        </p:nvSpPr>
        <p:spPr>
          <a:xfrm>
            <a:off x="8458200" y="1397000"/>
            <a:ext cx="3302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43" name="Fig D 2"/>
          <p:cNvSpPr/>
          <p:nvPr/>
        </p:nvSpPr>
        <p:spPr>
          <a:xfrm>
            <a:off x="8788400" y="1397000"/>
            <a:ext cx="3302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7</a:t>
            </a:r>
          </a:p>
        </p:txBody>
      </p:sp>
      <p:sp>
        <p:nvSpPr>
          <p:cNvPr id="644" name="Fig D 3"/>
          <p:cNvSpPr/>
          <p:nvPr/>
        </p:nvSpPr>
        <p:spPr>
          <a:xfrm>
            <a:off x="9118600" y="1397000"/>
            <a:ext cx="330200" cy="33020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45" name="Fig D Ell"/>
          <p:cNvSpPr/>
          <p:nvPr/>
        </p:nvSpPr>
        <p:spPr>
          <a:xfrm>
            <a:off x="9448800" y="1397000"/>
            <a:ext cx="330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646" name="Fig D E0"/>
          <p:cNvSpPr/>
          <p:nvPr/>
        </p:nvSpPr>
        <p:spPr>
          <a:xfrm>
            <a:off x="9779000" y="1397000"/>
            <a:ext cx="330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7" name="Fig D E1"/>
          <p:cNvSpPr/>
          <p:nvPr/>
        </p:nvSpPr>
        <p:spPr>
          <a:xfrm>
            <a:off x="10109200" y="1397000"/>
            <a:ext cx="330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8" name="Fig D Outline"/>
          <p:cNvSpPr/>
          <p:nvPr/>
        </p:nvSpPr>
        <p:spPr>
          <a:xfrm>
            <a:off x="8128000" y="1397000"/>
            <a:ext cx="23114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649" name="Fig D Hi"/>
          <p:cNvSpPr/>
          <p:nvPr/>
        </p:nvSpPr>
        <p:spPr>
          <a:xfrm>
            <a:off x="9118600" y="1397000"/>
            <a:ext cx="330200" cy="330200"/>
          </a:xfrm>
          <a:prstGeom prst="rect">
            <a:avLst/>
          </a:prstGeom>
          <a:noFill/>
          <a:ln w="3492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en-US" sz="1200"/>
          </a:p>
        </p:txBody>
      </p:sp>
      <p:cxnSp>
        <p:nvCxnSpPr>
          <p:cNvPr id="650" name="Fig Arrow"/>
          <p:cNvCxnSpPr/>
          <p:nvPr/>
        </p:nvCxnSpPr>
        <p:spPr>
          <a:xfrm>
            <a:off x="6832600" y="1562100"/>
            <a:ext cx="1168400" cy="0"/>
          </a:xfrm>
          <a:prstGeom prst="straightConnector1">
            <a:avLst/>
          </a:prstGeom>
          <a:ln w="22225">
            <a:solidFill>
              <a:srgbClr val="C55A11"/>
            </a:solidFill>
            <a:tailEnd type="triangle" w="med" len="med"/>
          </a:ln>
        </p:spPr>
      </p:cxnSp>
      <p:sp>
        <p:nvSpPr>
          <p:cNvPr id="651" name="Fig Arrow Label"/>
          <p:cNvSpPr/>
          <p:nvPr/>
        </p:nvSpPr>
        <p:spPr>
          <a:xfrm>
            <a:off x="6832600" y="1117600"/>
            <a:ext cx="116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slot 2 반납</a:t>
            </a:r>
          </a:p>
        </p:txBody>
      </p:sp>
    </p:spTree>
    <p:extLst>
      <p:ext uri="{BB962C8B-B14F-4D97-AF65-F5344CB8AC3E}">
        <p14:creationId xmlns:p14="http://schemas.microsoft.com/office/powerpoint/2010/main" val="27316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010-2F40-49E7-2067-E8F4C747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SlotReuse 장단점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D85B24-6379-4AB9-76EE-B4EF1C24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601" name="장점 Card"/>
          <p:cNvSpPr/>
          <p:nvPr/>
        </p:nvSpPr>
        <p:spPr>
          <a:xfrm>
            <a:off x="762000" y="1079500"/>
            <a:ext cx="5207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2" name="장점 Tag"/>
          <p:cNvSpPr/>
          <p:nvPr/>
        </p:nvSpPr>
        <p:spPr>
          <a:xfrm>
            <a:off x="1016000" y="1333500"/>
            <a:ext cx="762000" cy="29210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sz="1600" dirty="0">
                <a:solidFill>
                  <a:srgbClr val="FFFFFF"/>
                </a:solidFill>
                <a:latin typeface="나눔스퀘어 Bold"/>
                <a:ea typeface="나눔스퀘어 Bold"/>
              </a:rPr>
              <a:t>장점</a:t>
            </a:r>
          </a:p>
        </p:txBody>
      </p:sp>
      <p:sp>
        <p:nvSpPr>
          <p:cNvPr id="603" name="장점 Num 1"/>
          <p:cNvSpPr/>
          <p:nvPr/>
        </p:nvSpPr>
        <p:spPr>
          <a:xfrm>
            <a:off x="1016000" y="1930400"/>
            <a:ext cx="330200" cy="3302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04" name="장점 Item 1"/>
          <p:cNvSpPr/>
          <p:nvPr/>
        </p:nvSpPr>
        <p:spPr>
          <a:xfrm>
            <a:off x="1498600" y="1905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필요한 만큼만 Emit</a:t>
            </a:r>
          </a:p>
          <a:p>
            <a:pPr algn="l">
              <a:spcBef>
                <a:spcPts val="4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Dispatch(EmitCount)로 새 파티클 수만큼만 실행</a:t>
            </a:r>
          </a:p>
        </p:txBody>
      </p:sp>
      <p:sp>
        <p:nvSpPr>
          <p:cNvPr id="605" name="장점 Rule 1"/>
          <p:cNvSpPr/>
          <p:nvPr/>
        </p:nvSpPr>
        <p:spPr>
          <a:xfrm>
            <a:off x="1016000" y="2794000"/>
            <a:ext cx="4699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6" name="장점 Num 2"/>
          <p:cNvSpPr/>
          <p:nvPr/>
        </p:nvSpPr>
        <p:spPr>
          <a:xfrm>
            <a:off x="1016000" y="2946400"/>
            <a:ext cx="330200" cy="3302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07" name="장점 Item 2"/>
          <p:cNvSpPr/>
          <p:nvPr/>
        </p:nvSpPr>
        <p:spPr>
          <a:xfrm>
            <a:off x="1498600" y="2921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단순한 Compute · Buffer 구조</a:t>
            </a:r>
          </a:p>
          <a:p>
            <a:pPr algn="l">
              <a:spcBef>
                <a:spcPts val="4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버퍼 3개, Alive 압축·재배치 단계 없음</a:t>
            </a:r>
          </a:p>
        </p:txBody>
      </p:sp>
      <p:sp>
        <p:nvSpPr>
          <p:cNvPr id="608" name="장점 Rule 2"/>
          <p:cNvSpPr/>
          <p:nvPr/>
        </p:nvSpPr>
        <p:spPr>
          <a:xfrm>
            <a:off x="1016000" y="3810000"/>
            <a:ext cx="4699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9" name="장점 Num 3"/>
          <p:cNvSpPr/>
          <p:nvPr/>
        </p:nvSpPr>
        <p:spPr>
          <a:xfrm>
            <a:off x="1016000" y="3962400"/>
            <a:ext cx="330200" cy="3302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10" name="장점 Item 3"/>
          <p:cNvSpPr/>
          <p:nvPr/>
        </p:nvSpPr>
        <p:spPr>
          <a:xfrm>
            <a:off x="1498600" y="3937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원자연산이 적음</a:t>
            </a:r>
          </a:p>
          <a:p>
            <a:pPr algn="l">
              <a:spcBef>
                <a:spcPts val="4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생성·소멸할 때만 Counter에 원자연산</a:t>
            </a:r>
          </a:p>
        </p:txBody>
      </p:sp>
      <p:sp>
        <p:nvSpPr>
          <p:cNvPr id="611" name="장점 Rule 3"/>
          <p:cNvSpPr/>
          <p:nvPr/>
        </p:nvSpPr>
        <p:spPr>
          <a:xfrm>
            <a:off x="1016000" y="4826000"/>
            <a:ext cx="4699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2" name="장점 Num 4"/>
          <p:cNvSpPr/>
          <p:nvPr/>
        </p:nvSpPr>
        <p:spPr>
          <a:xfrm>
            <a:off x="1016000" y="4978400"/>
            <a:ext cx="330200" cy="3302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13" name="장점 Item 4"/>
          <p:cNvSpPr/>
          <p:nvPr/>
        </p:nvSpPr>
        <p:spPr>
          <a:xfrm>
            <a:off x="1498600" y="4953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메모리 사용량이 적음</a:t>
            </a:r>
          </a:p>
          <a:p>
            <a:pPr algn="l">
              <a:spcBef>
                <a:spcPts val="4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Particles + DeadList + Counter만 사용</a:t>
            </a:r>
          </a:p>
        </p:txBody>
      </p:sp>
      <p:sp>
        <p:nvSpPr>
          <p:cNvPr id="614" name="단점 Card"/>
          <p:cNvSpPr/>
          <p:nvPr/>
        </p:nvSpPr>
        <p:spPr>
          <a:xfrm>
            <a:off x="6223000" y="1079500"/>
            <a:ext cx="5207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5" name="단점 Tag"/>
          <p:cNvSpPr/>
          <p:nvPr/>
        </p:nvSpPr>
        <p:spPr>
          <a:xfrm>
            <a:off x="6477000" y="1333500"/>
            <a:ext cx="762000" cy="2921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sz="1600" dirty="0">
                <a:solidFill>
                  <a:srgbClr val="FFFFFF"/>
                </a:solidFill>
                <a:latin typeface="나눔스퀘어 Bold"/>
                <a:ea typeface="나눔스퀘어 Bold"/>
              </a:rPr>
              <a:t>단점</a:t>
            </a:r>
          </a:p>
        </p:txBody>
      </p:sp>
      <p:sp>
        <p:nvSpPr>
          <p:cNvPr id="616" name="단점 Num 1"/>
          <p:cNvSpPr/>
          <p:nvPr/>
        </p:nvSpPr>
        <p:spPr>
          <a:xfrm>
            <a:off x="6477000" y="1930400"/>
            <a:ext cx="330200" cy="3302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17" name="단점 Item 1"/>
          <p:cNvSpPr/>
          <p:nvPr/>
        </p:nvSpPr>
        <p:spPr>
          <a:xfrm>
            <a:off x="6959600" y="1905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Simulate · Render가 항상 maxParticles</a:t>
            </a:r>
          </a:p>
          <a:p>
            <a:pPr algn="l">
              <a:spcBef>
                <a:spcPts val="4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Dead slot도 실행, render pass 수만큼 낭비 증가</a:t>
            </a:r>
          </a:p>
        </p:txBody>
      </p:sp>
      <p:sp>
        <p:nvSpPr>
          <p:cNvPr id="618" name="단점 Rule 1"/>
          <p:cNvSpPr/>
          <p:nvPr/>
        </p:nvSpPr>
        <p:spPr>
          <a:xfrm>
            <a:off x="6477000" y="2794000"/>
            <a:ext cx="4699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9" name="단점 Num 2"/>
          <p:cNvSpPr/>
          <p:nvPr/>
        </p:nvSpPr>
        <p:spPr>
          <a:xfrm>
            <a:off x="6477000" y="2946400"/>
            <a:ext cx="330200" cy="3302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20" name="단점 Item 2"/>
          <p:cNvSpPr/>
          <p:nvPr/>
        </p:nvSpPr>
        <p:spPr>
          <a:xfrm>
            <a:off x="6959600" y="2921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정렬 · LOD 구현이 어려움</a:t>
            </a:r>
          </a:p>
          <a:p>
            <a:pPr algn="l">
              <a:spcBef>
                <a:spcPts val="4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Alive가 흩어져 있어 정렬용 인덱스 버퍼 필요</a:t>
            </a:r>
          </a:p>
        </p:txBody>
      </p:sp>
      <p:sp>
        <p:nvSpPr>
          <p:cNvPr id="621" name="단점 Rule 2"/>
          <p:cNvSpPr/>
          <p:nvPr/>
        </p:nvSpPr>
        <p:spPr>
          <a:xfrm>
            <a:off x="6477000" y="3810000"/>
            <a:ext cx="4699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22" name="단점 Num 3"/>
          <p:cNvSpPr/>
          <p:nvPr/>
        </p:nvSpPr>
        <p:spPr>
          <a:xfrm>
            <a:off x="6477000" y="3962400"/>
            <a:ext cx="330200" cy="3302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23" name="단점 Item 3"/>
          <p:cNvSpPr/>
          <p:nvPr/>
        </p:nvSpPr>
        <p:spPr>
          <a:xfrm>
            <a:off x="6959600" y="3937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Burst에 취약할 수 있음</a:t>
            </a:r>
          </a:p>
          <a:p>
            <a:pPr algn="l">
              <a:spcBef>
                <a:spcPts val="4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DeadCount 하나에 원자연산 집중, 개수 초과 검사 필요</a:t>
            </a:r>
          </a:p>
        </p:txBody>
      </p:sp>
    </p:spTree>
    <p:extLst>
      <p:ext uri="{BB962C8B-B14F-4D97-AF65-F5344CB8AC3E}">
        <p14:creationId xmlns:p14="http://schemas.microsoft.com/office/powerpoint/2010/main" val="45303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C3B70-89DF-C7EC-B48F-09FF7BCA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AliveList 방식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1DA159A-A14D-6B24-87F8-4EF2342A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601" name="SlotReuse Panel"/>
          <p:cNvSpPr/>
          <p:nvPr/>
        </p:nvSpPr>
        <p:spPr>
          <a:xfrm>
            <a:off x="762000" y="1143000"/>
            <a:ext cx="4826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2" name="SlotReuse Tag"/>
          <p:cNvSpPr/>
          <p:nvPr/>
        </p:nvSpPr>
        <p:spPr>
          <a:xfrm>
            <a:off x="1016000" y="1371600"/>
            <a:ext cx="1270000" cy="304800"/>
          </a:xfrm>
          <a:prstGeom prst="roundRect">
            <a:avLst/>
          </a:prstGeom>
          <a:solidFill>
            <a:srgbClr val="7F7F7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나눔스퀘어 Bold"/>
                <a:ea typeface="나눔스퀘어 Bold"/>
              </a:rPr>
              <a:t>SlotReuse</a:t>
            </a:r>
          </a:p>
        </p:txBody>
      </p:sp>
      <p:sp>
        <p:nvSpPr>
          <p:cNvPr id="603" name="SlotReuse PLabel"/>
          <p:cNvSpPr/>
          <p:nvPr/>
        </p:nvSpPr>
        <p:spPr>
          <a:xfrm>
            <a:off x="1397000" y="1930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Particles</a:t>
            </a:r>
          </a:p>
        </p:txBody>
      </p:sp>
      <p:sp>
        <p:nvSpPr>
          <p:cNvPr id="604" name="SlotReuse P0"/>
          <p:cNvSpPr/>
          <p:nvPr/>
        </p:nvSpPr>
        <p:spPr>
          <a:xfrm>
            <a:off x="13970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5" name="SlotReuse P1"/>
          <p:cNvSpPr/>
          <p:nvPr/>
        </p:nvSpPr>
        <p:spPr>
          <a:xfrm>
            <a:off x="17526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6" name="SlotReuse P2"/>
          <p:cNvSpPr/>
          <p:nvPr/>
        </p:nvSpPr>
        <p:spPr>
          <a:xfrm>
            <a:off x="21082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7" name="SlotReuse P3"/>
          <p:cNvSpPr/>
          <p:nvPr/>
        </p:nvSpPr>
        <p:spPr>
          <a:xfrm>
            <a:off x="24638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8" name="SlotReuse P4"/>
          <p:cNvSpPr/>
          <p:nvPr/>
        </p:nvSpPr>
        <p:spPr>
          <a:xfrm>
            <a:off x="28194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9" name="SlotReuse P5"/>
          <p:cNvSpPr/>
          <p:nvPr/>
        </p:nvSpPr>
        <p:spPr>
          <a:xfrm>
            <a:off x="31750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0" name="SlotReuse P6"/>
          <p:cNvSpPr/>
          <p:nvPr/>
        </p:nvSpPr>
        <p:spPr>
          <a:xfrm>
            <a:off x="35306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1" name="SlotReuse P7"/>
          <p:cNvSpPr/>
          <p:nvPr/>
        </p:nvSpPr>
        <p:spPr>
          <a:xfrm>
            <a:off x="38862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2" name="SlotReuse P8"/>
          <p:cNvSpPr/>
          <p:nvPr/>
        </p:nvSpPr>
        <p:spPr>
          <a:xfrm>
            <a:off x="42418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3" name="SlotReuse P9"/>
          <p:cNvSpPr/>
          <p:nvPr/>
        </p:nvSpPr>
        <p:spPr>
          <a:xfrm>
            <a:off x="45974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4" name="SlotReuse POut"/>
          <p:cNvSpPr/>
          <p:nvPr/>
        </p:nvSpPr>
        <p:spPr>
          <a:xfrm>
            <a:off x="1397000" y="2235200"/>
            <a:ext cx="35560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5" name="SlotReuse Pi0"/>
          <p:cNvSpPr/>
          <p:nvPr/>
        </p:nvSpPr>
        <p:spPr>
          <a:xfrm>
            <a:off x="13970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16" name="SlotReuse Pi1"/>
          <p:cNvSpPr/>
          <p:nvPr/>
        </p:nvSpPr>
        <p:spPr>
          <a:xfrm>
            <a:off x="17526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17" name="SlotReuse Pi2"/>
          <p:cNvSpPr/>
          <p:nvPr/>
        </p:nvSpPr>
        <p:spPr>
          <a:xfrm>
            <a:off x="21082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618" name="SlotReuse Pi3"/>
          <p:cNvSpPr/>
          <p:nvPr/>
        </p:nvSpPr>
        <p:spPr>
          <a:xfrm>
            <a:off x="24638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19" name="SlotReuse Pi4"/>
          <p:cNvSpPr/>
          <p:nvPr/>
        </p:nvSpPr>
        <p:spPr>
          <a:xfrm>
            <a:off x="28194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620" name="SlotReuse Pi5"/>
          <p:cNvSpPr/>
          <p:nvPr/>
        </p:nvSpPr>
        <p:spPr>
          <a:xfrm>
            <a:off x="31750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621" name="SlotReuse Pi6"/>
          <p:cNvSpPr/>
          <p:nvPr/>
        </p:nvSpPr>
        <p:spPr>
          <a:xfrm>
            <a:off x="35306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22" name="SlotReuse Pi7"/>
          <p:cNvSpPr/>
          <p:nvPr/>
        </p:nvSpPr>
        <p:spPr>
          <a:xfrm>
            <a:off x="38862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23" name="SlotReuse Pi8"/>
          <p:cNvSpPr/>
          <p:nvPr/>
        </p:nvSpPr>
        <p:spPr>
          <a:xfrm>
            <a:off x="42418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8</a:t>
            </a:r>
          </a:p>
        </p:txBody>
      </p:sp>
      <p:sp>
        <p:nvSpPr>
          <p:cNvPr id="624" name="SlotReuse Pi9"/>
          <p:cNvSpPr/>
          <p:nvPr/>
        </p:nvSpPr>
        <p:spPr>
          <a:xfrm>
            <a:off x="45974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9</a:t>
            </a:r>
          </a:p>
        </p:txBody>
      </p:sp>
      <p:sp>
        <p:nvSpPr>
          <p:cNvPr id="625" name="AliveList Panel"/>
          <p:cNvSpPr/>
          <p:nvPr/>
        </p:nvSpPr>
        <p:spPr>
          <a:xfrm>
            <a:off x="6604000" y="1143000"/>
            <a:ext cx="4826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26" name="AliveList Tag"/>
          <p:cNvSpPr/>
          <p:nvPr/>
        </p:nvSpPr>
        <p:spPr>
          <a:xfrm>
            <a:off x="6858000" y="1371600"/>
            <a:ext cx="1270000" cy="30480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나눔스퀘어 Bold"/>
                <a:ea typeface="나눔스퀘어 Bold"/>
              </a:rPr>
              <a:t>AliveList</a:t>
            </a:r>
          </a:p>
        </p:txBody>
      </p:sp>
      <p:sp>
        <p:nvSpPr>
          <p:cNvPr id="627" name="AliveList PLabel"/>
          <p:cNvSpPr/>
          <p:nvPr/>
        </p:nvSpPr>
        <p:spPr>
          <a:xfrm>
            <a:off x="7239000" y="1930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Particles</a:t>
            </a:r>
          </a:p>
        </p:txBody>
      </p:sp>
      <p:sp>
        <p:nvSpPr>
          <p:cNvPr id="628" name="AliveList P0"/>
          <p:cNvSpPr/>
          <p:nvPr/>
        </p:nvSpPr>
        <p:spPr>
          <a:xfrm>
            <a:off x="72390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29" name="AliveList P1"/>
          <p:cNvSpPr/>
          <p:nvPr/>
        </p:nvSpPr>
        <p:spPr>
          <a:xfrm>
            <a:off x="75946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0" name="AliveList P2"/>
          <p:cNvSpPr/>
          <p:nvPr/>
        </p:nvSpPr>
        <p:spPr>
          <a:xfrm>
            <a:off x="79502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1" name="AliveList P3"/>
          <p:cNvSpPr/>
          <p:nvPr/>
        </p:nvSpPr>
        <p:spPr>
          <a:xfrm>
            <a:off x="83058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2" name="AliveList P4"/>
          <p:cNvSpPr/>
          <p:nvPr/>
        </p:nvSpPr>
        <p:spPr>
          <a:xfrm>
            <a:off x="86614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3" name="AliveList P5"/>
          <p:cNvSpPr/>
          <p:nvPr/>
        </p:nvSpPr>
        <p:spPr>
          <a:xfrm>
            <a:off x="90170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4" name="AliveList P6"/>
          <p:cNvSpPr/>
          <p:nvPr/>
        </p:nvSpPr>
        <p:spPr>
          <a:xfrm>
            <a:off x="93726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5" name="AliveList P7"/>
          <p:cNvSpPr/>
          <p:nvPr/>
        </p:nvSpPr>
        <p:spPr>
          <a:xfrm>
            <a:off x="97282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6" name="AliveList P8"/>
          <p:cNvSpPr/>
          <p:nvPr/>
        </p:nvSpPr>
        <p:spPr>
          <a:xfrm>
            <a:off x="10083800" y="2235200"/>
            <a:ext cx="3556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7" name="AliveList P9"/>
          <p:cNvSpPr/>
          <p:nvPr/>
        </p:nvSpPr>
        <p:spPr>
          <a:xfrm>
            <a:off x="10439400" y="2235200"/>
            <a:ext cx="3556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8" name="AliveList POut"/>
          <p:cNvSpPr/>
          <p:nvPr/>
        </p:nvSpPr>
        <p:spPr>
          <a:xfrm>
            <a:off x="7239000" y="2235200"/>
            <a:ext cx="35560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39" name="AliveList Pi0"/>
          <p:cNvSpPr/>
          <p:nvPr/>
        </p:nvSpPr>
        <p:spPr>
          <a:xfrm>
            <a:off x="72390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40" name="AliveList Pi1"/>
          <p:cNvSpPr/>
          <p:nvPr/>
        </p:nvSpPr>
        <p:spPr>
          <a:xfrm>
            <a:off x="75946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41" name="AliveList Pi2"/>
          <p:cNvSpPr/>
          <p:nvPr/>
        </p:nvSpPr>
        <p:spPr>
          <a:xfrm>
            <a:off x="79502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642" name="AliveList Pi3"/>
          <p:cNvSpPr/>
          <p:nvPr/>
        </p:nvSpPr>
        <p:spPr>
          <a:xfrm>
            <a:off x="83058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43" name="AliveList Pi4"/>
          <p:cNvSpPr/>
          <p:nvPr/>
        </p:nvSpPr>
        <p:spPr>
          <a:xfrm>
            <a:off x="86614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644" name="AliveList Pi5"/>
          <p:cNvSpPr/>
          <p:nvPr/>
        </p:nvSpPr>
        <p:spPr>
          <a:xfrm>
            <a:off x="90170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645" name="AliveList Pi6"/>
          <p:cNvSpPr/>
          <p:nvPr/>
        </p:nvSpPr>
        <p:spPr>
          <a:xfrm>
            <a:off x="93726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46" name="AliveList Pi7"/>
          <p:cNvSpPr/>
          <p:nvPr/>
        </p:nvSpPr>
        <p:spPr>
          <a:xfrm>
            <a:off x="97282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47" name="AliveList Pi8"/>
          <p:cNvSpPr/>
          <p:nvPr/>
        </p:nvSpPr>
        <p:spPr>
          <a:xfrm>
            <a:off x="100838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8</a:t>
            </a:r>
          </a:p>
        </p:txBody>
      </p:sp>
      <p:sp>
        <p:nvSpPr>
          <p:cNvPr id="648" name="AliveList Pi9"/>
          <p:cNvSpPr/>
          <p:nvPr/>
        </p:nvSpPr>
        <p:spPr>
          <a:xfrm>
            <a:off x="10439400" y="25908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9</a:t>
            </a:r>
          </a:p>
        </p:txBody>
      </p:sp>
      <p:cxnSp>
        <p:nvCxnSpPr>
          <p:cNvPr id="649" name="L Br"/>
          <p:cNvCxnSpPr/>
          <p:nvPr/>
        </p:nvCxnSpPr>
        <p:spPr>
          <a:xfrm>
            <a:off x="1397000" y="3048000"/>
            <a:ext cx="3556000" cy="0"/>
          </a:xfrm>
          <a:prstGeom prst="straightConnector1">
            <a:avLst/>
          </a:prstGeom>
          <a:ln w="15875">
            <a:solidFill>
              <a:srgbClr val="C00000"/>
            </a:solidFill>
          </a:ln>
        </p:spPr>
      </p:cxnSp>
      <p:cxnSp>
        <p:nvCxnSpPr>
          <p:cNvPr id="650" name="L BrL"/>
          <p:cNvCxnSpPr/>
          <p:nvPr/>
        </p:nvCxnSpPr>
        <p:spPr>
          <a:xfrm>
            <a:off x="1397000" y="2946400"/>
            <a:ext cx="0" cy="101600"/>
          </a:xfrm>
          <a:prstGeom prst="straightConnector1">
            <a:avLst/>
          </a:prstGeom>
          <a:ln w="15875">
            <a:solidFill>
              <a:srgbClr val="C00000"/>
            </a:solidFill>
          </a:ln>
        </p:spPr>
      </p:cxnSp>
      <p:cxnSp>
        <p:nvCxnSpPr>
          <p:cNvPr id="651" name="L BrR"/>
          <p:cNvCxnSpPr/>
          <p:nvPr/>
        </p:nvCxnSpPr>
        <p:spPr>
          <a:xfrm>
            <a:off x="4953000" y="2946400"/>
            <a:ext cx="0" cy="101600"/>
          </a:xfrm>
          <a:prstGeom prst="straightConnector1">
            <a:avLst/>
          </a:prstGeom>
          <a:ln w="15875">
            <a:solidFill>
              <a:srgbClr val="C00000"/>
            </a:solidFill>
          </a:ln>
        </p:spPr>
      </p:cxnSp>
      <p:sp>
        <p:nvSpPr>
          <p:cNvPr id="652" name="L BrText"/>
          <p:cNvSpPr/>
          <p:nvPr/>
        </p:nvSpPr>
        <p:spPr>
          <a:xfrm>
            <a:off x="762000" y="3175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 slot까지 </a:t>
            </a:r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모든 slot</a:t>
            </a:r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을 실행</a:t>
            </a:r>
          </a:p>
        </p:txBody>
      </p:sp>
      <p:sp>
        <p:nvSpPr>
          <p:cNvPr id="653" name="L Exec"/>
          <p:cNvSpPr/>
          <p:nvPr/>
        </p:nvSpPr>
        <p:spPr>
          <a:xfrm>
            <a:off x="1270000" y="4318000"/>
            <a:ext cx="3810000" cy="5588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Simulate · Render</a:t>
            </a:r>
          </a:p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maxParticles개 실행</a:t>
            </a:r>
          </a:p>
        </p:txBody>
      </p:sp>
      <p:sp>
        <p:nvSpPr>
          <p:cNvPr id="655" name="R A0"/>
          <p:cNvSpPr/>
          <p:nvPr/>
        </p:nvSpPr>
        <p:spPr>
          <a:xfrm>
            <a:off x="7239000" y="3365500"/>
            <a:ext cx="3556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0</a:t>
            </a:r>
          </a:p>
        </p:txBody>
      </p:sp>
      <p:sp>
        <p:nvSpPr>
          <p:cNvPr id="656" name="R A1"/>
          <p:cNvSpPr/>
          <p:nvPr/>
        </p:nvSpPr>
        <p:spPr>
          <a:xfrm>
            <a:off x="7594600" y="3365500"/>
            <a:ext cx="3556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57" name="R A2"/>
          <p:cNvSpPr/>
          <p:nvPr/>
        </p:nvSpPr>
        <p:spPr>
          <a:xfrm>
            <a:off x="7950200" y="3365500"/>
            <a:ext cx="3556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58" name="R A3"/>
          <p:cNvSpPr/>
          <p:nvPr/>
        </p:nvSpPr>
        <p:spPr>
          <a:xfrm>
            <a:off x="8305800" y="3365500"/>
            <a:ext cx="3556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59" name="R A4"/>
          <p:cNvSpPr/>
          <p:nvPr/>
        </p:nvSpPr>
        <p:spPr>
          <a:xfrm>
            <a:off x="8661400" y="3365500"/>
            <a:ext cx="3556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8</a:t>
            </a:r>
          </a:p>
        </p:txBody>
      </p:sp>
      <p:sp>
        <p:nvSpPr>
          <p:cNvPr id="660" name="R AE5"/>
          <p:cNvSpPr/>
          <p:nvPr/>
        </p:nvSpPr>
        <p:spPr>
          <a:xfrm>
            <a:off x="9017000" y="33655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61" name="R AE6"/>
          <p:cNvSpPr/>
          <p:nvPr/>
        </p:nvSpPr>
        <p:spPr>
          <a:xfrm>
            <a:off x="9372600" y="33655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62" name="R AE7"/>
          <p:cNvSpPr/>
          <p:nvPr/>
        </p:nvSpPr>
        <p:spPr>
          <a:xfrm>
            <a:off x="9728200" y="33655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63" name="R AE8"/>
          <p:cNvSpPr/>
          <p:nvPr/>
        </p:nvSpPr>
        <p:spPr>
          <a:xfrm>
            <a:off x="10083800" y="33655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64" name="R AE9"/>
          <p:cNvSpPr/>
          <p:nvPr/>
        </p:nvSpPr>
        <p:spPr>
          <a:xfrm>
            <a:off x="10439400" y="3365500"/>
            <a:ext cx="355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65" name="R AOut"/>
          <p:cNvSpPr/>
          <p:nvPr/>
        </p:nvSpPr>
        <p:spPr>
          <a:xfrm>
            <a:off x="7239000" y="3365500"/>
            <a:ext cx="35560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cxnSp>
        <p:nvCxnSpPr>
          <p:cNvPr id="666" name="R C0"/>
          <p:cNvCxnSpPr/>
          <p:nvPr/>
        </p:nvCxnSpPr>
        <p:spPr>
          <a:xfrm>
            <a:off x="7416800" y="2781300"/>
            <a:ext cx="0" cy="58420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cxnSp>
        <p:nvCxnSpPr>
          <p:cNvPr id="667" name="R C1"/>
          <p:cNvCxnSpPr/>
          <p:nvPr/>
        </p:nvCxnSpPr>
        <p:spPr>
          <a:xfrm flipH="1">
            <a:off x="7772400" y="2781300"/>
            <a:ext cx="355600" cy="58420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cxnSp>
        <p:nvCxnSpPr>
          <p:cNvPr id="668" name="R C2"/>
          <p:cNvCxnSpPr/>
          <p:nvPr/>
        </p:nvCxnSpPr>
        <p:spPr>
          <a:xfrm flipH="1">
            <a:off x="8128000" y="2781300"/>
            <a:ext cx="355600" cy="58420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cxnSp>
        <p:nvCxnSpPr>
          <p:cNvPr id="669" name="R C3"/>
          <p:cNvCxnSpPr/>
          <p:nvPr/>
        </p:nvCxnSpPr>
        <p:spPr>
          <a:xfrm flipH="1">
            <a:off x="8483600" y="2781300"/>
            <a:ext cx="711200" cy="58420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cxnSp>
        <p:nvCxnSpPr>
          <p:cNvPr id="670" name="R C4"/>
          <p:cNvCxnSpPr/>
          <p:nvPr/>
        </p:nvCxnSpPr>
        <p:spPr>
          <a:xfrm flipH="1">
            <a:off x="8839200" y="2781300"/>
            <a:ext cx="1422400" cy="58420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cxnSp>
        <p:nvCxnSpPr>
          <p:cNvPr id="671" name="R Br"/>
          <p:cNvCxnSpPr/>
          <p:nvPr/>
        </p:nvCxnSpPr>
        <p:spPr>
          <a:xfrm>
            <a:off x="7239000" y="3822700"/>
            <a:ext cx="1778000" cy="0"/>
          </a:xfrm>
          <a:prstGeom prst="straightConnector1">
            <a:avLst/>
          </a:prstGeom>
          <a:ln w="15875">
            <a:solidFill>
              <a:srgbClr val="548235"/>
            </a:solidFill>
          </a:ln>
        </p:spPr>
      </p:cxnSp>
      <p:cxnSp>
        <p:nvCxnSpPr>
          <p:cNvPr id="672" name="R BrL"/>
          <p:cNvCxnSpPr/>
          <p:nvPr/>
        </p:nvCxnSpPr>
        <p:spPr>
          <a:xfrm>
            <a:off x="7239000" y="3721100"/>
            <a:ext cx="0" cy="101600"/>
          </a:xfrm>
          <a:prstGeom prst="straightConnector1">
            <a:avLst/>
          </a:prstGeom>
          <a:ln w="15875">
            <a:solidFill>
              <a:srgbClr val="548235"/>
            </a:solidFill>
          </a:ln>
        </p:spPr>
      </p:cxnSp>
      <p:cxnSp>
        <p:nvCxnSpPr>
          <p:cNvPr id="673" name="R BrR"/>
          <p:cNvCxnSpPr/>
          <p:nvPr/>
        </p:nvCxnSpPr>
        <p:spPr>
          <a:xfrm>
            <a:off x="9017000" y="3721100"/>
            <a:ext cx="0" cy="101600"/>
          </a:xfrm>
          <a:prstGeom prst="straightConnector1">
            <a:avLst/>
          </a:prstGeom>
          <a:ln w="15875">
            <a:solidFill>
              <a:srgbClr val="548235"/>
            </a:solidFill>
          </a:ln>
        </p:spPr>
      </p:cxnSp>
      <p:sp>
        <p:nvSpPr>
          <p:cNvPr id="674" name="R BrText"/>
          <p:cNvSpPr/>
          <p:nvPr/>
        </p:nvSpPr>
        <p:spPr>
          <a:xfrm>
            <a:off x="7239000" y="3898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5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Alive 파티클만</a:t>
            </a:r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 실행</a:t>
            </a:r>
          </a:p>
        </p:txBody>
      </p:sp>
      <p:sp>
        <p:nvSpPr>
          <p:cNvPr id="675" name="R Exec"/>
          <p:cNvSpPr/>
          <p:nvPr/>
        </p:nvSpPr>
        <p:spPr>
          <a:xfrm>
            <a:off x="7112000" y="4318000"/>
            <a:ext cx="3810000" cy="55880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9525">
            <a:solidFill>
              <a:srgbClr val="548235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Simulate · Render</a:t>
            </a:r>
          </a:p>
          <a:p>
            <a:pPr algn="ctr"/>
            <a:r>
              <a:rPr lang="ko-KR" altLang="en-US" sz="15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AliveCount개만 실행</a:t>
            </a:r>
          </a:p>
        </p:txBody>
      </p:sp>
      <p:cxnSp>
        <p:nvCxnSpPr>
          <p:cNvPr id="676" name="Mid Arrow"/>
          <p:cNvCxnSpPr/>
          <p:nvPr/>
        </p:nvCxnSpPr>
        <p:spPr>
          <a:xfrm>
            <a:off x="5715000" y="3238500"/>
            <a:ext cx="762000" cy="0"/>
          </a:xfrm>
          <a:prstGeom prst="straightConnector1">
            <a:avLst/>
          </a:prstGeom>
          <a:ln w="28575">
            <a:solidFill>
              <a:srgbClr val="C55A11"/>
            </a:solidFill>
            <a:tailEnd type="triangle" w="sm" len="sm"/>
          </a:ln>
        </p:spPr>
      </p:cxnSp>
      <p:sp>
        <p:nvSpPr>
          <p:cNvPr id="677" name="Caption"/>
          <p:cNvSpPr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Simulate · Render를 maxParticles가 아니라 </a:t>
            </a:r>
            <a:r>
              <a:rPr lang="ko-KR" altLang="en-US" sz="18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Alive 파티클 수만큼</a:t>
            </a:r>
            <a:r>
              <a:rPr lang="ko-KR" altLang="en-US" sz="18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 실행한다</a:t>
            </a:r>
          </a:p>
        </p:txBody>
      </p:sp>
      <p:sp>
        <p:nvSpPr>
          <p:cNvPr id="654" name="R ALabel"/>
          <p:cNvSpPr/>
          <p:nvPr/>
        </p:nvSpPr>
        <p:spPr>
          <a:xfrm>
            <a:off x="9029700" y="3384550"/>
            <a:ext cx="1739900" cy="29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3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AliveList</a:t>
            </a:r>
          </a:p>
        </p:txBody>
      </p:sp>
    </p:spTree>
    <p:extLst>
      <p:ext uri="{BB962C8B-B14F-4D97-AF65-F5344CB8AC3E}">
        <p14:creationId xmlns:p14="http://schemas.microsoft.com/office/powerpoint/2010/main" val="86083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3C3BB-373F-FAB8-4004-8BCAC5B0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AliveList 버퍼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91B1A1-0D3C-CDBA-82E1-057B3F36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12</a:t>
            </a:fld>
            <a:endParaRPr lang="ko-KR" altLang="en-US"/>
          </a:p>
        </p:txBody>
      </p:sp>
      <p:graphicFrame>
        <p:nvGraphicFramePr>
          <p:cNvPr id="501" name="Buff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999957"/>
              </p:ext>
            </p:extLst>
          </p:nvPr>
        </p:nvGraphicFramePr>
        <p:xfrm>
          <a:off x="762000" y="1016000"/>
          <a:ext cx="10668000" cy="5257800"/>
        </p:xfrm>
        <a:graphic>
          <a:graphicData uri="http://schemas.openxmlformats.org/drawingml/2006/table">
            <a:tbl>
              <a:tblPr first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버퍼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담는 값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원소 타입 / 버퍼 타입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7 Bold"/>
                          <a:ea typeface="페이퍼로지 7 Bold"/>
                        </a:rPr>
                        <a:t>원소 수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Particles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파티클 1개의 데이터 (3페이지 구조체)</a:t>
                      </a:r>
                    </a:p>
                  </a:txBody>
                  <a:tcPr marL="127000" marR="127000" marT="114300" marB="1143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Particle 구조체</a:t>
                      </a:r>
                    </a:p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StructuredBuffer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maxParticles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Counter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AliveCount, DeadCount, EmitCount,</a:t>
                      </a: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C55A11"/>
                          </a:solidFill>
                          <a:latin typeface="페이퍼로지 7 Bold"/>
                          <a:ea typeface="페이퍼로지 7 Bold"/>
                        </a:rPr>
                        <a:t>AliveAfterSimulation</a:t>
                      </a:r>
                      <a:r>
                        <a:rPr lang="ko-KR" altLang="en-US" sz="1400" dirty="0">
                          <a:solidFill>
                            <a:srgbClr val="C55A11"/>
                          </a:solidFill>
                          <a:latin typeface="페이퍼로지 4 Regular"/>
                          <a:ea typeface="페이퍼로지 4 Regular"/>
                        </a:rPr>
                        <a:t> (이제 사용)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uint</a:t>
                      </a:r>
                    </a:p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ByteAddressBuffer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4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DeadList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Dead 파티클의 Particles 인덱스</a:t>
                      </a:r>
                    </a:p>
                  </a:txBody>
                  <a:tcPr marL="127000" marR="127000" marT="114300" marB="1143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uint</a:t>
                      </a:r>
                    </a:p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StructuredBuffer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maxParticles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AliveList</a:t>
                      </a:r>
                    </a:p>
                    <a:p>
                      <a:pPr algn="l"/>
                      <a:r>
                        <a:rPr lang="ko-KR" altLang="en-US" sz="1200" dirty="0">
                          <a:solidFill>
                            <a:srgbClr val="C55A11"/>
                          </a:solidFill>
                          <a:latin typeface="페이퍼로지 7 Bold"/>
                          <a:ea typeface="페이퍼로지 7 Bold"/>
                        </a:rPr>
                        <a:t>추가</a:t>
                      </a:r>
                    </a:p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× 2 (핑퐁)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Alive 파티클의 </a:t>
                      </a:r>
                      <a:r>
                        <a:rPr lang="ko-KR" altLang="en-US" sz="1600" dirty="0">
                          <a:solidFill>
                            <a:srgbClr val="C55A11"/>
                          </a:solidFill>
                          <a:latin typeface="페이퍼로지 7 Bold"/>
                          <a:ea typeface="페이퍼로지 7 Bold"/>
                        </a:rPr>
                        <a:t>Particles 인덱스</a:t>
                      </a:r>
                    </a:p>
                  </a:txBody>
                  <a:tcPr marL="127000" marR="127000" marT="114300" marB="11430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uint</a:t>
                      </a:r>
                    </a:p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StructuredBuffer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maxParticles</a:t>
                      </a:r>
                    </a:p>
                    <a:p>
                      <a:pPr algn="r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× 2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IndirectArgs</a:t>
                      </a:r>
                    </a:p>
                    <a:p>
                      <a:pPr algn="l"/>
                      <a:r>
                        <a:rPr lang="ko-KR" altLang="en-US" sz="1200" dirty="0">
                          <a:solidFill>
                            <a:srgbClr val="C55A11"/>
                          </a:solidFill>
                          <a:latin typeface="페이퍼로지 7 Bold"/>
                          <a:ea typeface="페이퍼로지 7 Bold"/>
                        </a:rPr>
                        <a:t>추가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</a:rPr>
                        <a:t>AliveCount, 정점 수(6)</a:t>
                      </a:r>
                    </a:p>
                    <a:p>
                      <a:pPr algn="l"/>
                      <a:r>
                        <a:rPr lang="ko-KR" altLang="en-US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Indirect 호출 인자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uint</a:t>
                      </a:r>
                    </a:p>
                    <a:p>
                      <a:pPr algn="l"/>
                      <a:r>
                        <a:rPr lang="en-US" altLang="ko-KR" sz="1400" dirty="0" err="1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ByteAddressBuffer</a:t>
                      </a:r>
                      <a:b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</a:br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(</a:t>
                      </a:r>
                      <a:r>
                        <a:rPr lang="ko-KR" altLang="en-US" sz="1400" dirty="0" err="1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IndirectArgs</a:t>
                      </a:r>
                      <a:r>
                        <a:rPr lang="en-US" altLang="ko-KR" sz="1400" dirty="0">
                          <a:solidFill>
                            <a:srgbClr val="7F7F7F"/>
                          </a:solidFill>
                          <a:latin typeface="페이퍼로지 4 Regular"/>
                          <a:ea typeface="페이퍼로지 4 Regular"/>
                        </a:rPr>
                        <a:t>)</a:t>
                      </a:r>
                      <a:endParaRPr lang="ko-KR" altLang="en-US" sz="1400" dirty="0">
                        <a:solidFill>
                          <a:srgbClr val="7F7F7F"/>
                        </a:solidFill>
                        <a:latin typeface="페이퍼로지 4 Regular"/>
                        <a:ea typeface="페이퍼로지 4 Regular"/>
                      </a:endParaRP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600" dirty="0">
                          <a:solidFill>
                            <a:srgbClr val="262626"/>
                          </a:solidFill>
                          <a:latin typeface="페이퍼로지 7 Bold"/>
                          <a:ea typeface="페이퍼로지 7 Bold"/>
                        </a:rPr>
                        <a:t>8</a:t>
                      </a:r>
                    </a:p>
                  </a:txBody>
                  <a:tcPr marL="127000" marR="127000" marT="114300" marB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1" name="P 0"/>
          <p:cNvSpPr/>
          <p:nvPr/>
        </p:nvSpPr>
        <p:spPr>
          <a:xfrm>
            <a:off x="2603500" y="1905000"/>
            <a:ext cx="330200" cy="3048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2" name="P 1"/>
          <p:cNvSpPr/>
          <p:nvPr/>
        </p:nvSpPr>
        <p:spPr>
          <a:xfrm>
            <a:off x="2933700" y="1905000"/>
            <a:ext cx="330200" cy="3048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3" name="P 2"/>
          <p:cNvSpPr/>
          <p:nvPr/>
        </p:nvSpPr>
        <p:spPr>
          <a:xfrm>
            <a:off x="3263900" y="1905000"/>
            <a:ext cx="330200" cy="3048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4" name="P 3"/>
          <p:cNvSpPr/>
          <p:nvPr/>
        </p:nvSpPr>
        <p:spPr>
          <a:xfrm>
            <a:off x="3594100" y="1905000"/>
            <a:ext cx="330200" cy="3048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5" name="P 4"/>
          <p:cNvSpPr/>
          <p:nvPr/>
        </p:nvSpPr>
        <p:spPr>
          <a:xfrm>
            <a:off x="3924300" y="1905000"/>
            <a:ext cx="330200" cy="3048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6" name="P 5"/>
          <p:cNvSpPr/>
          <p:nvPr/>
        </p:nvSpPr>
        <p:spPr>
          <a:xfrm>
            <a:off x="4254500" y="1905000"/>
            <a:ext cx="330200" cy="3048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7" name="P 6"/>
          <p:cNvSpPr/>
          <p:nvPr/>
        </p:nvSpPr>
        <p:spPr>
          <a:xfrm>
            <a:off x="4584700" y="1905000"/>
            <a:ext cx="330200" cy="3048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8" name="P 7"/>
          <p:cNvSpPr/>
          <p:nvPr/>
        </p:nvSpPr>
        <p:spPr>
          <a:xfrm>
            <a:off x="4914900" y="1905000"/>
            <a:ext cx="330200" cy="3048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19" name="P 8"/>
          <p:cNvSpPr/>
          <p:nvPr/>
        </p:nvSpPr>
        <p:spPr>
          <a:xfrm>
            <a:off x="5245100" y="1905000"/>
            <a:ext cx="330200" cy="3048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20" name="P 9"/>
          <p:cNvSpPr/>
          <p:nvPr/>
        </p:nvSpPr>
        <p:spPr>
          <a:xfrm>
            <a:off x="5575300" y="1905000"/>
            <a:ext cx="330200" cy="3048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21" name="P Out"/>
          <p:cNvSpPr/>
          <p:nvPr/>
        </p:nvSpPr>
        <p:spPr>
          <a:xfrm>
            <a:off x="2603500" y="1905000"/>
            <a:ext cx="3302000" cy="3048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22" name="P idx 0"/>
          <p:cNvSpPr/>
          <p:nvPr/>
        </p:nvSpPr>
        <p:spPr>
          <a:xfrm>
            <a:off x="26035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523" name="P idx 1"/>
          <p:cNvSpPr/>
          <p:nvPr/>
        </p:nvSpPr>
        <p:spPr>
          <a:xfrm>
            <a:off x="29337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524" name="P idx 2"/>
          <p:cNvSpPr/>
          <p:nvPr/>
        </p:nvSpPr>
        <p:spPr>
          <a:xfrm>
            <a:off x="32639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525" name="P idx 3"/>
          <p:cNvSpPr/>
          <p:nvPr/>
        </p:nvSpPr>
        <p:spPr>
          <a:xfrm>
            <a:off x="35941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526" name="P idx 4"/>
          <p:cNvSpPr/>
          <p:nvPr/>
        </p:nvSpPr>
        <p:spPr>
          <a:xfrm>
            <a:off x="39243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527" name="P idx 5"/>
          <p:cNvSpPr/>
          <p:nvPr/>
        </p:nvSpPr>
        <p:spPr>
          <a:xfrm>
            <a:off x="42545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528" name="P idx 6"/>
          <p:cNvSpPr/>
          <p:nvPr/>
        </p:nvSpPr>
        <p:spPr>
          <a:xfrm>
            <a:off x="45847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529" name="P idx 7"/>
          <p:cNvSpPr/>
          <p:nvPr/>
        </p:nvSpPr>
        <p:spPr>
          <a:xfrm>
            <a:off x="49149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530" name="P idx 8"/>
          <p:cNvSpPr/>
          <p:nvPr/>
        </p:nvSpPr>
        <p:spPr>
          <a:xfrm>
            <a:off x="52451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8</a:t>
            </a:r>
          </a:p>
        </p:txBody>
      </p:sp>
      <p:sp>
        <p:nvSpPr>
          <p:cNvPr id="531" name="P idx 9"/>
          <p:cNvSpPr/>
          <p:nvPr/>
        </p:nvSpPr>
        <p:spPr>
          <a:xfrm>
            <a:off x="5575300" y="22225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9</a:t>
            </a:r>
          </a:p>
        </p:txBody>
      </p:sp>
      <p:sp>
        <p:nvSpPr>
          <p:cNvPr id="532" name="Leg A Sw"/>
          <p:cNvSpPr/>
          <p:nvPr/>
        </p:nvSpPr>
        <p:spPr>
          <a:xfrm>
            <a:off x="5930900" y="1993900"/>
            <a:ext cx="127000" cy="127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33" name="Leg A"/>
          <p:cNvSpPr/>
          <p:nvPr/>
        </p:nvSpPr>
        <p:spPr>
          <a:xfrm>
            <a:off x="6108700" y="19050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Alive</a:t>
            </a:r>
          </a:p>
        </p:txBody>
      </p:sp>
      <p:sp>
        <p:nvSpPr>
          <p:cNvPr id="534" name="Leg D Sw"/>
          <p:cNvSpPr/>
          <p:nvPr/>
        </p:nvSpPr>
        <p:spPr>
          <a:xfrm>
            <a:off x="6718300" y="1993900"/>
            <a:ext cx="127000" cy="12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35" name="Leg D"/>
          <p:cNvSpPr/>
          <p:nvPr/>
        </p:nvSpPr>
        <p:spPr>
          <a:xfrm>
            <a:off x="6896100" y="19050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2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</a:t>
            </a:r>
          </a:p>
        </p:txBody>
      </p:sp>
      <p:sp>
        <p:nvSpPr>
          <p:cNvPr id="536" name="DL 0"/>
          <p:cNvSpPr/>
          <p:nvPr/>
        </p:nvSpPr>
        <p:spPr>
          <a:xfrm>
            <a:off x="2603500" y="3581400"/>
            <a:ext cx="330200" cy="3048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537" name="DL 1"/>
          <p:cNvSpPr/>
          <p:nvPr/>
        </p:nvSpPr>
        <p:spPr>
          <a:xfrm>
            <a:off x="2933700" y="3581400"/>
            <a:ext cx="330200" cy="3048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538" name="DL 2"/>
          <p:cNvSpPr/>
          <p:nvPr/>
        </p:nvSpPr>
        <p:spPr>
          <a:xfrm>
            <a:off x="3263900" y="3581400"/>
            <a:ext cx="330200" cy="3048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539" name="DL 3"/>
          <p:cNvSpPr/>
          <p:nvPr/>
        </p:nvSpPr>
        <p:spPr>
          <a:xfrm>
            <a:off x="3594100" y="3581400"/>
            <a:ext cx="330200" cy="3048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7</a:t>
            </a:r>
          </a:p>
        </p:txBody>
      </p:sp>
      <p:sp>
        <p:nvSpPr>
          <p:cNvPr id="540" name="DL 4"/>
          <p:cNvSpPr/>
          <p:nvPr/>
        </p:nvSpPr>
        <p:spPr>
          <a:xfrm>
            <a:off x="3924300" y="3581400"/>
            <a:ext cx="330200" cy="3048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9</a:t>
            </a:r>
          </a:p>
        </p:txBody>
      </p:sp>
      <p:sp>
        <p:nvSpPr>
          <p:cNvPr id="541" name="DL E5"/>
          <p:cNvSpPr/>
          <p:nvPr/>
        </p:nvSpPr>
        <p:spPr>
          <a:xfrm>
            <a:off x="4254500" y="35814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42" name="DL E6"/>
          <p:cNvSpPr/>
          <p:nvPr/>
        </p:nvSpPr>
        <p:spPr>
          <a:xfrm>
            <a:off x="4584700" y="35814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43" name="DL E7"/>
          <p:cNvSpPr/>
          <p:nvPr/>
        </p:nvSpPr>
        <p:spPr>
          <a:xfrm>
            <a:off x="4914900" y="35814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44" name="DL E8"/>
          <p:cNvSpPr/>
          <p:nvPr/>
        </p:nvSpPr>
        <p:spPr>
          <a:xfrm>
            <a:off x="5245100" y="35814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45" name="DL E9"/>
          <p:cNvSpPr/>
          <p:nvPr/>
        </p:nvSpPr>
        <p:spPr>
          <a:xfrm>
            <a:off x="5575300" y="35814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46" name="DL Out"/>
          <p:cNvSpPr/>
          <p:nvPr/>
        </p:nvSpPr>
        <p:spPr>
          <a:xfrm>
            <a:off x="2603500" y="3581400"/>
            <a:ext cx="3302000" cy="3048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47" name="AL A tag"/>
          <p:cNvSpPr/>
          <p:nvPr/>
        </p:nvSpPr>
        <p:spPr>
          <a:xfrm>
            <a:off x="2603500" y="4546600"/>
            <a:ext cx="25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A</a:t>
            </a:r>
          </a:p>
        </p:txBody>
      </p:sp>
      <p:sp>
        <p:nvSpPr>
          <p:cNvPr id="548" name="ALA0"/>
          <p:cNvSpPr/>
          <p:nvPr/>
        </p:nvSpPr>
        <p:spPr>
          <a:xfrm>
            <a:off x="2908300" y="4546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0</a:t>
            </a:r>
          </a:p>
        </p:txBody>
      </p:sp>
      <p:sp>
        <p:nvSpPr>
          <p:cNvPr id="549" name="ALA1"/>
          <p:cNvSpPr/>
          <p:nvPr/>
        </p:nvSpPr>
        <p:spPr>
          <a:xfrm>
            <a:off x="3238500" y="4546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550" name="ALA2"/>
          <p:cNvSpPr/>
          <p:nvPr/>
        </p:nvSpPr>
        <p:spPr>
          <a:xfrm>
            <a:off x="3568700" y="4546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551" name="ALA3"/>
          <p:cNvSpPr/>
          <p:nvPr/>
        </p:nvSpPr>
        <p:spPr>
          <a:xfrm>
            <a:off x="3898900" y="4546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552" name="ALA4"/>
          <p:cNvSpPr/>
          <p:nvPr/>
        </p:nvSpPr>
        <p:spPr>
          <a:xfrm>
            <a:off x="4229100" y="4546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8</a:t>
            </a:r>
          </a:p>
        </p:txBody>
      </p:sp>
      <p:sp>
        <p:nvSpPr>
          <p:cNvPr id="553" name="ALAE5"/>
          <p:cNvSpPr/>
          <p:nvPr/>
        </p:nvSpPr>
        <p:spPr>
          <a:xfrm>
            <a:off x="4559300" y="45466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54" name="ALAE6"/>
          <p:cNvSpPr/>
          <p:nvPr/>
        </p:nvSpPr>
        <p:spPr>
          <a:xfrm>
            <a:off x="4889500" y="45466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55" name="ALAE7"/>
          <p:cNvSpPr/>
          <p:nvPr/>
        </p:nvSpPr>
        <p:spPr>
          <a:xfrm>
            <a:off x="5219700" y="45466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56" name="ALAOut"/>
          <p:cNvSpPr/>
          <p:nvPr/>
        </p:nvSpPr>
        <p:spPr>
          <a:xfrm>
            <a:off x="2908300" y="4546600"/>
            <a:ext cx="2641600" cy="3048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57" name="ALACap"/>
          <p:cNvSpPr/>
          <p:nvPr/>
        </p:nvSpPr>
        <p:spPr>
          <a:xfrm>
            <a:off x="5676900" y="4546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이번 프레임 입력</a:t>
            </a:r>
          </a:p>
        </p:txBody>
      </p:sp>
      <p:sp>
        <p:nvSpPr>
          <p:cNvPr id="558" name="AL B tag"/>
          <p:cNvSpPr/>
          <p:nvPr/>
        </p:nvSpPr>
        <p:spPr>
          <a:xfrm>
            <a:off x="2603500" y="4927600"/>
            <a:ext cx="25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B</a:t>
            </a:r>
          </a:p>
        </p:txBody>
      </p:sp>
      <p:sp>
        <p:nvSpPr>
          <p:cNvPr id="559" name="ALB0"/>
          <p:cNvSpPr/>
          <p:nvPr/>
        </p:nvSpPr>
        <p:spPr>
          <a:xfrm>
            <a:off x="2908300" y="4927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0</a:t>
            </a:r>
          </a:p>
        </p:txBody>
      </p:sp>
      <p:sp>
        <p:nvSpPr>
          <p:cNvPr id="560" name="ALB1"/>
          <p:cNvSpPr/>
          <p:nvPr/>
        </p:nvSpPr>
        <p:spPr>
          <a:xfrm>
            <a:off x="3238500" y="4927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561" name="ALB2"/>
          <p:cNvSpPr/>
          <p:nvPr/>
        </p:nvSpPr>
        <p:spPr>
          <a:xfrm>
            <a:off x="3568700" y="4927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562" name="ALB3"/>
          <p:cNvSpPr/>
          <p:nvPr/>
        </p:nvSpPr>
        <p:spPr>
          <a:xfrm>
            <a:off x="3898900" y="49276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8</a:t>
            </a:r>
          </a:p>
        </p:txBody>
      </p:sp>
      <p:sp>
        <p:nvSpPr>
          <p:cNvPr id="563" name="ALBE4"/>
          <p:cNvSpPr/>
          <p:nvPr/>
        </p:nvSpPr>
        <p:spPr>
          <a:xfrm>
            <a:off x="4229100" y="49276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64" name="ALBE5"/>
          <p:cNvSpPr/>
          <p:nvPr/>
        </p:nvSpPr>
        <p:spPr>
          <a:xfrm>
            <a:off x="4559300" y="49276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65" name="ALBE6"/>
          <p:cNvSpPr/>
          <p:nvPr/>
        </p:nvSpPr>
        <p:spPr>
          <a:xfrm>
            <a:off x="4889500" y="49276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66" name="ALBE7"/>
          <p:cNvSpPr/>
          <p:nvPr/>
        </p:nvSpPr>
        <p:spPr>
          <a:xfrm>
            <a:off x="5219700" y="49276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67" name="ALBOut"/>
          <p:cNvSpPr/>
          <p:nvPr/>
        </p:nvSpPr>
        <p:spPr>
          <a:xfrm>
            <a:off x="2908300" y="4927600"/>
            <a:ext cx="2641600" cy="3048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568" name="ALBCap"/>
          <p:cNvSpPr/>
          <p:nvPr/>
        </p:nvSpPr>
        <p:spPr>
          <a:xfrm>
            <a:off x="5676900" y="492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Simulate 결과 출력</a:t>
            </a:r>
          </a:p>
        </p:txBody>
      </p:sp>
    </p:spTree>
    <p:extLst>
      <p:ext uri="{BB962C8B-B14F-4D97-AF65-F5344CB8AC3E}">
        <p14:creationId xmlns:p14="http://schemas.microsoft.com/office/powerpoint/2010/main" val="309141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961C3-A5BC-F85D-1E5F-B43F583D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Emit 단계 (AliveList)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CA1FF7-7A11-1CC8-5558-3750FC1C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601" name="CPU"/>
          <p:cNvSpPr/>
          <p:nvPr/>
        </p:nvSpPr>
        <p:spPr>
          <a:xfrm>
            <a:off x="762000" y="1409700"/>
            <a:ext cx="2540000" cy="4064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CPU</a:t>
            </a:r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  EmitCount 계산</a:t>
            </a:r>
          </a:p>
        </p:txBody>
      </p:sp>
      <p:cxnSp>
        <p:nvCxnSpPr>
          <p:cNvPr id="602" name="CPU Arrow"/>
          <p:cNvCxnSpPr/>
          <p:nvPr/>
        </p:nvCxnSpPr>
        <p:spPr>
          <a:xfrm>
            <a:off x="3403600" y="1612900"/>
            <a:ext cx="660400" cy="0"/>
          </a:xfrm>
          <a:prstGeom prst="straightConnector1">
            <a:avLst/>
          </a:prstGeom>
          <a:ln w="12700">
            <a:solidFill>
              <a:srgbClr val="262626"/>
            </a:solidFill>
            <a:tailEnd type="triangle" w="med" len="med"/>
          </a:ln>
        </p:spPr>
      </p:cxnSp>
      <p:sp>
        <p:nvSpPr>
          <p:cNvPr id="603" name="Dispatch"/>
          <p:cNvSpPr/>
          <p:nvPr/>
        </p:nvSpPr>
        <p:spPr>
          <a:xfrm>
            <a:off x="4165600" y="1409700"/>
            <a:ext cx="2794000" cy="406400"/>
          </a:xfrm>
          <a:prstGeom prst="roundRect">
            <a:avLst>
              <a:gd name="adj" fmla="val 20000"/>
            </a:avLst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Dispatch(EmitCount)</a:t>
            </a:r>
          </a:p>
        </p:txBody>
      </p:sp>
      <p:sp>
        <p:nvSpPr>
          <p:cNvPr id="604" name="Dispatch Note"/>
          <p:cNvSpPr/>
          <p:nvPr/>
        </p:nvSpPr>
        <p:spPr>
          <a:xfrm>
            <a:off x="7112000" y="14097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스레드 1개 = 새 파티클 1개</a:t>
            </a:r>
          </a:p>
        </p:txBody>
      </p:sp>
      <p:sp>
        <p:nvSpPr>
          <p:cNvPr id="605" name="Card 1"/>
          <p:cNvSpPr/>
          <p:nvPr/>
        </p:nvSpPr>
        <p:spPr>
          <a:xfrm>
            <a:off x="762000" y="2070100"/>
            <a:ext cx="2438400" cy="332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06" name="Badge 1"/>
          <p:cNvSpPr/>
          <p:nvPr/>
        </p:nvSpPr>
        <p:spPr>
          <a:xfrm>
            <a:off x="939800" y="22479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07" name="Head 1"/>
          <p:cNvSpPr/>
          <p:nvPr/>
        </p:nvSpPr>
        <p:spPr>
          <a:xfrm>
            <a:off x="1397000" y="2222500"/>
            <a:ext cx="1727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6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DeadCount 감소</a:t>
            </a:r>
          </a:p>
        </p:txBody>
      </p:sp>
      <p:sp>
        <p:nvSpPr>
          <p:cNvPr id="608" name="Desc 1-0"/>
          <p:cNvSpPr/>
          <p:nvPr/>
        </p:nvSpPr>
        <p:spPr>
          <a:xfrm>
            <a:off x="965200" y="27305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1F3864"/>
                </a:solidFill>
                <a:latin typeface="페이퍼로지 7 Bold"/>
                <a:ea typeface="페이퍼로지 7 Bold"/>
              </a:rPr>
              <a:t>InterlockedAdd</a:t>
            </a:r>
          </a:p>
        </p:txBody>
      </p:sp>
      <p:sp>
        <p:nvSpPr>
          <p:cNvPr id="609" name="Desc 1-1"/>
          <p:cNvSpPr/>
          <p:nvPr/>
        </p:nvSpPr>
        <p:spPr>
          <a:xfrm>
            <a:off x="965200" y="29972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(DeadCount, −1)</a:t>
            </a:r>
          </a:p>
        </p:txBody>
      </p:sp>
      <p:sp>
        <p:nvSpPr>
          <p:cNvPr id="610" name="Desc 1-2"/>
          <p:cNvSpPr/>
          <p:nvPr/>
        </p:nvSpPr>
        <p:spPr>
          <a:xfrm>
            <a:off x="965200" y="32639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감소 전 값 = index</a:t>
            </a:r>
          </a:p>
        </p:txBody>
      </p:sp>
      <p:sp>
        <p:nvSpPr>
          <p:cNvPr id="611" name="Rule 1"/>
          <p:cNvSpPr/>
          <p:nvPr/>
        </p:nvSpPr>
        <p:spPr>
          <a:xfrm>
            <a:off x="965200" y="3619500"/>
            <a:ext cx="2032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cxnSp>
        <p:nvCxnSpPr>
          <p:cNvPr id="612" name="Arrow 1"/>
          <p:cNvCxnSpPr/>
          <p:nvPr/>
        </p:nvCxnSpPr>
        <p:spPr>
          <a:xfrm>
            <a:off x="3251200" y="37338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13" name="Card 2"/>
          <p:cNvSpPr/>
          <p:nvPr/>
        </p:nvSpPr>
        <p:spPr>
          <a:xfrm>
            <a:off x="3505200" y="2070100"/>
            <a:ext cx="2438400" cy="332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4" name="Badge 2"/>
          <p:cNvSpPr/>
          <p:nvPr/>
        </p:nvSpPr>
        <p:spPr>
          <a:xfrm>
            <a:off x="3683000" y="22479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15" name="Head 2"/>
          <p:cNvSpPr/>
          <p:nvPr/>
        </p:nvSpPr>
        <p:spPr>
          <a:xfrm>
            <a:off x="4140200" y="2222500"/>
            <a:ext cx="1727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6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slot 얻기</a:t>
            </a:r>
          </a:p>
        </p:txBody>
      </p:sp>
      <p:sp>
        <p:nvSpPr>
          <p:cNvPr id="616" name="Desc 2-0"/>
          <p:cNvSpPr/>
          <p:nvPr/>
        </p:nvSpPr>
        <p:spPr>
          <a:xfrm>
            <a:off x="3708400" y="27305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DeadList[index]의 값</a:t>
            </a:r>
          </a:p>
        </p:txBody>
      </p:sp>
      <p:sp>
        <p:nvSpPr>
          <p:cNvPr id="617" name="Desc 2-1"/>
          <p:cNvSpPr/>
          <p:nvPr/>
        </p:nvSpPr>
        <p:spPr>
          <a:xfrm>
            <a:off x="3708400" y="29972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= 재사용할 slot</a:t>
            </a:r>
          </a:p>
        </p:txBody>
      </p:sp>
      <p:sp>
        <p:nvSpPr>
          <p:cNvPr id="618" name="Rule 2"/>
          <p:cNvSpPr/>
          <p:nvPr/>
        </p:nvSpPr>
        <p:spPr>
          <a:xfrm>
            <a:off x="3708400" y="3619500"/>
            <a:ext cx="2032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cxnSp>
        <p:nvCxnSpPr>
          <p:cNvPr id="619" name="Arrow 2"/>
          <p:cNvCxnSpPr/>
          <p:nvPr/>
        </p:nvCxnSpPr>
        <p:spPr>
          <a:xfrm>
            <a:off x="5994400" y="37338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20" name="Card 3"/>
          <p:cNvSpPr/>
          <p:nvPr/>
        </p:nvSpPr>
        <p:spPr>
          <a:xfrm>
            <a:off x="6248400" y="2070100"/>
            <a:ext cx="2438400" cy="332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21" name="Badge 3"/>
          <p:cNvSpPr/>
          <p:nvPr/>
        </p:nvSpPr>
        <p:spPr>
          <a:xfrm>
            <a:off x="6426200" y="22479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22" name="Head 3"/>
          <p:cNvSpPr/>
          <p:nvPr/>
        </p:nvSpPr>
        <p:spPr>
          <a:xfrm>
            <a:off x="6883400" y="2222500"/>
            <a:ext cx="1727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6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파티클 초기화</a:t>
            </a:r>
          </a:p>
        </p:txBody>
      </p:sp>
      <p:sp>
        <p:nvSpPr>
          <p:cNvPr id="623" name="Desc 3-0"/>
          <p:cNvSpPr/>
          <p:nvPr/>
        </p:nvSpPr>
        <p:spPr>
          <a:xfrm>
            <a:off x="6451600" y="27305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Particles[slot]에</a:t>
            </a:r>
          </a:p>
        </p:txBody>
      </p:sp>
      <p:sp>
        <p:nvSpPr>
          <p:cNvPr id="624" name="Desc 3-1"/>
          <p:cNvSpPr/>
          <p:nvPr/>
        </p:nvSpPr>
        <p:spPr>
          <a:xfrm>
            <a:off x="6451600" y="29972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초기화한 파티클 저장</a:t>
            </a:r>
          </a:p>
        </p:txBody>
      </p:sp>
      <p:sp>
        <p:nvSpPr>
          <p:cNvPr id="625" name="Rule 3"/>
          <p:cNvSpPr/>
          <p:nvPr/>
        </p:nvSpPr>
        <p:spPr>
          <a:xfrm>
            <a:off x="6451600" y="3619500"/>
            <a:ext cx="2032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cxnSp>
        <p:nvCxnSpPr>
          <p:cNvPr id="626" name="Arrow 3"/>
          <p:cNvCxnSpPr/>
          <p:nvPr/>
        </p:nvCxnSpPr>
        <p:spPr>
          <a:xfrm>
            <a:off x="8737600" y="37338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27" name="Card 4"/>
          <p:cNvSpPr/>
          <p:nvPr/>
        </p:nvSpPr>
        <p:spPr>
          <a:xfrm>
            <a:off x="8991600" y="2070100"/>
            <a:ext cx="2438400" cy="332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28" name="Badge 4"/>
          <p:cNvSpPr/>
          <p:nvPr/>
        </p:nvSpPr>
        <p:spPr>
          <a:xfrm>
            <a:off x="9169400" y="22479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29" name="Head 4"/>
          <p:cNvSpPr/>
          <p:nvPr/>
        </p:nvSpPr>
        <p:spPr>
          <a:xfrm>
            <a:off x="9626600" y="2222500"/>
            <a:ext cx="1727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6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AliveIn에 기록</a:t>
            </a:r>
          </a:p>
        </p:txBody>
      </p:sp>
      <p:sp>
        <p:nvSpPr>
          <p:cNvPr id="630" name="Desc 4-0"/>
          <p:cNvSpPr/>
          <p:nvPr/>
        </p:nvSpPr>
        <p:spPr>
          <a:xfrm>
            <a:off x="9194800" y="27305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1F3864"/>
                </a:solidFill>
                <a:latin typeface="페이퍼로지 7 Bold"/>
                <a:ea typeface="페이퍼로지 7 Bold"/>
              </a:rPr>
              <a:t>InterlockedAdd</a:t>
            </a:r>
          </a:p>
        </p:txBody>
      </p:sp>
      <p:sp>
        <p:nvSpPr>
          <p:cNvPr id="631" name="Desc 4-1"/>
          <p:cNvSpPr/>
          <p:nvPr/>
        </p:nvSpPr>
        <p:spPr>
          <a:xfrm>
            <a:off x="9194800" y="29972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(AliveCount, +1)</a:t>
            </a:r>
          </a:p>
        </p:txBody>
      </p:sp>
      <p:sp>
        <p:nvSpPr>
          <p:cNvPr id="632" name="Desc 4-2"/>
          <p:cNvSpPr/>
          <p:nvPr/>
        </p:nvSpPr>
        <p:spPr>
          <a:xfrm>
            <a:off x="9194800" y="32639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증가 전 값 = index</a:t>
            </a:r>
          </a:p>
        </p:txBody>
      </p:sp>
      <p:sp>
        <p:nvSpPr>
          <p:cNvPr id="633" name="Rule 4"/>
          <p:cNvSpPr/>
          <p:nvPr/>
        </p:nvSpPr>
        <p:spPr>
          <a:xfrm>
            <a:off x="9194800" y="3619500"/>
            <a:ext cx="2032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4" name="FigLabel 1"/>
          <p:cNvSpPr/>
          <p:nvPr/>
        </p:nvSpPr>
        <p:spPr>
          <a:xfrm>
            <a:off x="762000" y="374650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Counter</a:t>
            </a:r>
          </a:p>
        </p:txBody>
      </p:sp>
      <p:sp>
        <p:nvSpPr>
          <p:cNvPr id="635" name="DC Box"/>
          <p:cNvSpPr/>
          <p:nvPr/>
        </p:nvSpPr>
        <p:spPr>
          <a:xfrm>
            <a:off x="1092200" y="4051300"/>
            <a:ext cx="1778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DeadCount</a:t>
            </a:r>
          </a:p>
        </p:txBody>
      </p:sp>
      <p:sp>
        <p:nvSpPr>
          <p:cNvPr id="636" name="DC Val"/>
          <p:cNvSpPr/>
          <p:nvPr/>
        </p:nvSpPr>
        <p:spPr>
          <a:xfrm>
            <a:off x="762000" y="4508500"/>
            <a:ext cx="2438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22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4</a:t>
            </a:r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→  </a:t>
            </a:r>
            <a:r>
              <a:rPr lang="ko-KR" altLang="en-US" sz="2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37" name="DC Cap"/>
          <p:cNvSpPr/>
          <p:nvPr/>
        </p:nvSpPr>
        <p:spPr>
          <a:xfrm>
            <a:off x="762000" y="496570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4 Regular"/>
                <a:ea typeface="페이퍼로지 4 Regular"/>
              </a:rPr>
              <a:t>감소 전 값 4 → index</a:t>
            </a:r>
          </a:p>
        </p:txBody>
      </p:sp>
      <p:sp>
        <p:nvSpPr>
          <p:cNvPr id="638" name="FigLabel 2"/>
          <p:cNvSpPr/>
          <p:nvPr/>
        </p:nvSpPr>
        <p:spPr>
          <a:xfrm>
            <a:off x="3505200" y="374650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DeadList</a:t>
            </a:r>
          </a:p>
        </p:txBody>
      </p:sp>
      <p:sp>
        <p:nvSpPr>
          <p:cNvPr id="639" name="DL 0"/>
          <p:cNvSpPr/>
          <p:nvPr/>
        </p:nvSpPr>
        <p:spPr>
          <a:xfrm>
            <a:off x="3810000" y="4076700"/>
            <a:ext cx="3048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640" name="DL 1"/>
          <p:cNvSpPr/>
          <p:nvPr/>
        </p:nvSpPr>
        <p:spPr>
          <a:xfrm>
            <a:off x="4114800" y="4076700"/>
            <a:ext cx="3048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41" name="DL 2"/>
          <p:cNvSpPr/>
          <p:nvPr/>
        </p:nvSpPr>
        <p:spPr>
          <a:xfrm>
            <a:off x="4419600" y="4076700"/>
            <a:ext cx="3048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7</a:t>
            </a:r>
          </a:p>
        </p:txBody>
      </p:sp>
      <p:sp>
        <p:nvSpPr>
          <p:cNvPr id="642" name="DL 3"/>
          <p:cNvSpPr/>
          <p:nvPr/>
        </p:nvSpPr>
        <p:spPr>
          <a:xfrm>
            <a:off x="4724400" y="4076700"/>
            <a:ext cx="304800" cy="3302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43" name="DL Ell"/>
          <p:cNvSpPr/>
          <p:nvPr/>
        </p:nvSpPr>
        <p:spPr>
          <a:xfrm>
            <a:off x="5029200" y="4076700"/>
            <a:ext cx="3048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644" name="DL E"/>
          <p:cNvSpPr/>
          <p:nvPr/>
        </p:nvSpPr>
        <p:spPr>
          <a:xfrm>
            <a:off x="5334000" y="4076700"/>
            <a:ext cx="3048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5" name="DL Out"/>
          <p:cNvSpPr/>
          <p:nvPr/>
        </p:nvSpPr>
        <p:spPr>
          <a:xfrm>
            <a:off x="3810000" y="4076700"/>
            <a:ext cx="18288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6" name="DL Hl"/>
          <p:cNvSpPr/>
          <p:nvPr/>
        </p:nvSpPr>
        <p:spPr>
          <a:xfrm>
            <a:off x="4724400" y="4076700"/>
            <a:ext cx="304800" cy="3302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cxnSp>
        <p:nvCxnSpPr>
          <p:cNvPr id="647" name="DL Down"/>
          <p:cNvCxnSpPr/>
          <p:nvPr/>
        </p:nvCxnSpPr>
        <p:spPr>
          <a:xfrm>
            <a:off x="4876800" y="4432300"/>
            <a:ext cx="0" cy="254000"/>
          </a:xfrm>
          <a:prstGeom prst="straightConnector1">
            <a:avLst/>
          </a:prstGeom>
          <a:ln w="12700">
            <a:solidFill>
              <a:srgbClr val="C55A11"/>
            </a:solidFill>
            <a:tailEnd type="triangle" w="med" len="med"/>
          </a:ln>
        </p:spPr>
      </p:cxnSp>
      <p:sp>
        <p:nvSpPr>
          <p:cNvPr id="648" name="Slot Pill"/>
          <p:cNvSpPr/>
          <p:nvPr/>
        </p:nvSpPr>
        <p:spPr>
          <a:xfrm>
            <a:off x="4089400" y="4737100"/>
            <a:ext cx="1270000" cy="330200"/>
          </a:xfrm>
          <a:prstGeom prst="roundRect">
            <a:avLst>
              <a:gd name="adj" fmla="val 20000"/>
            </a:avLst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slot = 4</a:t>
            </a:r>
          </a:p>
        </p:txBody>
      </p:sp>
      <p:sp>
        <p:nvSpPr>
          <p:cNvPr id="649" name="FigLabel 3"/>
          <p:cNvSpPr/>
          <p:nvPr/>
        </p:nvSpPr>
        <p:spPr>
          <a:xfrm>
            <a:off x="6248400" y="374650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Particles</a:t>
            </a:r>
          </a:p>
        </p:txBody>
      </p:sp>
      <p:sp>
        <p:nvSpPr>
          <p:cNvPr id="650" name="P 0"/>
          <p:cNvSpPr/>
          <p:nvPr/>
        </p:nvSpPr>
        <p:spPr>
          <a:xfrm>
            <a:off x="6350000" y="4076700"/>
            <a:ext cx="2794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1" name="P 1"/>
          <p:cNvSpPr/>
          <p:nvPr/>
        </p:nvSpPr>
        <p:spPr>
          <a:xfrm>
            <a:off x="6629400" y="4076700"/>
            <a:ext cx="2794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2" name="P 2"/>
          <p:cNvSpPr/>
          <p:nvPr/>
        </p:nvSpPr>
        <p:spPr>
          <a:xfrm>
            <a:off x="6908800" y="4076700"/>
            <a:ext cx="2794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3" name="P 3"/>
          <p:cNvSpPr/>
          <p:nvPr/>
        </p:nvSpPr>
        <p:spPr>
          <a:xfrm>
            <a:off x="7188200" y="4076700"/>
            <a:ext cx="2794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4" name="P 4"/>
          <p:cNvSpPr/>
          <p:nvPr/>
        </p:nvSpPr>
        <p:spPr>
          <a:xfrm>
            <a:off x="7467600" y="4076700"/>
            <a:ext cx="2794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5" name="P 5"/>
          <p:cNvSpPr/>
          <p:nvPr/>
        </p:nvSpPr>
        <p:spPr>
          <a:xfrm>
            <a:off x="7747000" y="4076700"/>
            <a:ext cx="2794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6" name="P 6"/>
          <p:cNvSpPr/>
          <p:nvPr/>
        </p:nvSpPr>
        <p:spPr>
          <a:xfrm>
            <a:off x="8026400" y="4076700"/>
            <a:ext cx="2794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7" name="P 7"/>
          <p:cNvSpPr/>
          <p:nvPr/>
        </p:nvSpPr>
        <p:spPr>
          <a:xfrm>
            <a:off x="8305800" y="4076700"/>
            <a:ext cx="2794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8" name="P Out"/>
          <p:cNvSpPr/>
          <p:nvPr/>
        </p:nvSpPr>
        <p:spPr>
          <a:xfrm>
            <a:off x="6350000" y="4076700"/>
            <a:ext cx="22352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9" name="P Hl"/>
          <p:cNvSpPr/>
          <p:nvPr/>
        </p:nvSpPr>
        <p:spPr>
          <a:xfrm>
            <a:off x="7467600" y="4076700"/>
            <a:ext cx="279400" cy="3302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60" name="P idx 0"/>
          <p:cNvSpPr/>
          <p:nvPr/>
        </p:nvSpPr>
        <p:spPr>
          <a:xfrm>
            <a:off x="63500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61" name="P idx 1"/>
          <p:cNvSpPr/>
          <p:nvPr/>
        </p:nvSpPr>
        <p:spPr>
          <a:xfrm>
            <a:off x="66294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62" name="P idx 2"/>
          <p:cNvSpPr/>
          <p:nvPr/>
        </p:nvSpPr>
        <p:spPr>
          <a:xfrm>
            <a:off x="69088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663" name="P idx 3"/>
          <p:cNvSpPr/>
          <p:nvPr/>
        </p:nvSpPr>
        <p:spPr>
          <a:xfrm>
            <a:off x="71882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64" name="P idx 4"/>
          <p:cNvSpPr/>
          <p:nvPr/>
        </p:nvSpPr>
        <p:spPr>
          <a:xfrm>
            <a:off x="74676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65" name="P idx 5"/>
          <p:cNvSpPr/>
          <p:nvPr/>
        </p:nvSpPr>
        <p:spPr>
          <a:xfrm>
            <a:off x="77470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666" name="P idx 6"/>
          <p:cNvSpPr/>
          <p:nvPr/>
        </p:nvSpPr>
        <p:spPr>
          <a:xfrm>
            <a:off x="80264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67" name="P idx 7"/>
          <p:cNvSpPr/>
          <p:nvPr/>
        </p:nvSpPr>
        <p:spPr>
          <a:xfrm>
            <a:off x="83058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68" name="P Cap"/>
          <p:cNvSpPr/>
          <p:nvPr/>
        </p:nvSpPr>
        <p:spPr>
          <a:xfrm>
            <a:off x="6248400" y="4737100"/>
            <a:ext cx="2438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slot 4: </a:t>
            </a:r>
            <a:r>
              <a:rPr lang="ko-KR" altLang="en-US" sz="13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Dead</a:t>
            </a:r>
            <a:r>
              <a:rPr lang="ko-KR" altLang="en-US" sz="13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 → </a:t>
            </a:r>
            <a:r>
              <a:rPr lang="ko-KR" altLang="en-US" sz="1300" dirty="0">
                <a:solidFill>
                  <a:srgbClr val="00B050"/>
                </a:solidFill>
                <a:latin typeface="페이퍼로지 7 Bold"/>
                <a:ea typeface="페이퍼로지 7 Bold"/>
              </a:rPr>
              <a:t>Alive</a:t>
            </a:r>
          </a:p>
        </p:txBody>
      </p:sp>
      <p:sp>
        <p:nvSpPr>
          <p:cNvPr id="669" name="FigLabel 4"/>
          <p:cNvSpPr/>
          <p:nvPr/>
        </p:nvSpPr>
        <p:spPr>
          <a:xfrm>
            <a:off x="8991600" y="374650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AliveIn</a:t>
            </a:r>
          </a:p>
        </p:txBody>
      </p:sp>
      <p:sp>
        <p:nvSpPr>
          <p:cNvPr id="670" name="AI 0"/>
          <p:cNvSpPr/>
          <p:nvPr/>
        </p:nvSpPr>
        <p:spPr>
          <a:xfrm>
            <a:off x="9093200" y="4076700"/>
            <a:ext cx="2794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0</a:t>
            </a:r>
          </a:p>
        </p:txBody>
      </p:sp>
      <p:sp>
        <p:nvSpPr>
          <p:cNvPr id="671" name="AI 1"/>
          <p:cNvSpPr/>
          <p:nvPr/>
        </p:nvSpPr>
        <p:spPr>
          <a:xfrm>
            <a:off x="9372600" y="4076700"/>
            <a:ext cx="2794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72" name="AI 2"/>
          <p:cNvSpPr/>
          <p:nvPr/>
        </p:nvSpPr>
        <p:spPr>
          <a:xfrm>
            <a:off x="9652000" y="4076700"/>
            <a:ext cx="2794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73" name="AI 3"/>
          <p:cNvSpPr/>
          <p:nvPr/>
        </p:nvSpPr>
        <p:spPr>
          <a:xfrm>
            <a:off x="9931400" y="4076700"/>
            <a:ext cx="2794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74" name="AI 4"/>
          <p:cNvSpPr/>
          <p:nvPr/>
        </p:nvSpPr>
        <p:spPr>
          <a:xfrm>
            <a:off x="10210800" y="4076700"/>
            <a:ext cx="2794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8</a:t>
            </a:r>
          </a:p>
        </p:txBody>
      </p:sp>
      <p:sp>
        <p:nvSpPr>
          <p:cNvPr id="675" name="AI 5"/>
          <p:cNvSpPr/>
          <p:nvPr/>
        </p:nvSpPr>
        <p:spPr>
          <a:xfrm>
            <a:off x="10490200" y="4076700"/>
            <a:ext cx="279400" cy="33020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76" name="AI E6"/>
          <p:cNvSpPr/>
          <p:nvPr/>
        </p:nvSpPr>
        <p:spPr>
          <a:xfrm>
            <a:off x="10769600" y="4076700"/>
            <a:ext cx="2794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77" name="AI E7"/>
          <p:cNvSpPr/>
          <p:nvPr/>
        </p:nvSpPr>
        <p:spPr>
          <a:xfrm>
            <a:off x="11049000" y="4076700"/>
            <a:ext cx="2794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78" name="AI Out"/>
          <p:cNvSpPr/>
          <p:nvPr/>
        </p:nvSpPr>
        <p:spPr>
          <a:xfrm>
            <a:off x="9093200" y="4076700"/>
            <a:ext cx="22352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79" name="AI Hl"/>
          <p:cNvSpPr/>
          <p:nvPr/>
        </p:nvSpPr>
        <p:spPr>
          <a:xfrm>
            <a:off x="10490200" y="4076700"/>
            <a:ext cx="279400" cy="3302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80" name="AI idx 0"/>
          <p:cNvSpPr/>
          <p:nvPr/>
        </p:nvSpPr>
        <p:spPr>
          <a:xfrm>
            <a:off x="90932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81" name="AI idx 1"/>
          <p:cNvSpPr/>
          <p:nvPr/>
        </p:nvSpPr>
        <p:spPr>
          <a:xfrm>
            <a:off x="93726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82" name="AI idx 2"/>
          <p:cNvSpPr/>
          <p:nvPr/>
        </p:nvSpPr>
        <p:spPr>
          <a:xfrm>
            <a:off x="96520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683" name="AI idx 3"/>
          <p:cNvSpPr/>
          <p:nvPr/>
        </p:nvSpPr>
        <p:spPr>
          <a:xfrm>
            <a:off x="99314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84" name="AI idx 4"/>
          <p:cNvSpPr/>
          <p:nvPr/>
        </p:nvSpPr>
        <p:spPr>
          <a:xfrm>
            <a:off x="102108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685" name="AI idx 5"/>
          <p:cNvSpPr/>
          <p:nvPr/>
        </p:nvSpPr>
        <p:spPr>
          <a:xfrm>
            <a:off x="104902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86" name="AI idx 6"/>
          <p:cNvSpPr/>
          <p:nvPr/>
        </p:nvSpPr>
        <p:spPr>
          <a:xfrm>
            <a:off x="107696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87" name="AI idx 7"/>
          <p:cNvSpPr/>
          <p:nvPr/>
        </p:nvSpPr>
        <p:spPr>
          <a:xfrm>
            <a:off x="11049000" y="4432300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88" name="AI Cap"/>
          <p:cNvSpPr/>
          <p:nvPr/>
        </p:nvSpPr>
        <p:spPr>
          <a:xfrm>
            <a:off x="8991600" y="4737100"/>
            <a:ext cx="2438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AliveIn[5] = slot 4</a:t>
            </a:r>
          </a:p>
        </p:txBody>
      </p:sp>
      <p:sp>
        <p:nvSpPr>
          <p:cNvPr id="689" name="AC Cap"/>
          <p:cNvSpPr/>
          <p:nvPr/>
        </p:nvSpPr>
        <p:spPr>
          <a:xfrm>
            <a:off x="8991600" y="504190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AliveCount 5 → 6</a:t>
            </a:r>
          </a:p>
        </p:txBody>
      </p:sp>
      <p:sp>
        <p:nvSpPr>
          <p:cNvPr id="690" name="Footer"/>
          <p:cNvSpPr/>
          <p:nvPr/>
        </p:nvSpPr>
        <p:spPr>
          <a:xfrm>
            <a:off x="762000" y="5600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①–③은 SlotReuse와 같고, </a:t>
            </a:r>
            <a:r>
              <a:rPr lang="ko-KR" altLang="en-US" sz="1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④ AliveIn 기록</a:t>
            </a:r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이 AliveList 방식에서 추가된 단계</a:t>
            </a:r>
          </a:p>
        </p:txBody>
      </p:sp>
    </p:spTree>
    <p:extLst>
      <p:ext uri="{BB962C8B-B14F-4D97-AF65-F5344CB8AC3E}">
        <p14:creationId xmlns:p14="http://schemas.microsoft.com/office/powerpoint/2010/main" val="227294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961C3-A5BC-F85D-1E5F-B43F583D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PreSimulate 단계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CA1FF7-7A11-1CC8-5558-3750FC1C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601" name="Note"/>
          <p:cNvSpPr/>
          <p:nvPr/>
        </p:nvSpPr>
        <p:spPr>
          <a:xfrm>
            <a:off x="762000" y="14732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Simulate를 실행하기 전, </a:t>
            </a:r>
            <a:r>
              <a:rPr lang="ko-KR" altLang="en-US" sz="15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Alive 파티클 수에 맞춰 Dispatch 인자</a:t>
            </a:r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를 준비한다</a:t>
            </a:r>
          </a:p>
        </p:txBody>
      </p:sp>
      <p:sp>
        <p:nvSpPr>
          <p:cNvPr id="602" name="Card 1"/>
          <p:cNvSpPr/>
          <p:nvPr/>
        </p:nvSpPr>
        <p:spPr>
          <a:xfrm>
            <a:off x="7620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03" name="Badge 1"/>
          <p:cNvSpPr/>
          <p:nvPr/>
        </p:nvSpPr>
        <p:spPr>
          <a:xfrm>
            <a:off x="9398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04" name="Head 1"/>
          <p:cNvSpPr/>
          <p:nvPr/>
        </p:nvSpPr>
        <p:spPr>
          <a:xfrm>
            <a:off x="13970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AliveCount 읽기</a:t>
            </a:r>
          </a:p>
        </p:txBody>
      </p:sp>
      <p:sp>
        <p:nvSpPr>
          <p:cNvPr id="605" name="Desc 1-0"/>
          <p:cNvSpPr/>
          <p:nvPr/>
        </p:nvSpPr>
        <p:spPr>
          <a:xfrm>
            <a:off x="9652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Counter에서</a:t>
            </a:r>
          </a:p>
        </p:txBody>
      </p:sp>
      <p:sp>
        <p:nvSpPr>
          <p:cNvPr id="606" name="Desc 1-1"/>
          <p:cNvSpPr/>
          <p:nvPr/>
        </p:nvSpPr>
        <p:spPr>
          <a:xfrm>
            <a:off x="9652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이번 프레임의 Alive 수를 얻는다</a:t>
            </a:r>
          </a:p>
        </p:txBody>
      </p:sp>
      <p:sp>
        <p:nvSpPr>
          <p:cNvPr id="607" name="Rule 1"/>
          <p:cNvSpPr/>
          <p:nvPr/>
        </p:nvSpPr>
        <p:spPr>
          <a:xfrm>
            <a:off x="9652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cxnSp>
        <p:nvCxnSpPr>
          <p:cNvPr id="608" name="Arrow 1"/>
          <p:cNvCxnSpPr/>
          <p:nvPr/>
        </p:nvCxnSpPr>
        <p:spPr>
          <a:xfrm>
            <a:off x="4165600" y="37211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09" name="Card 2"/>
          <p:cNvSpPr/>
          <p:nvPr/>
        </p:nvSpPr>
        <p:spPr>
          <a:xfrm>
            <a:off x="44196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0" name="Badge 2"/>
          <p:cNvSpPr/>
          <p:nvPr/>
        </p:nvSpPr>
        <p:spPr>
          <a:xfrm>
            <a:off x="45974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11" name="Head 2"/>
          <p:cNvSpPr/>
          <p:nvPr/>
        </p:nvSpPr>
        <p:spPr>
          <a:xfrm>
            <a:off x="50546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그룹 수 계산</a:t>
            </a:r>
          </a:p>
        </p:txBody>
      </p:sp>
      <p:sp>
        <p:nvSpPr>
          <p:cNvPr id="612" name="Desc 2-0"/>
          <p:cNvSpPr/>
          <p:nvPr/>
        </p:nvSpPr>
        <p:spPr>
          <a:xfrm>
            <a:off x="46228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스레드 그룹 크기에 맞춰</a:t>
            </a:r>
          </a:p>
        </p:txBody>
      </p:sp>
      <p:sp>
        <p:nvSpPr>
          <p:cNvPr id="613" name="Desc 2-1"/>
          <p:cNvSpPr/>
          <p:nvPr/>
        </p:nvSpPr>
        <p:spPr>
          <a:xfrm>
            <a:off x="46228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필요한 그룹 수를 구성한다</a:t>
            </a:r>
          </a:p>
        </p:txBody>
      </p:sp>
      <p:sp>
        <p:nvSpPr>
          <p:cNvPr id="614" name="Rule 2"/>
          <p:cNvSpPr/>
          <p:nvPr/>
        </p:nvSpPr>
        <p:spPr>
          <a:xfrm>
            <a:off x="46228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cxnSp>
        <p:nvCxnSpPr>
          <p:cNvPr id="615" name="Arrow 2"/>
          <p:cNvCxnSpPr/>
          <p:nvPr/>
        </p:nvCxnSpPr>
        <p:spPr>
          <a:xfrm>
            <a:off x="7823200" y="37211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16" name="Card 3"/>
          <p:cNvSpPr/>
          <p:nvPr/>
        </p:nvSpPr>
        <p:spPr>
          <a:xfrm>
            <a:off x="80772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7" name="Badge 3"/>
          <p:cNvSpPr/>
          <p:nvPr/>
        </p:nvSpPr>
        <p:spPr>
          <a:xfrm>
            <a:off x="82550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18" name="Head 3"/>
          <p:cNvSpPr/>
          <p:nvPr/>
        </p:nvSpPr>
        <p:spPr>
          <a:xfrm>
            <a:off x="87122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IndirectArgs에 기록</a:t>
            </a:r>
          </a:p>
        </p:txBody>
      </p:sp>
      <p:sp>
        <p:nvSpPr>
          <p:cNvPr id="619" name="Desc 3-0"/>
          <p:cNvSpPr/>
          <p:nvPr/>
        </p:nvSpPr>
        <p:spPr>
          <a:xfrm>
            <a:off x="82804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계산한 그룹 수를</a:t>
            </a:r>
          </a:p>
        </p:txBody>
      </p:sp>
      <p:sp>
        <p:nvSpPr>
          <p:cNvPr id="620" name="Desc 3-1"/>
          <p:cNvSpPr/>
          <p:nvPr/>
        </p:nvSpPr>
        <p:spPr>
          <a:xfrm>
            <a:off x="82804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Simulate의 Dispatch 인자로 기록</a:t>
            </a:r>
          </a:p>
        </p:txBody>
      </p:sp>
      <p:sp>
        <p:nvSpPr>
          <p:cNvPr id="621" name="Rule 3"/>
          <p:cNvSpPr/>
          <p:nvPr/>
        </p:nvSpPr>
        <p:spPr>
          <a:xfrm>
            <a:off x="82804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22" name="F1 Lab"/>
          <p:cNvSpPr/>
          <p:nvPr/>
        </p:nvSpPr>
        <p:spPr>
          <a:xfrm>
            <a:off x="7620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Counter</a:t>
            </a:r>
          </a:p>
        </p:txBody>
      </p:sp>
      <p:sp>
        <p:nvSpPr>
          <p:cNvPr id="623" name="F1 Box"/>
          <p:cNvSpPr/>
          <p:nvPr/>
        </p:nvSpPr>
        <p:spPr>
          <a:xfrm>
            <a:off x="1422400" y="4064000"/>
            <a:ext cx="20320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AliveCount</a:t>
            </a:r>
          </a:p>
        </p:txBody>
      </p:sp>
      <p:sp>
        <p:nvSpPr>
          <p:cNvPr id="624" name="F1 Val"/>
          <p:cNvSpPr/>
          <p:nvPr/>
        </p:nvSpPr>
        <p:spPr>
          <a:xfrm>
            <a:off x="762000" y="4572000"/>
            <a:ext cx="335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2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= 6</a:t>
            </a:r>
          </a:p>
        </p:txBody>
      </p:sp>
      <p:sp>
        <p:nvSpPr>
          <p:cNvPr id="625" name="F2 Lab"/>
          <p:cNvSpPr/>
          <p:nvPr/>
        </p:nvSpPr>
        <p:spPr>
          <a:xfrm>
            <a:off x="44196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스레드 그룹</a:t>
            </a:r>
          </a:p>
        </p:txBody>
      </p:sp>
      <p:sp>
        <p:nvSpPr>
          <p:cNvPr id="626" name="Grp 0"/>
          <p:cNvSpPr/>
          <p:nvPr/>
        </p:nvSpPr>
        <p:spPr>
          <a:xfrm>
            <a:off x="4775200" y="4064000"/>
            <a:ext cx="812800" cy="43180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952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그룹 1</a:t>
            </a:r>
          </a:p>
        </p:txBody>
      </p:sp>
      <p:sp>
        <p:nvSpPr>
          <p:cNvPr id="627" name="Grp 1"/>
          <p:cNvSpPr/>
          <p:nvPr/>
        </p:nvSpPr>
        <p:spPr>
          <a:xfrm>
            <a:off x="5689600" y="4064000"/>
            <a:ext cx="812800" cy="43180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952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그룹 2</a:t>
            </a:r>
          </a:p>
        </p:txBody>
      </p:sp>
      <p:sp>
        <p:nvSpPr>
          <p:cNvPr id="628" name="Grp 2"/>
          <p:cNvSpPr/>
          <p:nvPr/>
        </p:nvSpPr>
        <p:spPr>
          <a:xfrm>
            <a:off x="6604000" y="4064000"/>
            <a:ext cx="812800" cy="431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629" name="F2 Cap"/>
          <p:cNvSpPr/>
          <p:nvPr/>
        </p:nvSpPr>
        <p:spPr>
          <a:xfrm>
            <a:off x="4419600" y="46228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Alive 수를 덮는 만큼만</a:t>
            </a:r>
          </a:p>
        </p:txBody>
      </p:sp>
      <p:sp>
        <p:nvSpPr>
          <p:cNvPr id="630" name="F3 Lab"/>
          <p:cNvSpPr/>
          <p:nvPr/>
        </p:nvSpPr>
        <p:spPr>
          <a:xfrm>
            <a:off x="80772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IndirectArgs</a:t>
            </a:r>
          </a:p>
        </p:txBody>
      </p:sp>
      <p:sp>
        <p:nvSpPr>
          <p:cNvPr id="631" name="IA 0"/>
          <p:cNvSpPr/>
          <p:nvPr/>
        </p:nvSpPr>
        <p:spPr>
          <a:xfrm>
            <a:off x="8432800" y="4089400"/>
            <a:ext cx="330200" cy="35560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2" name="IA 1"/>
          <p:cNvSpPr/>
          <p:nvPr/>
        </p:nvSpPr>
        <p:spPr>
          <a:xfrm>
            <a:off x="8763000" y="4089400"/>
            <a:ext cx="330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3" name="IA 2"/>
          <p:cNvSpPr/>
          <p:nvPr/>
        </p:nvSpPr>
        <p:spPr>
          <a:xfrm>
            <a:off x="9093200" y="4089400"/>
            <a:ext cx="330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4" name="IA 3"/>
          <p:cNvSpPr/>
          <p:nvPr/>
        </p:nvSpPr>
        <p:spPr>
          <a:xfrm>
            <a:off x="9423400" y="4089400"/>
            <a:ext cx="330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5" name="IA 4"/>
          <p:cNvSpPr/>
          <p:nvPr/>
        </p:nvSpPr>
        <p:spPr>
          <a:xfrm>
            <a:off x="9753600" y="4089400"/>
            <a:ext cx="330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6" name="IA 5"/>
          <p:cNvSpPr/>
          <p:nvPr/>
        </p:nvSpPr>
        <p:spPr>
          <a:xfrm>
            <a:off x="10083800" y="4089400"/>
            <a:ext cx="330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7" name="IA 6"/>
          <p:cNvSpPr/>
          <p:nvPr/>
        </p:nvSpPr>
        <p:spPr>
          <a:xfrm>
            <a:off x="10414000" y="4089400"/>
            <a:ext cx="330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8" name="IA 7"/>
          <p:cNvSpPr/>
          <p:nvPr/>
        </p:nvSpPr>
        <p:spPr>
          <a:xfrm>
            <a:off x="10744200" y="4089400"/>
            <a:ext cx="330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9" name="IA Out"/>
          <p:cNvSpPr/>
          <p:nvPr/>
        </p:nvSpPr>
        <p:spPr>
          <a:xfrm>
            <a:off x="8432800" y="4089400"/>
            <a:ext cx="2641600" cy="3556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0" name="IA Hl"/>
          <p:cNvSpPr/>
          <p:nvPr/>
        </p:nvSpPr>
        <p:spPr>
          <a:xfrm>
            <a:off x="8432800" y="4089400"/>
            <a:ext cx="330200" cy="3556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1" name="F3 Cap"/>
          <p:cNvSpPr/>
          <p:nvPr/>
        </p:nvSpPr>
        <p:spPr>
          <a:xfrm>
            <a:off x="8077200" y="45974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그룹 수</a:t>
            </a:r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→ DispatchIndirect(Simulate)</a:t>
            </a:r>
          </a:p>
        </p:txBody>
      </p:sp>
    </p:spTree>
    <p:extLst>
      <p:ext uri="{BB962C8B-B14F-4D97-AF65-F5344CB8AC3E}">
        <p14:creationId xmlns:p14="http://schemas.microsoft.com/office/powerpoint/2010/main" val="151370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CE237-1104-AE44-7577-E0262F2C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Simulate 단계 (AliveList)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598245-7826-24B5-3866-D36EC6C5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601" name="Dispatch"/>
          <p:cNvSpPr/>
          <p:nvPr/>
        </p:nvSpPr>
        <p:spPr>
          <a:xfrm>
            <a:off x="571500" y="1168400"/>
            <a:ext cx="2413000" cy="406400"/>
          </a:xfrm>
          <a:prstGeom prst="roundRect">
            <a:avLst>
              <a:gd name="adj" fmla="val 20000"/>
            </a:avLst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DispatchIndirect</a:t>
            </a:r>
          </a:p>
        </p:txBody>
      </p:sp>
      <p:sp>
        <p:nvSpPr>
          <p:cNvPr id="602" name="Dispatch Sub"/>
          <p:cNvSpPr/>
          <p:nvPr/>
        </p:nvSpPr>
        <p:spPr>
          <a:xfrm>
            <a:off x="571500" y="1600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Alive 수만큼 스레드</a:t>
            </a:r>
          </a:p>
        </p:txBody>
      </p:sp>
      <p:cxnSp>
        <p:nvCxnSpPr>
          <p:cNvPr id="603" name="A0"/>
          <p:cNvCxnSpPr/>
          <p:nvPr/>
        </p:nvCxnSpPr>
        <p:spPr>
          <a:xfrm>
            <a:off x="1778000" y="1854200"/>
            <a:ext cx="0" cy="152400"/>
          </a:xfrm>
          <a:prstGeom prst="straightConnector1">
            <a:avLst/>
          </a:prstGeom>
          <a:ln w="12700">
            <a:solidFill>
              <a:srgbClr val="262626"/>
            </a:solidFill>
            <a:tailEnd type="triangle" w="med" len="med"/>
          </a:ln>
        </p:spPr>
      </p:cxnSp>
      <p:sp>
        <p:nvSpPr>
          <p:cNvPr id="604" name="Get Slot"/>
          <p:cNvSpPr/>
          <p:nvPr/>
        </p:nvSpPr>
        <p:spPr>
          <a:xfrm>
            <a:off x="571500" y="2032000"/>
            <a:ext cx="2413000" cy="431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slot = AliveIn[InstanceId]</a:t>
            </a:r>
          </a:p>
        </p:txBody>
      </p:sp>
      <p:cxnSp>
        <p:nvCxnSpPr>
          <p:cNvPr id="605" name="A1"/>
          <p:cNvCxnSpPr/>
          <p:nvPr/>
        </p:nvCxnSpPr>
        <p:spPr>
          <a:xfrm>
            <a:off x="1778000" y="2463800"/>
            <a:ext cx="0" cy="152400"/>
          </a:xfrm>
          <a:prstGeom prst="straightConnector1">
            <a:avLst/>
          </a:prstGeom>
          <a:ln w="12700">
            <a:solidFill>
              <a:srgbClr val="262626"/>
            </a:solidFill>
            <a:tailEnd type="triangle" w="med" len="med"/>
          </a:ln>
        </p:spPr>
      </p:cxnSp>
      <p:sp>
        <p:nvSpPr>
          <p:cNvPr id="606" name="Life"/>
          <p:cNvSpPr/>
          <p:nvPr/>
        </p:nvSpPr>
        <p:spPr>
          <a:xfrm>
            <a:off x="571500" y="2641600"/>
            <a:ext cx="2413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수명 감소</a:t>
            </a:r>
          </a:p>
        </p:txBody>
      </p:sp>
      <p:cxnSp>
        <p:nvCxnSpPr>
          <p:cNvPr id="607" name="A2"/>
          <p:cNvCxnSpPr/>
          <p:nvPr/>
        </p:nvCxnSpPr>
        <p:spPr>
          <a:xfrm>
            <a:off x="1778000" y="3048000"/>
            <a:ext cx="0" cy="152400"/>
          </a:xfrm>
          <a:prstGeom prst="straightConnector1">
            <a:avLst/>
          </a:prstGeom>
          <a:ln w="12700">
            <a:solidFill>
              <a:srgbClr val="262626"/>
            </a:solidFill>
            <a:tailEnd type="triangle" w="med" len="med"/>
          </a:ln>
        </p:spPr>
      </p:cxnSp>
      <p:sp>
        <p:nvSpPr>
          <p:cNvPr id="608" name="Diamond"/>
          <p:cNvSpPr/>
          <p:nvPr/>
        </p:nvSpPr>
        <p:spPr>
          <a:xfrm>
            <a:off x="571500" y="3225800"/>
            <a:ext cx="2413000" cy="8382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수명 &lt; 0 ?</a:t>
            </a:r>
          </a:p>
        </p:txBody>
      </p:sp>
      <p:cxnSp>
        <p:nvCxnSpPr>
          <p:cNvPr id="609" name="Yes Arrow"/>
          <p:cNvCxnSpPr/>
          <p:nvPr/>
        </p:nvCxnSpPr>
        <p:spPr>
          <a:xfrm>
            <a:off x="2984500" y="3644900"/>
            <a:ext cx="266700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med" len="med"/>
          </a:ln>
        </p:spPr>
      </p:cxnSp>
      <p:sp>
        <p:nvSpPr>
          <p:cNvPr id="610" name="Yes Lbl"/>
          <p:cNvSpPr/>
          <p:nvPr/>
        </p:nvSpPr>
        <p:spPr>
          <a:xfrm>
            <a:off x="2692400" y="33274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Yes</a:t>
            </a:r>
          </a:p>
        </p:txBody>
      </p:sp>
      <p:sp>
        <p:nvSpPr>
          <p:cNvPr id="611" name="Yes Head"/>
          <p:cNvSpPr/>
          <p:nvPr/>
        </p:nvSpPr>
        <p:spPr>
          <a:xfrm>
            <a:off x="3302000" y="28194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죽은 파티클</a:t>
            </a:r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기존과 같이 죽음 처리, 단 AliveCount는 줄이지 않음</a:t>
            </a:r>
          </a:p>
        </p:txBody>
      </p:sp>
      <p:sp>
        <p:nvSpPr>
          <p:cNvPr id="612" name="Yes 0"/>
          <p:cNvSpPr/>
          <p:nvPr/>
        </p:nvSpPr>
        <p:spPr>
          <a:xfrm>
            <a:off x="3302000" y="3175000"/>
            <a:ext cx="2540000" cy="939800"/>
          </a:xfrm>
          <a:prstGeom prst="roundRect">
            <a:avLst>
              <a:gd name="adj" fmla="val 12000"/>
            </a:avLst>
          </a:prstGeom>
          <a:solidFill>
            <a:srgbClr val="F2DCD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1  죽음 표시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Particles[slot].flag = 0</a:t>
            </a:r>
          </a:p>
        </p:txBody>
      </p:sp>
      <p:cxnSp>
        <p:nvCxnSpPr>
          <p:cNvPr id="613" name="YA0"/>
          <p:cNvCxnSpPr/>
          <p:nvPr/>
        </p:nvCxnSpPr>
        <p:spPr>
          <a:xfrm>
            <a:off x="5867400" y="3644900"/>
            <a:ext cx="12700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med" len="med"/>
          </a:ln>
        </p:spPr>
      </p:cxnSp>
      <p:sp>
        <p:nvSpPr>
          <p:cNvPr id="614" name="Yes 1"/>
          <p:cNvSpPr/>
          <p:nvPr/>
        </p:nvSpPr>
        <p:spPr>
          <a:xfrm>
            <a:off x="6019800" y="3175000"/>
            <a:ext cx="2540000" cy="939800"/>
          </a:xfrm>
          <a:prstGeom prst="roundRect">
            <a:avLst>
              <a:gd name="adj" fmla="val 12000"/>
            </a:avLst>
          </a:prstGeom>
          <a:solidFill>
            <a:srgbClr val="F2DCD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2  Counter 갱신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DeadCount +1</a:t>
            </a:r>
          </a:p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AliveCount 그대로</a:t>
            </a:r>
          </a:p>
        </p:txBody>
      </p:sp>
      <p:cxnSp>
        <p:nvCxnSpPr>
          <p:cNvPr id="615" name="YA1"/>
          <p:cNvCxnSpPr/>
          <p:nvPr/>
        </p:nvCxnSpPr>
        <p:spPr>
          <a:xfrm>
            <a:off x="8585200" y="3644900"/>
            <a:ext cx="12700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med" len="med"/>
          </a:ln>
        </p:spPr>
      </p:cxnSp>
      <p:sp>
        <p:nvSpPr>
          <p:cNvPr id="616" name="Yes 2"/>
          <p:cNvSpPr/>
          <p:nvPr/>
        </p:nvSpPr>
        <p:spPr>
          <a:xfrm>
            <a:off x="8737600" y="3175000"/>
            <a:ext cx="2540000" cy="939800"/>
          </a:xfrm>
          <a:prstGeom prst="roundRect">
            <a:avLst>
              <a:gd name="adj" fmla="val 12000"/>
            </a:avLst>
          </a:prstGeom>
          <a:solidFill>
            <a:srgbClr val="F2DCD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3  slot 반납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DeadList[증가 전 값] = slot</a:t>
            </a:r>
          </a:p>
        </p:txBody>
      </p:sp>
      <p:cxnSp>
        <p:nvCxnSpPr>
          <p:cNvPr id="617" name="No Down"/>
          <p:cNvCxnSpPr/>
          <p:nvPr/>
        </p:nvCxnSpPr>
        <p:spPr>
          <a:xfrm>
            <a:off x="1778000" y="4064000"/>
            <a:ext cx="0" cy="1143000"/>
          </a:xfrm>
          <a:prstGeom prst="straightConnector1">
            <a:avLst/>
          </a:prstGeom>
          <a:ln w="15875">
            <a:solidFill>
              <a:srgbClr val="548235"/>
            </a:solidFill>
          </a:ln>
        </p:spPr>
      </p:cxnSp>
      <p:cxnSp>
        <p:nvCxnSpPr>
          <p:cNvPr id="618" name="No Right"/>
          <p:cNvCxnSpPr/>
          <p:nvPr/>
        </p:nvCxnSpPr>
        <p:spPr>
          <a:xfrm>
            <a:off x="1778000" y="5207000"/>
            <a:ext cx="1473200" cy="0"/>
          </a:xfrm>
          <a:prstGeom prst="straightConnector1">
            <a:avLst/>
          </a:prstGeom>
          <a:ln w="15875">
            <a:solidFill>
              <a:srgbClr val="548235"/>
            </a:solidFill>
            <a:tailEnd type="triangle" w="med" len="med"/>
          </a:ln>
        </p:spPr>
      </p:cxnSp>
      <p:sp>
        <p:nvSpPr>
          <p:cNvPr id="619" name="No Lbl"/>
          <p:cNvSpPr/>
          <p:nvPr/>
        </p:nvSpPr>
        <p:spPr>
          <a:xfrm>
            <a:off x="1320800" y="41402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No</a:t>
            </a:r>
          </a:p>
        </p:txBody>
      </p:sp>
      <p:sp>
        <p:nvSpPr>
          <p:cNvPr id="620" name="No Head"/>
          <p:cNvSpPr/>
          <p:nvPr/>
        </p:nvSpPr>
        <p:spPr>
          <a:xfrm>
            <a:off x="3302000" y="43942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살아있는 파티클</a:t>
            </a:r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물리 업데이트 후 AliveOut에 기록</a:t>
            </a:r>
          </a:p>
        </p:txBody>
      </p:sp>
      <p:sp>
        <p:nvSpPr>
          <p:cNvPr id="621" name="No 0"/>
          <p:cNvSpPr/>
          <p:nvPr/>
        </p:nvSpPr>
        <p:spPr>
          <a:xfrm>
            <a:off x="3302000" y="4749800"/>
            <a:ext cx="1879600" cy="939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속도 적분</a:t>
            </a:r>
          </a:p>
        </p:txBody>
      </p:sp>
      <p:cxnSp>
        <p:nvCxnSpPr>
          <p:cNvPr id="622" name="NA0"/>
          <p:cNvCxnSpPr/>
          <p:nvPr/>
        </p:nvCxnSpPr>
        <p:spPr>
          <a:xfrm>
            <a:off x="5194300" y="5219700"/>
            <a:ext cx="127000" cy="0"/>
          </a:xfrm>
          <a:prstGeom prst="straightConnector1">
            <a:avLst/>
          </a:prstGeom>
          <a:ln w="12700">
            <a:solidFill>
              <a:srgbClr val="548235"/>
            </a:solidFill>
            <a:tailEnd type="triangle" w="med" len="med"/>
          </a:ln>
        </p:spPr>
      </p:cxnSp>
      <p:sp>
        <p:nvSpPr>
          <p:cNvPr id="623" name="No 1"/>
          <p:cNvSpPr/>
          <p:nvPr/>
        </p:nvSpPr>
        <p:spPr>
          <a:xfrm>
            <a:off x="5334000" y="4749800"/>
            <a:ext cx="1879600" cy="939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위치 적분</a:t>
            </a:r>
          </a:p>
        </p:txBody>
      </p:sp>
      <p:cxnSp>
        <p:nvCxnSpPr>
          <p:cNvPr id="624" name="NA1"/>
          <p:cNvCxnSpPr/>
          <p:nvPr/>
        </p:nvCxnSpPr>
        <p:spPr>
          <a:xfrm>
            <a:off x="7226300" y="5219700"/>
            <a:ext cx="127000" cy="0"/>
          </a:xfrm>
          <a:prstGeom prst="straightConnector1">
            <a:avLst/>
          </a:prstGeom>
          <a:ln w="12700">
            <a:solidFill>
              <a:srgbClr val="548235"/>
            </a:solidFill>
            <a:tailEnd type="triangle" w="med" len="med"/>
          </a:ln>
        </p:spPr>
      </p:cxnSp>
      <p:sp>
        <p:nvSpPr>
          <p:cNvPr id="625" name="No 2"/>
          <p:cNvSpPr/>
          <p:nvPr/>
        </p:nvSpPr>
        <p:spPr>
          <a:xfrm>
            <a:off x="7366000" y="4749800"/>
            <a:ext cx="1879600" cy="939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AliveAfterSim +1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InterlockedAdd</a:t>
            </a:r>
          </a:p>
          <a:p>
            <a:pPr algn="ctr"/>
            <a:r>
              <a:rPr lang="ko-KR" altLang="en-US" sz="12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증가 전 값 = index</a:t>
            </a:r>
          </a:p>
        </p:txBody>
      </p:sp>
      <p:cxnSp>
        <p:nvCxnSpPr>
          <p:cNvPr id="626" name="NA2"/>
          <p:cNvCxnSpPr/>
          <p:nvPr/>
        </p:nvCxnSpPr>
        <p:spPr>
          <a:xfrm>
            <a:off x="9258300" y="5219700"/>
            <a:ext cx="127000" cy="0"/>
          </a:xfrm>
          <a:prstGeom prst="straightConnector1">
            <a:avLst/>
          </a:prstGeom>
          <a:ln w="12700">
            <a:solidFill>
              <a:srgbClr val="C55A11"/>
            </a:solidFill>
            <a:tailEnd type="triangle" w="med" len="med"/>
          </a:ln>
        </p:spPr>
      </p:cxnSp>
      <p:sp>
        <p:nvSpPr>
          <p:cNvPr id="627" name="No 3"/>
          <p:cNvSpPr/>
          <p:nvPr/>
        </p:nvSpPr>
        <p:spPr>
          <a:xfrm>
            <a:off x="9398000" y="4749800"/>
            <a:ext cx="1879600" cy="939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AliveOut에 기록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AliveOut[index]</a:t>
            </a:r>
          </a:p>
          <a:p>
            <a:pPr algn="ctr"/>
            <a:r>
              <a:rPr lang="ko-KR" altLang="en-US" sz="12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= slot</a:t>
            </a:r>
          </a:p>
        </p:txBody>
      </p:sp>
      <p:sp>
        <p:nvSpPr>
          <p:cNvPr id="628" name="AI Lab"/>
          <p:cNvSpPr/>
          <p:nvPr/>
        </p:nvSpPr>
        <p:spPr>
          <a:xfrm>
            <a:off x="3810000" y="939800"/>
            <a:ext cx="264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AliveIn</a:t>
            </a:r>
          </a:p>
        </p:txBody>
      </p:sp>
      <p:sp>
        <p:nvSpPr>
          <p:cNvPr id="629" name="AI0"/>
          <p:cNvSpPr/>
          <p:nvPr/>
        </p:nvSpPr>
        <p:spPr>
          <a:xfrm>
            <a:off x="38100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0</a:t>
            </a:r>
          </a:p>
        </p:txBody>
      </p:sp>
      <p:sp>
        <p:nvSpPr>
          <p:cNvPr id="630" name="AI1"/>
          <p:cNvSpPr/>
          <p:nvPr/>
        </p:nvSpPr>
        <p:spPr>
          <a:xfrm>
            <a:off x="4140200" y="1219200"/>
            <a:ext cx="330200" cy="304800"/>
          </a:xfrm>
          <a:prstGeom prst="rect">
            <a:avLst/>
          </a:prstGeom>
          <a:solidFill>
            <a:srgbClr val="F2DCDB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31" name="AI2"/>
          <p:cNvSpPr/>
          <p:nvPr/>
        </p:nvSpPr>
        <p:spPr>
          <a:xfrm>
            <a:off x="44704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32" name="AI3"/>
          <p:cNvSpPr/>
          <p:nvPr/>
        </p:nvSpPr>
        <p:spPr>
          <a:xfrm>
            <a:off x="48006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33" name="AI4"/>
          <p:cNvSpPr/>
          <p:nvPr/>
        </p:nvSpPr>
        <p:spPr>
          <a:xfrm>
            <a:off x="51308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8</a:t>
            </a:r>
          </a:p>
        </p:txBody>
      </p:sp>
      <p:sp>
        <p:nvSpPr>
          <p:cNvPr id="634" name="AI5"/>
          <p:cNvSpPr/>
          <p:nvPr/>
        </p:nvSpPr>
        <p:spPr>
          <a:xfrm>
            <a:off x="54610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35" name="AIE6"/>
          <p:cNvSpPr/>
          <p:nvPr/>
        </p:nvSpPr>
        <p:spPr>
          <a:xfrm>
            <a:off x="5791200" y="12192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6" name="AIE7"/>
          <p:cNvSpPr/>
          <p:nvPr/>
        </p:nvSpPr>
        <p:spPr>
          <a:xfrm>
            <a:off x="6121400" y="12192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7" name="AI Out"/>
          <p:cNvSpPr/>
          <p:nvPr/>
        </p:nvSpPr>
        <p:spPr>
          <a:xfrm>
            <a:off x="3810000" y="1219200"/>
            <a:ext cx="2641600" cy="3048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8" name="AI Hl"/>
          <p:cNvSpPr/>
          <p:nvPr/>
        </p:nvSpPr>
        <p:spPr>
          <a:xfrm>
            <a:off x="4140200" y="1219200"/>
            <a:ext cx="330200" cy="304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9" name="AO Lab"/>
          <p:cNvSpPr/>
          <p:nvPr/>
        </p:nvSpPr>
        <p:spPr>
          <a:xfrm>
            <a:off x="8128000" y="939800"/>
            <a:ext cx="264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AliveOut</a:t>
            </a:r>
          </a:p>
        </p:txBody>
      </p:sp>
      <p:sp>
        <p:nvSpPr>
          <p:cNvPr id="640" name="AO0"/>
          <p:cNvSpPr/>
          <p:nvPr/>
        </p:nvSpPr>
        <p:spPr>
          <a:xfrm>
            <a:off x="81280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0</a:t>
            </a:r>
          </a:p>
        </p:txBody>
      </p:sp>
      <p:sp>
        <p:nvSpPr>
          <p:cNvPr id="641" name="AO1"/>
          <p:cNvSpPr/>
          <p:nvPr/>
        </p:nvSpPr>
        <p:spPr>
          <a:xfrm>
            <a:off x="84582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42" name="AO2"/>
          <p:cNvSpPr/>
          <p:nvPr/>
        </p:nvSpPr>
        <p:spPr>
          <a:xfrm>
            <a:off x="87884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43" name="AO3"/>
          <p:cNvSpPr/>
          <p:nvPr/>
        </p:nvSpPr>
        <p:spPr>
          <a:xfrm>
            <a:off x="91186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8</a:t>
            </a:r>
          </a:p>
        </p:txBody>
      </p:sp>
      <p:sp>
        <p:nvSpPr>
          <p:cNvPr id="644" name="AO4"/>
          <p:cNvSpPr/>
          <p:nvPr/>
        </p:nvSpPr>
        <p:spPr>
          <a:xfrm>
            <a:off x="9448800" y="1219200"/>
            <a:ext cx="330200" cy="3048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45" name="AOE5"/>
          <p:cNvSpPr/>
          <p:nvPr/>
        </p:nvSpPr>
        <p:spPr>
          <a:xfrm>
            <a:off x="9779000" y="12192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6" name="AOE6"/>
          <p:cNvSpPr/>
          <p:nvPr/>
        </p:nvSpPr>
        <p:spPr>
          <a:xfrm>
            <a:off x="10109200" y="12192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7" name="AOE7"/>
          <p:cNvSpPr/>
          <p:nvPr/>
        </p:nvSpPr>
        <p:spPr>
          <a:xfrm>
            <a:off x="10439400" y="1219200"/>
            <a:ext cx="33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8" name="AO Out"/>
          <p:cNvSpPr/>
          <p:nvPr/>
        </p:nvSpPr>
        <p:spPr>
          <a:xfrm>
            <a:off x="8128000" y="1219200"/>
            <a:ext cx="2641600" cy="3048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cxnSp>
        <p:nvCxnSpPr>
          <p:cNvPr id="649" name="Fig Arrow"/>
          <p:cNvCxnSpPr/>
          <p:nvPr/>
        </p:nvCxnSpPr>
        <p:spPr>
          <a:xfrm>
            <a:off x="6553200" y="1371600"/>
            <a:ext cx="1473200" cy="0"/>
          </a:xfrm>
          <a:prstGeom prst="straightConnector1">
            <a:avLst/>
          </a:prstGeom>
          <a:ln w="15875">
            <a:solidFill>
              <a:srgbClr val="C55A11"/>
            </a:solidFill>
            <a:tailEnd type="triangle" w="med" len="med"/>
          </a:ln>
        </p:spPr>
      </p:cxnSp>
      <p:sp>
        <p:nvSpPr>
          <p:cNvPr id="650" name="Fig Lbl"/>
          <p:cNvSpPr/>
          <p:nvPr/>
        </p:nvSpPr>
        <p:spPr>
          <a:xfrm>
            <a:off x="6553200" y="9652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살아남은 slot만</a:t>
            </a:r>
          </a:p>
        </p:txBody>
      </p:sp>
      <p:sp>
        <p:nvSpPr>
          <p:cNvPr id="651" name="Fig Cap"/>
          <p:cNvSpPr/>
          <p:nvPr/>
        </p:nvSpPr>
        <p:spPr>
          <a:xfrm>
            <a:off x="3810000" y="1600200"/>
            <a:ext cx="264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페이퍼로지 4 Regular"/>
                <a:ea typeface="페이퍼로지 4 Regular"/>
              </a:rPr>
              <a:t>slot 2는 이번 프레임에 죽음</a:t>
            </a:r>
          </a:p>
        </p:txBody>
      </p:sp>
      <p:sp>
        <p:nvSpPr>
          <p:cNvPr id="652" name="Fig Cap2"/>
          <p:cNvSpPr/>
          <p:nvPr/>
        </p:nvSpPr>
        <p:spPr>
          <a:xfrm>
            <a:off x="8128000" y="1600200"/>
            <a:ext cx="264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55A11"/>
                </a:solidFill>
                <a:latin typeface="페이퍼로지 4 Regular"/>
                <a:ea typeface="페이퍼로지 4 Regular"/>
              </a:rPr>
              <a:t>AliveAfterSim = 5</a:t>
            </a:r>
          </a:p>
        </p:txBody>
      </p:sp>
      <p:sp>
        <p:nvSpPr>
          <p:cNvPr id="653" name="Footer"/>
          <p:cNvSpPr/>
          <p:nvPr/>
        </p:nvSpPr>
        <p:spPr>
          <a:xfrm>
            <a:off x="571500" y="5943600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AliveCount를 원자적으로 줄이지 않고, </a:t>
            </a:r>
            <a:r>
              <a:rPr lang="ko-KR" altLang="en-US" sz="1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살아남은 수를 AliveAfterSim으로 새로 센다</a:t>
            </a:r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(매 프레임 0으로 초기화)</a:t>
            </a:r>
          </a:p>
        </p:txBody>
      </p:sp>
    </p:spTree>
    <p:extLst>
      <p:ext uri="{BB962C8B-B14F-4D97-AF65-F5344CB8AC3E}">
        <p14:creationId xmlns:p14="http://schemas.microsoft.com/office/powerpoint/2010/main" val="1399718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E7C7B-9593-368D-6911-781B2BD6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AfterSim 단계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88E6B8-A199-4453-09B3-4416D1F6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601" name="Note"/>
          <p:cNvSpPr/>
          <p:nvPr/>
        </p:nvSpPr>
        <p:spPr>
          <a:xfrm>
            <a:off x="762000" y="14732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Simulate가 끝나면, </a:t>
            </a:r>
            <a:r>
              <a:rPr lang="ko-KR" altLang="en-US" sz="15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살아남은 수로 Counter와 Draw 인자</a:t>
            </a:r>
            <a:r>
              <a:rPr lang="ko-KR" altLang="en-US" sz="15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를 정리한다</a:t>
            </a:r>
          </a:p>
        </p:txBody>
      </p:sp>
      <p:sp>
        <p:nvSpPr>
          <p:cNvPr id="602" name="Card 1"/>
          <p:cNvSpPr/>
          <p:nvPr/>
        </p:nvSpPr>
        <p:spPr>
          <a:xfrm>
            <a:off x="7620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03" name="Badge 1"/>
          <p:cNvSpPr/>
          <p:nvPr/>
        </p:nvSpPr>
        <p:spPr>
          <a:xfrm>
            <a:off x="9398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04" name="Head 1"/>
          <p:cNvSpPr/>
          <p:nvPr/>
        </p:nvSpPr>
        <p:spPr>
          <a:xfrm>
            <a:off x="13970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AliveAfterSim 읽기</a:t>
            </a:r>
          </a:p>
        </p:txBody>
      </p:sp>
      <p:sp>
        <p:nvSpPr>
          <p:cNvPr id="605" name="Desc 1-0"/>
          <p:cNvSpPr/>
          <p:nvPr/>
        </p:nvSpPr>
        <p:spPr>
          <a:xfrm>
            <a:off x="9652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Counter에서</a:t>
            </a:r>
          </a:p>
        </p:txBody>
      </p:sp>
      <p:sp>
        <p:nvSpPr>
          <p:cNvPr id="606" name="Desc 1-1"/>
          <p:cNvSpPr/>
          <p:nvPr/>
        </p:nvSpPr>
        <p:spPr>
          <a:xfrm>
            <a:off x="9652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Simulate에서 살아남은 수를 얻는다</a:t>
            </a:r>
          </a:p>
        </p:txBody>
      </p:sp>
      <p:sp>
        <p:nvSpPr>
          <p:cNvPr id="607" name="Rule 1"/>
          <p:cNvSpPr/>
          <p:nvPr/>
        </p:nvSpPr>
        <p:spPr>
          <a:xfrm>
            <a:off x="9652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08" name="FigLab 1"/>
          <p:cNvSpPr/>
          <p:nvPr/>
        </p:nvSpPr>
        <p:spPr>
          <a:xfrm>
            <a:off x="7620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Counter</a:t>
            </a:r>
          </a:p>
        </p:txBody>
      </p:sp>
      <p:cxnSp>
        <p:nvCxnSpPr>
          <p:cNvPr id="609" name="Arrow 1"/>
          <p:cNvCxnSpPr/>
          <p:nvPr/>
        </p:nvCxnSpPr>
        <p:spPr>
          <a:xfrm>
            <a:off x="4165600" y="37211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10" name="Card 2"/>
          <p:cNvSpPr/>
          <p:nvPr/>
        </p:nvSpPr>
        <p:spPr>
          <a:xfrm>
            <a:off x="44196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1" name="Badge 2"/>
          <p:cNvSpPr/>
          <p:nvPr/>
        </p:nvSpPr>
        <p:spPr>
          <a:xfrm>
            <a:off x="45974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12" name="Head 2"/>
          <p:cNvSpPr/>
          <p:nvPr/>
        </p:nvSpPr>
        <p:spPr>
          <a:xfrm>
            <a:off x="50546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AliveCount 갱신</a:t>
            </a:r>
          </a:p>
        </p:txBody>
      </p:sp>
      <p:sp>
        <p:nvSpPr>
          <p:cNvPr id="613" name="Desc 2-0"/>
          <p:cNvSpPr/>
          <p:nvPr/>
        </p:nvSpPr>
        <p:spPr>
          <a:xfrm>
            <a:off x="46228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AliveCount = AliveAfterSim</a:t>
            </a:r>
          </a:p>
        </p:txBody>
      </p:sp>
      <p:sp>
        <p:nvSpPr>
          <p:cNvPr id="614" name="Desc 2-1"/>
          <p:cNvSpPr/>
          <p:nvPr/>
        </p:nvSpPr>
        <p:spPr>
          <a:xfrm>
            <a:off x="46228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다음 프레임 Emit · Simulate의 기준</a:t>
            </a:r>
          </a:p>
        </p:txBody>
      </p:sp>
      <p:sp>
        <p:nvSpPr>
          <p:cNvPr id="615" name="Rule 2"/>
          <p:cNvSpPr/>
          <p:nvPr/>
        </p:nvSpPr>
        <p:spPr>
          <a:xfrm>
            <a:off x="46228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6" name="FigLab 2"/>
          <p:cNvSpPr/>
          <p:nvPr/>
        </p:nvSpPr>
        <p:spPr>
          <a:xfrm>
            <a:off x="44196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Counter</a:t>
            </a:r>
          </a:p>
        </p:txBody>
      </p:sp>
      <p:cxnSp>
        <p:nvCxnSpPr>
          <p:cNvPr id="617" name="Arrow 2"/>
          <p:cNvCxnSpPr/>
          <p:nvPr/>
        </p:nvCxnSpPr>
        <p:spPr>
          <a:xfrm>
            <a:off x="7823200" y="37211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18" name="Card 3"/>
          <p:cNvSpPr/>
          <p:nvPr/>
        </p:nvSpPr>
        <p:spPr>
          <a:xfrm>
            <a:off x="80772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9" name="Badge 3"/>
          <p:cNvSpPr/>
          <p:nvPr/>
        </p:nvSpPr>
        <p:spPr>
          <a:xfrm>
            <a:off x="82550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20" name="Head 3"/>
          <p:cNvSpPr/>
          <p:nvPr/>
        </p:nvSpPr>
        <p:spPr>
          <a:xfrm>
            <a:off x="87122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DrawArgs에 기록</a:t>
            </a:r>
          </a:p>
        </p:txBody>
      </p:sp>
      <p:sp>
        <p:nvSpPr>
          <p:cNvPr id="621" name="Desc 3-0"/>
          <p:cNvSpPr/>
          <p:nvPr/>
        </p:nvSpPr>
        <p:spPr>
          <a:xfrm>
            <a:off x="82804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IndirectArgs에 survived 값 저장</a:t>
            </a:r>
          </a:p>
        </p:txBody>
      </p:sp>
      <p:sp>
        <p:nvSpPr>
          <p:cNvPr id="622" name="Desc 3-1"/>
          <p:cNvSpPr/>
          <p:nvPr/>
        </p:nvSpPr>
        <p:spPr>
          <a:xfrm>
            <a:off x="82804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Draw의 인스턴스 수로 사용</a:t>
            </a:r>
          </a:p>
        </p:txBody>
      </p:sp>
      <p:sp>
        <p:nvSpPr>
          <p:cNvPr id="623" name="Rule 3"/>
          <p:cNvSpPr/>
          <p:nvPr/>
        </p:nvSpPr>
        <p:spPr>
          <a:xfrm>
            <a:off x="82804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24" name="FigLab 3"/>
          <p:cNvSpPr/>
          <p:nvPr/>
        </p:nvSpPr>
        <p:spPr>
          <a:xfrm>
            <a:off x="80772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IndirectArgs (DrawArgs)</a:t>
            </a:r>
          </a:p>
        </p:txBody>
      </p:sp>
      <p:sp>
        <p:nvSpPr>
          <p:cNvPr id="625" name="F1 Box"/>
          <p:cNvSpPr/>
          <p:nvPr/>
        </p:nvSpPr>
        <p:spPr>
          <a:xfrm>
            <a:off x="1295400" y="4064000"/>
            <a:ext cx="22860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AliveAfterSim</a:t>
            </a:r>
          </a:p>
        </p:txBody>
      </p:sp>
      <p:sp>
        <p:nvSpPr>
          <p:cNvPr id="626" name="F1 Val"/>
          <p:cNvSpPr/>
          <p:nvPr/>
        </p:nvSpPr>
        <p:spPr>
          <a:xfrm>
            <a:off x="762000" y="4572000"/>
            <a:ext cx="335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2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= 5</a:t>
            </a:r>
          </a:p>
        </p:txBody>
      </p:sp>
      <p:sp>
        <p:nvSpPr>
          <p:cNvPr id="627" name="F2 Box"/>
          <p:cNvSpPr/>
          <p:nvPr/>
        </p:nvSpPr>
        <p:spPr>
          <a:xfrm>
            <a:off x="5080000" y="4064000"/>
            <a:ext cx="20320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AliveCount</a:t>
            </a:r>
          </a:p>
        </p:txBody>
      </p:sp>
      <p:sp>
        <p:nvSpPr>
          <p:cNvPr id="628" name="F2 Val"/>
          <p:cNvSpPr/>
          <p:nvPr/>
        </p:nvSpPr>
        <p:spPr>
          <a:xfrm>
            <a:off x="4419600" y="4572000"/>
            <a:ext cx="335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2200" dirty="0">
                <a:solidFill>
                  <a:srgbClr val="7F7F7F"/>
                </a:solidFill>
                <a:latin typeface="페이퍼로지 7 Bold"/>
                <a:ea typeface="페이퍼로지 7 Bold"/>
              </a:rPr>
              <a:t>6</a:t>
            </a:r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  →  </a:t>
            </a:r>
            <a:r>
              <a:rPr lang="ko-KR" altLang="en-US" sz="2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29" name="F3 C0"/>
          <p:cNvSpPr/>
          <p:nvPr/>
        </p:nvSpPr>
        <p:spPr>
          <a:xfrm>
            <a:off x="8483600" y="4064000"/>
            <a:ext cx="1219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630" name="F3 C1"/>
          <p:cNvSpPr/>
          <p:nvPr/>
        </p:nvSpPr>
        <p:spPr>
          <a:xfrm>
            <a:off x="9702800" y="4064000"/>
            <a:ext cx="1219200" cy="43180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31" name="F3 Hl"/>
          <p:cNvSpPr/>
          <p:nvPr/>
        </p:nvSpPr>
        <p:spPr>
          <a:xfrm>
            <a:off x="9702800" y="4064000"/>
            <a:ext cx="1219200" cy="4318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32" name="F3 L0"/>
          <p:cNvSpPr/>
          <p:nvPr/>
        </p:nvSpPr>
        <p:spPr>
          <a:xfrm>
            <a:off x="8483600" y="4546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정점 수</a:t>
            </a:r>
          </a:p>
        </p:txBody>
      </p:sp>
      <p:sp>
        <p:nvSpPr>
          <p:cNvPr id="633" name="F3 L1"/>
          <p:cNvSpPr/>
          <p:nvPr/>
        </p:nvSpPr>
        <p:spPr>
          <a:xfrm>
            <a:off x="9702800" y="4546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인스턴스 수</a:t>
            </a:r>
          </a:p>
        </p:txBody>
      </p:sp>
    </p:spTree>
    <p:extLst>
      <p:ext uri="{BB962C8B-B14F-4D97-AF65-F5344CB8AC3E}">
        <p14:creationId xmlns:p14="http://schemas.microsoft.com/office/powerpoint/2010/main" val="949397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4D596-5147-DFC1-E1FB-0B4F6E63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Draw 단계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36272-94D4-A048-EADD-B1F38355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601" name="Draw Call"/>
          <p:cNvSpPr/>
          <p:nvPr/>
        </p:nvSpPr>
        <p:spPr>
          <a:xfrm>
            <a:off x="762000" y="1447800"/>
            <a:ext cx="3810000" cy="4318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DrawInstancedIndirect(IndirectArgs)</a:t>
            </a:r>
          </a:p>
        </p:txBody>
      </p:sp>
      <p:sp>
        <p:nvSpPr>
          <p:cNvPr id="602" name="Draw Note"/>
          <p:cNvSpPr/>
          <p:nvPr/>
        </p:nvSpPr>
        <p:spPr>
          <a:xfrm>
            <a:off x="4724400" y="1447800"/>
            <a:ext cx="635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인스턴스 1개 = Alive 파티클 1개</a:t>
            </a:r>
          </a:p>
        </p:txBody>
      </p:sp>
      <p:sp>
        <p:nvSpPr>
          <p:cNvPr id="603" name="Card 1"/>
          <p:cNvSpPr/>
          <p:nvPr/>
        </p:nvSpPr>
        <p:spPr>
          <a:xfrm>
            <a:off x="7620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04" name="Badge 1"/>
          <p:cNvSpPr/>
          <p:nvPr/>
        </p:nvSpPr>
        <p:spPr>
          <a:xfrm>
            <a:off x="9398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05" name="Head 1"/>
          <p:cNvSpPr/>
          <p:nvPr/>
        </p:nvSpPr>
        <p:spPr>
          <a:xfrm>
            <a:off x="13970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Alive 수만큼 Draw</a:t>
            </a:r>
          </a:p>
        </p:txBody>
      </p:sp>
      <p:sp>
        <p:nvSpPr>
          <p:cNvPr id="606" name="Desc 1-0"/>
          <p:cNvSpPr/>
          <p:nvPr/>
        </p:nvSpPr>
        <p:spPr>
          <a:xfrm>
            <a:off x="9652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IndirectArgs의 인스턴스 수만큼</a:t>
            </a:r>
          </a:p>
        </p:txBody>
      </p:sp>
      <p:sp>
        <p:nvSpPr>
          <p:cNvPr id="607" name="Desc 1-1"/>
          <p:cNvSpPr/>
          <p:nvPr/>
        </p:nvSpPr>
        <p:spPr>
          <a:xfrm>
            <a:off x="9652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CPU 개입 없이 Draw 실행</a:t>
            </a:r>
          </a:p>
        </p:txBody>
      </p:sp>
      <p:sp>
        <p:nvSpPr>
          <p:cNvPr id="608" name="Rule 1"/>
          <p:cNvSpPr/>
          <p:nvPr/>
        </p:nvSpPr>
        <p:spPr>
          <a:xfrm>
            <a:off x="9652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09" name="FigLab 1"/>
          <p:cNvSpPr/>
          <p:nvPr/>
        </p:nvSpPr>
        <p:spPr>
          <a:xfrm>
            <a:off x="7620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IndirectArgs</a:t>
            </a:r>
          </a:p>
        </p:txBody>
      </p:sp>
      <p:cxnSp>
        <p:nvCxnSpPr>
          <p:cNvPr id="610" name="Arrow 1"/>
          <p:cNvCxnSpPr/>
          <p:nvPr/>
        </p:nvCxnSpPr>
        <p:spPr>
          <a:xfrm>
            <a:off x="4165600" y="37211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11" name="Card 2"/>
          <p:cNvSpPr/>
          <p:nvPr/>
        </p:nvSpPr>
        <p:spPr>
          <a:xfrm>
            <a:off x="44196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2" name="Badge 2"/>
          <p:cNvSpPr/>
          <p:nvPr/>
        </p:nvSpPr>
        <p:spPr>
          <a:xfrm>
            <a:off x="45974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13" name="Head 2"/>
          <p:cNvSpPr/>
          <p:nvPr/>
        </p:nvSpPr>
        <p:spPr>
          <a:xfrm>
            <a:off x="50546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slot 얻기</a:t>
            </a:r>
          </a:p>
        </p:txBody>
      </p:sp>
      <p:sp>
        <p:nvSpPr>
          <p:cNvPr id="614" name="Desc 2-0"/>
          <p:cNvSpPr/>
          <p:nvPr/>
        </p:nvSpPr>
        <p:spPr>
          <a:xfrm>
            <a:off x="46228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slot = AliveList[InstanceId]</a:t>
            </a:r>
          </a:p>
        </p:txBody>
      </p:sp>
      <p:sp>
        <p:nvSpPr>
          <p:cNvPr id="615" name="Desc 2-1"/>
          <p:cNvSpPr/>
          <p:nvPr/>
        </p:nvSpPr>
        <p:spPr>
          <a:xfrm>
            <a:off x="46228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Simulate에서 기록한 AliveOut</a:t>
            </a:r>
          </a:p>
        </p:txBody>
      </p:sp>
      <p:sp>
        <p:nvSpPr>
          <p:cNvPr id="616" name="Rule 2"/>
          <p:cNvSpPr/>
          <p:nvPr/>
        </p:nvSpPr>
        <p:spPr>
          <a:xfrm>
            <a:off x="46228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17" name="FigLab 2"/>
          <p:cNvSpPr/>
          <p:nvPr/>
        </p:nvSpPr>
        <p:spPr>
          <a:xfrm>
            <a:off x="44196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AliveList</a:t>
            </a:r>
          </a:p>
        </p:txBody>
      </p:sp>
      <p:cxnSp>
        <p:nvCxnSpPr>
          <p:cNvPr id="618" name="Arrow 2"/>
          <p:cNvCxnSpPr/>
          <p:nvPr/>
        </p:nvCxnSpPr>
        <p:spPr>
          <a:xfrm>
            <a:off x="7823200" y="3721100"/>
            <a:ext cx="203200" cy="0"/>
          </a:xfrm>
          <a:prstGeom prst="straightConnector1">
            <a:avLst/>
          </a:prstGeom>
          <a:ln w="19050">
            <a:solidFill>
              <a:srgbClr val="C55A11"/>
            </a:solidFill>
            <a:tailEnd type="triangle" w="med" len="med"/>
          </a:ln>
        </p:spPr>
      </p:cxnSp>
      <p:sp>
        <p:nvSpPr>
          <p:cNvPr id="619" name="Card 3"/>
          <p:cNvSpPr/>
          <p:nvPr/>
        </p:nvSpPr>
        <p:spPr>
          <a:xfrm>
            <a:off x="8077200" y="2133600"/>
            <a:ext cx="33528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20" name="Badge 3"/>
          <p:cNvSpPr/>
          <p:nvPr/>
        </p:nvSpPr>
        <p:spPr>
          <a:xfrm>
            <a:off x="8255000" y="2311400"/>
            <a:ext cx="355600" cy="3556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21" name="Head 3"/>
          <p:cNvSpPr/>
          <p:nvPr/>
        </p:nvSpPr>
        <p:spPr>
          <a:xfrm>
            <a:off x="8712200" y="2286000"/>
            <a:ext cx="2641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파티클 그리기</a:t>
            </a:r>
          </a:p>
        </p:txBody>
      </p:sp>
      <p:sp>
        <p:nvSpPr>
          <p:cNvPr id="622" name="Desc 3-0"/>
          <p:cNvSpPr/>
          <p:nvPr/>
        </p:nvSpPr>
        <p:spPr>
          <a:xfrm>
            <a:off x="8280400" y="2819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262626"/>
                </a:solidFill>
                <a:latin typeface="페이퍼로지 4 Regular"/>
                <a:ea typeface="페이퍼로지 4 Regular"/>
              </a:rPr>
              <a:t>Particles[slot]을 읽어</a:t>
            </a:r>
          </a:p>
        </p:txBody>
      </p:sp>
      <p:sp>
        <p:nvSpPr>
          <p:cNvPr id="623" name="Desc 3-1"/>
          <p:cNvSpPr/>
          <p:nvPr/>
        </p:nvSpPr>
        <p:spPr>
          <a:xfrm>
            <a:off x="8280400" y="3098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정점 6개(Quad)로 그린다</a:t>
            </a:r>
          </a:p>
        </p:txBody>
      </p:sp>
      <p:sp>
        <p:nvSpPr>
          <p:cNvPr id="624" name="Rule 3"/>
          <p:cNvSpPr/>
          <p:nvPr/>
        </p:nvSpPr>
        <p:spPr>
          <a:xfrm>
            <a:off x="8280400" y="3556000"/>
            <a:ext cx="29464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25" name="FigLab 3"/>
          <p:cNvSpPr/>
          <p:nvPr/>
        </p:nvSpPr>
        <p:spPr>
          <a:xfrm>
            <a:off x="8077200" y="3733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Particles</a:t>
            </a:r>
          </a:p>
        </p:txBody>
      </p:sp>
      <p:sp>
        <p:nvSpPr>
          <p:cNvPr id="626" name="F1 C0"/>
          <p:cNvSpPr/>
          <p:nvPr/>
        </p:nvSpPr>
        <p:spPr>
          <a:xfrm>
            <a:off x="1168400" y="4064000"/>
            <a:ext cx="1219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6</a:t>
            </a:r>
          </a:p>
        </p:txBody>
      </p:sp>
      <p:sp>
        <p:nvSpPr>
          <p:cNvPr id="627" name="F1 C1"/>
          <p:cNvSpPr/>
          <p:nvPr/>
        </p:nvSpPr>
        <p:spPr>
          <a:xfrm>
            <a:off x="2387600" y="4064000"/>
            <a:ext cx="1219200" cy="43180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5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28" name="F1 Hl"/>
          <p:cNvSpPr/>
          <p:nvPr/>
        </p:nvSpPr>
        <p:spPr>
          <a:xfrm>
            <a:off x="2387600" y="4064000"/>
            <a:ext cx="1219200" cy="4318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29" name="F1 L0"/>
          <p:cNvSpPr/>
          <p:nvPr/>
        </p:nvSpPr>
        <p:spPr>
          <a:xfrm>
            <a:off x="1168400" y="4546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정점 수</a:t>
            </a:r>
          </a:p>
        </p:txBody>
      </p:sp>
      <p:sp>
        <p:nvSpPr>
          <p:cNvPr id="630" name="F1 L1"/>
          <p:cNvSpPr/>
          <p:nvPr/>
        </p:nvSpPr>
        <p:spPr>
          <a:xfrm>
            <a:off x="2387600" y="4546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인스턴스 수</a:t>
            </a:r>
          </a:p>
        </p:txBody>
      </p:sp>
      <p:sp>
        <p:nvSpPr>
          <p:cNvPr id="631" name="F1 Cap"/>
          <p:cNvSpPr/>
          <p:nvPr/>
        </p:nvSpPr>
        <p:spPr>
          <a:xfrm>
            <a:off x="762000" y="4876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InstanceId = 0 … 4</a:t>
            </a:r>
          </a:p>
        </p:txBody>
      </p:sp>
      <p:sp>
        <p:nvSpPr>
          <p:cNvPr id="632" name="AL0"/>
          <p:cNvSpPr/>
          <p:nvPr/>
        </p:nvSpPr>
        <p:spPr>
          <a:xfrm>
            <a:off x="4775200" y="4089400"/>
            <a:ext cx="3302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0</a:t>
            </a:r>
          </a:p>
        </p:txBody>
      </p:sp>
      <p:sp>
        <p:nvSpPr>
          <p:cNvPr id="633" name="ALi0"/>
          <p:cNvSpPr/>
          <p:nvPr/>
        </p:nvSpPr>
        <p:spPr>
          <a:xfrm>
            <a:off x="47752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34" name="AL1"/>
          <p:cNvSpPr/>
          <p:nvPr/>
        </p:nvSpPr>
        <p:spPr>
          <a:xfrm>
            <a:off x="5105400" y="4089400"/>
            <a:ext cx="3302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635" name="ALi1"/>
          <p:cNvSpPr/>
          <p:nvPr/>
        </p:nvSpPr>
        <p:spPr>
          <a:xfrm>
            <a:off x="51054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36" name="AL2"/>
          <p:cNvSpPr/>
          <p:nvPr/>
        </p:nvSpPr>
        <p:spPr>
          <a:xfrm>
            <a:off x="5435600" y="4089400"/>
            <a:ext cx="330200" cy="33020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37" name="ALi2"/>
          <p:cNvSpPr/>
          <p:nvPr/>
        </p:nvSpPr>
        <p:spPr>
          <a:xfrm>
            <a:off x="54356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38" name="AL3"/>
          <p:cNvSpPr/>
          <p:nvPr/>
        </p:nvSpPr>
        <p:spPr>
          <a:xfrm>
            <a:off x="5765800" y="4089400"/>
            <a:ext cx="3302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8</a:t>
            </a:r>
          </a:p>
        </p:txBody>
      </p:sp>
      <p:sp>
        <p:nvSpPr>
          <p:cNvPr id="639" name="ALi3"/>
          <p:cNvSpPr/>
          <p:nvPr/>
        </p:nvSpPr>
        <p:spPr>
          <a:xfrm>
            <a:off x="57658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40" name="AL4"/>
          <p:cNvSpPr/>
          <p:nvPr/>
        </p:nvSpPr>
        <p:spPr>
          <a:xfrm>
            <a:off x="6096000" y="4089400"/>
            <a:ext cx="330200" cy="330200"/>
          </a:xfrm>
          <a:prstGeom prst="rect">
            <a:avLst/>
          </a:prstGeom>
          <a:solidFill>
            <a:srgbClr val="E2F0D9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641" name="ALi4"/>
          <p:cNvSpPr/>
          <p:nvPr/>
        </p:nvSpPr>
        <p:spPr>
          <a:xfrm>
            <a:off x="60960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642" name="AL5"/>
          <p:cNvSpPr/>
          <p:nvPr/>
        </p:nvSpPr>
        <p:spPr>
          <a:xfrm>
            <a:off x="6426200" y="4089400"/>
            <a:ext cx="330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3" name="ALi5"/>
          <p:cNvSpPr/>
          <p:nvPr/>
        </p:nvSpPr>
        <p:spPr>
          <a:xfrm>
            <a:off x="64262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sp>
        <p:nvSpPr>
          <p:cNvPr id="644" name="AL6"/>
          <p:cNvSpPr/>
          <p:nvPr/>
        </p:nvSpPr>
        <p:spPr>
          <a:xfrm>
            <a:off x="6756400" y="4089400"/>
            <a:ext cx="330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5" name="ALi6"/>
          <p:cNvSpPr/>
          <p:nvPr/>
        </p:nvSpPr>
        <p:spPr>
          <a:xfrm>
            <a:off x="67564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46" name="AL7"/>
          <p:cNvSpPr/>
          <p:nvPr/>
        </p:nvSpPr>
        <p:spPr>
          <a:xfrm>
            <a:off x="7086600" y="4089400"/>
            <a:ext cx="330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7" name="ALi7"/>
          <p:cNvSpPr/>
          <p:nvPr/>
        </p:nvSpPr>
        <p:spPr>
          <a:xfrm>
            <a:off x="7086600" y="4445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48" name="AL Out"/>
          <p:cNvSpPr/>
          <p:nvPr/>
        </p:nvSpPr>
        <p:spPr>
          <a:xfrm>
            <a:off x="4775200" y="4089400"/>
            <a:ext cx="26416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49" name="AL Hl"/>
          <p:cNvSpPr/>
          <p:nvPr/>
        </p:nvSpPr>
        <p:spPr>
          <a:xfrm>
            <a:off x="5435600" y="4089400"/>
            <a:ext cx="330200" cy="3302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0" name="F2 Cap"/>
          <p:cNvSpPr/>
          <p:nvPr/>
        </p:nvSpPr>
        <p:spPr>
          <a:xfrm>
            <a:off x="4419600" y="47244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InstanceId 2 → slot 5</a:t>
            </a:r>
          </a:p>
        </p:txBody>
      </p:sp>
      <p:sp>
        <p:nvSpPr>
          <p:cNvPr id="651" name="P0"/>
          <p:cNvSpPr/>
          <p:nvPr/>
        </p:nvSpPr>
        <p:spPr>
          <a:xfrm>
            <a:off x="8382000" y="4089400"/>
            <a:ext cx="3048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2" name="Pi0"/>
          <p:cNvSpPr/>
          <p:nvPr/>
        </p:nvSpPr>
        <p:spPr>
          <a:xfrm>
            <a:off x="83820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0</a:t>
            </a:r>
          </a:p>
        </p:txBody>
      </p:sp>
      <p:sp>
        <p:nvSpPr>
          <p:cNvPr id="653" name="P1"/>
          <p:cNvSpPr/>
          <p:nvPr/>
        </p:nvSpPr>
        <p:spPr>
          <a:xfrm>
            <a:off x="8686800" y="4089400"/>
            <a:ext cx="3048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4" name="Pi1"/>
          <p:cNvSpPr/>
          <p:nvPr/>
        </p:nvSpPr>
        <p:spPr>
          <a:xfrm>
            <a:off x="86868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1</a:t>
            </a:r>
          </a:p>
        </p:txBody>
      </p:sp>
      <p:sp>
        <p:nvSpPr>
          <p:cNvPr id="655" name="P2"/>
          <p:cNvSpPr/>
          <p:nvPr/>
        </p:nvSpPr>
        <p:spPr>
          <a:xfrm>
            <a:off x="8991600" y="4089400"/>
            <a:ext cx="3048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6" name="Pi2"/>
          <p:cNvSpPr/>
          <p:nvPr/>
        </p:nvSpPr>
        <p:spPr>
          <a:xfrm>
            <a:off x="89916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657" name="P3"/>
          <p:cNvSpPr/>
          <p:nvPr/>
        </p:nvSpPr>
        <p:spPr>
          <a:xfrm>
            <a:off x="9296400" y="4089400"/>
            <a:ext cx="3048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58" name="Pi3"/>
          <p:cNvSpPr/>
          <p:nvPr/>
        </p:nvSpPr>
        <p:spPr>
          <a:xfrm>
            <a:off x="92964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659" name="P4"/>
          <p:cNvSpPr/>
          <p:nvPr/>
        </p:nvSpPr>
        <p:spPr>
          <a:xfrm>
            <a:off x="9601200" y="4089400"/>
            <a:ext cx="3048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60" name="Pi4"/>
          <p:cNvSpPr/>
          <p:nvPr/>
        </p:nvSpPr>
        <p:spPr>
          <a:xfrm>
            <a:off x="96012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661" name="P5"/>
          <p:cNvSpPr/>
          <p:nvPr/>
        </p:nvSpPr>
        <p:spPr>
          <a:xfrm>
            <a:off x="9906000" y="4089400"/>
            <a:ext cx="3048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62" name="Pi5"/>
          <p:cNvSpPr/>
          <p:nvPr/>
        </p:nvSpPr>
        <p:spPr>
          <a:xfrm>
            <a:off x="99060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5</a:t>
            </a:r>
          </a:p>
        </p:txBody>
      </p:sp>
      <p:sp>
        <p:nvSpPr>
          <p:cNvPr id="663" name="P6"/>
          <p:cNvSpPr/>
          <p:nvPr/>
        </p:nvSpPr>
        <p:spPr>
          <a:xfrm>
            <a:off x="10210800" y="4089400"/>
            <a:ext cx="3048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64" name="Pi6"/>
          <p:cNvSpPr/>
          <p:nvPr/>
        </p:nvSpPr>
        <p:spPr>
          <a:xfrm>
            <a:off x="102108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665" name="P7"/>
          <p:cNvSpPr/>
          <p:nvPr/>
        </p:nvSpPr>
        <p:spPr>
          <a:xfrm>
            <a:off x="10515600" y="4089400"/>
            <a:ext cx="304800" cy="330200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66" name="Pi7"/>
          <p:cNvSpPr/>
          <p:nvPr/>
        </p:nvSpPr>
        <p:spPr>
          <a:xfrm>
            <a:off x="105156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sp>
        <p:nvSpPr>
          <p:cNvPr id="667" name="P8"/>
          <p:cNvSpPr/>
          <p:nvPr/>
        </p:nvSpPr>
        <p:spPr>
          <a:xfrm>
            <a:off x="10820400" y="4089400"/>
            <a:ext cx="304800" cy="3302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68" name="Pi8"/>
          <p:cNvSpPr/>
          <p:nvPr/>
        </p:nvSpPr>
        <p:spPr>
          <a:xfrm>
            <a:off x="10820400" y="44450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8</a:t>
            </a:r>
          </a:p>
        </p:txBody>
      </p:sp>
      <p:sp>
        <p:nvSpPr>
          <p:cNvPr id="669" name="P Out"/>
          <p:cNvSpPr/>
          <p:nvPr/>
        </p:nvSpPr>
        <p:spPr>
          <a:xfrm>
            <a:off x="8382000" y="4089400"/>
            <a:ext cx="2743200" cy="3302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70" name="P Hl"/>
          <p:cNvSpPr/>
          <p:nvPr/>
        </p:nvSpPr>
        <p:spPr>
          <a:xfrm>
            <a:off x="9906000" y="4089400"/>
            <a:ext cx="304800" cy="3302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000"/>
          </a:p>
        </p:txBody>
      </p:sp>
      <p:sp>
        <p:nvSpPr>
          <p:cNvPr id="671" name="F3 Cap"/>
          <p:cNvSpPr/>
          <p:nvPr/>
        </p:nvSpPr>
        <p:spPr>
          <a:xfrm>
            <a:off x="8077200" y="47244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3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Particles[5]를 그린다</a:t>
            </a:r>
          </a:p>
        </p:txBody>
      </p:sp>
      <p:sp>
        <p:nvSpPr>
          <p:cNvPr id="672" name="Footer"/>
          <p:cNvSpPr/>
          <p:nvPr/>
        </p:nvSpPr>
        <p:spPr>
          <a:xfrm>
            <a:off x="762000" y="5511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00" dirty="0">
                <a:solidFill>
                  <a:srgbClr val="7F7F7F"/>
                </a:solidFill>
                <a:latin typeface="페이퍼로지 4 Regular"/>
                <a:ea typeface="페이퍼로지 4 Regular"/>
              </a:rPr>
              <a:t>Dead slot은 AliveList에 없으므로 </a:t>
            </a:r>
            <a:r>
              <a:rPr lang="ko-KR" altLang="en-US" sz="1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Draw에서 아예 실행되지 않는다</a:t>
            </a:r>
          </a:p>
        </p:txBody>
      </p:sp>
    </p:spTree>
    <p:extLst>
      <p:ext uri="{BB962C8B-B14F-4D97-AF65-F5344CB8AC3E}">
        <p14:creationId xmlns:p14="http://schemas.microsoft.com/office/powerpoint/2010/main" val="4103167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010-2F40-49E7-2067-E8F4C747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AliveList 장단점 (예상)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D85B24-6379-4AB9-76EE-B4EF1C24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601" name="장점 Card"/>
          <p:cNvSpPr/>
          <p:nvPr/>
        </p:nvSpPr>
        <p:spPr>
          <a:xfrm>
            <a:off x="762000" y="1079500"/>
            <a:ext cx="5207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2" name="장점 Tag"/>
          <p:cNvSpPr/>
          <p:nvPr/>
        </p:nvSpPr>
        <p:spPr>
          <a:xfrm>
            <a:off x="1016000" y="1333500"/>
            <a:ext cx="762000" cy="29210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sz="1600" dirty="0">
                <a:solidFill>
                  <a:srgbClr val="FFFFFF"/>
                </a:solidFill>
                <a:latin typeface="나눔스퀘어 Bold"/>
                <a:ea typeface="나눔스퀘어 Bold"/>
              </a:rPr>
              <a:t>장점</a:t>
            </a:r>
          </a:p>
        </p:txBody>
      </p:sp>
      <p:sp>
        <p:nvSpPr>
          <p:cNvPr id="603" name="장점 Num 1"/>
          <p:cNvSpPr/>
          <p:nvPr/>
        </p:nvSpPr>
        <p:spPr>
          <a:xfrm>
            <a:off x="1016000" y="2095500"/>
            <a:ext cx="330200" cy="3302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04" name="장점 Item 1"/>
          <p:cNvSpPr/>
          <p:nvPr/>
        </p:nvSpPr>
        <p:spPr>
          <a:xfrm>
            <a:off x="1498600" y="2032000"/>
            <a:ext cx="42672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살아있는 파티클 수에 비례하는 비용</a:t>
            </a:r>
          </a:p>
          <a:p>
            <a:pPr algn="l">
              <a:spcBef>
                <a:spcPts val="6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Simulate · Draw를 </a:t>
            </a:r>
            <a:r>
              <a:rPr lang="ko-KR" altLang="en-US" sz="14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AliveCount만큼만</a:t>
            </a: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 실행</a:t>
            </a:r>
          </a:p>
          <a:p>
            <a:pPr algn="l">
              <a:spcBef>
                <a:spcPts val="3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Dead slot은 스레드도, 정점도 차지하지 않는다</a:t>
            </a:r>
          </a:p>
        </p:txBody>
      </p:sp>
      <p:sp>
        <p:nvSpPr>
          <p:cNvPr id="605" name="장점 Rule 1"/>
          <p:cNvSpPr/>
          <p:nvPr/>
        </p:nvSpPr>
        <p:spPr>
          <a:xfrm>
            <a:off x="1016000" y="3454400"/>
            <a:ext cx="4699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06" name="장점 Num 2"/>
          <p:cNvSpPr/>
          <p:nvPr/>
        </p:nvSpPr>
        <p:spPr>
          <a:xfrm>
            <a:off x="1016000" y="3810000"/>
            <a:ext cx="330200" cy="3302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07" name="장점 Item 2"/>
          <p:cNvSpPr/>
          <p:nvPr/>
        </p:nvSpPr>
        <p:spPr>
          <a:xfrm>
            <a:off x="1498600" y="3746500"/>
            <a:ext cx="42672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확장 가능성</a:t>
            </a:r>
          </a:p>
          <a:p>
            <a:pPr algn="l">
              <a:spcBef>
                <a:spcPts val="6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Alive 파티클이 AliveList에 </a:t>
            </a:r>
            <a:r>
              <a:rPr lang="ko-KR" altLang="en-US" sz="1400" dirty="0">
                <a:solidFill>
                  <a:srgbClr val="548235"/>
                </a:solidFill>
                <a:latin typeface="페이퍼로지 7 Bold"/>
                <a:ea typeface="페이퍼로지 7 Bold"/>
              </a:rPr>
              <a:t>연속으로 모여</a:t>
            </a: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 있다</a:t>
            </a:r>
          </a:p>
          <a:p>
            <a:pPr algn="l">
              <a:spcBef>
                <a:spcPts val="3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정렬 · 컬링 · LOD를 이 리스트 위에 붙일 수 있다</a:t>
            </a:r>
          </a:p>
        </p:txBody>
      </p:sp>
      <p:sp>
        <p:nvSpPr>
          <p:cNvPr id="614" name="단점 Card"/>
          <p:cNvSpPr/>
          <p:nvPr/>
        </p:nvSpPr>
        <p:spPr>
          <a:xfrm>
            <a:off x="6223000" y="1079500"/>
            <a:ext cx="5207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5" name="단점 Tag"/>
          <p:cNvSpPr/>
          <p:nvPr/>
        </p:nvSpPr>
        <p:spPr>
          <a:xfrm>
            <a:off x="6477000" y="1333500"/>
            <a:ext cx="762000" cy="2921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sz="1600" dirty="0">
                <a:solidFill>
                  <a:srgbClr val="FFFFFF"/>
                </a:solidFill>
                <a:latin typeface="나눔스퀘어 Bold"/>
                <a:ea typeface="나눔스퀘어 Bold"/>
              </a:rPr>
              <a:t>단점</a:t>
            </a:r>
          </a:p>
        </p:txBody>
      </p:sp>
      <p:sp>
        <p:nvSpPr>
          <p:cNvPr id="616" name="단점 Num 1"/>
          <p:cNvSpPr/>
          <p:nvPr/>
        </p:nvSpPr>
        <p:spPr>
          <a:xfrm>
            <a:off x="6477000" y="2095500"/>
            <a:ext cx="330200" cy="3302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617" name="단점 Item 1"/>
          <p:cNvSpPr/>
          <p:nvPr/>
        </p:nvSpPr>
        <p:spPr>
          <a:xfrm>
            <a:off x="6959600" y="2032000"/>
            <a:ext cx="42672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Simulate의 원자연산 증가</a:t>
            </a:r>
          </a:p>
          <a:p>
            <a:pPr algn="l">
              <a:spcBef>
                <a:spcPts val="6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생존 파티클마다 </a:t>
            </a:r>
            <a:r>
              <a:rPr lang="ko-KR" altLang="en-US" sz="1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InterlockedAdd 1회</a:t>
            </a:r>
          </a:p>
          <a:p>
            <a:pPr algn="l">
              <a:spcBef>
                <a:spcPts val="3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AliveAfterSim 카운터 하나에 경합이 몰린다</a:t>
            </a:r>
          </a:p>
        </p:txBody>
      </p:sp>
      <p:sp>
        <p:nvSpPr>
          <p:cNvPr id="618" name="단점 Rule 1"/>
          <p:cNvSpPr/>
          <p:nvPr/>
        </p:nvSpPr>
        <p:spPr>
          <a:xfrm>
            <a:off x="6477000" y="3454400"/>
            <a:ext cx="4699000" cy="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 sz="1200"/>
          </a:p>
        </p:txBody>
      </p:sp>
      <p:sp>
        <p:nvSpPr>
          <p:cNvPr id="619" name="단점 Num 2"/>
          <p:cNvSpPr/>
          <p:nvPr/>
        </p:nvSpPr>
        <p:spPr>
          <a:xfrm>
            <a:off x="6477000" y="3810000"/>
            <a:ext cx="330200" cy="3302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1300" dirty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620" name="단점 Item 2"/>
          <p:cNvSpPr/>
          <p:nvPr/>
        </p:nvSpPr>
        <p:spPr>
          <a:xfrm>
            <a:off x="6959600" y="3746500"/>
            <a:ext cx="42672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700" dirty="0">
                <a:solidFill>
                  <a:srgbClr val="262626"/>
                </a:solidFill>
                <a:latin typeface="페이퍼로지 7 Bold"/>
                <a:ea typeface="페이퍼로지 7 Bold"/>
              </a:rPr>
              <a:t>간접 접근으로 캐시 효율 저하</a:t>
            </a:r>
          </a:p>
          <a:p>
            <a:pPr algn="l">
              <a:spcBef>
                <a:spcPts val="6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AliveList → Particles </a:t>
            </a:r>
            <a:r>
              <a:rPr lang="ko-KR" altLang="en-US" sz="1400" dirty="0">
                <a:solidFill>
                  <a:srgbClr val="C55A11"/>
                </a:solidFill>
                <a:latin typeface="페이퍼로지 7 Bold"/>
                <a:ea typeface="페이퍼로지 7 Bold"/>
              </a:rPr>
              <a:t>2단계 접근</a:t>
            </a:r>
          </a:p>
          <a:p>
            <a:pPr algn="l">
              <a:spcBef>
                <a:spcPts val="300"/>
              </a:spcBef>
            </a:pPr>
            <a:r>
              <a:rPr lang="ko-KR" altLang="en-US" sz="1400" dirty="0">
                <a:solidFill>
                  <a:srgbClr val="595959"/>
                </a:solidFill>
                <a:latin typeface="페이퍼로지 4 Regular"/>
                <a:ea typeface="페이퍼로지 4 Regular"/>
              </a:rPr>
              <a:t>slot이 흩어져 있으면 Particles 읽기가 비연속이 된다</a:t>
            </a:r>
          </a:p>
        </p:txBody>
      </p:sp>
    </p:spTree>
    <p:extLst>
      <p:ext uri="{BB962C8B-B14F-4D97-AF65-F5344CB8AC3E}">
        <p14:creationId xmlns:p14="http://schemas.microsoft.com/office/powerpoint/2010/main" val="1217096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D97C6A73-EE20-4159-B321-889E8BFF77F4}"/>
              </a:ext>
            </a:extLst>
          </p:cNvPr>
          <p:cNvSpPr/>
          <p:nvPr/>
        </p:nvSpPr>
        <p:spPr>
          <a:xfrm>
            <a:off x="7925292" y="4238718"/>
            <a:ext cx="940240" cy="776108"/>
          </a:xfrm>
          <a:prstGeom prst="round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7 Bold"/>
              <a:ea typeface="페이퍼로지 7 Bold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CFA86E2B-85D1-47FF-AF98-5E4910D8D62C}"/>
              </a:ext>
            </a:extLst>
          </p:cNvPr>
          <p:cNvSpPr/>
          <p:nvPr/>
        </p:nvSpPr>
        <p:spPr>
          <a:xfrm>
            <a:off x="3304929" y="4241510"/>
            <a:ext cx="4602373" cy="773316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7 Bold"/>
              <a:ea typeface="페이퍼로지 7 Bold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2A795D8-3EFB-40FC-BAA5-324581A82039}"/>
              </a:ext>
            </a:extLst>
          </p:cNvPr>
          <p:cNvSpPr/>
          <p:nvPr/>
        </p:nvSpPr>
        <p:spPr>
          <a:xfrm>
            <a:off x="152400" y="940134"/>
            <a:ext cx="11855116" cy="2810014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파티클의</a:t>
            </a:r>
            <a:r>
              <a:rPr lang="ko-KR" altLang="en-US" dirty="0"/>
              <a:t> 메모리 관리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pPr/>
              <a:t>19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3F32C3-DB9F-458A-A397-DABC93B10C8A}"/>
              </a:ext>
            </a:extLst>
          </p:cNvPr>
          <p:cNvSpPr txBox="1"/>
          <p:nvPr/>
        </p:nvSpPr>
        <p:spPr>
          <a:xfrm>
            <a:off x="2772011" y="3390591"/>
            <a:ext cx="664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페이퍼로지 7 Bold"/>
                <a:ea typeface="페이퍼로지 7 Bold"/>
              </a:rPr>
              <a:t>활성화된 </a:t>
            </a:r>
            <a:r>
              <a:rPr lang="ko-KR" altLang="en-US" sz="1600" dirty="0" err="1">
                <a:latin typeface="페이퍼로지 7 Bold"/>
                <a:ea typeface="페이퍼로지 7 Bold"/>
              </a:rPr>
              <a:t>파티클만</a:t>
            </a:r>
            <a:r>
              <a:rPr lang="ko-KR" altLang="en-US" sz="1600" dirty="0">
                <a:latin typeface="페이퍼로지 7 Bold"/>
                <a:ea typeface="페이퍼로지 7 Bold"/>
              </a:rPr>
              <a:t> 업데이트 및 렌더링을 거친다</a:t>
            </a:r>
            <a:r>
              <a:rPr lang="en-US" altLang="ko-KR" sz="1600" dirty="0">
                <a:latin typeface="페이퍼로지 7 Bold"/>
                <a:ea typeface="페이퍼로지 7 Bold"/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074CBEC-3B35-4F14-992E-686B461E13E1}"/>
              </a:ext>
            </a:extLst>
          </p:cNvPr>
          <p:cNvSpPr/>
          <p:nvPr/>
        </p:nvSpPr>
        <p:spPr>
          <a:xfrm>
            <a:off x="144379" y="932113"/>
            <a:ext cx="762000" cy="28708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B5F49D1-04B0-4D1B-9CDA-640CEBBBE88E}"/>
              </a:ext>
            </a:extLst>
          </p:cNvPr>
          <p:cNvSpPr/>
          <p:nvPr/>
        </p:nvSpPr>
        <p:spPr>
          <a:xfrm>
            <a:off x="160421" y="3828367"/>
            <a:ext cx="11855116" cy="2501913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DEE0AA67-AA19-4545-BC76-721C8FB0CAD7}"/>
              </a:ext>
            </a:extLst>
          </p:cNvPr>
          <p:cNvSpPr/>
          <p:nvPr/>
        </p:nvSpPr>
        <p:spPr>
          <a:xfrm>
            <a:off x="152400" y="3820346"/>
            <a:ext cx="762000" cy="28708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B4BBFA-F087-433B-8A9E-E7C799A622D7}"/>
              </a:ext>
            </a:extLst>
          </p:cNvPr>
          <p:cNvSpPr txBox="1"/>
          <p:nvPr/>
        </p:nvSpPr>
        <p:spPr>
          <a:xfrm>
            <a:off x="5269832" y="3886373"/>
            <a:ext cx="1652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Particle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Pool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BAC9031-CFE7-46DF-A3F2-B3E088503783}"/>
              </a:ext>
            </a:extLst>
          </p:cNvPr>
          <p:cNvSpPr/>
          <p:nvPr/>
        </p:nvSpPr>
        <p:spPr>
          <a:xfrm>
            <a:off x="3294384" y="4224927"/>
            <a:ext cx="5571148" cy="1309373"/>
          </a:xfrm>
          <a:prstGeom prst="roundRect">
            <a:avLst>
              <a:gd name="adj" fmla="val 575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4 Regular"/>
              <a:ea typeface="페이퍼로지 4 Regular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49EA719-0334-4FF0-A595-97FF2D1463FB}"/>
              </a:ext>
            </a:extLst>
          </p:cNvPr>
          <p:cNvCxnSpPr>
            <a:cxnSpLocks/>
          </p:cNvCxnSpPr>
          <p:nvPr/>
        </p:nvCxnSpPr>
        <p:spPr>
          <a:xfrm>
            <a:off x="3796227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A61C5F2-6AE7-473A-9E36-E4A7BB16560A}"/>
              </a:ext>
            </a:extLst>
          </p:cNvPr>
          <p:cNvCxnSpPr>
            <a:cxnSpLocks/>
          </p:cNvCxnSpPr>
          <p:nvPr/>
        </p:nvCxnSpPr>
        <p:spPr>
          <a:xfrm>
            <a:off x="4253063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8A3C09AB-CD11-4494-8BB6-4B7D269F0705}"/>
              </a:ext>
            </a:extLst>
          </p:cNvPr>
          <p:cNvCxnSpPr>
            <a:cxnSpLocks/>
          </p:cNvCxnSpPr>
          <p:nvPr/>
        </p:nvCxnSpPr>
        <p:spPr>
          <a:xfrm>
            <a:off x="4709899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D8CA6E99-E9ED-401E-91BF-3A7FE6F12B8E}"/>
              </a:ext>
            </a:extLst>
          </p:cNvPr>
          <p:cNvCxnSpPr>
            <a:cxnSpLocks/>
          </p:cNvCxnSpPr>
          <p:nvPr/>
        </p:nvCxnSpPr>
        <p:spPr>
          <a:xfrm>
            <a:off x="5166735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4E71819-2A09-4A21-8C57-EACA7D250A08}"/>
              </a:ext>
            </a:extLst>
          </p:cNvPr>
          <p:cNvCxnSpPr>
            <a:cxnSpLocks/>
          </p:cNvCxnSpPr>
          <p:nvPr/>
        </p:nvCxnSpPr>
        <p:spPr>
          <a:xfrm>
            <a:off x="5623571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49116E04-7B6C-48BB-BDD1-578341AA90EC}"/>
              </a:ext>
            </a:extLst>
          </p:cNvPr>
          <p:cNvCxnSpPr>
            <a:cxnSpLocks/>
          </p:cNvCxnSpPr>
          <p:nvPr/>
        </p:nvCxnSpPr>
        <p:spPr>
          <a:xfrm>
            <a:off x="6080407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3C86882F-7E85-4C02-A960-70E6B0EC3199}"/>
              </a:ext>
            </a:extLst>
          </p:cNvPr>
          <p:cNvCxnSpPr>
            <a:cxnSpLocks/>
          </p:cNvCxnSpPr>
          <p:nvPr/>
        </p:nvCxnSpPr>
        <p:spPr>
          <a:xfrm>
            <a:off x="6537243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31F9906-2DFC-4DA6-92C8-4F99D55561FC}"/>
              </a:ext>
            </a:extLst>
          </p:cNvPr>
          <p:cNvCxnSpPr>
            <a:cxnSpLocks/>
          </p:cNvCxnSpPr>
          <p:nvPr/>
        </p:nvCxnSpPr>
        <p:spPr>
          <a:xfrm>
            <a:off x="6994079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2B704E4-D9C4-4F7A-8804-A671BE5B6BCC}"/>
              </a:ext>
            </a:extLst>
          </p:cNvPr>
          <p:cNvCxnSpPr>
            <a:cxnSpLocks/>
          </p:cNvCxnSpPr>
          <p:nvPr/>
        </p:nvCxnSpPr>
        <p:spPr>
          <a:xfrm>
            <a:off x="7450915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7E73F03F-A25A-477B-B469-17092EB21669}"/>
              </a:ext>
            </a:extLst>
          </p:cNvPr>
          <p:cNvCxnSpPr>
            <a:cxnSpLocks/>
          </p:cNvCxnSpPr>
          <p:nvPr/>
        </p:nvCxnSpPr>
        <p:spPr>
          <a:xfrm>
            <a:off x="7907751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21705BF2-DB01-42FF-A99D-5BD20A5AB520}"/>
              </a:ext>
            </a:extLst>
          </p:cNvPr>
          <p:cNvCxnSpPr>
            <a:cxnSpLocks/>
          </p:cNvCxnSpPr>
          <p:nvPr/>
        </p:nvCxnSpPr>
        <p:spPr>
          <a:xfrm>
            <a:off x="8364587" y="4224927"/>
            <a:ext cx="0" cy="130937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F1C16C79-5FC7-4D0F-9DAA-F27E66F54B61}"/>
              </a:ext>
            </a:extLst>
          </p:cNvPr>
          <p:cNvCxnSpPr>
            <a:cxnSpLocks/>
          </p:cNvCxnSpPr>
          <p:nvPr/>
        </p:nvCxnSpPr>
        <p:spPr>
          <a:xfrm>
            <a:off x="3294384" y="4462207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BFA78D6A-28A4-4021-B4C4-0EC46A16192A}"/>
              </a:ext>
            </a:extLst>
          </p:cNvPr>
          <p:cNvCxnSpPr>
            <a:cxnSpLocks/>
          </p:cNvCxnSpPr>
          <p:nvPr/>
        </p:nvCxnSpPr>
        <p:spPr>
          <a:xfrm>
            <a:off x="3294833" y="4727677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B4BBA15-F015-4EB5-8984-F77976375C47}"/>
              </a:ext>
            </a:extLst>
          </p:cNvPr>
          <p:cNvCxnSpPr>
            <a:cxnSpLocks/>
          </p:cNvCxnSpPr>
          <p:nvPr/>
        </p:nvCxnSpPr>
        <p:spPr>
          <a:xfrm>
            <a:off x="3285801" y="4998253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1177212-F39C-47DA-BC0B-26A2257F369A}"/>
              </a:ext>
            </a:extLst>
          </p:cNvPr>
          <p:cNvCxnSpPr>
            <a:cxnSpLocks/>
          </p:cNvCxnSpPr>
          <p:nvPr/>
        </p:nvCxnSpPr>
        <p:spPr>
          <a:xfrm>
            <a:off x="3294833" y="5268828"/>
            <a:ext cx="55711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1485CCFA-2A35-44FA-B16E-4E698AE87403}"/>
              </a:ext>
            </a:extLst>
          </p:cNvPr>
          <p:cNvCxnSpPr>
            <a:cxnSpLocks/>
          </p:cNvCxnSpPr>
          <p:nvPr/>
        </p:nvCxnSpPr>
        <p:spPr>
          <a:xfrm flipH="1">
            <a:off x="2863516" y="4591380"/>
            <a:ext cx="3265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3D15AAC0-9A73-4491-B9A2-E403D3B87B81}"/>
              </a:ext>
            </a:extLst>
          </p:cNvPr>
          <p:cNvSpPr txBox="1"/>
          <p:nvPr/>
        </p:nvSpPr>
        <p:spPr>
          <a:xfrm>
            <a:off x="981288" y="4437491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Particle Group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1</a:t>
            </a: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7838D5D-36AB-449F-99F3-56C624B4BD36}"/>
              </a:ext>
            </a:extLst>
          </p:cNvPr>
          <p:cNvCxnSpPr>
            <a:cxnSpLocks/>
          </p:cNvCxnSpPr>
          <p:nvPr/>
        </p:nvCxnSpPr>
        <p:spPr>
          <a:xfrm>
            <a:off x="8915771" y="4615442"/>
            <a:ext cx="4470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87D82185-3EB8-463B-AD13-0072034581E3}"/>
              </a:ext>
            </a:extLst>
          </p:cNvPr>
          <p:cNvSpPr txBox="1"/>
          <p:nvPr/>
        </p:nvSpPr>
        <p:spPr>
          <a:xfrm>
            <a:off x="9304827" y="4440338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Particle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Group 2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CA524B9F-A8F3-41B8-BE0E-1BA12360210A}"/>
              </a:ext>
            </a:extLst>
          </p:cNvPr>
          <p:cNvSpPr/>
          <p:nvPr/>
        </p:nvSpPr>
        <p:spPr>
          <a:xfrm>
            <a:off x="3843943" y="1337463"/>
            <a:ext cx="3242127" cy="417094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7 Bold"/>
              <a:ea typeface="페이퍼로지 7 Bold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AFAA10-C43E-461F-AA9B-E86C2F3ED0AA}"/>
              </a:ext>
            </a:extLst>
          </p:cNvPr>
          <p:cNvSpPr txBox="1"/>
          <p:nvPr/>
        </p:nvSpPr>
        <p:spPr>
          <a:xfrm>
            <a:off x="1514996" y="1392303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Particle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Emitter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1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B926A057-A20D-4203-B4F8-CBFD8AE29FFB}"/>
              </a:ext>
            </a:extLst>
          </p:cNvPr>
          <p:cNvCxnSpPr>
            <a:cxnSpLocks/>
          </p:cNvCxnSpPr>
          <p:nvPr/>
        </p:nvCxnSpPr>
        <p:spPr>
          <a:xfrm>
            <a:off x="3312694" y="1546010"/>
            <a:ext cx="4526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D7118394-D5EC-46DD-80AE-8427BE1E8248}"/>
              </a:ext>
            </a:extLst>
          </p:cNvPr>
          <p:cNvGrpSpPr/>
          <p:nvPr/>
        </p:nvGrpSpPr>
        <p:grpSpPr>
          <a:xfrm>
            <a:off x="3845568" y="1332453"/>
            <a:ext cx="5571148" cy="422104"/>
            <a:chOff x="3845568" y="1223881"/>
            <a:chExt cx="5571148" cy="422104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3757517D-EF3B-444C-817E-DDA93D8B03C1}"/>
                </a:ext>
              </a:extLst>
            </p:cNvPr>
            <p:cNvSpPr/>
            <p:nvPr/>
          </p:nvSpPr>
          <p:spPr>
            <a:xfrm>
              <a:off x="3845568" y="1228891"/>
              <a:ext cx="5571148" cy="41709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페이퍼로지 4 Regular"/>
                <a:ea typeface="페이퍼로지 4 Regular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8A3B823B-F36F-43B5-8A42-CEC7BFC7F191}"/>
                </a:ext>
              </a:extLst>
            </p:cNvPr>
            <p:cNvCxnSpPr>
              <a:cxnSpLocks/>
            </p:cNvCxnSpPr>
            <p:nvPr/>
          </p:nvCxnSpPr>
          <p:spPr>
            <a:xfrm>
              <a:off x="434741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7DA3DF07-95CE-42D8-A94F-E5695C2F360A}"/>
                </a:ext>
              </a:extLst>
            </p:cNvPr>
            <p:cNvCxnSpPr>
              <a:cxnSpLocks/>
            </p:cNvCxnSpPr>
            <p:nvPr/>
          </p:nvCxnSpPr>
          <p:spPr>
            <a:xfrm>
              <a:off x="480424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AFB28CCD-F6F3-4ED7-9615-A283AAD1C8A5}"/>
                </a:ext>
              </a:extLst>
            </p:cNvPr>
            <p:cNvCxnSpPr>
              <a:cxnSpLocks/>
            </p:cNvCxnSpPr>
            <p:nvPr/>
          </p:nvCxnSpPr>
          <p:spPr>
            <a:xfrm>
              <a:off x="526108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D0614B1A-A8A2-4066-8C6E-F5834ABB8CCE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1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933F8012-FA8B-446B-8526-227FE05632E4}"/>
                </a:ext>
              </a:extLst>
            </p:cNvPr>
            <p:cNvCxnSpPr>
              <a:cxnSpLocks/>
            </p:cNvCxnSpPr>
            <p:nvPr/>
          </p:nvCxnSpPr>
          <p:spPr>
            <a:xfrm>
              <a:off x="617475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F339CCD3-119B-468F-A400-39326B25DD06}"/>
                </a:ext>
              </a:extLst>
            </p:cNvPr>
            <p:cNvCxnSpPr>
              <a:cxnSpLocks/>
            </p:cNvCxnSpPr>
            <p:nvPr/>
          </p:nvCxnSpPr>
          <p:spPr>
            <a:xfrm>
              <a:off x="663159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D3F4FD2C-81D5-4AB0-B900-516C3F48F9EE}"/>
                </a:ext>
              </a:extLst>
            </p:cNvPr>
            <p:cNvCxnSpPr>
              <a:cxnSpLocks/>
            </p:cNvCxnSpPr>
            <p:nvPr/>
          </p:nvCxnSpPr>
          <p:spPr>
            <a:xfrm>
              <a:off x="708842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23BD8AC6-EDF7-42D4-854F-5B8CAA9757E7}"/>
                </a:ext>
              </a:extLst>
            </p:cNvPr>
            <p:cNvCxnSpPr>
              <a:cxnSpLocks/>
            </p:cNvCxnSpPr>
            <p:nvPr/>
          </p:nvCxnSpPr>
          <p:spPr>
            <a:xfrm>
              <a:off x="754526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331B110B-B0B5-4140-B529-546731496E05}"/>
                </a:ext>
              </a:extLst>
            </p:cNvPr>
            <p:cNvCxnSpPr>
              <a:cxnSpLocks/>
            </p:cNvCxnSpPr>
            <p:nvPr/>
          </p:nvCxnSpPr>
          <p:spPr>
            <a:xfrm>
              <a:off x="800209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4CBB9597-E2DD-47AF-8C06-83E5B1CD24C5}"/>
                </a:ext>
              </a:extLst>
            </p:cNvPr>
            <p:cNvCxnSpPr>
              <a:cxnSpLocks/>
            </p:cNvCxnSpPr>
            <p:nvPr/>
          </p:nvCxnSpPr>
          <p:spPr>
            <a:xfrm>
              <a:off x="845893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963E9D9C-F2C8-4222-9DBC-1A7EB8A7A5B4}"/>
                </a:ext>
              </a:extLst>
            </p:cNvPr>
            <p:cNvCxnSpPr>
              <a:cxnSpLocks/>
            </p:cNvCxnSpPr>
            <p:nvPr/>
          </p:nvCxnSpPr>
          <p:spPr>
            <a:xfrm>
              <a:off x="891577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50C988CF-412D-4ADD-A104-7A4CD46E3BE1}"/>
              </a:ext>
            </a:extLst>
          </p:cNvPr>
          <p:cNvSpPr txBox="1"/>
          <p:nvPr/>
        </p:nvSpPr>
        <p:spPr>
          <a:xfrm>
            <a:off x="9446121" y="1266102"/>
            <a:ext cx="133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Total Count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: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256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8BF41B4-F8D5-4239-BD7C-6702A42B6D06}"/>
              </a:ext>
            </a:extLst>
          </p:cNvPr>
          <p:cNvSpPr txBox="1"/>
          <p:nvPr/>
        </p:nvSpPr>
        <p:spPr>
          <a:xfrm>
            <a:off x="4840356" y="1789322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Alive : 200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CAD3F904-53AF-4E1E-A982-394BB167052A}"/>
              </a:ext>
            </a:extLst>
          </p:cNvPr>
          <p:cNvSpPr/>
          <p:nvPr/>
        </p:nvSpPr>
        <p:spPr>
          <a:xfrm>
            <a:off x="3843943" y="2438388"/>
            <a:ext cx="1425681" cy="417094"/>
          </a:xfrm>
          <a:prstGeom prst="round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7 Bold"/>
              <a:ea typeface="페이퍼로지 7 Bold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AA27874-2F31-465B-AFA8-58DC19896D31}"/>
              </a:ext>
            </a:extLst>
          </p:cNvPr>
          <p:cNvSpPr txBox="1"/>
          <p:nvPr/>
        </p:nvSpPr>
        <p:spPr>
          <a:xfrm>
            <a:off x="1514996" y="2488036"/>
            <a:ext cx="1949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Particle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Emitter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2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8172FBCC-38B2-44C2-9EF4-D69D5F6E8919}"/>
              </a:ext>
            </a:extLst>
          </p:cNvPr>
          <p:cNvCxnSpPr>
            <a:cxnSpLocks/>
          </p:cNvCxnSpPr>
          <p:nvPr/>
        </p:nvCxnSpPr>
        <p:spPr>
          <a:xfrm>
            <a:off x="3312694" y="2646935"/>
            <a:ext cx="4526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E0ADA04-F630-4F4D-826B-91B87EC59A54}"/>
              </a:ext>
            </a:extLst>
          </p:cNvPr>
          <p:cNvGrpSpPr/>
          <p:nvPr/>
        </p:nvGrpSpPr>
        <p:grpSpPr>
          <a:xfrm>
            <a:off x="3845568" y="2433378"/>
            <a:ext cx="5571148" cy="422104"/>
            <a:chOff x="3845568" y="1223881"/>
            <a:chExt cx="5571148" cy="422104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B32D0123-4AFC-4D7E-BBE3-12C292662AFE}"/>
                </a:ext>
              </a:extLst>
            </p:cNvPr>
            <p:cNvSpPr/>
            <p:nvPr/>
          </p:nvSpPr>
          <p:spPr>
            <a:xfrm>
              <a:off x="3845568" y="1228891"/>
              <a:ext cx="5571148" cy="41709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4 Regular"/>
                <a:ea typeface="페이퍼로지 4 Regular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6E536E38-1458-424C-9B50-889E20EAF9F9}"/>
                </a:ext>
              </a:extLst>
            </p:cNvPr>
            <p:cNvCxnSpPr>
              <a:cxnSpLocks/>
            </p:cNvCxnSpPr>
            <p:nvPr/>
          </p:nvCxnSpPr>
          <p:spPr>
            <a:xfrm>
              <a:off x="434741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29A76790-28A3-4C4E-9296-6039936D63CF}"/>
                </a:ext>
              </a:extLst>
            </p:cNvPr>
            <p:cNvCxnSpPr>
              <a:cxnSpLocks/>
            </p:cNvCxnSpPr>
            <p:nvPr/>
          </p:nvCxnSpPr>
          <p:spPr>
            <a:xfrm>
              <a:off x="480424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4414C660-1A46-4ED3-8838-C5C655C44A22}"/>
                </a:ext>
              </a:extLst>
            </p:cNvPr>
            <p:cNvCxnSpPr>
              <a:cxnSpLocks/>
            </p:cNvCxnSpPr>
            <p:nvPr/>
          </p:nvCxnSpPr>
          <p:spPr>
            <a:xfrm>
              <a:off x="526108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3967CB2F-7F75-4FB1-83AC-F97BAE3D47AC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1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F781CE1D-2303-41AC-9C3A-67F329321BDD}"/>
                </a:ext>
              </a:extLst>
            </p:cNvPr>
            <p:cNvCxnSpPr>
              <a:cxnSpLocks/>
            </p:cNvCxnSpPr>
            <p:nvPr/>
          </p:nvCxnSpPr>
          <p:spPr>
            <a:xfrm>
              <a:off x="617475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68BF9A13-CA14-4321-85C0-2266992492A7}"/>
                </a:ext>
              </a:extLst>
            </p:cNvPr>
            <p:cNvCxnSpPr>
              <a:cxnSpLocks/>
            </p:cNvCxnSpPr>
            <p:nvPr/>
          </p:nvCxnSpPr>
          <p:spPr>
            <a:xfrm>
              <a:off x="663159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3CF43E79-268F-41AD-B523-40F4BE865BD1}"/>
                </a:ext>
              </a:extLst>
            </p:cNvPr>
            <p:cNvCxnSpPr>
              <a:cxnSpLocks/>
            </p:cNvCxnSpPr>
            <p:nvPr/>
          </p:nvCxnSpPr>
          <p:spPr>
            <a:xfrm>
              <a:off x="7088427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2C8E8CCC-C2BC-4FBF-ABDC-CC449DDA6E08}"/>
                </a:ext>
              </a:extLst>
            </p:cNvPr>
            <p:cNvCxnSpPr>
              <a:cxnSpLocks/>
            </p:cNvCxnSpPr>
            <p:nvPr/>
          </p:nvCxnSpPr>
          <p:spPr>
            <a:xfrm>
              <a:off x="7545263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B7208A38-568B-4A28-87D8-6ED432616DC5}"/>
                </a:ext>
              </a:extLst>
            </p:cNvPr>
            <p:cNvCxnSpPr>
              <a:cxnSpLocks/>
            </p:cNvCxnSpPr>
            <p:nvPr/>
          </p:nvCxnSpPr>
          <p:spPr>
            <a:xfrm>
              <a:off x="8002099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356D77AB-7B71-4FE9-B95D-4C6A5B9C1F77}"/>
                </a:ext>
              </a:extLst>
            </p:cNvPr>
            <p:cNvCxnSpPr>
              <a:cxnSpLocks/>
            </p:cNvCxnSpPr>
            <p:nvPr/>
          </p:nvCxnSpPr>
          <p:spPr>
            <a:xfrm>
              <a:off x="8458935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7174E058-5D61-41E4-9E9B-DCCC29F03C07}"/>
                </a:ext>
              </a:extLst>
            </p:cNvPr>
            <p:cNvCxnSpPr>
              <a:cxnSpLocks/>
            </p:cNvCxnSpPr>
            <p:nvPr/>
          </p:nvCxnSpPr>
          <p:spPr>
            <a:xfrm>
              <a:off x="8915771" y="1223881"/>
              <a:ext cx="0" cy="41709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BAE7EF41-09BA-420B-B7B9-0C830FFD6F2A}"/>
              </a:ext>
            </a:extLst>
          </p:cNvPr>
          <p:cNvSpPr txBox="1"/>
          <p:nvPr/>
        </p:nvSpPr>
        <p:spPr>
          <a:xfrm>
            <a:off x="9446121" y="2373158"/>
            <a:ext cx="133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Total Count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: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256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9D1AE13-DA80-48DA-BF76-A3287A3BD59E}"/>
              </a:ext>
            </a:extLst>
          </p:cNvPr>
          <p:cNvSpPr txBox="1"/>
          <p:nvPr/>
        </p:nvSpPr>
        <p:spPr>
          <a:xfrm>
            <a:off x="3891037" y="2895514"/>
            <a:ext cx="133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Alive : 20</a:t>
            </a: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85292BA1-7DFB-4ECE-B731-FAC7D5E6F26E}"/>
              </a:ext>
            </a:extLst>
          </p:cNvPr>
          <p:cNvCxnSpPr>
            <a:cxnSpLocks/>
          </p:cNvCxnSpPr>
          <p:nvPr/>
        </p:nvCxnSpPr>
        <p:spPr>
          <a:xfrm>
            <a:off x="6726144" y="1755492"/>
            <a:ext cx="285281" cy="227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DEA110F4-4362-4262-A379-41F37FBD6216}"/>
              </a:ext>
            </a:extLst>
          </p:cNvPr>
          <p:cNvSpPr txBox="1"/>
          <p:nvPr/>
        </p:nvSpPr>
        <p:spPr>
          <a:xfrm>
            <a:off x="6990826" y="1853138"/>
            <a:ext cx="1945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Compute &amp; Render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F6C1B37F-24B1-482D-BECC-68FB1144572B}"/>
              </a:ext>
            </a:extLst>
          </p:cNvPr>
          <p:cNvCxnSpPr>
            <a:cxnSpLocks/>
          </p:cNvCxnSpPr>
          <p:nvPr/>
        </p:nvCxnSpPr>
        <p:spPr>
          <a:xfrm>
            <a:off x="5194279" y="2856529"/>
            <a:ext cx="285281" cy="227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A81E492E-D1E7-45D2-84E5-4045DAA640EF}"/>
              </a:ext>
            </a:extLst>
          </p:cNvPr>
          <p:cNvSpPr txBox="1"/>
          <p:nvPr/>
        </p:nvSpPr>
        <p:spPr>
          <a:xfrm>
            <a:off x="5458961" y="2954175"/>
            <a:ext cx="1945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Compute &amp; Render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EA16944-CCF5-4C0F-85AD-D9460BF75900}"/>
              </a:ext>
            </a:extLst>
          </p:cNvPr>
          <p:cNvSpPr txBox="1"/>
          <p:nvPr/>
        </p:nvSpPr>
        <p:spPr>
          <a:xfrm>
            <a:off x="2772011" y="5862051"/>
            <a:ext cx="664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페이퍼로지 7 Bold"/>
                <a:ea typeface="페이퍼로지 7 Bold"/>
              </a:rPr>
              <a:t>Global Particle Pool</a:t>
            </a:r>
            <a:r>
              <a:rPr lang="ko-KR" altLang="en-US" sz="1600" dirty="0">
                <a:latin typeface="페이퍼로지 7 Bold"/>
                <a:ea typeface="페이퍼로지 7 Bold"/>
              </a:rPr>
              <a:t>을 통해 </a:t>
            </a:r>
            <a:r>
              <a:rPr lang="en-US" altLang="ko-KR" sz="1600" dirty="0">
                <a:latin typeface="페이퍼로지 7 Bold"/>
                <a:ea typeface="페이퍼로지 7 Bold"/>
              </a:rPr>
              <a:t>GPU </a:t>
            </a:r>
            <a:r>
              <a:rPr lang="ko-KR" altLang="en-US" sz="1600" dirty="0">
                <a:latin typeface="페이퍼로지 7 Bold"/>
                <a:ea typeface="페이퍼로지 7 Bold"/>
              </a:rPr>
              <a:t>메모리 공간을 줄인다</a:t>
            </a:r>
            <a:r>
              <a:rPr lang="en-US" altLang="ko-KR" sz="1600" dirty="0">
                <a:latin typeface="페이퍼로지 7 Bold"/>
                <a:ea typeface="페이퍼로지 7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7985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파티클</a:t>
            </a:r>
            <a:r>
              <a:rPr lang="ko-KR" altLang="en-US" dirty="0"/>
              <a:t> 업데이트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pPr/>
              <a:t>20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1075F-6B7F-4CE1-A6CC-5043BE11D7A4}"/>
              </a:ext>
            </a:extLst>
          </p:cNvPr>
          <p:cNvSpPr txBox="1"/>
          <p:nvPr/>
        </p:nvSpPr>
        <p:spPr>
          <a:xfrm>
            <a:off x="4419603" y="217655"/>
            <a:ext cx="279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GPU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파티클과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최적화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A578A0A-6AFB-4CAD-B29A-F5D6242640D1}"/>
              </a:ext>
            </a:extLst>
          </p:cNvPr>
          <p:cNvCxnSpPr>
            <a:cxnSpLocks/>
          </p:cNvCxnSpPr>
          <p:nvPr/>
        </p:nvCxnSpPr>
        <p:spPr>
          <a:xfrm flipV="1">
            <a:off x="3914275" y="1215191"/>
            <a:ext cx="0" cy="41620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54C0150-C16C-41A0-B62B-B8603828F2F2}"/>
              </a:ext>
            </a:extLst>
          </p:cNvPr>
          <p:cNvCxnSpPr>
            <a:cxnSpLocks/>
          </p:cNvCxnSpPr>
          <p:nvPr/>
        </p:nvCxnSpPr>
        <p:spPr>
          <a:xfrm flipV="1">
            <a:off x="7628022" y="1215191"/>
            <a:ext cx="0" cy="41620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2B69F4A5-F954-42D1-B972-61567389D9E5}"/>
              </a:ext>
            </a:extLst>
          </p:cNvPr>
          <p:cNvSpPr/>
          <p:nvPr/>
        </p:nvSpPr>
        <p:spPr>
          <a:xfrm>
            <a:off x="849235" y="2367599"/>
            <a:ext cx="2341142" cy="2093315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A8D7353F-0202-467C-9A99-C6BD6637F7A3}"/>
              </a:ext>
            </a:extLst>
          </p:cNvPr>
          <p:cNvSpPr/>
          <p:nvPr/>
        </p:nvSpPr>
        <p:spPr>
          <a:xfrm>
            <a:off x="1211684" y="2080513"/>
            <a:ext cx="1618246" cy="28708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파티클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특성 변경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1FE68D0-A278-40E8-AC32-9671C6CDBD59}"/>
              </a:ext>
            </a:extLst>
          </p:cNvPr>
          <p:cNvSpPr txBox="1"/>
          <p:nvPr/>
        </p:nvSpPr>
        <p:spPr>
          <a:xfrm>
            <a:off x="1049760" y="2500796"/>
            <a:ext cx="959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Particle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E12F9E9-D9A6-497A-991E-DD46B41A47A0}"/>
              </a:ext>
            </a:extLst>
          </p:cNvPr>
          <p:cNvCxnSpPr>
            <a:cxnSpLocks/>
          </p:cNvCxnSpPr>
          <p:nvPr/>
        </p:nvCxnSpPr>
        <p:spPr>
          <a:xfrm>
            <a:off x="1322474" y="2808573"/>
            <a:ext cx="0" cy="11900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F289D76-099E-41DF-BF92-3C08FA48D015}"/>
              </a:ext>
            </a:extLst>
          </p:cNvPr>
          <p:cNvCxnSpPr>
            <a:cxnSpLocks/>
          </p:cNvCxnSpPr>
          <p:nvPr/>
        </p:nvCxnSpPr>
        <p:spPr>
          <a:xfrm>
            <a:off x="1322474" y="3009103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11EECB8F-9811-48FC-AA21-EC38F6991C0C}"/>
              </a:ext>
            </a:extLst>
          </p:cNvPr>
          <p:cNvCxnSpPr>
            <a:cxnSpLocks/>
          </p:cNvCxnSpPr>
          <p:nvPr/>
        </p:nvCxnSpPr>
        <p:spPr>
          <a:xfrm>
            <a:off x="1322474" y="3289840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8DD5414C-CD0C-4E0A-9F5B-E1490D9FF8F1}"/>
              </a:ext>
            </a:extLst>
          </p:cNvPr>
          <p:cNvCxnSpPr>
            <a:cxnSpLocks/>
          </p:cNvCxnSpPr>
          <p:nvPr/>
        </p:nvCxnSpPr>
        <p:spPr>
          <a:xfrm>
            <a:off x="1322474" y="3589769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76C8ADF2-9890-4B60-BC59-F31C39134B97}"/>
              </a:ext>
            </a:extLst>
          </p:cNvPr>
          <p:cNvSpPr txBox="1"/>
          <p:nvPr/>
        </p:nvSpPr>
        <p:spPr>
          <a:xfrm>
            <a:off x="1772656" y="3998615"/>
            <a:ext cx="433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페이퍼로지 4 Regular"/>
                <a:ea typeface="페이퍼로지 4 Regular"/>
              </a:rPr>
              <a:t>…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462D6C9-945E-4B3D-8916-0C954198FF6E}"/>
              </a:ext>
            </a:extLst>
          </p:cNvPr>
          <p:cNvSpPr txBox="1"/>
          <p:nvPr/>
        </p:nvSpPr>
        <p:spPr>
          <a:xfrm>
            <a:off x="1561901" y="3154416"/>
            <a:ext cx="931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페이퍼로지 4 Regular"/>
                <a:ea typeface="페이퍼로지 4 Regular"/>
              </a:rPr>
              <a:t>크기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/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회전</a:t>
            </a:r>
            <a:endParaRPr lang="en-US" altLang="ko-KR" sz="1400" dirty="0">
              <a:latin typeface="페이퍼로지 4 Regular"/>
              <a:ea typeface="페이퍼로지 4 Regular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66C6CB1-8CC4-45C7-BFA5-8E1E9B05C77A}"/>
              </a:ext>
            </a:extLst>
          </p:cNvPr>
          <p:cNvSpPr txBox="1"/>
          <p:nvPr/>
        </p:nvSpPr>
        <p:spPr>
          <a:xfrm>
            <a:off x="1561901" y="2840907"/>
            <a:ext cx="931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페이퍼로지 4 Regular"/>
                <a:ea typeface="페이퍼로지 4 Regular"/>
              </a:rPr>
              <a:t>위치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/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속도</a:t>
            </a:r>
            <a:endParaRPr lang="en-US" altLang="ko-KR" sz="1400" dirty="0">
              <a:latin typeface="페이퍼로지 4 Regular"/>
              <a:ea typeface="페이퍼로지 4 Regular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6DB5018-2C02-46A8-9346-8EC4448E05C2}"/>
              </a:ext>
            </a:extLst>
          </p:cNvPr>
          <p:cNvSpPr txBox="1"/>
          <p:nvPr/>
        </p:nvSpPr>
        <p:spPr>
          <a:xfrm>
            <a:off x="1561901" y="3459904"/>
            <a:ext cx="931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페이퍼로지 4 Regular"/>
                <a:ea typeface="페이퍼로지 4 Regular"/>
              </a:rPr>
              <a:t>색상</a:t>
            </a:r>
            <a:endParaRPr lang="en-US" altLang="ko-KR" sz="1400" dirty="0">
              <a:latin typeface="페이퍼로지 4 Regular"/>
              <a:ea typeface="페이퍼로지 4 Regular"/>
            </a:endParaRP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F489A186-8153-45ED-B2D8-A4947B7CB974}"/>
              </a:ext>
            </a:extLst>
          </p:cNvPr>
          <p:cNvSpPr/>
          <p:nvPr/>
        </p:nvSpPr>
        <p:spPr>
          <a:xfrm>
            <a:off x="4255171" y="2367599"/>
            <a:ext cx="3064039" cy="2093315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695D1527-76E1-4F22-A2AD-172CC039FBA9}"/>
              </a:ext>
            </a:extLst>
          </p:cNvPr>
          <p:cNvSpPr/>
          <p:nvPr/>
        </p:nvSpPr>
        <p:spPr>
          <a:xfrm>
            <a:off x="4807620" y="2080513"/>
            <a:ext cx="1959141" cy="28708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수명 관리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 Spawn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AC1854B9-08C0-4D28-A756-0D6585ED9DBE}"/>
              </a:ext>
            </a:extLst>
          </p:cNvPr>
          <p:cNvCxnSpPr>
            <a:cxnSpLocks/>
          </p:cNvCxnSpPr>
          <p:nvPr/>
        </p:nvCxnSpPr>
        <p:spPr>
          <a:xfrm>
            <a:off x="1322474" y="3865674"/>
            <a:ext cx="2669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D227FFD3-AECD-49AD-8E2A-748CB65DAEA5}"/>
              </a:ext>
            </a:extLst>
          </p:cNvPr>
          <p:cNvSpPr txBox="1"/>
          <p:nvPr/>
        </p:nvSpPr>
        <p:spPr>
          <a:xfrm>
            <a:off x="1561900" y="3735809"/>
            <a:ext cx="1448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페이퍼로지 4 Regular"/>
                <a:ea typeface="페이퍼로지 4 Regular"/>
              </a:rPr>
              <a:t>수명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(</a:t>
            </a:r>
            <a:r>
              <a:rPr lang="en-US" altLang="ko-KR" sz="1400" dirty="0" err="1">
                <a:latin typeface="페이퍼로지 4 Regular"/>
                <a:ea typeface="페이퍼로지 4 Regular"/>
              </a:rPr>
              <a:t>LifeTime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462413F-9AE8-480E-BC39-22A99BBAD149}"/>
              </a:ext>
            </a:extLst>
          </p:cNvPr>
          <p:cNvSpPr txBox="1"/>
          <p:nvPr/>
        </p:nvSpPr>
        <p:spPr>
          <a:xfrm>
            <a:off x="4296029" y="2840907"/>
            <a:ext cx="30231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sz="1400" dirty="0" err="1">
                <a:latin typeface="페이퍼로지 4 Regular"/>
                <a:ea typeface="페이퍼로지 4 Regular"/>
              </a:rPr>
              <a:t>LifeTime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이 끝났을 경우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erase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br>
              <a:rPr lang="en-US" altLang="ko-KR" sz="1400" dirty="0">
                <a:latin typeface="페이퍼로지 4 Regular"/>
                <a:ea typeface="페이퍼로지 4 Regular"/>
              </a:rPr>
            </a:br>
            <a:r>
              <a:rPr lang="ko-KR" altLang="en-US" sz="1400" dirty="0">
                <a:latin typeface="페이퍼로지 4 Regular"/>
                <a:ea typeface="페이퍼로지 4 Regular"/>
              </a:rPr>
              <a:t>방식</a:t>
            </a:r>
            <a:endParaRPr lang="en-US" altLang="ko-KR" sz="1400" dirty="0">
              <a:latin typeface="페이퍼로지 4 Regular"/>
              <a:ea typeface="페이퍼로지 4 Regular"/>
            </a:endParaRPr>
          </a:p>
          <a:p>
            <a:pPr marL="342900" indent="-342900">
              <a:buAutoNum type="arabicParenR"/>
            </a:pPr>
            <a:r>
              <a:rPr lang="ko-KR" altLang="en-US" sz="1400" dirty="0" err="1">
                <a:latin typeface="페이퍼로지 4 Regular"/>
                <a:ea typeface="페이퍼로지 4 Regular"/>
              </a:rPr>
              <a:t>파티클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Spawn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시 특성 초기화 </a:t>
            </a:r>
            <a:r>
              <a:rPr lang="en-US" altLang="ko-KR" sz="1400" dirty="0">
                <a:latin typeface="페이퍼로지 4 Regular"/>
                <a:ea typeface="페이퍼로지 4 Regular"/>
              </a:rPr>
              <a:t>&amp; 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할당 방식</a:t>
            </a:r>
            <a:endParaRPr lang="en-US" altLang="ko-KR" sz="1400" dirty="0">
              <a:latin typeface="페이퍼로지 4 Regular"/>
              <a:ea typeface="페이퍼로지 4 Regular"/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4F6355DB-35D0-430E-8D41-866085E461D7}"/>
              </a:ext>
            </a:extLst>
          </p:cNvPr>
          <p:cNvSpPr/>
          <p:nvPr/>
        </p:nvSpPr>
        <p:spPr>
          <a:xfrm>
            <a:off x="8489284" y="2367599"/>
            <a:ext cx="2801344" cy="2093315"/>
          </a:xfrm>
          <a:prstGeom prst="roundRect">
            <a:avLst>
              <a:gd name="adj" fmla="val 460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4 Regular"/>
              <a:ea typeface="페이퍼로지 4 Regular"/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0277DD5B-C75B-4C54-84C4-C923B63BB9A7}"/>
              </a:ext>
            </a:extLst>
          </p:cNvPr>
          <p:cNvSpPr/>
          <p:nvPr/>
        </p:nvSpPr>
        <p:spPr>
          <a:xfrm>
            <a:off x="8910385" y="2080513"/>
            <a:ext cx="1959141" cy="28708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외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D2842CF-F4FB-4141-83CD-1D5BAFF66564}"/>
              </a:ext>
            </a:extLst>
          </p:cNvPr>
          <p:cNvSpPr txBox="1"/>
          <p:nvPr/>
        </p:nvSpPr>
        <p:spPr>
          <a:xfrm>
            <a:off x="8843583" y="2948628"/>
            <a:ext cx="20927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sz="1400" dirty="0">
                <a:latin typeface="페이퍼로지 4 Regular"/>
                <a:ea typeface="페이퍼로지 4 Regular"/>
              </a:rPr>
              <a:t>Burst 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방식</a:t>
            </a:r>
            <a:endParaRPr lang="en-US" altLang="ko-KR" sz="1400" dirty="0">
              <a:latin typeface="페이퍼로지 4 Regular"/>
              <a:ea typeface="페이퍼로지 4 Regular"/>
            </a:endParaRPr>
          </a:p>
          <a:p>
            <a:pPr marL="342900" indent="-342900">
              <a:buAutoNum type="arabicParenR"/>
            </a:pPr>
            <a:r>
              <a:rPr lang="ko-KR" altLang="en-US" sz="1400" dirty="0" err="1">
                <a:latin typeface="페이퍼로지 4 Regular"/>
                <a:ea typeface="페이퍼로지 4 Regular"/>
              </a:rPr>
              <a:t>파티클</a:t>
            </a:r>
            <a:r>
              <a:rPr lang="ko-KR" altLang="en-US" sz="1400" dirty="0">
                <a:latin typeface="페이퍼로지 4 Regular"/>
                <a:ea typeface="페이퍼로지 4 Regular"/>
              </a:rPr>
              <a:t> 애니메이션</a:t>
            </a:r>
            <a:endParaRPr lang="en-US" altLang="ko-KR" sz="1400" dirty="0">
              <a:latin typeface="페이퍼로지 4 Regular"/>
              <a:ea typeface="페이퍼로지 4 Regular"/>
            </a:endParaRPr>
          </a:p>
          <a:p>
            <a:pPr algn="ctr"/>
            <a:r>
              <a:rPr lang="en-US" altLang="ko-KR" sz="1400" dirty="0">
                <a:latin typeface="페이퍼로지 4 Regular"/>
                <a:ea typeface="페이퍼로지 4 Regular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72125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9E18-8F55-4C59-A6D8-D73BB65C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계획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E3A9D0-1C48-467A-8898-50E0E7AB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8C51-7E1C-4870-B2BB-3BFF1E443F58}" type="slidenum">
              <a:rPr lang="ko-KR" altLang="en-US" smtClean="0">
                <a:latin typeface="페이퍼로지 4 Regular"/>
                <a:ea typeface="페이퍼로지 4 Regular"/>
              </a:rPr>
              <a:pPr/>
              <a:t>21</a:t>
            </a:fld>
            <a:endParaRPr lang="ko-KR" altLang="en-US">
              <a:latin typeface="페이퍼로지 4 Regular"/>
              <a:ea typeface="페이퍼로지 4 Regular"/>
            </a:endParaRP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DEFCD8E4-9048-49EA-999A-847806A0B919}"/>
              </a:ext>
            </a:extLst>
          </p:cNvPr>
          <p:cNvGraphicFramePr>
            <a:graphicFrameLocks noGrp="1"/>
          </p:cNvGraphicFramePr>
          <p:nvPr/>
        </p:nvGraphicFramePr>
        <p:xfrm>
          <a:off x="753972" y="1400208"/>
          <a:ext cx="10684055" cy="3916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863">
                  <a:extLst>
                    <a:ext uri="{9D8B030D-6E8A-4147-A177-3AD203B41FA5}">
                      <a16:colId xmlns:a16="http://schemas.microsoft.com/office/drawing/2014/main" val="3727803867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355324341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4200024222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3148206326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2383875957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2477846152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1000197456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764284991"/>
                    </a:ext>
                  </a:extLst>
                </a:gridCol>
                <a:gridCol w="913399">
                  <a:extLst>
                    <a:ext uri="{9D8B030D-6E8A-4147-A177-3AD203B41FA5}">
                      <a16:colId xmlns:a16="http://schemas.microsoft.com/office/drawing/2014/main" val="1400392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1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2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3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4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5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6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7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8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주차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167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/>
                          <a:ea typeface="페이퍼로지 4 Regular"/>
                        </a:rPr>
                        <a:t>MiniEngine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 및 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dx12 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467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페이퍼로지 4 Regular"/>
                          <a:ea typeface="페이퍼로지 4 Regular"/>
                        </a:rPr>
                        <a:t>파티클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 메모리 설정과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30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페이퍼로지 4 Regular"/>
                          <a:ea typeface="페이퍼로지 4 Regular"/>
                        </a:rPr>
                        <a:t>파티클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 업데이트 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– 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수명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/Spawn</a:t>
                      </a:r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077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페이퍼로지 4 Regular"/>
                          <a:ea typeface="페이퍼로지 4 Regular"/>
                        </a:rPr>
                        <a:t>파티클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 업데이트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 + dispatch 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최적화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244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거리기반 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LOD + </a:t>
                      </a:r>
                      <a:r>
                        <a:rPr lang="ko-KR" altLang="en-US" sz="1600" dirty="0" err="1">
                          <a:latin typeface="페이퍼로지 4 Regular"/>
                          <a:ea typeface="페이퍼로지 4 Regular"/>
                        </a:rPr>
                        <a:t>컬링</a:t>
                      </a:r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9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렌더링 기법 연구 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+ 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다른 렌더링 기법 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2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페이퍼로지 4 Regular"/>
                          <a:ea typeface="페이퍼로지 4 Regular"/>
                        </a:rPr>
                        <a:t>파티클과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 지형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(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객체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) 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충돌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96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페이퍼로지 4 Regular"/>
                          <a:ea typeface="페이퍼로지 4 Regular"/>
                        </a:rPr>
                        <a:t>파티클에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 반응하는 지형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(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객체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)</a:t>
                      </a:r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00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그 외 구현 </a:t>
                      </a:r>
                      <a:r>
                        <a:rPr lang="en-US" altLang="ko-KR" sz="1600" dirty="0">
                          <a:latin typeface="페이퍼로지 4 Regular"/>
                          <a:ea typeface="페이퍼로지 4 Regular"/>
                        </a:rPr>
                        <a:t>+ </a:t>
                      </a:r>
                      <a:r>
                        <a:rPr lang="ko-KR" altLang="en-US" sz="1600" dirty="0">
                          <a:latin typeface="페이퍼로지 4 Regular"/>
                          <a:ea typeface="페이퍼로지 4 Regular"/>
                        </a:rPr>
                        <a:t>버퍼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/>
                        <a:ea typeface="페이퍼로지 4 Regular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52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670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861DF2C-F32A-45C8-A3EA-A09A4BE751E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3b30c6e-033a-4d84-9562-f4f499294da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09EFB4C-CA7A-4E2F-8746-8ACC594B45EC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49b5f9e-592b-4981-9e51-e6eb0456fcb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1694</Words>
  <Application>Microsoft Office PowerPoint</Application>
  <PresentationFormat>와이드스크린</PresentationFormat>
  <Paragraphs>623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나눔스퀘어 Bold</vt:lpstr>
      <vt:lpstr>페이퍼로지 4 Regular</vt:lpstr>
      <vt:lpstr>맑은 고딕</vt:lpstr>
      <vt:lpstr>Arial</vt:lpstr>
      <vt:lpstr>나눔스퀘어</vt:lpstr>
      <vt:lpstr>페이퍼로지 7 Bold</vt:lpstr>
      <vt:lpstr>Office 테마</vt:lpstr>
      <vt:lpstr>GPU 기반 파티클 시스템 구현 및 최적화</vt:lpstr>
      <vt:lpstr>프로젝트 개요</vt:lpstr>
      <vt:lpstr>GPU 파티클 버퍼 구조</vt:lpstr>
      <vt:lpstr>GPU 파티클 실행 흐름</vt:lpstr>
      <vt:lpstr>매 프레임 버퍼 접근 비용</vt:lpstr>
      <vt:lpstr>사용 버퍼 구성</vt:lpstr>
      <vt:lpstr>SlotReuse 핵심 동작</vt:lpstr>
      <vt:lpstr>Emit 단계</vt:lpstr>
      <vt:lpstr>Simulate 단계 (Dead 포함)</vt:lpstr>
      <vt:lpstr>SlotReuse 장단점</vt:lpstr>
      <vt:lpstr>AliveList 방식</vt:lpstr>
      <vt:lpstr>AliveList 버퍼 구성</vt:lpstr>
      <vt:lpstr>Emit 단계 (AliveList)</vt:lpstr>
      <vt:lpstr>PreSimulate 단계</vt:lpstr>
      <vt:lpstr>Simulate 단계 (AliveList)</vt:lpstr>
      <vt:lpstr>AfterSim 단계</vt:lpstr>
      <vt:lpstr>Draw 단계</vt:lpstr>
      <vt:lpstr>AliveList 장단점 (예상)</vt:lpstr>
      <vt:lpstr>파티클의 메모리 관리</vt:lpstr>
      <vt:lpstr>파티클 업데이트</vt:lpstr>
      <vt:lpstr>구현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 주제 선정</dc:title>
  <dc:creator>김민용</dc:creator>
  <cp:lastModifiedBy>민용 큼</cp:lastModifiedBy>
  <cp:revision>33</cp:revision>
  <dcterms:created xsi:type="dcterms:W3CDTF">2026-10-16T01:37:09Z</dcterms:created>
  <dcterms:modified xsi:type="dcterms:W3CDTF">2026-10-22T16:57:34Z</dcterms:modified>
</cp:coreProperties>
</file>