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6" r:id="rId2"/>
    <p:sldId id="286" r:id="rId3"/>
    <p:sldId id="298" r:id="rId4"/>
    <p:sldId id="304" r:id="rId5"/>
    <p:sldId id="310" r:id="rId6"/>
    <p:sldId id="313" r:id="rId7"/>
    <p:sldId id="324" r:id="rId8"/>
    <p:sldId id="320" r:id="rId9"/>
    <p:sldId id="32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8C0CA"/>
            </a:solidFill>
            <a:ln>
              <a:noFill/>
            </a:ln>
          </c:spPr>
          <c:invertIfNegative val="1"/>
          <c:dPt>
            <c:idx val="3"/>
            <c:invertIfNegative val="1"/>
            <c:bubble3D val="0"/>
            <c:spPr>
              <a:solidFill>
                <a:srgbClr val="15608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05C-4EE4-AD3C-206CC789EDDE}"/>
              </c:ext>
            </c:extLst>
          </c:dPt>
          <c:dLbls>
            <c:numFmt formatCode="0.0&quot;ms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1F1F1F"/>
                    </a:solidFill>
                    <a:latin typeface="Paperlogy 4 Regula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4"/>
              <c:pt idx="0">
                <c:v>128K</c:v>
              </c:pt>
              <c:pt idx="1">
                <c:v>256K</c:v>
              </c:pt>
              <c:pt idx="2">
                <c:v>512K</c:v>
              </c:pt>
              <c:pt idx="3">
                <c:v>1M</c:v>
              </c:pt>
            </c:strLit>
          </c:cat>
          <c:val>
            <c:numLit>
              <c:formatCode>General</c:formatCode>
              <c:ptCount val="4"/>
              <c:pt idx="0">
                <c:v>0.5</c:v>
              </c:pt>
              <c:pt idx="1">
                <c:v>1.1000000000000001</c:v>
              </c:pt>
              <c:pt idx="2">
                <c:v>2.4</c:v>
              </c:pt>
              <c:pt idx="3">
                <c:v>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A05C-4EE4-AD3C-206CC789ED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7C7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F1F1F"/>
                </a:solidFill>
                <a:latin typeface="Paperlogy 4 Regular"/>
              </a:defRPr>
            </a:pPr>
            <a:endParaRPr lang="ko-K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B8C0CA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15608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C05-443A-A178-AB771213ECD8}"/>
              </c:ext>
            </c:extLst>
          </c:dPt>
          <c:dLbls>
            <c:numFmt formatCode="0.0&quot;ms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1F1F1F"/>
                    </a:solidFill>
                    <a:latin typeface="Paperlogy 4 Regula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드로우 + 블렌딩</c:v>
                </c:pt>
                <c:pt idx="1">
                  <c:v>Bitonic Sort</c:v>
                </c:pt>
                <c:pt idx="2">
                  <c:v>깊이 계산</c:v>
                </c:pt>
                <c:pt idx="3">
                  <c:v>Update (Emit·Simulate)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</c:v>
                </c:pt>
                <c:pt idx="1">
                  <c:v>5</c:v>
                </c:pt>
                <c:pt idx="2">
                  <c:v>0.3</c:v>
                </c:pt>
                <c:pt idx="3">
                  <c:v>1.2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C05-443A-A178-AB771213EC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7C7C7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F1F1F"/>
                </a:solidFill>
                <a:latin typeface="Paperlogy 4 Regular"/>
              </a:defRPr>
            </a:pPr>
            <a:endParaRPr lang="ko-K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spPr>
            <a:solidFill>
              <a:srgbClr val="8C96A3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D94F3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679-4B43-A224-2890F475C7B8}"/>
              </c:ext>
            </c:extLst>
          </c:dPt>
          <c:dLbls>
            <c:numFmt formatCode="0.0&quot;ms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1F1F1F"/>
                    </a:solidFill>
                    <a:latin typeface="Paperlogy 4 Regula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정렬 + premultiplied</c:v>
                </c:pt>
                <c:pt idx="1">
                  <c:v>WBOIT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9.1</c:v>
                </c:pt>
                <c:pt idx="1">
                  <c:v>13.8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A679-4B43-A224-2890F475C7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7C7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F1F1F"/>
                </a:solidFill>
                <a:latin typeface="Paperlogy 4 Regular"/>
              </a:defRPr>
            </a:pPr>
            <a:endParaRPr lang="ko-K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7C7C7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1F1F1F"/>
                </a:solidFill>
                <a:latin typeface="Paperlogy 4 Regular"/>
              </a:defRPr>
            </a:pPr>
            <a:endParaRPr lang="ko-K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D72065-EFB4-03CB-2DA7-2EB6F4466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B682BF-83C4-DBE7-0A5C-DE59B3B78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B65626-9573-2348-F1F7-30F11805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8AAAA-135B-F0DB-82B0-CEB370822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215B4C-C801-21F7-3B6B-701F444B8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841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E97B6-DE9C-E6CA-E214-23BFC030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E3CA4-00F3-509D-7BB3-C58C0ED7B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DCC2E7-4684-C958-AA6B-0E85767F8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1D07DD-8860-FD9E-9015-1560BA2E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3FF9DC-19B7-34C6-382B-C14FEB8A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80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826E4-514F-E0DA-CA04-4AB07259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FB5DE5-36C9-D1AE-FB42-C3EC72AE3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19969D-0CB0-BC99-59BD-CD2605683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C037E8-0C3C-B393-9753-895F78E4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5AA14F-A3B8-8A44-DA06-B91F40AE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84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A8E25-48CE-F37A-B27E-E896428CC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D08D62-AC2F-9D3C-9CF6-60574D135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97F4AB-AD25-EDE6-CD3B-5DAA9764F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5FA26A-637E-550F-C79F-0585CFD2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8FF8A0-B073-3A38-D3FA-415D8FB2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031BA1-2480-F257-7A5A-638C55BB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30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0F3E97-5BB9-1397-09F3-530C5DE45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2FE54B-6220-66E9-CFEA-0703A859D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74D543-7D6C-7EA4-F43D-444E942CA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6CC67D-68BF-E2B1-200C-111EBA163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C7AAF0-AA01-4B98-59DA-6C2AC667D5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9821D15-AB69-07AD-2E0E-926738A1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6BEA199-FA8A-7FDC-7702-5BB3BBCB0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DF8645-12B3-542C-9D49-AB398061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87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DF845-2FA0-2D98-BE24-F4463D12E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5E4085-6292-F265-9C28-D5D68C8E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8BF88B-5DC7-C7BD-B2D6-B8469A77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E93051-CDDC-D7FD-E47F-70F9738A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21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29F559-6E36-8AD2-D02C-AFB27192E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323266-4098-4CBC-36BA-30E123320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2BB5E6-C32F-D977-6EF7-25591D81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6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8026D2-3167-1F39-2A9F-E464550A8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03C0D7-2413-B742-69D3-81250A4CE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0F753D-6E5B-DE33-04B4-832A0236A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49ECFC-65DC-0E69-77DC-A8B9D2371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E60E91-2DBD-765C-24B7-15A324AE0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D3F3F4-3F9B-6F96-313A-553ED50E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8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9727F-5D97-66A6-D4B9-80DA0A3F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3A0CF7-34EB-924A-9253-8A37E0A9E48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40ED9F-01EC-9DCB-9079-8837CED7D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65F366-CF42-558B-0921-0673B4DDC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D5DC3C-5A2C-9B8E-1DDE-DD9298A47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562FE7-32DA-E656-CB86-2412308F7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93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53ACF-5595-5544-64A6-9A85631B7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FF9AA3-D128-417C-9C57-B81BF8AB7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9C27EE-5AF0-3BE2-15E2-75CF55B0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6F48D8-ED71-96FA-B8DD-C9F02720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51FD87-5A2F-1C2C-CDC8-199D0468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688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F9CA3A-411E-775A-964B-0C3FC91C7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7BD7A1-3B1B-FF1B-293E-081928233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6692B1-74D9-6846-8928-58DB2E0D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EE1B39-F935-0CA6-8268-8FF331929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C76FD2-7A09-13D8-AE2E-A9AEC80C1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696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7FC6EB-46CD-C3B5-6BFA-05F96E42C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11277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87394C-E29D-A2DE-6467-4D48FA67B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112776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F4C04-4625-6402-2AA8-69D366AF4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2A84D-035F-43B0-A5C4-872D88BE27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401776-BF4C-8953-942C-29FA10015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6CB2C8-5B3D-21F5-C578-6804483E2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553200"/>
            <a:ext cx="762000" cy="304800"/>
          </a:xfrm>
          <a:prstGeom prst="rect">
            <a:avLst/>
          </a:prstGeom>
        </p:spPr>
        <p:txBody>
          <a:bodyPr vert="horz" wrap="none" lIns="0" tIns="0" rIns="0" bIns="0" rtlCol="0" anchor="b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aperlogy 7 Bold"/>
                <a:ea typeface="Paperlogy 7 Bold"/>
              </a:defRPr>
            </a:lvl1pPr>
          </a:lstStyle>
          <a:p>
            <a:fld id="{ED9228BB-138F-4857-A082-E4EFCA4C0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01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3FB326-FCD6-A0CF-DF21-4159B2E370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4800" b="1" dirty="0"/>
              <a:t>GPU 기반 파티클 시스템</a:t>
            </a:r>
          </a:p>
          <a:p>
            <a:r>
              <a:rPr lang="ko-KR" altLang="en-US" sz="4800" b="1" dirty="0"/>
              <a:t>구현 및 최적화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1E78D5-8DAD-8AE6-8BB1-92D999DB24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sz="2200" dirty="0"/>
              <a:t>주차 진행 보고 · 렌더링 설정</a:t>
            </a:r>
          </a:p>
        </p:txBody>
      </p:sp>
      <p:sp>
        <p:nvSpPr>
          <p:cNvPr id="4" name="Slide Numb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00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609600" y="711200"/>
            <a:ext cx="76200" cy="1498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1" name="Shape 11"/>
          <p:cNvSpPr/>
          <p:nvPr/>
        </p:nvSpPr>
        <p:spPr>
          <a:xfrm>
            <a:off x="914400" y="7112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800" b="1" dirty="0" err="1">
                <a:solidFill>
                  <a:srgbClr val="156082"/>
                </a:solidFill>
                <a:latin typeface="+mj-lt"/>
                <a:ea typeface="+mj-ea"/>
              </a:rPr>
              <a:t>파티클</a:t>
            </a:r>
            <a:r>
              <a:rPr lang="ko-KR" altLang="en-US" sz="1800" b="1" dirty="0">
                <a:solidFill>
                  <a:srgbClr val="156082"/>
                </a:solidFill>
                <a:latin typeface="+mj-lt"/>
                <a:ea typeface="+mj-ea"/>
              </a:rPr>
              <a:t> 시스템 </a:t>
            </a:r>
            <a:r>
              <a:rPr lang="ko-KR" altLang="en-US" b="1" dirty="0">
                <a:solidFill>
                  <a:srgbClr val="156082"/>
                </a:solidFill>
                <a:latin typeface="+mj-lt"/>
                <a:ea typeface="+mj-ea"/>
              </a:rPr>
              <a:t>근본적</a:t>
            </a:r>
            <a:r>
              <a:rPr lang="ko-KR" altLang="en-US" sz="1800" b="1" dirty="0">
                <a:solidFill>
                  <a:srgbClr val="156082"/>
                </a:solidFill>
                <a:latin typeface="+mj-lt"/>
                <a:ea typeface="+mj-ea"/>
              </a:rPr>
              <a:t> 목적</a:t>
            </a:r>
          </a:p>
        </p:txBody>
      </p:sp>
      <p:sp>
        <p:nvSpPr>
          <p:cNvPr id="12" name="Shape 12"/>
          <p:cNvSpPr/>
          <p:nvPr/>
        </p:nvSpPr>
        <p:spPr>
          <a:xfrm>
            <a:off x="914400" y="1168400"/>
            <a:ext cx="1092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ko-KR" altLang="en-US" sz="3200" b="1" dirty="0">
                <a:latin typeface="+mj-lt"/>
                <a:ea typeface="+mj-ea"/>
              </a:rPr>
              <a:t>상황과 파티클 종류에 따라</a:t>
            </a:r>
          </a:p>
          <a:p>
            <a:pPr algn="l">
              <a:lnSpc>
                <a:spcPct val="105000"/>
              </a:lnSpc>
              <a:buNone/>
            </a:pPr>
            <a:r>
              <a:rPr lang="ko-KR" altLang="en-US" sz="3200" b="1" dirty="0">
                <a:latin typeface="+mj-lt"/>
                <a:ea typeface="+mj-ea"/>
              </a:rPr>
              <a:t>렌더링 방식과 버퍼를 </a:t>
            </a:r>
            <a:r>
              <a:rPr lang="ko-KR" altLang="en-US" sz="3200" b="1" dirty="0">
                <a:solidFill>
                  <a:srgbClr val="156082"/>
                </a:solidFill>
                <a:latin typeface="+mj-lt"/>
                <a:ea typeface="+mj-ea"/>
              </a:rPr>
              <a:t>골라 쓸 수 있는 구조</a:t>
            </a:r>
          </a:p>
        </p:txBody>
      </p:sp>
      <p:sp>
        <p:nvSpPr>
          <p:cNvPr id="13" name="Shape 13"/>
          <p:cNvSpPr/>
          <p:nvPr/>
        </p:nvSpPr>
        <p:spPr>
          <a:xfrm>
            <a:off x="609600" y="2667000"/>
            <a:ext cx="5334000" cy="304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4" name="Shape 14"/>
          <p:cNvSpPr/>
          <p:nvPr/>
        </p:nvSpPr>
        <p:spPr>
          <a:xfrm>
            <a:off x="863600" y="2921000"/>
            <a:ext cx="1397000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5" name="Shape 15"/>
          <p:cNvSpPr/>
          <p:nvPr/>
        </p:nvSpPr>
        <p:spPr>
          <a:xfrm>
            <a:off x="1828568" y="3627951"/>
            <a:ext cx="114300" cy="1143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6" name="Shape 16"/>
          <p:cNvSpPr/>
          <p:nvPr/>
        </p:nvSpPr>
        <p:spPr>
          <a:xfrm>
            <a:off x="1928780" y="3888349"/>
            <a:ext cx="76200" cy="762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7" name="Shape 17"/>
          <p:cNvSpPr/>
          <p:nvPr/>
        </p:nvSpPr>
        <p:spPr>
          <a:xfrm>
            <a:off x="1674484" y="3875316"/>
            <a:ext cx="76200" cy="762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8" name="Shape 18"/>
          <p:cNvSpPr/>
          <p:nvPr/>
        </p:nvSpPr>
        <p:spPr>
          <a:xfrm>
            <a:off x="1517344" y="4070199"/>
            <a:ext cx="114300" cy="1143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9" name="Shape 19"/>
          <p:cNvSpPr/>
          <p:nvPr/>
        </p:nvSpPr>
        <p:spPr>
          <a:xfrm>
            <a:off x="1388032" y="3882307"/>
            <a:ext cx="76200" cy="762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0" name="Shape 20"/>
          <p:cNvSpPr/>
          <p:nvPr/>
        </p:nvSpPr>
        <p:spPr>
          <a:xfrm>
            <a:off x="1134675" y="3907728"/>
            <a:ext cx="76200" cy="762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1" name="Shape 21"/>
          <p:cNvSpPr/>
          <p:nvPr/>
        </p:nvSpPr>
        <p:spPr>
          <a:xfrm>
            <a:off x="1184917" y="3643658"/>
            <a:ext cx="114300" cy="1143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2" name="Shape 22"/>
          <p:cNvSpPr/>
          <p:nvPr/>
        </p:nvSpPr>
        <p:spPr>
          <a:xfrm>
            <a:off x="1026126" y="3480476"/>
            <a:ext cx="76200" cy="762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3" name="Shape 23"/>
          <p:cNvSpPr/>
          <p:nvPr/>
        </p:nvSpPr>
        <p:spPr>
          <a:xfrm>
            <a:off x="1260893" y="3381883"/>
            <a:ext cx="76200" cy="762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4" name="Shape 24"/>
          <p:cNvSpPr/>
          <p:nvPr/>
        </p:nvSpPr>
        <p:spPr>
          <a:xfrm>
            <a:off x="1273436" y="3110171"/>
            <a:ext cx="114300" cy="1143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5" name="Shape 25"/>
          <p:cNvSpPr/>
          <p:nvPr/>
        </p:nvSpPr>
        <p:spPr>
          <a:xfrm>
            <a:off x="1515944" y="3251298"/>
            <a:ext cx="76200" cy="762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6" name="Shape 26"/>
          <p:cNvSpPr/>
          <p:nvPr/>
        </p:nvSpPr>
        <p:spPr>
          <a:xfrm>
            <a:off x="1733181" y="3118467"/>
            <a:ext cx="76200" cy="762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7" name="Shape 27"/>
          <p:cNvSpPr/>
          <p:nvPr/>
        </p:nvSpPr>
        <p:spPr>
          <a:xfrm>
            <a:off x="1758011" y="3350237"/>
            <a:ext cx="114300" cy="114300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8" name="Shape 28"/>
          <p:cNvSpPr/>
          <p:nvPr/>
        </p:nvSpPr>
        <p:spPr>
          <a:xfrm>
            <a:off x="2016358" y="3456310"/>
            <a:ext cx="76200" cy="762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9" name="Shape 29"/>
          <p:cNvSpPr/>
          <p:nvPr/>
        </p:nvSpPr>
        <p:spPr>
          <a:xfrm>
            <a:off x="1422400" y="3479800"/>
            <a:ext cx="279400" cy="279400"/>
          </a:xfrm>
          <a:prstGeom prst="ellipse">
            <a:avLst/>
          </a:prstGeom>
          <a:solidFill>
            <a:srgbClr val="F7C873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0" name="Shape 30"/>
          <p:cNvSpPr/>
          <p:nvPr/>
        </p:nvSpPr>
        <p:spPr>
          <a:xfrm>
            <a:off x="2489200" y="30480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2200" b="1" dirty="0">
                <a:latin typeface="+mj-lt"/>
                <a:ea typeface="+mj-ea"/>
              </a:rPr>
              <a:t>Burst</a:t>
            </a:r>
          </a:p>
        </p:txBody>
      </p:sp>
      <p:sp>
        <p:nvSpPr>
          <p:cNvPr id="31" name="Shape 31"/>
          <p:cNvSpPr/>
          <p:nvPr/>
        </p:nvSpPr>
        <p:spPr>
          <a:xfrm>
            <a:off x="5003800" y="2921000"/>
            <a:ext cx="685800" cy="304800"/>
          </a:xfrm>
          <a:prstGeom prst="roundRect">
            <a:avLst/>
          </a:prstGeom>
          <a:noFill/>
          <a:ln w="12700">
            <a:solidFill>
              <a:srgbClr val="156082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156082"/>
                </a:solidFill>
                <a:latin typeface="+mj-lt"/>
                <a:ea typeface="+mj-ea"/>
              </a:rPr>
              <a:t>예시</a:t>
            </a:r>
          </a:p>
        </p:txBody>
      </p:sp>
      <p:sp>
        <p:nvSpPr>
          <p:cNvPr id="32" name="Shape 32"/>
          <p:cNvSpPr/>
          <p:nvPr/>
        </p:nvSpPr>
        <p:spPr>
          <a:xfrm>
            <a:off x="2489200" y="3530600"/>
            <a:ext cx="3200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595959"/>
                </a:solidFill>
              </a:rPr>
              <a:t>폭발·스파크처럼 한 번에 대량 생성하고 빨리 사라짐</a:t>
            </a:r>
          </a:p>
        </p:txBody>
      </p:sp>
      <p:sp>
        <p:nvSpPr>
          <p:cNvPr id="33" name="Shape 33"/>
          <p:cNvSpPr/>
          <p:nvPr/>
        </p:nvSpPr>
        <p:spPr>
          <a:xfrm>
            <a:off x="863600" y="4521200"/>
            <a:ext cx="4826000" cy="1905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4" name="Shape 34"/>
          <p:cNvSpPr/>
          <p:nvPr/>
        </p:nvSpPr>
        <p:spPr>
          <a:xfrm>
            <a:off x="863600" y="4724400"/>
            <a:ext cx="812800" cy="35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156082"/>
                </a:solidFill>
                <a:latin typeface="+mj-lt"/>
                <a:ea typeface="+mj-ea"/>
              </a:rPr>
              <a:t>버퍼</a:t>
            </a:r>
          </a:p>
        </p:txBody>
      </p:sp>
      <p:sp>
        <p:nvSpPr>
          <p:cNvPr id="35" name="Shape 35"/>
          <p:cNvSpPr/>
          <p:nvPr/>
        </p:nvSpPr>
        <p:spPr>
          <a:xfrm>
            <a:off x="1828800" y="4724400"/>
            <a:ext cx="3860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dirty="0"/>
              <a:t>빠른 생성</a:t>
            </a:r>
            <a:r>
              <a:rPr lang="en-US" altLang="ko-KR" dirty="0"/>
              <a:t>/ </a:t>
            </a:r>
            <a:r>
              <a:rPr lang="ko-KR" altLang="en-US" dirty="0"/>
              <a:t>소멸에 대응할 수 있는 버퍼</a:t>
            </a:r>
            <a:endParaRPr lang="ko-KR" altLang="en-US" sz="1800" dirty="0"/>
          </a:p>
        </p:txBody>
      </p:sp>
      <p:sp>
        <p:nvSpPr>
          <p:cNvPr id="36" name="Shape 36"/>
          <p:cNvSpPr/>
          <p:nvPr/>
        </p:nvSpPr>
        <p:spPr>
          <a:xfrm>
            <a:off x="863600" y="5207000"/>
            <a:ext cx="812800" cy="3556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+mj-lt"/>
                <a:ea typeface="+mj-ea"/>
              </a:rPr>
              <a:t>렌더링</a:t>
            </a:r>
          </a:p>
        </p:txBody>
      </p:sp>
      <p:sp>
        <p:nvSpPr>
          <p:cNvPr id="37" name="Shape 37"/>
          <p:cNvSpPr/>
          <p:nvPr/>
        </p:nvSpPr>
        <p:spPr>
          <a:xfrm>
            <a:off x="1828800" y="5207000"/>
            <a:ext cx="3860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dirty="0"/>
              <a:t>WBOIT: 정렬 없이 대량 처리</a:t>
            </a:r>
          </a:p>
        </p:txBody>
      </p:sp>
      <p:sp>
        <p:nvSpPr>
          <p:cNvPr id="38" name="Shape 38"/>
          <p:cNvSpPr/>
          <p:nvPr/>
        </p:nvSpPr>
        <p:spPr>
          <a:xfrm>
            <a:off x="6248400" y="2667000"/>
            <a:ext cx="5334000" cy="304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9" name="Shape 39"/>
          <p:cNvSpPr/>
          <p:nvPr/>
        </p:nvSpPr>
        <p:spPr>
          <a:xfrm>
            <a:off x="6502400" y="2921000"/>
            <a:ext cx="1397000" cy="1397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0" name="Shape 40"/>
          <p:cNvSpPr/>
          <p:nvPr/>
        </p:nvSpPr>
        <p:spPr>
          <a:xfrm>
            <a:off x="6604000" y="3429000"/>
            <a:ext cx="508000" cy="508000"/>
          </a:xfrm>
          <a:prstGeom prst="ellipse">
            <a:avLst/>
          </a:prstGeom>
          <a:solidFill>
            <a:srgbClr val="A7B0BB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1" name="Shape 41"/>
          <p:cNvSpPr/>
          <p:nvPr/>
        </p:nvSpPr>
        <p:spPr>
          <a:xfrm>
            <a:off x="6832600" y="3149600"/>
            <a:ext cx="609600" cy="609600"/>
          </a:xfrm>
          <a:prstGeom prst="ellipse">
            <a:avLst/>
          </a:prstGeom>
          <a:solidFill>
            <a:srgbClr val="8C96A3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2" name="Shape 42"/>
          <p:cNvSpPr/>
          <p:nvPr/>
        </p:nvSpPr>
        <p:spPr>
          <a:xfrm>
            <a:off x="7099300" y="3441700"/>
            <a:ext cx="533400" cy="533400"/>
          </a:xfrm>
          <a:prstGeom prst="ellipse">
            <a:avLst/>
          </a:prstGeom>
          <a:solidFill>
            <a:srgbClr val="B8C0CA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3" name="Shape 43"/>
          <p:cNvSpPr/>
          <p:nvPr/>
        </p:nvSpPr>
        <p:spPr>
          <a:xfrm>
            <a:off x="6794500" y="3619500"/>
            <a:ext cx="431800" cy="431800"/>
          </a:xfrm>
          <a:prstGeom prst="ellipse">
            <a:avLst/>
          </a:prstGeom>
          <a:solidFill>
            <a:srgbClr val="9AA4AF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4" name="Shape 44"/>
          <p:cNvSpPr/>
          <p:nvPr/>
        </p:nvSpPr>
        <p:spPr>
          <a:xfrm>
            <a:off x="7239000" y="3200400"/>
            <a:ext cx="406400" cy="406400"/>
          </a:xfrm>
          <a:prstGeom prst="ellipse">
            <a:avLst/>
          </a:prstGeom>
          <a:solidFill>
            <a:srgbClr val="C5CCD4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5" name="Shape 45"/>
          <p:cNvSpPr/>
          <p:nvPr/>
        </p:nvSpPr>
        <p:spPr>
          <a:xfrm>
            <a:off x="8128000" y="30480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2200" b="1" dirty="0">
                <a:latin typeface="+mj-lt"/>
                <a:ea typeface="+mj-ea"/>
              </a:rPr>
              <a:t>연기·구름</a:t>
            </a:r>
          </a:p>
        </p:txBody>
      </p:sp>
      <p:sp>
        <p:nvSpPr>
          <p:cNvPr id="46" name="Shape 46"/>
          <p:cNvSpPr/>
          <p:nvPr/>
        </p:nvSpPr>
        <p:spPr>
          <a:xfrm>
            <a:off x="10642600" y="2921000"/>
            <a:ext cx="685800" cy="304800"/>
          </a:xfrm>
          <a:prstGeom prst="roundRect">
            <a:avLst/>
          </a:prstGeom>
          <a:noFill/>
          <a:ln w="12700">
            <a:solidFill>
              <a:srgbClr val="156082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156082"/>
                </a:solidFill>
                <a:latin typeface="+mj-lt"/>
                <a:ea typeface="+mj-ea"/>
              </a:rPr>
              <a:t>예시</a:t>
            </a:r>
          </a:p>
        </p:txBody>
      </p:sp>
      <p:sp>
        <p:nvSpPr>
          <p:cNvPr id="47" name="Shape 47"/>
          <p:cNvSpPr/>
          <p:nvPr/>
        </p:nvSpPr>
        <p:spPr>
          <a:xfrm>
            <a:off x="8128000" y="3530600"/>
            <a:ext cx="3200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595959"/>
                </a:solidFill>
              </a:rPr>
              <a:t>오래 남고 여러 겹이 천천히 겹침</a:t>
            </a:r>
          </a:p>
        </p:txBody>
      </p:sp>
      <p:sp>
        <p:nvSpPr>
          <p:cNvPr id="48" name="Shape 48"/>
          <p:cNvSpPr/>
          <p:nvPr/>
        </p:nvSpPr>
        <p:spPr>
          <a:xfrm>
            <a:off x="6502400" y="4521200"/>
            <a:ext cx="4826000" cy="1905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9" name="Shape 49"/>
          <p:cNvSpPr/>
          <p:nvPr/>
        </p:nvSpPr>
        <p:spPr>
          <a:xfrm>
            <a:off x="6502400" y="4724400"/>
            <a:ext cx="812800" cy="35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156082"/>
                </a:solidFill>
                <a:latin typeface="+mj-lt"/>
                <a:ea typeface="+mj-ea"/>
              </a:rPr>
              <a:t>버퍼</a:t>
            </a:r>
          </a:p>
        </p:txBody>
      </p:sp>
      <p:sp>
        <p:nvSpPr>
          <p:cNvPr id="50" name="Shape 50"/>
          <p:cNvSpPr/>
          <p:nvPr/>
        </p:nvSpPr>
        <p:spPr>
          <a:xfrm>
            <a:off x="7467600" y="4724400"/>
            <a:ext cx="3860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dirty="0"/>
              <a:t>기본 버퍼</a:t>
            </a:r>
            <a:endParaRPr lang="ko-KR" altLang="en-US" sz="1800" dirty="0"/>
          </a:p>
        </p:txBody>
      </p:sp>
      <p:sp>
        <p:nvSpPr>
          <p:cNvPr id="51" name="Shape 51"/>
          <p:cNvSpPr/>
          <p:nvPr/>
        </p:nvSpPr>
        <p:spPr>
          <a:xfrm>
            <a:off x="6502400" y="5207000"/>
            <a:ext cx="812800" cy="3556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+mj-lt"/>
                <a:ea typeface="+mj-ea"/>
              </a:rPr>
              <a:t>렌더링</a:t>
            </a:r>
          </a:p>
        </p:txBody>
      </p:sp>
      <p:sp>
        <p:nvSpPr>
          <p:cNvPr id="52" name="Shape 52"/>
          <p:cNvSpPr/>
          <p:nvPr/>
        </p:nvSpPr>
        <p:spPr>
          <a:xfrm>
            <a:off x="7467600" y="5207000"/>
            <a:ext cx="38608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dirty="0"/>
              <a:t>정렬 알파 블렌딩: 앞뒤 순서 유지</a:t>
            </a:r>
          </a:p>
        </p:txBody>
      </p:sp>
      <p:sp>
        <p:nvSpPr>
          <p:cNvPr id="53" name="Shape 53"/>
          <p:cNvSpPr/>
          <p:nvPr/>
        </p:nvSpPr>
        <p:spPr>
          <a:xfrm>
            <a:off x="609600" y="58928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dirty="0">
                <a:solidFill>
                  <a:srgbClr val="404040"/>
                </a:solidFill>
              </a:rPr>
              <a:t>확정안이 아닌 예시입니다. 파티클별 버퍼·렌더링 조합은 </a:t>
            </a:r>
            <a:r>
              <a:rPr lang="ko-KR" altLang="en-US" sz="1800" b="1" dirty="0">
                <a:solidFill>
                  <a:srgbClr val="156082"/>
                </a:solidFill>
                <a:latin typeface="+mj-lt"/>
                <a:ea typeface="+mj-ea"/>
              </a:rPr>
              <a:t>연구하면서 선택</a:t>
            </a:r>
            <a:r>
              <a:rPr lang="ko-KR" altLang="en-US" sz="1800" dirty="0">
                <a:solidFill>
                  <a:srgbClr val="404040"/>
                </a:solidFill>
              </a:rPr>
              <a:t>해 나갈 예정입니다.</a:t>
            </a:r>
          </a:p>
        </p:txBody>
      </p:sp>
      <p:sp>
        <p:nvSpPr>
          <p:cNvPr id="5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143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31908-0A6B-7A62-BCC5-950209BB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첫 구현: 알파 블렌딩 + GPU 소팅 (Bitonic Sort)</a:t>
            </a:r>
          </a:p>
        </p:txBody>
      </p:sp>
      <p:sp>
        <p:nvSpPr>
          <p:cNvPr id="3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3</a:t>
            </a:fld>
            <a:endParaRPr lang="ko-KR" altLang="en-US"/>
          </a:p>
        </p:txBody>
      </p:sp>
      <p:sp>
        <p:nvSpPr>
          <p:cNvPr id="300" name="Shape 300"/>
          <p:cNvSpPr/>
          <p:nvPr/>
        </p:nvSpPr>
        <p:spPr>
          <a:xfrm>
            <a:off x="457200" y="1231900"/>
            <a:ext cx="4191000" cy="4064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01" name="Shape 301"/>
          <p:cNvSpPr/>
          <p:nvPr/>
        </p:nvSpPr>
        <p:spPr>
          <a:xfrm>
            <a:off x="584200" y="1308100"/>
            <a:ext cx="254000" cy="254000"/>
          </a:xfrm>
          <a:prstGeom prst="ellipse">
            <a:avLst/>
          </a:prstGeom>
          <a:solidFill>
            <a:srgbClr val="8C96A3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+mj-lt"/>
                <a:ea typeface="+mj-ea"/>
              </a:rPr>
              <a:t>0</a:t>
            </a:r>
          </a:p>
        </p:txBody>
      </p:sp>
      <p:sp>
        <p:nvSpPr>
          <p:cNvPr id="302" name="Shape 302"/>
          <p:cNvSpPr/>
          <p:nvPr/>
        </p:nvSpPr>
        <p:spPr>
          <a:xfrm>
            <a:off x="939800" y="1257300"/>
            <a:ext cx="101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400" b="1" dirty="0">
                <a:solidFill>
                  <a:srgbClr val="404040"/>
                </a:solidFill>
                <a:latin typeface="+mj-lt"/>
                <a:ea typeface="+mj-ea"/>
              </a:rPr>
              <a:t>Update</a:t>
            </a:r>
          </a:p>
        </p:txBody>
      </p:sp>
      <p:sp>
        <p:nvSpPr>
          <p:cNvPr id="303" name="Shape 303"/>
          <p:cNvSpPr/>
          <p:nvPr/>
        </p:nvSpPr>
        <p:spPr>
          <a:xfrm>
            <a:off x="1905000" y="1320800"/>
            <a:ext cx="711200" cy="27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C0C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200" dirty="0">
                <a:solidFill>
                  <a:srgbClr val="404040"/>
                </a:solidFill>
              </a:rPr>
              <a:t>Emit</a:t>
            </a:r>
          </a:p>
        </p:txBody>
      </p:sp>
      <p:sp>
        <p:nvSpPr>
          <p:cNvPr id="304" name="Shape 304"/>
          <p:cNvSpPr/>
          <p:nvPr/>
        </p:nvSpPr>
        <p:spPr>
          <a:xfrm>
            <a:off x="2667000" y="1320800"/>
            <a:ext cx="203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200" dirty="0">
                <a:solidFill>
                  <a:srgbClr val="8C96A3"/>
                </a:solidFill>
              </a:rPr>
              <a:t>→</a:t>
            </a:r>
          </a:p>
        </p:txBody>
      </p:sp>
      <p:sp>
        <p:nvSpPr>
          <p:cNvPr id="305" name="Shape 305"/>
          <p:cNvSpPr/>
          <p:nvPr/>
        </p:nvSpPr>
        <p:spPr>
          <a:xfrm>
            <a:off x="2921000" y="1320800"/>
            <a:ext cx="1016000" cy="27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8C0C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200" dirty="0">
                <a:solidFill>
                  <a:srgbClr val="404040"/>
                </a:solidFill>
              </a:rPr>
              <a:t>Simulate</a:t>
            </a:r>
          </a:p>
        </p:txBody>
      </p:sp>
      <p:sp>
        <p:nvSpPr>
          <p:cNvPr id="306" name="Shape 306"/>
          <p:cNvSpPr/>
          <p:nvPr/>
        </p:nvSpPr>
        <p:spPr>
          <a:xfrm>
            <a:off x="3987800" y="1320800"/>
            <a:ext cx="558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200" dirty="0">
                <a:solidFill>
                  <a:srgbClr val="8C96A3"/>
                </a:solidFill>
              </a:rPr>
              <a:t>…</a:t>
            </a:r>
          </a:p>
        </p:txBody>
      </p:sp>
      <p:sp>
        <p:nvSpPr>
          <p:cNvPr id="308" name="Shape 308"/>
          <p:cNvSpPr/>
          <p:nvPr/>
        </p:nvSpPr>
        <p:spPr>
          <a:xfrm>
            <a:off x="457200" y="1854200"/>
            <a:ext cx="3556000" cy="2667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09" name="Shape 309"/>
          <p:cNvSpPr/>
          <p:nvPr/>
        </p:nvSpPr>
        <p:spPr>
          <a:xfrm>
            <a:off x="4089400" y="3060700"/>
            <a:ext cx="152400" cy="254000"/>
          </a:xfrm>
          <a:prstGeom prst="chevron">
            <a:avLst/>
          </a:prstGeom>
          <a:solidFill>
            <a:srgbClr val="B8C0C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10" name="Shape 310"/>
          <p:cNvSpPr/>
          <p:nvPr/>
        </p:nvSpPr>
        <p:spPr>
          <a:xfrm>
            <a:off x="457200" y="4724400"/>
            <a:ext cx="406400" cy="4064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j-lt"/>
                <a:ea typeface="+mj-ea"/>
              </a:rPr>
              <a:t>1</a:t>
            </a:r>
          </a:p>
        </p:txBody>
      </p:sp>
      <p:sp>
        <p:nvSpPr>
          <p:cNvPr id="311" name="Shape 311"/>
          <p:cNvSpPr/>
          <p:nvPr/>
        </p:nvSpPr>
        <p:spPr>
          <a:xfrm>
            <a:off x="990600" y="47498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latin typeface="+mj-lt"/>
                <a:ea typeface="+mj-ea"/>
              </a:rPr>
              <a:t>깊이 계산</a:t>
            </a:r>
          </a:p>
        </p:txBody>
      </p:sp>
      <p:sp>
        <p:nvSpPr>
          <p:cNvPr id="312" name="Shape 312"/>
          <p:cNvSpPr/>
          <p:nvPr/>
        </p:nvSpPr>
        <p:spPr>
          <a:xfrm>
            <a:off x="457200" y="52324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파티클별 뷰 깊이 계산</a:t>
            </a:r>
          </a:p>
        </p:txBody>
      </p:sp>
      <p:sp>
        <p:nvSpPr>
          <p:cNvPr id="313" name="Shape 313"/>
          <p:cNvSpPr/>
          <p:nvPr/>
        </p:nvSpPr>
        <p:spPr>
          <a:xfrm>
            <a:off x="4318000" y="1854200"/>
            <a:ext cx="3556000" cy="2667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14" name="Shape 314"/>
          <p:cNvSpPr/>
          <p:nvPr/>
        </p:nvSpPr>
        <p:spPr>
          <a:xfrm>
            <a:off x="7950200" y="3060700"/>
            <a:ext cx="152400" cy="254000"/>
          </a:xfrm>
          <a:prstGeom prst="chevron">
            <a:avLst/>
          </a:prstGeom>
          <a:solidFill>
            <a:srgbClr val="B8C0C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15" name="Shape 315"/>
          <p:cNvSpPr/>
          <p:nvPr/>
        </p:nvSpPr>
        <p:spPr>
          <a:xfrm>
            <a:off x="4318000" y="4724400"/>
            <a:ext cx="406400" cy="4064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j-lt"/>
                <a:ea typeface="+mj-ea"/>
              </a:rPr>
              <a:t>2</a:t>
            </a:r>
          </a:p>
        </p:txBody>
      </p:sp>
      <p:sp>
        <p:nvSpPr>
          <p:cNvPr id="316" name="Shape 316"/>
          <p:cNvSpPr/>
          <p:nvPr/>
        </p:nvSpPr>
        <p:spPr>
          <a:xfrm>
            <a:off x="4851400" y="47498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latin typeface="+mj-lt"/>
                <a:ea typeface="+mj-ea"/>
              </a:rPr>
              <a:t>Bitonic Sort</a:t>
            </a:r>
          </a:p>
        </p:txBody>
      </p:sp>
      <p:sp>
        <p:nvSpPr>
          <p:cNvPr id="317" name="Shape 317"/>
          <p:cNvSpPr/>
          <p:nvPr/>
        </p:nvSpPr>
        <p:spPr>
          <a:xfrm>
            <a:off x="4318000" y="5232400"/>
            <a:ext cx="3556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깊이 기준으로 GPU에서 정렬</a:t>
            </a:r>
          </a:p>
        </p:txBody>
      </p:sp>
      <p:sp>
        <p:nvSpPr>
          <p:cNvPr id="318" name="Shape 318"/>
          <p:cNvSpPr/>
          <p:nvPr/>
        </p:nvSpPr>
        <p:spPr>
          <a:xfrm>
            <a:off x="8178800" y="1854200"/>
            <a:ext cx="3556000" cy="2667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19" name="Shape 319"/>
          <p:cNvSpPr/>
          <p:nvPr/>
        </p:nvSpPr>
        <p:spPr>
          <a:xfrm>
            <a:off x="8178800" y="4724400"/>
            <a:ext cx="406400" cy="4064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j-lt"/>
                <a:ea typeface="+mj-ea"/>
              </a:rPr>
              <a:t>3</a:t>
            </a:r>
          </a:p>
        </p:txBody>
      </p:sp>
      <p:sp>
        <p:nvSpPr>
          <p:cNvPr id="320" name="Shape 320"/>
          <p:cNvSpPr/>
          <p:nvPr/>
        </p:nvSpPr>
        <p:spPr>
          <a:xfrm>
            <a:off x="8712200" y="4749800"/>
            <a:ext cx="30226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latin typeface="+mj-lt"/>
                <a:ea typeface="+mj-ea"/>
              </a:rPr>
              <a:t>드로우 + 알파 블렌딩</a:t>
            </a:r>
          </a:p>
        </p:txBody>
      </p:sp>
      <p:sp>
        <p:nvSpPr>
          <p:cNvPr id="321" name="Shape 321"/>
          <p:cNvSpPr/>
          <p:nvPr/>
        </p:nvSpPr>
        <p:spPr>
          <a:xfrm>
            <a:off x="8178800" y="52324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정렬 순서로 그리며 premultiplied 합성</a:t>
            </a:r>
            <a:br>
              <a:rPr lang="en-US" altLang="ko-KR" sz="1600" dirty="0">
                <a:solidFill>
                  <a:srgbClr val="404040"/>
                </a:solidFill>
              </a:rPr>
            </a:br>
            <a:endParaRPr lang="en-US" altLang="ko-KR" sz="1600" dirty="0">
              <a:solidFill>
                <a:srgbClr val="404040"/>
              </a:solidFill>
            </a:endParaRPr>
          </a:p>
        </p:txBody>
      </p:sp>
      <p:sp>
        <p:nvSpPr>
          <p:cNvPr id="322" name="Shape 322"/>
          <p:cNvSpPr/>
          <p:nvPr/>
        </p:nvSpPr>
        <p:spPr>
          <a:xfrm>
            <a:off x="838200" y="2895600"/>
            <a:ext cx="254000" cy="254000"/>
          </a:xfrm>
          <a:prstGeom prst="roundRect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23" name="Shape 323"/>
          <p:cNvSpPr/>
          <p:nvPr/>
        </p:nvSpPr>
        <p:spPr>
          <a:xfrm rot="16200000">
            <a:off x="1066800" y="2933700"/>
            <a:ext cx="127000" cy="177800"/>
          </a:xfrm>
          <a:prstGeom prst="triangle">
            <a:avLst/>
          </a:prstGeom>
          <a:solidFill>
            <a:srgbClr val="40404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26" name="Shape 326"/>
          <p:cNvSpPr/>
          <p:nvPr/>
        </p:nvSpPr>
        <p:spPr>
          <a:xfrm>
            <a:off x="1600200" y="2819400"/>
            <a:ext cx="355600" cy="3556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27" name="Shape 327"/>
          <p:cNvSpPr/>
          <p:nvPr/>
        </p:nvSpPr>
        <p:spPr>
          <a:xfrm>
            <a:off x="1447800" y="32258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z=0.2</a:t>
            </a:r>
          </a:p>
        </p:txBody>
      </p:sp>
      <p:sp>
        <p:nvSpPr>
          <p:cNvPr id="328" name="Shape 328"/>
          <p:cNvSpPr/>
          <p:nvPr/>
        </p:nvSpPr>
        <p:spPr>
          <a:xfrm>
            <a:off x="2438400" y="2463800"/>
            <a:ext cx="304800" cy="3048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29" name="Shape 329"/>
          <p:cNvSpPr/>
          <p:nvPr/>
        </p:nvSpPr>
        <p:spPr>
          <a:xfrm>
            <a:off x="2260600" y="28194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z=0.5</a:t>
            </a:r>
          </a:p>
        </p:txBody>
      </p:sp>
      <p:sp>
        <p:nvSpPr>
          <p:cNvPr id="330" name="Shape 330"/>
          <p:cNvSpPr/>
          <p:nvPr/>
        </p:nvSpPr>
        <p:spPr>
          <a:xfrm>
            <a:off x="3225800" y="3149600"/>
            <a:ext cx="254000" cy="254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31" name="Shape 331"/>
          <p:cNvSpPr/>
          <p:nvPr/>
        </p:nvSpPr>
        <p:spPr>
          <a:xfrm>
            <a:off x="3022600" y="34544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z=0.9</a:t>
            </a:r>
          </a:p>
        </p:txBody>
      </p:sp>
      <p:sp>
        <p:nvSpPr>
          <p:cNvPr id="332" name="Shape 332"/>
          <p:cNvSpPr/>
          <p:nvPr/>
        </p:nvSpPr>
        <p:spPr>
          <a:xfrm>
            <a:off x="457200" y="41148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595959"/>
                </a:solidFill>
              </a:rPr>
              <a:t>카메라에서의 거리 = 정렬 키</a:t>
            </a:r>
          </a:p>
        </p:txBody>
      </p:sp>
      <p:sp>
        <p:nvSpPr>
          <p:cNvPr id="333" name="Shape 333"/>
          <p:cNvSpPr/>
          <p:nvPr/>
        </p:nvSpPr>
        <p:spPr>
          <a:xfrm>
            <a:off x="4318000" y="20320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595959"/>
                </a:solidFill>
              </a:rPr>
              <a:t>정렬 전</a:t>
            </a:r>
          </a:p>
        </p:txBody>
      </p:sp>
      <p:sp>
        <p:nvSpPr>
          <p:cNvPr id="334" name="Shape 334"/>
          <p:cNvSpPr/>
          <p:nvPr/>
        </p:nvSpPr>
        <p:spPr>
          <a:xfrm>
            <a:off x="4660900" y="2336800"/>
            <a:ext cx="660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0.5</a:t>
            </a:r>
          </a:p>
        </p:txBody>
      </p:sp>
      <p:sp>
        <p:nvSpPr>
          <p:cNvPr id="335" name="Shape 335"/>
          <p:cNvSpPr/>
          <p:nvPr/>
        </p:nvSpPr>
        <p:spPr>
          <a:xfrm>
            <a:off x="5397500" y="2336800"/>
            <a:ext cx="660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0.9</a:t>
            </a:r>
          </a:p>
        </p:txBody>
      </p:sp>
      <p:sp>
        <p:nvSpPr>
          <p:cNvPr id="336" name="Shape 336"/>
          <p:cNvSpPr/>
          <p:nvPr/>
        </p:nvSpPr>
        <p:spPr>
          <a:xfrm>
            <a:off x="6134100" y="2336800"/>
            <a:ext cx="660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0.2</a:t>
            </a:r>
          </a:p>
        </p:txBody>
      </p:sp>
      <p:sp>
        <p:nvSpPr>
          <p:cNvPr id="337" name="Shape 337"/>
          <p:cNvSpPr/>
          <p:nvPr/>
        </p:nvSpPr>
        <p:spPr>
          <a:xfrm>
            <a:off x="6870700" y="2336800"/>
            <a:ext cx="660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0.7</a:t>
            </a:r>
          </a:p>
        </p:txBody>
      </p:sp>
      <p:cxnSp>
        <p:nvCxnSpPr>
          <p:cNvPr id="338" name="Line 338"/>
          <p:cNvCxnSpPr/>
          <p:nvPr/>
        </p:nvCxnSpPr>
        <p:spPr>
          <a:xfrm>
            <a:off x="6096000" y="2895600"/>
            <a:ext cx="0" cy="431800"/>
          </a:xfrm>
          <a:prstGeom prst="line">
            <a:avLst/>
          </a:prstGeom>
          <a:ln w="19050">
            <a:solidFill>
              <a:srgbClr val="156082"/>
            </a:solidFill>
            <a:tailEnd type="triangle"/>
          </a:ln>
        </p:spPr>
      </p:cxnSp>
      <p:sp>
        <p:nvSpPr>
          <p:cNvPr id="339" name="Shape 339"/>
          <p:cNvSpPr/>
          <p:nvPr/>
        </p:nvSpPr>
        <p:spPr>
          <a:xfrm>
            <a:off x="4660900" y="3429000"/>
            <a:ext cx="660400" cy="457200"/>
          </a:xfrm>
          <a:prstGeom prst="rect">
            <a:avLst/>
          </a:prstGeom>
          <a:solidFill>
            <a:srgbClr val="156082"/>
          </a:solidFill>
          <a:ln w="9525">
            <a:solidFill>
              <a:srgbClr val="156082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+mj-lt"/>
                <a:ea typeface="+mj-ea"/>
              </a:rPr>
              <a:t>0.9</a:t>
            </a:r>
          </a:p>
        </p:txBody>
      </p:sp>
      <p:sp>
        <p:nvSpPr>
          <p:cNvPr id="340" name="Shape 340"/>
          <p:cNvSpPr/>
          <p:nvPr/>
        </p:nvSpPr>
        <p:spPr>
          <a:xfrm>
            <a:off x="5397500" y="3429000"/>
            <a:ext cx="660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0.7</a:t>
            </a:r>
          </a:p>
        </p:txBody>
      </p:sp>
      <p:sp>
        <p:nvSpPr>
          <p:cNvPr id="341" name="Shape 341"/>
          <p:cNvSpPr/>
          <p:nvPr/>
        </p:nvSpPr>
        <p:spPr>
          <a:xfrm>
            <a:off x="6134100" y="3429000"/>
            <a:ext cx="660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0.5</a:t>
            </a:r>
          </a:p>
        </p:txBody>
      </p:sp>
      <p:sp>
        <p:nvSpPr>
          <p:cNvPr id="342" name="Shape 342"/>
          <p:cNvSpPr/>
          <p:nvPr/>
        </p:nvSpPr>
        <p:spPr>
          <a:xfrm>
            <a:off x="6870700" y="3429000"/>
            <a:ext cx="660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A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0.2</a:t>
            </a:r>
          </a:p>
        </p:txBody>
      </p:sp>
      <p:sp>
        <p:nvSpPr>
          <p:cNvPr id="343" name="Shape 343"/>
          <p:cNvSpPr/>
          <p:nvPr/>
        </p:nvSpPr>
        <p:spPr>
          <a:xfrm>
            <a:off x="4318000" y="40132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595959"/>
                </a:solidFill>
              </a:rPr>
              <a:t>정렬 후 (먼 것부터)</a:t>
            </a:r>
          </a:p>
        </p:txBody>
      </p:sp>
      <p:sp>
        <p:nvSpPr>
          <p:cNvPr id="344" name="Shape 344"/>
          <p:cNvSpPr/>
          <p:nvPr/>
        </p:nvSpPr>
        <p:spPr>
          <a:xfrm>
            <a:off x="8839200" y="2565400"/>
            <a:ext cx="660400" cy="660400"/>
          </a:xfrm>
          <a:prstGeom prst="ellipse">
            <a:avLst/>
          </a:prstGeom>
          <a:solidFill>
            <a:srgbClr val="2F6FDE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+mj-lt"/>
                <a:ea typeface="+mj-ea"/>
              </a:rPr>
              <a:t>1</a:t>
            </a:r>
          </a:p>
        </p:txBody>
      </p:sp>
      <p:sp>
        <p:nvSpPr>
          <p:cNvPr id="345" name="Shape 345"/>
          <p:cNvSpPr/>
          <p:nvPr/>
        </p:nvSpPr>
        <p:spPr>
          <a:xfrm>
            <a:off x="9321800" y="2717800"/>
            <a:ext cx="711200" cy="711200"/>
          </a:xfrm>
          <a:prstGeom prst="ellipse">
            <a:avLst/>
          </a:prstGeom>
          <a:solidFill>
            <a:srgbClr val="156082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+mj-lt"/>
                <a:ea typeface="+mj-ea"/>
              </a:rPr>
              <a:t>2</a:t>
            </a:r>
          </a:p>
        </p:txBody>
      </p:sp>
      <p:sp>
        <p:nvSpPr>
          <p:cNvPr id="346" name="Shape 346"/>
          <p:cNvSpPr/>
          <p:nvPr/>
        </p:nvSpPr>
        <p:spPr>
          <a:xfrm>
            <a:off x="9906000" y="2540000"/>
            <a:ext cx="660400" cy="660400"/>
          </a:xfrm>
          <a:prstGeom prst="ellipse">
            <a:avLst/>
          </a:prstGeom>
          <a:solidFill>
            <a:srgbClr val="E97132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+mj-lt"/>
                <a:ea typeface="+mj-ea"/>
              </a:rPr>
              <a:t>3</a:t>
            </a:r>
          </a:p>
        </p:txBody>
      </p:sp>
      <p:sp>
        <p:nvSpPr>
          <p:cNvPr id="347" name="Shape 347"/>
          <p:cNvSpPr/>
          <p:nvPr/>
        </p:nvSpPr>
        <p:spPr>
          <a:xfrm>
            <a:off x="10414000" y="2743200"/>
            <a:ext cx="711200" cy="711200"/>
          </a:xfrm>
          <a:prstGeom prst="ellipse">
            <a:avLst/>
          </a:prstGeom>
          <a:solidFill>
            <a:srgbClr val="6B7480">
              <a:alpha val="65000"/>
            </a:srgbClr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+mj-lt"/>
                <a:ea typeface="+mj-ea"/>
              </a:rPr>
              <a:t>4</a:t>
            </a:r>
          </a:p>
        </p:txBody>
      </p:sp>
      <p:sp>
        <p:nvSpPr>
          <p:cNvPr id="348" name="Shape 348"/>
          <p:cNvSpPr/>
          <p:nvPr/>
        </p:nvSpPr>
        <p:spPr>
          <a:xfrm>
            <a:off x="8178800" y="37592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b="1" dirty="0">
                <a:solidFill>
                  <a:srgbClr val="404040"/>
                </a:solidFill>
                <a:latin typeface="+mj-lt"/>
                <a:ea typeface="+mj-ea"/>
              </a:rPr>
              <a:t>Cs + Cd·(1 − αs)</a:t>
            </a:r>
          </a:p>
        </p:txBody>
      </p:sp>
      <p:sp>
        <p:nvSpPr>
          <p:cNvPr id="349" name="Shape 349"/>
          <p:cNvSpPr/>
          <p:nvPr/>
        </p:nvSpPr>
        <p:spPr>
          <a:xfrm>
            <a:off x="8178800" y="4114800"/>
            <a:ext cx="355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595959"/>
                </a:solidFill>
              </a:rPr>
              <a:t>먼 것부터 1 → 4 순서로 그리며 합성</a:t>
            </a:r>
          </a:p>
        </p:txBody>
      </p:sp>
      <p:sp>
        <p:nvSpPr>
          <p:cNvPr id="350" name="Shape 350"/>
          <p:cNvSpPr/>
          <p:nvPr/>
        </p:nvSpPr>
        <p:spPr>
          <a:xfrm>
            <a:off x="5994400" y="5537200"/>
            <a:ext cx="203200" cy="127000"/>
          </a:xfrm>
          <a:prstGeom prst="triangle">
            <a:avLst/>
          </a:prstGeom>
          <a:solidFill>
            <a:srgbClr val="EAF2F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51" name="Shape 351"/>
          <p:cNvSpPr/>
          <p:nvPr/>
        </p:nvSpPr>
        <p:spPr>
          <a:xfrm>
            <a:off x="4318000" y="5664200"/>
            <a:ext cx="3556000" cy="850900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txBody>
          <a:bodyPr wrap="square" lIns="177800" tIns="114300" rIns="177800" bIns="0" anchor="t">
            <a:noAutofit/>
          </a:bodyPr>
          <a:lstStyle/>
          <a:p>
            <a:pPr algn="l">
              <a:buNone/>
            </a:pPr>
            <a:r>
              <a:rPr lang="ko-KR" altLang="en-US" sz="1400" b="1" dirty="0">
                <a:solidFill>
                  <a:srgbClr val="156082"/>
                </a:solidFill>
                <a:latin typeface="+mj-lt"/>
                <a:ea typeface="+mj-ea"/>
              </a:rPr>
              <a:t>정렬이 필요한 이유</a:t>
            </a:r>
          </a:p>
          <a:p>
            <a:pPr algn="l">
              <a:buNone/>
            </a:pPr>
            <a:r>
              <a:rPr lang="ko-KR" altLang="en-US" sz="1400" dirty="0"/>
              <a:t>알파 블렌딩은 순서에 따라 색이 달라져,</a:t>
            </a:r>
          </a:p>
          <a:p>
            <a:pPr algn="l">
              <a:buNone/>
            </a:pPr>
            <a:r>
              <a:rPr lang="ko-KR" altLang="en-US" sz="1400" dirty="0"/>
              <a:t>먼 것부터 그려야 올바르게 합성된다</a:t>
            </a:r>
          </a:p>
        </p:txBody>
      </p:sp>
      <p:sp>
        <p:nvSpPr>
          <p:cNvPr id="4" name="Shape 309">
            <a:extLst>
              <a:ext uri="{FF2B5EF4-FFF2-40B4-BE49-F238E27FC236}">
                <a16:creationId xmlns:a16="http://schemas.microsoft.com/office/drawing/2014/main" id="{DE784736-43E7-CE77-A472-7E070A381920}"/>
              </a:ext>
            </a:extLst>
          </p:cNvPr>
          <p:cNvSpPr/>
          <p:nvPr/>
        </p:nvSpPr>
        <p:spPr>
          <a:xfrm rot="5400000">
            <a:off x="2413000" y="1641475"/>
            <a:ext cx="152400" cy="254000"/>
          </a:xfrm>
          <a:prstGeom prst="chevron">
            <a:avLst/>
          </a:prstGeom>
          <a:solidFill>
            <a:srgbClr val="B8C0C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965580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Expand Funnel"/>
          <p:cNvSpPr/>
          <p:nvPr/>
        </p:nvSpPr>
        <p:spPr>
          <a:xfrm>
            <a:off x="457200" y="1016000"/>
            <a:ext cx="11277600" cy="406400"/>
          </a:xfrm>
          <a:custGeom>
            <a:avLst/>
            <a:gdLst/>
            <a:ahLst/>
            <a:cxnLst/>
            <a:rect l="0" t="0" r="r" b="b"/>
            <a:pathLst>
              <a:path w="11277600" h="406400">
                <a:moveTo>
                  <a:pt x="3937000" y="0"/>
                </a:moveTo>
                <a:lnTo>
                  <a:pt x="7340600" y="0"/>
                </a:lnTo>
                <a:lnTo>
                  <a:pt x="11277600" y="406400"/>
                </a:lnTo>
                <a:lnTo>
                  <a:pt x="0" y="406400"/>
                </a:lnTo>
                <a:close/>
              </a:path>
            </a:pathLst>
          </a:custGeom>
          <a:solidFill>
            <a:srgbClr val="DCE9EF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91" name="Expand Panel"/>
          <p:cNvSpPr/>
          <p:nvPr/>
        </p:nvSpPr>
        <p:spPr>
          <a:xfrm>
            <a:off x="457200" y="1422400"/>
            <a:ext cx="11277600" cy="4165600"/>
          </a:xfrm>
          <a:prstGeom prst="rect">
            <a:avLst/>
          </a:prstGeom>
          <a:solidFill>
            <a:srgbClr val="F3F7F9"/>
          </a:solidFill>
          <a:ln w="9525">
            <a:solidFill>
              <a:srgbClr val="DCE9EF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100" name="Shape 100"/>
          <p:cNvSpPr/>
          <p:nvPr/>
        </p:nvSpPr>
        <p:spPr>
          <a:xfrm>
            <a:off x="457200" y="457200"/>
            <a:ext cx="3403600" cy="5588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800" b="1" dirty="0">
                <a:solidFill>
                  <a:srgbClr val="8C96A3"/>
                </a:solidFill>
                <a:latin typeface="+mj-lt"/>
                <a:ea typeface="+mj-ea"/>
              </a:rPr>
              <a:t>깊이 계산</a:t>
            </a:r>
          </a:p>
        </p:txBody>
      </p:sp>
      <p:sp>
        <p:nvSpPr>
          <p:cNvPr id="101" name="Shape 101"/>
          <p:cNvSpPr/>
          <p:nvPr/>
        </p:nvSpPr>
        <p:spPr>
          <a:xfrm>
            <a:off x="4051300" y="609600"/>
            <a:ext cx="152400" cy="254000"/>
          </a:xfrm>
          <a:prstGeom prst="chevron">
            <a:avLst/>
          </a:prstGeom>
          <a:solidFill>
            <a:srgbClr val="D9DCE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02" name="Shape 102"/>
          <p:cNvSpPr/>
          <p:nvPr/>
        </p:nvSpPr>
        <p:spPr>
          <a:xfrm>
            <a:off x="4394200" y="457200"/>
            <a:ext cx="3403600" cy="5588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+mj-lt"/>
                <a:ea typeface="+mj-ea"/>
              </a:rPr>
              <a:t>Bitonic Sort</a:t>
            </a:r>
          </a:p>
        </p:txBody>
      </p:sp>
      <p:sp>
        <p:nvSpPr>
          <p:cNvPr id="103" name="Shape 103"/>
          <p:cNvSpPr/>
          <p:nvPr/>
        </p:nvSpPr>
        <p:spPr>
          <a:xfrm>
            <a:off x="7988300" y="609600"/>
            <a:ext cx="152400" cy="254000"/>
          </a:xfrm>
          <a:prstGeom prst="chevron">
            <a:avLst/>
          </a:prstGeom>
          <a:solidFill>
            <a:srgbClr val="D9DCE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04" name="Shape 104"/>
          <p:cNvSpPr/>
          <p:nvPr/>
        </p:nvSpPr>
        <p:spPr>
          <a:xfrm>
            <a:off x="8331200" y="457200"/>
            <a:ext cx="3403600" cy="5588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800" b="1" dirty="0">
                <a:solidFill>
                  <a:srgbClr val="8C96A3"/>
                </a:solidFill>
                <a:latin typeface="+mj-lt"/>
                <a:ea typeface="+mj-ea"/>
              </a:rPr>
              <a:t>드로우 + 알파 블렌딩</a:t>
            </a:r>
          </a:p>
        </p:txBody>
      </p:sp>
      <p:sp>
        <p:nvSpPr>
          <p:cNvPr id="109" name="Chart Label"/>
          <p:cNvSpPr/>
          <p:nvPr/>
        </p:nvSpPr>
        <p:spPr>
          <a:xfrm>
            <a:off x="6299200" y="1625600"/>
            <a:ext cx="54356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+mj-lt"/>
                <a:ea typeface="+mj-ea"/>
              </a:rPr>
              <a:t>Bitonic Sort 시간, 파티클 수별 (임시 수치)</a:t>
            </a:r>
          </a:p>
        </p:txBody>
      </p:sp>
      <p:sp>
        <p:nvSpPr>
          <p:cNvPr id="110" name="Shape 110"/>
          <p:cNvSpPr/>
          <p:nvPr/>
        </p:nvSpPr>
        <p:spPr>
          <a:xfrm>
            <a:off x="457200" y="5740400"/>
            <a:ext cx="11277600" cy="609600"/>
          </a:xfrm>
          <a:prstGeom prst="rect">
            <a:avLst/>
          </a:prstGeom>
          <a:solidFill>
            <a:srgbClr val="EAF2F6"/>
          </a:solidFill>
          <a:ln>
            <a:noFill/>
          </a:ln>
        </p:spPr>
        <p:txBody>
          <a:bodyPr wrap="square" lIns="254000" tIns="0" rIns="254000" bIns="0" anchor="ctr">
            <a:noAutofit/>
          </a:bodyPr>
          <a:lstStyle/>
          <a:p>
            <a:pPr algn="l">
              <a:buNone/>
            </a:pPr>
            <a:r>
              <a:rPr lang="ko-KR" altLang="en-US" sz="2000" dirty="0">
                <a:solidFill>
                  <a:srgbClr val="404040"/>
                </a:solidFill>
              </a:rPr>
              <a:t>파티클이 늘수록 소팅 비용도 커진다</a:t>
            </a:r>
            <a:r>
              <a:rPr lang="ko-KR" altLang="en-US" sz="2000" dirty="0">
                <a:solidFill>
                  <a:srgbClr val="8C96A3"/>
                </a:solidFill>
              </a:rPr>
              <a:t>   →   </a:t>
            </a:r>
            <a:r>
              <a:rPr lang="ko-KR" altLang="en-US" sz="2000" b="1" dirty="0">
                <a:solidFill>
                  <a:srgbClr val="156082"/>
                </a:solidFill>
                <a:latin typeface="+mj-lt"/>
                <a:ea typeface="+mj-ea"/>
              </a:rPr>
              <a:t>정렬 없이 렌더링하는 방식</a:t>
            </a:r>
            <a:r>
              <a:rPr lang="ko-KR" altLang="en-US" sz="2000" b="1" dirty="0">
                <a:solidFill>
                  <a:srgbClr val="1F1F1F"/>
                </a:solidFill>
                <a:latin typeface="+mj-lt"/>
                <a:ea typeface="+mj-ea"/>
              </a:rPr>
              <a:t>이 필요했다</a:t>
            </a:r>
          </a:p>
        </p:txBody>
      </p:sp>
      <p:sp>
        <p:nvSpPr>
          <p:cNvPr id="11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4</a:t>
            </a:fld>
            <a:endParaRPr lang="ko-KR" altLang="en-US"/>
          </a:p>
        </p:txBody>
      </p:sp>
      <p:graphicFrame>
        <p:nvGraphicFramePr>
          <p:cNvPr id="112" name="Chart"/>
          <p:cNvGraphicFramePr/>
          <p:nvPr/>
        </p:nvGraphicFramePr>
        <p:xfrm>
          <a:off x="6299200" y="1981200"/>
          <a:ext cx="52324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0" name="Left Chart Label"/>
          <p:cNvSpPr/>
          <p:nvPr/>
        </p:nvSpPr>
        <p:spPr>
          <a:xfrm>
            <a:off x="711200" y="1625600"/>
            <a:ext cx="5461000" cy="330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ko-KR" altLang="en-US" sz="1600" b="1" dirty="0">
                <a:solidFill>
                  <a:srgbClr val="404040"/>
                </a:solidFill>
                <a:latin typeface="+mj-lt"/>
                <a:ea typeface="+mj-ea"/>
              </a:rPr>
              <a:t>1M개 기준 단계별 비용 (임시 수치)</a:t>
            </a:r>
          </a:p>
        </p:txBody>
      </p:sp>
      <p:graphicFrame>
        <p:nvGraphicFramePr>
          <p:cNvPr id="151" name="Chart"/>
          <p:cNvGraphicFramePr/>
          <p:nvPr/>
        </p:nvGraphicFramePr>
        <p:xfrm>
          <a:off x="609600" y="1981200"/>
          <a:ext cx="53340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9679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A6FAE5-E6C9-040D-1C26-608A084B4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WBOIT: 정렬 없이 깊이 가중치로 반투명을 합성한다</a:t>
            </a:r>
          </a:p>
        </p:txBody>
      </p:sp>
      <p:sp>
        <p:nvSpPr>
          <p:cNvPr id="18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5</a:t>
            </a:fld>
            <a:endParaRPr lang="ko-KR" altLang="en-US"/>
          </a:p>
        </p:txBody>
      </p:sp>
      <p:sp>
        <p:nvSpPr>
          <p:cNvPr id="60" name="Shape 60"/>
          <p:cNvSpPr/>
          <p:nvPr/>
        </p:nvSpPr>
        <p:spPr>
          <a:xfrm>
            <a:off x="457200" y="1320800"/>
            <a:ext cx="5080000" cy="6096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txBody>
          <a:bodyPr wrap="square" lIns="203200" tIns="0" rIns="20320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8C96A3"/>
                </a:solidFill>
                <a:latin typeface="+mj-lt"/>
                <a:ea typeface="+mj-ea"/>
              </a:rPr>
              <a:t>문제  </a:t>
            </a:r>
            <a:r>
              <a:rPr lang="ko-KR" altLang="en-US" sz="1600" dirty="0">
                <a:solidFill>
                  <a:srgbClr val="404040"/>
                </a:solidFill>
              </a:rPr>
              <a:t>파티클이 늘수록 커지는 소팅 비용</a:t>
            </a:r>
          </a:p>
        </p:txBody>
      </p:sp>
      <p:sp>
        <p:nvSpPr>
          <p:cNvPr id="61" name="Shape 61"/>
          <p:cNvSpPr/>
          <p:nvPr/>
        </p:nvSpPr>
        <p:spPr>
          <a:xfrm>
            <a:off x="5740400" y="1447800"/>
            <a:ext cx="508000" cy="355600"/>
          </a:xfrm>
          <a:prstGeom prst="rightArrow">
            <a:avLst/>
          </a:prstGeom>
          <a:solidFill>
            <a:srgbClr val="B8C0C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2" name="Shape 62"/>
          <p:cNvSpPr/>
          <p:nvPr/>
        </p:nvSpPr>
        <p:spPr>
          <a:xfrm>
            <a:off x="6451600" y="1320800"/>
            <a:ext cx="5283200" cy="6096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203200" tIns="0" rIns="20320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BFD8E3"/>
                </a:solidFill>
                <a:latin typeface="+mj-lt"/>
                <a:ea typeface="+mj-ea"/>
              </a:rPr>
              <a:t>해결  </a:t>
            </a:r>
            <a:r>
              <a:rPr lang="ko-KR" altLang="en-US" sz="1600" b="1" dirty="0">
                <a:solidFill>
                  <a:srgbClr val="FFFFFF"/>
                </a:solidFill>
                <a:latin typeface="+mj-lt"/>
                <a:ea typeface="+mj-ea"/>
              </a:rPr>
              <a:t>정렬 순서와 무관하게 합성 → 소팅 제거</a:t>
            </a:r>
          </a:p>
        </p:txBody>
      </p:sp>
      <p:sp>
        <p:nvSpPr>
          <p:cNvPr id="400" name="Shape 400"/>
          <p:cNvSpPr/>
          <p:nvPr/>
        </p:nvSpPr>
        <p:spPr>
          <a:xfrm>
            <a:off x="457200" y="2235200"/>
            <a:ext cx="2921000" cy="3810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01" name="Shape 401"/>
          <p:cNvSpPr/>
          <p:nvPr/>
        </p:nvSpPr>
        <p:spPr>
          <a:xfrm>
            <a:off x="660400" y="23622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400" b="1" dirty="0">
                <a:solidFill>
                  <a:srgbClr val="595959"/>
                </a:solidFill>
                <a:latin typeface="+mj-lt"/>
                <a:ea typeface="+mj-ea"/>
              </a:rPr>
              <a:t>반투명 파티클 (순서 무관)</a:t>
            </a:r>
          </a:p>
        </p:txBody>
      </p:sp>
      <p:sp>
        <p:nvSpPr>
          <p:cNvPr id="402" name="Shape 402"/>
          <p:cNvSpPr/>
          <p:nvPr/>
        </p:nvSpPr>
        <p:spPr>
          <a:xfrm>
            <a:off x="711200" y="2819400"/>
            <a:ext cx="711200" cy="711200"/>
          </a:xfrm>
          <a:prstGeom prst="ellipse">
            <a:avLst/>
          </a:prstGeom>
          <a:solidFill>
            <a:srgbClr val="E97132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03" name="Shape 403"/>
          <p:cNvSpPr/>
          <p:nvPr/>
        </p:nvSpPr>
        <p:spPr>
          <a:xfrm>
            <a:off x="1600200" y="28956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latin typeface="+mj-lt"/>
                <a:ea typeface="+mj-ea"/>
              </a:rPr>
              <a:t>파티클 A</a:t>
            </a:r>
          </a:p>
        </p:txBody>
      </p:sp>
      <p:sp>
        <p:nvSpPr>
          <p:cNvPr id="404" name="Shape 404"/>
          <p:cNvSpPr/>
          <p:nvPr/>
        </p:nvSpPr>
        <p:spPr>
          <a:xfrm>
            <a:off x="1600200" y="32004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α=0.6 </a:t>
            </a:r>
            <a:r>
              <a:rPr lang="ko-KR" altLang="en-US" sz="1200" dirty="0">
                <a:solidFill>
                  <a:srgbClr val="404040"/>
                </a:solidFill>
              </a:rPr>
              <a:t>· 가중치 w(z)</a:t>
            </a:r>
            <a:endParaRPr lang="ko-KR" altLang="en-US" sz="1400" dirty="0">
              <a:solidFill>
                <a:srgbClr val="404040"/>
              </a:solidFill>
            </a:endParaRPr>
          </a:p>
        </p:txBody>
      </p:sp>
      <p:sp>
        <p:nvSpPr>
          <p:cNvPr id="405" name="Shape 405"/>
          <p:cNvSpPr/>
          <p:nvPr/>
        </p:nvSpPr>
        <p:spPr>
          <a:xfrm>
            <a:off x="711200" y="3886200"/>
            <a:ext cx="711200" cy="711200"/>
          </a:xfrm>
          <a:prstGeom prst="ellipse">
            <a:avLst/>
          </a:prstGeom>
          <a:solidFill>
            <a:srgbClr val="2F6FDE">
              <a:alpha val="5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06" name="Shape 406"/>
          <p:cNvSpPr/>
          <p:nvPr/>
        </p:nvSpPr>
        <p:spPr>
          <a:xfrm>
            <a:off x="1600200" y="39624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latin typeface="+mj-lt"/>
                <a:ea typeface="+mj-ea"/>
              </a:rPr>
              <a:t>파티클 B</a:t>
            </a:r>
          </a:p>
        </p:txBody>
      </p:sp>
      <p:sp>
        <p:nvSpPr>
          <p:cNvPr id="407" name="Shape 407"/>
          <p:cNvSpPr/>
          <p:nvPr/>
        </p:nvSpPr>
        <p:spPr>
          <a:xfrm>
            <a:off x="1600200" y="42672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α=0.5 · </a:t>
            </a:r>
            <a:r>
              <a:rPr lang="ko-KR" altLang="en-US" sz="1200" dirty="0">
                <a:solidFill>
                  <a:srgbClr val="404040"/>
                </a:solidFill>
              </a:rPr>
              <a:t>가중치 w(z)</a:t>
            </a:r>
            <a:endParaRPr lang="ko-KR" altLang="en-US" sz="1400" dirty="0">
              <a:solidFill>
                <a:srgbClr val="404040"/>
              </a:solidFill>
            </a:endParaRPr>
          </a:p>
        </p:txBody>
      </p:sp>
      <p:sp>
        <p:nvSpPr>
          <p:cNvPr id="408" name="Shape 408"/>
          <p:cNvSpPr/>
          <p:nvPr/>
        </p:nvSpPr>
        <p:spPr>
          <a:xfrm>
            <a:off x="711200" y="4953000"/>
            <a:ext cx="711200" cy="711200"/>
          </a:xfrm>
          <a:prstGeom prst="ellipse">
            <a:avLst/>
          </a:prstGeom>
          <a:solidFill>
            <a:srgbClr val="156082">
              <a:alpha val="7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09" name="Shape 409"/>
          <p:cNvSpPr/>
          <p:nvPr/>
        </p:nvSpPr>
        <p:spPr>
          <a:xfrm>
            <a:off x="1600200" y="50292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latin typeface="+mj-lt"/>
                <a:ea typeface="+mj-ea"/>
              </a:rPr>
              <a:t>파티클 C</a:t>
            </a:r>
          </a:p>
        </p:txBody>
      </p:sp>
      <p:sp>
        <p:nvSpPr>
          <p:cNvPr id="410" name="Shape 410"/>
          <p:cNvSpPr/>
          <p:nvPr/>
        </p:nvSpPr>
        <p:spPr>
          <a:xfrm>
            <a:off x="1600200" y="53340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α=0.7 · </a:t>
            </a:r>
            <a:r>
              <a:rPr lang="ko-KR" altLang="en-US" sz="1200" dirty="0">
                <a:solidFill>
                  <a:srgbClr val="404040"/>
                </a:solidFill>
              </a:rPr>
              <a:t>가중치 w(z)</a:t>
            </a:r>
            <a:endParaRPr lang="ko-KR" altLang="en-US" sz="1400" dirty="0">
              <a:solidFill>
                <a:srgbClr val="404040"/>
              </a:solidFill>
            </a:endParaRPr>
          </a:p>
        </p:txBody>
      </p:sp>
      <p:sp>
        <p:nvSpPr>
          <p:cNvPr id="411" name="Shape 411"/>
          <p:cNvSpPr/>
          <p:nvPr/>
        </p:nvSpPr>
        <p:spPr>
          <a:xfrm>
            <a:off x="4191000" y="2235200"/>
            <a:ext cx="1524000" cy="1397000"/>
          </a:xfrm>
          <a:prstGeom prst="rect">
            <a:avLst/>
          </a:prstGeom>
          <a:solidFill>
            <a:srgbClr val="1F243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12" name="Shape 412"/>
          <p:cNvSpPr/>
          <p:nvPr/>
        </p:nvSpPr>
        <p:spPr>
          <a:xfrm>
            <a:off x="4419600" y="2489200"/>
            <a:ext cx="660400" cy="660400"/>
          </a:xfrm>
          <a:prstGeom prst="ellipse">
            <a:avLst/>
          </a:prstGeom>
          <a:solidFill>
            <a:srgbClr val="E97132">
              <a:alpha val="5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13" name="Shape 413"/>
          <p:cNvSpPr/>
          <p:nvPr/>
        </p:nvSpPr>
        <p:spPr>
          <a:xfrm>
            <a:off x="4775200" y="2743200"/>
            <a:ext cx="660400" cy="660400"/>
          </a:xfrm>
          <a:prstGeom prst="ellipse">
            <a:avLst/>
          </a:prstGeom>
          <a:solidFill>
            <a:srgbClr val="2F6FDE">
              <a:alpha val="5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14" name="Shape 414"/>
          <p:cNvSpPr/>
          <p:nvPr/>
        </p:nvSpPr>
        <p:spPr>
          <a:xfrm>
            <a:off x="4914900" y="2451100"/>
            <a:ext cx="584200" cy="584200"/>
          </a:xfrm>
          <a:prstGeom prst="ellipse">
            <a:avLst/>
          </a:prstGeom>
          <a:solidFill>
            <a:srgbClr val="156082">
              <a:alpha val="5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15" name="Shape 415"/>
          <p:cNvSpPr/>
          <p:nvPr/>
        </p:nvSpPr>
        <p:spPr>
          <a:xfrm>
            <a:off x="4191000" y="4648200"/>
            <a:ext cx="1524000" cy="1397000"/>
          </a:xfrm>
          <a:prstGeom prst="rect">
            <a:avLst/>
          </a:prstGeom>
          <a:solidFill>
            <a:srgbClr val="FF0000"/>
          </a:solidFill>
          <a:ln w="9525">
            <a:solidFill>
              <a:srgbClr val="B8C0CA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16" name="Shape 416"/>
          <p:cNvSpPr/>
          <p:nvPr/>
        </p:nvSpPr>
        <p:spPr>
          <a:xfrm>
            <a:off x="4419600" y="4902200"/>
            <a:ext cx="660400" cy="660400"/>
          </a:xfrm>
          <a:prstGeom prst="ellipse">
            <a:avLst/>
          </a:prstGeom>
          <a:solidFill>
            <a:srgbClr val="404040">
              <a:alpha val="2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17" name="Shape 417"/>
          <p:cNvSpPr/>
          <p:nvPr/>
        </p:nvSpPr>
        <p:spPr>
          <a:xfrm>
            <a:off x="4775200" y="5156200"/>
            <a:ext cx="660400" cy="660400"/>
          </a:xfrm>
          <a:prstGeom prst="ellipse">
            <a:avLst/>
          </a:prstGeom>
          <a:solidFill>
            <a:srgbClr val="404040">
              <a:alpha val="2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18" name="Shape 418"/>
          <p:cNvSpPr/>
          <p:nvPr/>
        </p:nvSpPr>
        <p:spPr>
          <a:xfrm>
            <a:off x="4914900" y="4864100"/>
            <a:ext cx="584200" cy="584200"/>
          </a:xfrm>
          <a:prstGeom prst="ellipse">
            <a:avLst/>
          </a:prstGeom>
          <a:solidFill>
            <a:srgbClr val="404040">
              <a:alpha val="2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25" name="Shape 425"/>
          <p:cNvSpPr/>
          <p:nvPr/>
        </p:nvSpPr>
        <p:spPr>
          <a:xfrm>
            <a:off x="5918200" y="22860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2000" b="1" dirty="0">
                <a:latin typeface="+mj-lt"/>
                <a:ea typeface="+mj-ea"/>
              </a:rPr>
              <a:t>Accum</a:t>
            </a:r>
            <a:r>
              <a:rPr lang="ko-KR" altLang="en-US" sz="1400" dirty="0">
                <a:solidFill>
                  <a:srgbClr val="8C96A3"/>
                </a:solidFill>
              </a:rPr>
              <a:t>  RGBA16F</a:t>
            </a:r>
          </a:p>
        </p:txBody>
      </p:sp>
      <p:sp>
        <p:nvSpPr>
          <p:cNvPr id="426" name="Shape 426"/>
          <p:cNvSpPr/>
          <p:nvPr/>
        </p:nvSpPr>
        <p:spPr>
          <a:xfrm>
            <a:off x="5918200" y="26924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156082"/>
                </a:solidFill>
                <a:latin typeface="+mj-lt"/>
                <a:ea typeface="+mj-ea"/>
              </a:rPr>
              <a:t>Σ w·α·C  /  Σ w·α</a:t>
            </a:r>
          </a:p>
        </p:txBody>
      </p:sp>
      <p:sp>
        <p:nvSpPr>
          <p:cNvPr id="427" name="Shape 427"/>
          <p:cNvSpPr/>
          <p:nvPr/>
        </p:nvSpPr>
        <p:spPr>
          <a:xfrm>
            <a:off x="5918200" y="3022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가중치를 곱한 색을 더한다</a:t>
            </a:r>
          </a:p>
        </p:txBody>
      </p:sp>
      <p:sp>
        <p:nvSpPr>
          <p:cNvPr id="428" name="Shape 428"/>
          <p:cNvSpPr/>
          <p:nvPr/>
        </p:nvSpPr>
        <p:spPr>
          <a:xfrm>
            <a:off x="5918200" y="3327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400" dirty="0">
                <a:solidFill>
                  <a:srgbClr val="8C96A3"/>
                </a:solidFill>
              </a:rPr>
              <a:t>블렌드 ONE, ONE</a:t>
            </a:r>
          </a:p>
        </p:txBody>
      </p:sp>
      <p:sp>
        <p:nvSpPr>
          <p:cNvPr id="429" name="Shape 429"/>
          <p:cNvSpPr/>
          <p:nvPr/>
        </p:nvSpPr>
        <p:spPr>
          <a:xfrm>
            <a:off x="5918200" y="46990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2000" b="1" dirty="0">
                <a:latin typeface="+mj-lt"/>
                <a:ea typeface="+mj-ea"/>
              </a:rPr>
              <a:t>Revealage</a:t>
            </a:r>
            <a:r>
              <a:rPr lang="ko-KR" altLang="en-US" sz="1400" dirty="0">
                <a:solidFill>
                  <a:srgbClr val="8C96A3"/>
                </a:solidFill>
              </a:rPr>
              <a:t>  R8</a:t>
            </a:r>
          </a:p>
        </p:txBody>
      </p:sp>
      <p:sp>
        <p:nvSpPr>
          <p:cNvPr id="430" name="Shape 430"/>
          <p:cNvSpPr/>
          <p:nvPr/>
        </p:nvSpPr>
        <p:spPr>
          <a:xfrm>
            <a:off x="5918200" y="5105400"/>
            <a:ext cx="317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solidFill>
                  <a:srgbClr val="156082"/>
                </a:solidFill>
                <a:latin typeface="+mj-lt"/>
                <a:ea typeface="+mj-ea"/>
              </a:rPr>
              <a:t>Π (1 − α)</a:t>
            </a:r>
          </a:p>
        </p:txBody>
      </p:sp>
      <p:sp>
        <p:nvSpPr>
          <p:cNvPr id="431" name="Shape 431"/>
          <p:cNvSpPr/>
          <p:nvPr/>
        </p:nvSpPr>
        <p:spPr>
          <a:xfrm>
            <a:off x="5918200" y="5435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뒤가 비쳐 보이는 정도를 곱한다</a:t>
            </a:r>
          </a:p>
        </p:txBody>
      </p:sp>
      <p:sp>
        <p:nvSpPr>
          <p:cNvPr id="432" name="Shape 432"/>
          <p:cNvSpPr/>
          <p:nvPr/>
        </p:nvSpPr>
        <p:spPr>
          <a:xfrm>
            <a:off x="5918200" y="5740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400" dirty="0">
                <a:solidFill>
                  <a:srgbClr val="8C96A3"/>
                </a:solidFill>
              </a:rPr>
              <a:t>블렌드 ZERO, 1 − SrcAlpha</a:t>
            </a:r>
          </a:p>
        </p:txBody>
      </p:sp>
      <p:cxnSp>
        <p:nvCxnSpPr>
          <p:cNvPr id="433" name="Line 433"/>
          <p:cNvCxnSpPr>
            <a:cxnSpLocks/>
          </p:cNvCxnSpPr>
          <p:nvPr/>
        </p:nvCxnSpPr>
        <p:spPr>
          <a:xfrm>
            <a:off x="8081108" y="3149600"/>
            <a:ext cx="1647092" cy="355600"/>
          </a:xfrm>
          <a:prstGeom prst="line">
            <a:avLst/>
          </a:prstGeom>
          <a:ln w="19050">
            <a:solidFill>
              <a:srgbClr val="8C96A3"/>
            </a:solidFill>
            <a:tailEnd type="triangle" w="sm" len="sm"/>
          </a:ln>
        </p:spPr>
      </p:cxnSp>
      <p:cxnSp>
        <p:nvCxnSpPr>
          <p:cNvPr id="434" name="Line 434"/>
          <p:cNvCxnSpPr>
            <a:cxnSpLocks/>
          </p:cNvCxnSpPr>
          <p:nvPr/>
        </p:nvCxnSpPr>
        <p:spPr>
          <a:xfrm flipV="1">
            <a:off x="8315569" y="4013200"/>
            <a:ext cx="1412631" cy="1295400"/>
          </a:xfrm>
          <a:prstGeom prst="line">
            <a:avLst/>
          </a:prstGeom>
          <a:ln w="19050">
            <a:solidFill>
              <a:srgbClr val="8C96A3"/>
            </a:solidFill>
            <a:tailEnd type="triangle" w="sm" len="sm"/>
          </a:ln>
        </p:spPr>
      </p:cxnSp>
      <p:sp>
        <p:nvSpPr>
          <p:cNvPr id="435" name="Shape 435"/>
          <p:cNvSpPr/>
          <p:nvPr/>
        </p:nvSpPr>
        <p:spPr>
          <a:xfrm>
            <a:off x="9804400" y="2997200"/>
            <a:ext cx="1930400" cy="152400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36" name="Shape 436"/>
          <p:cNvSpPr/>
          <p:nvPr/>
        </p:nvSpPr>
        <p:spPr>
          <a:xfrm>
            <a:off x="9804400" y="2997200"/>
            <a:ext cx="241300" cy="1524000"/>
          </a:xfrm>
          <a:prstGeom prst="rect">
            <a:avLst/>
          </a:prstGeom>
          <a:solidFill>
            <a:srgbClr val="C5CCD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37" name="Shape 437"/>
          <p:cNvSpPr/>
          <p:nvPr/>
        </p:nvSpPr>
        <p:spPr>
          <a:xfrm>
            <a:off x="10287000" y="2997200"/>
            <a:ext cx="241300" cy="1524000"/>
          </a:xfrm>
          <a:prstGeom prst="rect">
            <a:avLst/>
          </a:prstGeom>
          <a:solidFill>
            <a:srgbClr val="C5CCD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38" name="Shape 438"/>
          <p:cNvSpPr/>
          <p:nvPr/>
        </p:nvSpPr>
        <p:spPr>
          <a:xfrm>
            <a:off x="10769600" y="2997200"/>
            <a:ext cx="241300" cy="1524000"/>
          </a:xfrm>
          <a:prstGeom prst="rect">
            <a:avLst/>
          </a:prstGeom>
          <a:solidFill>
            <a:srgbClr val="C5CCD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39" name="Shape 439"/>
          <p:cNvSpPr/>
          <p:nvPr/>
        </p:nvSpPr>
        <p:spPr>
          <a:xfrm>
            <a:off x="11252200" y="2997200"/>
            <a:ext cx="241300" cy="1524000"/>
          </a:xfrm>
          <a:prstGeom prst="rect">
            <a:avLst/>
          </a:prstGeom>
          <a:solidFill>
            <a:srgbClr val="C5CCD4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40" name="Shape 440"/>
          <p:cNvSpPr/>
          <p:nvPr/>
        </p:nvSpPr>
        <p:spPr>
          <a:xfrm>
            <a:off x="10160000" y="3403600"/>
            <a:ext cx="609600" cy="609600"/>
          </a:xfrm>
          <a:prstGeom prst="ellipse">
            <a:avLst/>
          </a:prstGeom>
          <a:solidFill>
            <a:srgbClr val="E97132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41" name="Shape 441"/>
          <p:cNvSpPr/>
          <p:nvPr/>
        </p:nvSpPr>
        <p:spPr>
          <a:xfrm>
            <a:off x="10528300" y="3594100"/>
            <a:ext cx="635000" cy="635000"/>
          </a:xfrm>
          <a:prstGeom prst="ellipse">
            <a:avLst/>
          </a:prstGeom>
          <a:solidFill>
            <a:srgbClr val="2F6FDE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42" name="Shape 442"/>
          <p:cNvSpPr/>
          <p:nvPr/>
        </p:nvSpPr>
        <p:spPr>
          <a:xfrm>
            <a:off x="10795000" y="3327400"/>
            <a:ext cx="558800" cy="558800"/>
          </a:xfrm>
          <a:prstGeom prst="ellipse">
            <a:avLst/>
          </a:prstGeom>
          <a:solidFill>
            <a:srgbClr val="156082">
              <a:alpha val="6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43" name="Shape 443"/>
          <p:cNvSpPr/>
          <p:nvPr/>
        </p:nvSpPr>
        <p:spPr>
          <a:xfrm>
            <a:off x="9677400" y="46228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latin typeface="+mj-lt"/>
                <a:ea typeface="+mj-ea"/>
              </a:rPr>
              <a:t>합성 결과</a:t>
            </a:r>
          </a:p>
        </p:txBody>
      </p:sp>
      <p:sp>
        <p:nvSpPr>
          <p:cNvPr id="444" name="Shape 444"/>
          <p:cNvSpPr/>
          <p:nvPr/>
        </p:nvSpPr>
        <p:spPr>
          <a:xfrm>
            <a:off x="9677400" y="4927600"/>
            <a:ext cx="2184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accum.rgb / accum.a</a:t>
            </a:r>
          </a:p>
        </p:txBody>
      </p:sp>
      <p:cxnSp>
        <p:nvCxnSpPr>
          <p:cNvPr id="600" name="Line 600"/>
          <p:cNvCxnSpPr/>
          <p:nvPr/>
        </p:nvCxnSpPr>
        <p:spPr>
          <a:xfrm>
            <a:off x="3378200" y="3175000"/>
            <a:ext cx="304800" cy="0"/>
          </a:xfrm>
          <a:prstGeom prst="line">
            <a:avLst/>
          </a:prstGeom>
          <a:ln w="19050">
            <a:solidFill>
              <a:srgbClr val="8C96A3"/>
            </a:solidFill>
          </a:ln>
        </p:spPr>
      </p:cxnSp>
      <p:cxnSp>
        <p:nvCxnSpPr>
          <p:cNvPr id="601" name="Line 601"/>
          <p:cNvCxnSpPr/>
          <p:nvPr/>
        </p:nvCxnSpPr>
        <p:spPr>
          <a:xfrm>
            <a:off x="3378200" y="4241800"/>
            <a:ext cx="304800" cy="0"/>
          </a:xfrm>
          <a:prstGeom prst="line">
            <a:avLst/>
          </a:prstGeom>
          <a:ln w="19050">
            <a:solidFill>
              <a:srgbClr val="8C96A3"/>
            </a:solidFill>
          </a:ln>
        </p:spPr>
      </p:cxnSp>
      <p:cxnSp>
        <p:nvCxnSpPr>
          <p:cNvPr id="602" name="Line 602"/>
          <p:cNvCxnSpPr/>
          <p:nvPr/>
        </p:nvCxnSpPr>
        <p:spPr>
          <a:xfrm>
            <a:off x="3378200" y="5308600"/>
            <a:ext cx="304800" cy="0"/>
          </a:xfrm>
          <a:prstGeom prst="line">
            <a:avLst/>
          </a:prstGeom>
          <a:ln w="19050">
            <a:solidFill>
              <a:srgbClr val="8C96A3"/>
            </a:solidFill>
          </a:ln>
        </p:spPr>
      </p:cxnSp>
      <p:cxnSp>
        <p:nvCxnSpPr>
          <p:cNvPr id="603" name="Line 603"/>
          <p:cNvCxnSpPr/>
          <p:nvPr/>
        </p:nvCxnSpPr>
        <p:spPr>
          <a:xfrm>
            <a:off x="3683000" y="2933700"/>
            <a:ext cx="0" cy="2413000"/>
          </a:xfrm>
          <a:prstGeom prst="line">
            <a:avLst/>
          </a:prstGeom>
          <a:ln w="19050">
            <a:solidFill>
              <a:srgbClr val="8C96A3"/>
            </a:solidFill>
          </a:ln>
        </p:spPr>
      </p:cxnSp>
      <p:cxnSp>
        <p:nvCxnSpPr>
          <p:cNvPr id="604" name="Line 604"/>
          <p:cNvCxnSpPr/>
          <p:nvPr/>
        </p:nvCxnSpPr>
        <p:spPr>
          <a:xfrm>
            <a:off x="3683000" y="2933700"/>
            <a:ext cx="457200" cy="0"/>
          </a:xfrm>
          <a:prstGeom prst="line">
            <a:avLst/>
          </a:prstGeom>
          <a:ln w="19050">
            <a:solidFill>
              <a:srgbClr val="8C96A3"/>
            </a:solidFill>
            <a:tailEnd type="triangle"/>
          </a:ln>
        </p:spPr>
      </p:cxnSp>
      <p:cxnSp>
        <p:nvCxnSpPr>
          <p:cNvPr id="605" name="Line 605"/>
          <p:cNvCxnSpPr/>
          <p:nvPr/>
        </p:nvCxnSpPr>
        <p:spPr>
          <a:xfrm>
            <a:off x="3683000" y="5346700"/>
            <a:ext cx="457200" cy="0"/>
          </a:xfrm>
          <a:prstGeom prst="line">
            <a:avLst/>
          </a:prstGeom>
          <a:ln w="19050">
            <a:solidFill>
              <a:srgbClr val="8C96A3"/>
            </a:solidFill>
            <a:tailEnd type="triangle"/>
          </a:ln>
        </p:spPr>
      </p:cxnSp>
    </p:spTree>
    <p:extLst>
      <p:ext uri="{BB962C8B-B14F-4D97-AF65-F5344CB8AC3E}">
        <p14:creationId xmlns:p14="http://schemas.microsoft.com/office/powerpoint/2010/main" val="82967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0B71C-B16F-E6CD-A08C-F58AC4BC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WBOIT의 한계: 근사 방식이라 실제와 다르게 보일 수 있다</a:t>
            </a:r>
          </a:p>
        </p:txBody>
      </p:sp>
      <p:sp>
        <p:nvSpPr>
          <p:cNvPr id="20" name="Shape 20"/>
          <p:cNvSpPr/>
          <p:nvPr/>
        </p:nvSpPr>
        <p:spPr>
          <a:xfrm>
            <a:off x="457200" y="1397000"/>
            <a:ext cx="5486400" cy="4876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1" name="Shape 21"/>
          <p:cNvSpPr/>
          <p:nvPr/>
        </p:nvSpPr>
        <p:spPr>
          <a:xfrm>
            <a:off x="711200" y="1651000"/>
            <a:ext cx="381000" cy="381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j-lt"/>
                <a:ea typeface="+mj-ea"/>
              </a:rPr>
              <a:t>1</a:t>
            </a:r>
          </a:p>
        </p:txBody>
      </p:sp>
      <p:sp>
        <p:nvSpPr>
          <p:cNvPr id="22" name="Shape 22"/>
          <p:cNvSpPr/>
          <p:nvPr/>
        </p:nvSpPr>
        <p:spPr>
          <a:xfrm>
            <a:off x="1219200" y="1651000"/>
            <a:ext cx="4470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2000" b="1" dirty="0">
                <a:latin typeface="+mj-lt"/>
                <a:ea typeface="+mj-ea"/>
              </a:rPr>
              <a:t>많이 겹치면 온전히 나타나지 않는다</a:t>
            </a:r>
          </a:p>
        </p:txBody>
      </p:sp>
      <p:sp>
        <p:nvSpPr>
          <p:cNvPr id="23" name="Shape 23"/>
          <p:cNvSpPr/>
          <p:nvPr/>
        </p:nvSpPr>
        <p:spPr>
          <a:xfrm>
            <a:off x="711200" y="2286000"/>
            <a:ext cx="2362200" cy="2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4" name="Shape 24"/>
          <p:cNvSpPr/>
          <p:nvPr/>
        </p:nvSpPr>
        <p:spPr>
          <a:xfrm>
            <a:off x="711200" y="4927600"/>
            <a:ext cx="236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+mj-lt"/>
                <a:ea typeface="+mj-ea"/>
              </a:rPr>
              <a:t>정렬 블렌딩 (기준)</a:t>
            </a:r>
          </a:p>
        </p:txBody>
      </p:sp>
      <p:sp>
        <p:nvSpPr>
          <p:cNvPr id="25" name="Shape 25"/>
          <p:cNvSpPr/>
          <p:nvPr/>
        </p:nvSpPr>
        <p:spPr>
          <a:xfrm>
            <a:off x="3327400" y="2286000"/>
            <a:ext cx="2362200" cy="254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4F3D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6" name="Shape 26"/>
          <p:cNvSpPr/>
          <p:nvPr/>
        </p:nvSpPr>
        <p:spPr>
          <a:xfrm>
            <a:off x="3327400" y="4927600"/>
            <a:ext cx="236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D94F3D"/>
                </a:solidFill>
                <a:latin typeface="+mj-lt"/>
                <a:ea typeface="+mj-ea"/>
              </a:rPr>
              <a:t>WBOIT</a:t>
            </a:r>
          </a:p>
        </p:txBody>
      </p:sp>
      <p:sp>
        <p:nvSpPr>
          <p:cNvPr id="27" name="Shape 27"/>
          <p:cNvSpPr/>
          <p:nvPr/>
        </p:nvSpPr>
        <p:spPr>
          <a:xfrm>
            <a:off x="711200" y="5562600"/>
            <a:ext cx="4978400" cy="1524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8" name="Shape 28"/>
          <p:cNvSpPr/>
          <p:nvPr/>
        </p:nvSpPr>
        <p:spPr>
          <a:xfrm>
            <a:off x="711200" y="5715000"/>
            <a:ext cx="4978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순서 정보 없이 섞여 색이 평균처럼 탁해진다</a:t>
            </a:r>
          </a:p>
        </p:txBody>
      </p:sp>
      <p:sp>
        <p:nvSpPr>
          <p:cNvPr id="29" name="Shape 29"/>
          <p:cNvSpPr/>
          <p:nvPr/>
        </p:nvSpPr>
        <p:spPr>
          <a:xfrm>
            <a:off x="6248400" y="1397000"/>
            <a:ext cx="5486400" cy="4876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0" name="Shape 30"/>
          <p:cNvSpPr/>
          <p:nvPr/>
        </p:nvSpPr>
        <p:spPr>
          <a:xfrm>
            <a:off x="6502400" y="1651000"/>
            <a:ext cx="381000" cy="381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j-lt"/>
                <a:ea typeface="+mj-ea"/>
              </a:rPr>
              <a:t>2</a:t>
            </a:r>
          </a:p>
        </p:txBody>
      </p:sp>
      <p:sp>
        <p:nvSpPr>
          <p:cNvPr id="31" name="Shape 31"/>
          <p:cNvSpPr/>
          <p:nvPr/>
        </p:nvSpPr>
        <p:spPr>
          <a:xfrm>
            <a:off x="7010400" y="1651000"/>
            <a:ext cx="44704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2000" b="1" dirty="0">
                <a:latin typeface="+mj-lt"/>
                <a:ea typeface="+mj-ea"/>
              </a:rPr>
              <a:t>거리에 따라 실제와 다르게 보인다</a:t>
            </a:r>
          </a:p>
        </p:txBody>
      </p:sp>
      <p:sp>
        <p:nvSpPr>
          <p:cNvPr id="32" name="Shape 32"/>
          <p:cNvSpPr/>
          <p:nvPr/>
        </p:nvSpPr>
        <p:spPr>
          <a:xfrm>
            <a:off x="6502400" y="2286000"/>
            <a:ext cx="2362200" cy="25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3" name="Shape 33"/>
          <p:cNvSpPr/>
          <p:nvPr/>
        </p:nvSpPr>
        <p:spPr>
          <a:xfrm>
            <a:off x="6502400" y="4927600"/>
            <a:ext cx="236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+mj-lt"/>
                <a:ea typeface="+mj-ea"/>
              </a:rPr>
              <a:t>정렬 블렌딩 (기준)</a:t>
            </a:r>
          </a:p>
        </p:txBody>
      </p:sp>
      <p:sp>
        <p:nvSpPr>
          <p:cNvPr id="34" name="Shape 34"/>
          <p:cNvSpPr/>
          <p:nvPr/>
        </p:nvSpPr>
        <p:spPr>
          <a:xfrm>
            <a:off x="9118600" y="2286000"/>
            <a:ext cx="2362200" cy="254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4F3D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5" name="Shape 35"/>
          <p:cNvSpPr/>
          <p:nvPr/>
        </p:nvSpPr>
        <p:spPr>
          <a:xfrm>
            <a:off x="9118600" y="4927600"/>
            <a:ext cx="236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D94F3D"/>
                </a:solidFill>
                <a:latin typeface="+mj-lt"/>
                <a:ea typeface="+mj-ea"/>
              </a:rPr>
              <a:t>WBOIT</a:t>
            </a:r>
          </a:p>
        </p:txBody>
      </p:sp>
      <p:sp>
        <p:nvSpPr>
          <p:cNvPr id="36" name="Shape 36"/>
          <p:cNvSpPr/>
          <p:nvPr/>
        </p:nvSpPr>
        <p:spPr>
          <a:xfrm>
            <a:off x="6502400" y="5562600"/>
            <a:ext cx="4978400" cy="15240"/>
          </a:xfrm>
          <a:prstGeom prst="rect">
            <a:avLst/>
          </a:prstGeom>
          <a:solidFill>
            <a:srgbClr val="D9DCE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7" name="Shape 37"/>
          <p:cNvSpPr/>
          <p:nvPr/>
        </p:nvSpPr>
        <p:spPr>
          <a:xfrm>
            <a:off x="6502400" y="5715000"/>
            <a:ext cx="4978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가중치 w(z)가 거리마다 섞이는 비율을 바꾼다</a:t>
            </a:r>
          </a:p>
        </p:txBody>
      </p:sp>
      <p:sp>
        <p:nvSpPr>
          <p:cNvPr id="49" name="Shape 49"/>
          <p:cNvSpPr/>
          <p:nvPr/>
        </p:nvSpPr>
        <p:spPr>
          <a:xfrm>
            <a:off x="711200" y="4419600"/>
            <a:ext cx="236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595959"/>
                </a:solidFill>
              </a:rPr>
              <a:t>앞뒤 층이 구분됨</a:t>
            </a:r>
          </a:p>
        </p:txBody>
      </p:sp>
      <p:sp>
        <p:nvSpPr>
          <p:cNvPr id="50" name="Shape 50"/>
          <p:cNvSpPr/>
          <p:nvPr/>
        </p:nvSpPr>
        <p:spPr>
          <a:xfrm>
            <a:off x="3327400" y="4419600"/>
            <a:ext cx="236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D94F3D"/>
                </a:solidFill>
              </a:rPr>
              <a:t>겹친 곳이 뭉개짐</a:t>
            </a:r>
          </a:p>
        </p:txBody>
      </p:sp>
      <p:sp>
        <p:nvSpPr>
          <p:cNvPr id="51" name="Shape 51"/>
          <p:cNvSpPr/>
          <p:nvPr/>
        </p:nvSpPr>
        <p:spPr>
          <a:xfrm>
            <a:off x="7543800" y="2717800"/>
            <a:ext cx="660400" cy="660400"/>
          </a:xfrm>
          <a:prstGeom prst="ellipse">
            <a:avLst/>
          </a:prstGeom>
          <a:solidFill>
            <a:srgbClr val="2F6FDE">
              <a:alpha val="8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2" name="Shape 52"/>
          <p:cNvSpPr/>
          <p:nvPr/>
        </p:nvSpPr>
        <p:spPr>
          <a:xfrm>
            <a:off x="6883400" y="2844800"/>
            <a:ext cx="1016000" cy="1016000"/>
          </a:xfrm>
          <a:prstGeom prst="ellipse">
            <a:avLst/>
          </a:prstGeom>
          <a:solidFill>
            <a:srgbClr val="E97132">
              <a:alpha val="88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3" name="Shape 53"/>
          <p:cNvSpPr/>
          <p:nvPr/>
        </p:nvSpPr>
        <p:spPr>
          <a:xfrm>
            <a:off x="7010400" y="39624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가까움</a:t>
            </a:r>
          </a:p>
        </p:txBody>
      </p:sp>
      <p:sp>
        <p:nvSpPr>
          <p:cNvPr id="54" name="Shape 54"/>
          <p:cNvSpPr/>
          <p:nvPr/>
        </p:nvSpPr>
        <p:spPr>
          <a:xfrm>
            <a:off x="8128000" y="27686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멂</a:t>
            </a:r>
          </a:p>
        </p:txBody>
      </p:sp>
      <p:sp>
        <p:nvSpPr>
          <p:cNvPr id="55" name="Shape 55"/>
          <p:cNvSpPr/>
          <p:nvPr/>
        </p:nvSpPr>
        <p:spPr>
          <a:xfrm>
            <a:off x="9499600" y="2844800"/>
            <a:ext cx="1016000" cy="1016000"/>
          </a:xfrm>
          <a:prstGeom prst="ellipse">
            <a:avLst/>
          </a:prstGeom>
          <a:solidFill>
            <a:srgbClr val="E97132">
              <a:alpha val="5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6" name="Shape 56"/>
          <p:cNvSpPr/>
          <p:nvPr/>
        </p:nvSpPr>
        <p:spPr>
          <a:xfrm>
            <a:off x="10160000" y="2717800"/>
            <a:ext cx="660400" cy="660400"/>
          </a:xfrm>
          <a:prstGeom prst="ellipse">
            <a:avLst/>
          </a:prstGeom>
          <a:solidFill>
            <a:srgbClr val="2F6FDE">
              <a:alpha val="80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7" name="Shape 57"/>
          <p:cNvSpPr/>
          <p:nvPr/>
        </p:nvSpPr>
        <p:spPr>
          <a:xfrm>
            <a:off x="9626600" y="39624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가까움</a:t>
            </a:r>
          </a:p>
        </p:txBody>
      </p:sp>
      <p:sp>
        <p:nvSpPr>
          <p:cNvPr id="58" name="Shape 58"/>
          <p:cNvSpPr/>
          <p:nvPr/>
        </p:nvSpPr>
        <p:spPr>
          <a:xfrm>
            <a:off x="10744200" y="2768600"/>
            <a:ext cx="66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404040"/>
                </a:solidFill>
              </a:rPr>
              <a:t>멂</a:t>
            </a:r>
          </a:p>
        </p:txBody>
      </p:sp>
      <p:sp>
        <p:nvSpPr>
          <p:cNvPr id="59" name="Shape 59"/>
          <p:cNvSpPr/>
          <p:nvPr/>
        </p:nvSpPr>
        <p:spPr>
          <a:xfrm>
            <a:off x="6502400" y="4419600"/>
            <a:ext cx="236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595959"/>
                </a:solidFill>
              </a:rPr>
              <a:t>가까운 파티클이 앞을 가림</a:t>
            </a:r>
          </a:p>
        </p:txBody>
      </p:sp>
      <p:sp>
        <p:nvSpPr>
          <p:cNvPr id="60" name="Shape 60"/>
          <p:cNvSpPr/>
          <p:nvPr/>
        </p:nvSpPr>
        <p:spPr>
          <a:xfrm>
            <a:off x="9118600" y="4419600"/>
            <a:ext cx="23622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400" dirty="0">
                <a:solidFill>
                  <a:srgbClr val="D94F3D"/>
                </a:solidFill>
              </a:rPr>
              <a:t>먼 파티클이 비쳐 올라옴</a:t>
            </a:r>
          </a:p>
        </p:txBody>
      </p:sp>
      <p:sp>
        <p:nvSpPr>
          <p:cNvPr id="6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6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80208A-9479-4C02-BC5A-1A7ACF81B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86" y="2194170"/>
            <a:ext cx="3611314" cy="20534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880558-F293-498F-B372-EB9CC3150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957" y="2203938"/>
            <a:ext cx="3708400" cy="206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51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570ED-7AFD-ABCE-E03F-0A6810CA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파티클이 크고 많이 겹치면 WBOIT가 정렬 방식보다 느려진다</a:t>
            </a:r>
          </a:p>
        </p:txBody>
      </p:sp>
      <p:sp>
        <p:nvSpPr>
          <p:cNvPr id="111" name="Chart Label"/>
          <p:cNvSpPr/>
          <p:nvPr/>
        </p:nvSpPr>
        <p:spPr>
          <a:xfrm>
            <a:off x="5842000" y="13970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404040"/>
                </a:solidFill>
                <a:latin typeface="+mj-lt"/>
                <a:ea typeface="+mj-ea"/>
              </a:rPr>
              <a:t>프레임 시간, 큰 파티클이 많이 겹치는 장면 (임시 수치)</a:t>
            </a:r>
          </a:p>
        </p:txBody>
      </p:sp>
      <p:sp>
        <p:nvSpPr>
          <p:cNvPr id="112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7</a:t>
            </a:fld>
            <a:endParaRPr lang="ko-KR" altLang="en-US"/>
          </a:p>
        </p:txBody>
      </p:sp>
      <p:graphicFrame>
        <p:nvGraphicFramePr>
          <p:cNvPr id="113" name="Chart"/>
          <p:cNvGraphicFramePr/>
          <p:nvPr>
            <p:extLst>
              <p:ext uri="{D42A27DB-BD31-4B8C-83A1-F6EECF244321}">
                <p14:modId xmlns:p14="http://schemas.microsoft.com/office/powerpoint/2010/main" val="2174488626"/>
              </p:ext>
            </p:extLst>
          </p:nvPr>
        </p:nvGraphicFramePr>
        <p:xfrm>
          <a:off x="5842000" y="1727200"/>
          <a:ext cx="6350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50" name="Why Explanation"/>
          <p:cNvSpPr txBox="1"/>
          <p:nvPr/>
        </p:nvSpPr>
        <p:spPr>
          <a:xfrm>
            <a:off x="457200" y="4978400"/>
            <a:ext cx="11277600" cy="1397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254000" tIns="152400" rIns="254000" bIns="152400" anchor="ctr">
            <a:noAutofit/>
          </a:bodyPr>
          <a:lstStyle/>
          <a:p>
            <a:pPr>
              <a:buNone/>
            </a:pPr>
            <a:r>
              <a:rPr lang="ko-KR" altLang="en-US" sz="1800" b="1" dirty="0">
                <a:solidFill>
                  <a:srgbClr val="156082"/>
                </a:solidFill>
                <a:latin typeface="+mj-lt"/>
                <a:ea typeface="+mj-ea"/>
              </a:rPr>
              <a:t>왜 이런 현상이 나타나는가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ko-KR" altLang="en-US" sz="1600" dirty="0">
                <a:solidFill>
                  <a:srgbClr val="404040"/>
                </a:solidFill>
              </a:rPr>
              <a:t>큰 파티클이 많이 겹치면 픽셀마다 블렌딩 쓰기가 반복되어 </a:t>
            </a:r>
            <a:r>
              <a:rPr lang="ko-KR" altLang="en-US" sz="1600" b="1" dirty="0">
                <a:solidFill>
                  <a:srgbClr val="1F1F1F"/>
                </a:solidFill>
                <a:latin typeface="+mj-lt"/>
                <a:ea typeface="+mj-ea"/>
              </a:rPr>
              <a:t>오버드로</a:t>
            </a:r>
            <a:r>
              <a:rPr lang="ko-KR" altLang="en-US" sz="1600" dirty="0">
                <a:solidFill>
                  <a:srgbClr val="404040"/>
                </a:solidFill>
              </a:rPr>
              <a:t>가 커진다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ko-KR" altLang="en-US" sz="1600" dirty="0">
                <a:solidFill>
                  <a:srgbClr val="404040"/>
                </a:solidFill>
              </a:rPr>
              <a:t>WBOIT는 겹칠 때마다 렌더 타깃 2장(Accum·Revealage)에 써서 </a:t>
            </a:r>
            <a:r>
              <a:rPr lang="ko-KR" altLang="en-US" sz="1600" b="1" dirty="0">
                <a:solidFill>
                  <a:srgbClr val="D94F3D"/>
                </a:solidFill>
                <a:latin typeface="+mj-lt"/>
                <a:ea typeface="+mj-ea"/>
              </a:rPr>
              <a:t>쓰기 대역폭이 2배</a:t>
            </a:r>
            <a:r>
              <a:rPr lang="ko-KR" altLang="en-US" sz="1600" dirty="0">
                <a:solidFill>
                  <a:srgbClr val="404040"/>
                </a:solidFill>
              </a:rPr>
              <a:t>로 든다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ko-KR" altLang="en-US" sz="1600" dirty="0">
                <a:solidFill>
                  <a:srgbClr val="404040"/>
                </a:solidFill>
              </a:rPr>
              <a:t>이 비용이 정렬을 없앤 이득보다 커지면서 정렬 방식보다 느려진다</a:t>
            </a:r>
          </a:p>
        </p:txBody>
      </p:sp>
      <p:sp>
        <p:nvSpPr>
          <p:cNvPr id="95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7</a:t>
            </a:fld>
            <a:endParaRPr lang="ko-KR" altLang="en-US"/>
          </a:p>
        </p:txBody>
      </p:sp>
      <p:sp>
        <p:nvSpPr>
          <p:cNvPr id="8" name="Chart Label">
            <a:extLst>
              <a:ext uri="{FF2B5EF4-FFF2-40B4-BE49-F238E27FC236}">
                <a16:creationId xmlns:a16="http://schemas.microsoft.com/office/drawing/2014/main" id="{B379686B-5E11-4942-B12D-6857DE6C41F1}"/>
              </a:ext>
            </a:extLst>
          </p:cNvPr>
          <p:cNvSpPr/>
          <p:nvPr/>
        </p:nvSpPr>
        <p:spPr>
          <a:xfrm>
            <a:off x="11965709" y="2133600"/>
            <a:ext cx="1990436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n-US" altLang="ko-KR" sz="1600" b="1" dirty="0">
                <a:solidFill>
                  <a:srgbClr val="404040"/>
                </a:solidFill>
                <a:latin typeface="+mj-lt"/>
                <a:ea typeface="+mj-ea"/>
              </a:rPr>
              <a:t>6.4ms</a:t>
            </a:r>
            <a:endParaRPr lang="ko-KR" altLang="en-US" sz="1600" b="1" dirty="0">
              <a:solidFill>
                <a:srgbClr val="404040"/>
              </a:solidFill>
              <a:latin typeface="+mj-lt"/>
              <a:ea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CE86E5-012F-4767-985E-C58F7755B2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27" y="1514187"/>
            <a:ext cx="4867564" cy="27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7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570ED-7AFD-ABCE-E03F-0A6810CA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Tiled WBOIT</a:t>
            </a:r>
            <a:endParaRPr lang="ko-KR" altLang="en-US" b="1" dirty="0"/>
          </a:p>
        </p:txBody>
      </p:sp>
      <p:sp>
        <p:nvSpPr>
          <p:cNvPr id="112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8</a:t>
            </a:fld>
            <a:endParaRPr lang="ko-KR" altLang="en-US"/>
          </a:p>
        </p:txBody>
      </p:sp>
      <p:graphicFrame>
        <p:nvGraphicFramePr>
          <p:cNvPr id="113" name="Chart"/>
          <p:cNvGraphicFramePr/>
          <p:nvPr>
            <p:extLst>
              <p:ext uri="{D42A27DB-BD31-4B8C-83A1-F6EECF244321}">
                <p14:modId xmlns:p14="http://schemas.microsoft.com/office/powerpoint/2010/main" val="3776600020"/>
              </p:ext>
            </p:extLst>
          </p:nvPr>
        </p:nvGraphicFramePr>
        <p:xfrm>
          <a:off x="6209145" y="1727200"/>
          <a:ext cx="6350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50" name="Why Explanation"/>
          <p:cNvSpPr txBox="1"/>
          <p:nvPr/>
        </p:nvSpPr>
        <p:spPr>
          <a:xfrm>
            <a:off x="457200" y="4978400"/>
            <a:ext cx="11277600" cy="1397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254000" tIns="152400" rIns="254000" bIns="152400" anchor="ctr">
            <a:noAutofit/>
          </a:bodyPr>
          <a:lstStyle/>
          <a:p>
            <a:pPr>
              <a:buNone/>
            </a:pPr>
            <a:r>
              <a:rPr lang="ko-KR" altLang="en-US" sz="1800" b="1" dirty="0">
                <a:solidFill>
                  <a:srgbClr val="156082"/>
                </a:solidFill>
                <a:latin typeface="+mj-lt"/>
                <a:ea typeface="+mj-ea"/>
              </a:rPr>
              <a:t>왜 이런 현상이 나타나는가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ko-KR" altLang="en-US" sz="1600" dirty="0">
                <a:solidFill>
                  <a:srgbClr val="404040"/>
                </a:solidFill>
              </a:rPr>
              <a:t>큰 파티클이 많이 겹치면 픽셀마다 블렌딩 쓰기가 반복되어 </a:t>
            </a:r>
            <a:r>
              <a:rPr lang="ko-KR" altLang="en-US" sz="1600" b="1" dirty="0">
                <a:solidFill>
                  <a:srgbClr val="1F1F1F"/>
                </a:solidFill>
                <a:latin typeface="+mj-lt"/>
                <a:ea typeface="+mj-ea"/>
              </a:rPr>
              <a:t>오버드로</a:t>
            </a:r>
            <a:r>
              <a:rPr lang="ko-KR" altLang="en-US" sz="1600" dirty="0">
                <a:solidFill>
                  <a:srgbClr val="404040"/>
                </a:solidFill>
              </a:rPr>
              <a:t>가 커진다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ko-KR" altLang="en-US" sz="1600" dirty="0">
                <a:solidFill>
                  <a:srgbClr val="404040"/>
                </a:solidFill>
              </a:rPr>
              <a:t>WBOIT는 겹칠 때마다 렌더 타깃 2장(Accum·Revealage)에 써서 </a:t>
            </a:r>
            <a:r>
              <a:rPr lang="ko-KR" altLang="en-US" sz="1600" b="1" dirty="0">
                <a:solidFill>
                  <a:srgbClr val="D94F3D"/>
                </a:solidFill>
                <a:latin typeface="+mj-lt"/>
                <a:ea typeface="+mj-ea"/>
              </a:rPr>
              <a:t>쓰기 대역폭이 2배</a:t>
            </a:r>
            <a:r>
              <a:rPr lang="ko-KR" altLang="en-US" sz="1600" dirty="0">
                <a:solidFill>
                  <a:srgbClr val="404040"/>
                </a:solidFill>
              </a:rPr>
              <a:t>로 든다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ko-KR" altLang="en-US" sz="1600" dirty="0">
                <a:solidFill>
                  <a:srgbClr val="404040"/>
                </a:solidFill>
              </a:rPr>
              <a:t>이 비용이 정렬을 없앤 이득보다 커지면서 정렬 방식보다 느려진다</a:t>
            </a:r>
          </a:p>
        </p:txBody>
      </p:sp>
      <p:sp>
        <p:nvSpPr>
          <p:cNvPr id="951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8</a:t>
            </a:fld>
            <a:endParaRPr lang="ko-KR" altLang="en-US"/>
          </a:p>
        </p:txBody>
      </p:sp>
      <p:sp>
        <p:nvSpPr>
          <p:cNvPr id="11" name="Chart Label">
            <a:extLst>
              <a:ext uri="{FF2B5EF4-FFF2-40B4-BE49-F238E27FC236}">
                <a16:creationId xmlns:a16="http://schemas.microsoft.com/office/drawing/2014/main" id="{DAEB316F-41C7-43F0-B3F5-86B946E49A10}"/>
              </a:ext>
            </a:extLst>
          </p:cNvPr>
          <p:cNvSpPr/>
          <p:nvPr/>
        </p:nvSpPr>
        <p:spPr>
          <a:xfrm>
            <a:off x="549564" y="12446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altLang="ko-KR" sz="1600" b="1" dirty="0">
                <a:solidFill>
                  <a:srgbClr val="404040"/>
                </a:solidFill>
                <a:latin typeface="+mj-lt"/>
                <a:ea typeface="+mj-ea"/>
              </a:rPr>
              <a:t>Depth</a:t>
            </a:r>
            <a:r>
              <a:rPr lang="ko-KR" altLang="en-US" sz="1600" b="1" dirty="0">
                <a:solidFill>
                  <a:srgbClr val="404040"/>
                </a:solidFill>
                <a:latin typeface="+mj-lt"/>
                <a:ea typeface="+mj-ea"/>
              </a:rPr>
              <a:t>에 따라 화면을 나누어  </a:t>
            </a:r>
          </a:p>
        </p:txBody>
      </p:sp>
    </p:spTree>
    <p:extLst>
      <p:ext uri="{BB962C8B-B14F-4D97-AF65-F5344CB8AC3E}">
        <p14:creationId xmlns:p14="http://schemas.microsoft.com/office/powerpoint/2010/main" val="896348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9F060-B5E0-C851-D127-FA38EEA91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Tiled Rendering: 타일 안에서 모아 합성하고 결과만 한 번 쓴다</a:t>
            </a:r>
          </a:p>
        </p:txBody>
      </p:sp>
      <p:sp>
        <p:nvSpPr>
          <p:cNvPr id="20" name="Shape 20"/>
          <p:cNvSpPr/>
          <p:nvPr/>
        </p:nvSpPr>
        <p:spPr>
          <a:xfrm>
            <a:off x="457200" y="1320800"/>
            <a:ext cx="5080000" cy="6096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txBody>
          <a:bodyPr wrap="square" lIns="203200" tIns="0" rIns="20320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595959"/>
                </a:solidFill>
                <a:latin typeface="+mj-lt"/>
                <a:ea typeface="+mj-ea"/>
              </a:rPr>
              <a:t>원인 예측  </a:t>
            </a:r>
            <a:r>
              <a:rPr lang="ko-KR" altLang="en-US" sz="1600" dirty="0">
                <a:solidFill>
                  <a:srgbClr val="404040"/>
                </a:solidFill>
              </a:rPr>
              <a:t>겹칠 때마다 VRAM에 읽기·쓰기 반복</a:t>
            </a:r>
          </a:p>
        </p:txBody>
      </p:sp>
      <p:sp>
        <p:nvSpPr>
          <p:cNvPr id="21" name="Shape 21"/>
          <p:cNvSpPr/>
          <p:nvPr/>
        </p:nvSpPr>
        <p:spPr>
          <a:xfrm>
            <a:off x="5740400" y="1447800"/>
            <a:ext cx="508000" cy="355600"/>
          </a:xfrm>
          <a:prstGeom prst="rightArrow">
            <a:avLst/>
          </a:prstGeom>
          <a:solidFill>
            <a:srgbClr val="B8C0C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2" name="Shape 22"/>
          <p:cNvSpPr/>
          <p:nvPr/>
        </p:nvSpPr>
        <p:spPr>
          <a:xfrm>
            <a:off x="6451600" y="1320800"/>
            <a:ext cx="5283200" cy="609600"/>
          </a:xfrm>
          <a:prstGeom prst="roundRect">
            <a:avLst/>
          </a:prstGeom>
          <a:solidFill>
            <a:srgbClr val="156082"/>
          </a:solidFill>
          <a:ln>
            <a:noFill/>
          </a:ln>
        </p:spPr>
        <p:txBody>
          <a:bodyPr wrap="square" lIns="203200" tIns="0" rIns="20320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BFD8E3"/>
                </a:solidFill>
                <a:latin typeface="+mj-lt"/>
                <a:ea typeface="+mj-ea"/>
              </a:rPr>
              <a:t>해결  </a:t>
            </a:r>
            <a:r>
              <a:rPr lang="ko-KR" altLang="en-US" sz="1600" b="1" dirty="0">
                <a:solidFill>
                  <a:srgbClr val="FFFFFF"/>
                </a:solidFill>
                <a:latin typeface="+mj-lt"/>
                <a:ea typeface="+mj-ea"/>
              </a:rPr>
              <a:t>타일 메모리에서 합성 → VRAM 쓰기 1회</a:t>
            </a:r>
          </a:p>
        </p:txBody>
      </p:sp>
      <p:sp>
        <p:nvSpPr>
          <p:cNvPr id="23" name="Shape 23"/>
          <p:cNvSpPr/>
          <p:nvPr/>
        </p:nvSpPr>
        <p:spPr>
          <a:xfrm>
            <a:off x="457200" y="2159000"/>
            <a:ext cx="5334000" cy="41148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4" name="Shape 24"/>
          <p:cNvSpPr/>
          <p:nvPr/>
        </p:nvSpPr>
        <p:spPr>
          <a:xfrm>
            <a:off x="838200" y="23622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5" name="Shape 25"/>
          <p:cNvSpPr/>
          <p:nvPr/>
        </p:nvSpPr>
        <p:spPr>
          <a:xfrm>
            <a:off x="1295400" y="23622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6" name="Shape 26"/>
          <p:cNvSpPr/>
          <p:nvPr/>
        </p:nvSpPr>
        <p:spPr>
          <a:xfrm>
            <a:off x="1752600" y="23622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7" name="Shape 27"/>
          <p:cNvSpPr/>
          <p:nvPr/>
        </p:nvSpPr>
        <p:spPr>
          <a:xfrm>
            <a:off x="2209800" y="23622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8" name="Shape 28"/>
          <p:cNvSpPr/>
          <p:nvPr/>
        </p:nvSpPr>
        <p:spPr>
          <a:xfrm>
            <a:off x="2667000" y="2362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29" name="Shape 29"/>
          <p:cNvSpPr/>
          <p:nvPr/>
        </p:nvSpPr>
        <p:spPr>
          <a:xfrm>
            <a:off x="3124200" y="2362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0" name="Shape 30"/>
          <p:cNvSpPr/>
          <p:nvPr/>
        </p:nvSpPr>
        <p:spPr>
          <a:xfrm>
            <a:off x="3581400" y="2362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1" name="Shape 31"/>
          <p:cNvSpPr/>
          <p:nvPr/>
        </p:nvSpPr>
        <p:spPr>
          <a:xfrm>
            <a:off x="4038600" y="2362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2" name="Shape 32"/>
          <p:cNvSpPr/>
          <p:nvPr/>
        </p:nvSpPr>
        <p:spPr>
          <a:xfrm>
            <a:off x="4495800" y="2362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3" name="Shape 33"/>
          <p:cNvSpPr/>
          <p:nvPr/>
        </p:nvSpPr>
        <p:spPr>
          <a:xfrm>
            <a:off x="4953000" y="2362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4" name="Shape 34"/>
          <p:cNvSpPr/>
          <p:nvPr/>
        </p:nvSpPr>
        <p:spPr>
          <a:xfrm>
            <a:off x="838200" y="28194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5" name="Shape 35"/>
          <p:cNvSpPr/>
          <p:nvPr/>
        </p:nvSpPr>
        <p:spPr>
          <a:xfrm>
            <a:off x="1295400" y="28194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6" name="Shape 36"/>
          <p:cNvSpPr/>
          <p:nvPr/>
        </p:nvSpPr>
        <p:spPr>
          <a:xfrm>
            <a:off x="1752600" y="28194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7" name="Shape 37"/>
          <p:cNvSpPr/>
          <p:nvPr/>
        </p:nvSpPr>
        <p:spPr>
          <a:xfrm>
            <a:off x="2209800" y="28194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8" name="Shape 38"/>
          <p:cNvSpPr/>
          <p:nvPr/>
        </p:nvSpPr>
        <p:spPr>
          <a:xfrm>
            <a:off x="2667000" y="28194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39" name="Shape 39"/>
          <p:cNvSpPr/>
          <p:nvPr/>
        </p:nvSpPr>
        <p:spPr>
          <a:xfrm>
            <a:off x="3124200" y="2819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0" name="Shape 40"/>
          <p:cNvSpPr/>
          <p:nvPr/>
        </p:nvSpPr>
        <p:spPr>
          <a:xfrm>
            <a:off x="3581400" y="2819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1" name="Shape 41"/>
          <p:cNvSpPr/>
          <p:nvPr/>
        </p:nvSpPr>
        <p:spPr>
          <a:xfrm>
            <a:off x="4038600" y="2819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2" name="Shape 42"/>
          <p:cNvSpPr/>
          <p:nvPr/>
        </p:nvSpPr>
        <p:spPr>
          <a:xfrm>
            <a:off x="4495800" y="2819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3" name="Shape 43"/>
          <p:cNvSpPr/>
          <p:nvPr/>
        </p:nvSpPr>
        <p:spPr>
          <a:xfrm>
            <a:off x="4953000" y="2819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4" name="Shape 44"/>
          <p:cNvSpPr/>
          <p:nvPr/>
        </p:nvSpPr>
        <p:spPr>
          <a:xfrm>
            <a:off x="838200" y="32766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5" name="Shape 45"/>
          <p:cNvSpPr/>
          <p:nvPr/>
        </p:nvSpPr>
        <p:spPr>
          <a:xfrm>
            <a:off x="1295400" y="32766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6" name="Shape 46"/>
          <p:cNvSpPr/>
          <p:nvPr/>
        </p:nvSpPr>
        <p:spPr>
          <a:xfrm>
            <a:off x="1752600" y="32766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7" name="Shape 47"/>
          <p:cNvSpPr/>
          <p:nvPr/>
        </p:nvSpPr>
        <p:spPr>
          <a:xfrm>
            <a:off x="2209800" y="32766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8" name="Shape 48"/>
          <p:cNvSpPr/>
          <p:nvPr/>
        </p:nvSpPr>
        <p:spPr>
          <a:xfrm>
            <a:off x="2667000" y="32766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49" name="Shape 49"/>
          <p:cNvSpPr/>
          <p:nvPr/>
        </p:nvSpPr>
        <p:spPr>
          <a:xfrm>
            <a:off x="3124200" y="32766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0" name="Shape 50"/>
          <p:cNvSpPr/>
          <p:nvPr/>
        </p:nvSpPr>
        <p:spPr>
          <a:xfrm>
            <a:off x="3581400" y="32766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1" name="Shape 51"/>
          <p:cNvSpPr/>
          <p:nvPr/>
        </p:nvSpPr>
        <p:spPr>
          <a:xfrm>
            <a:off x="4038600" y="32766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2" name="Shape 52"/>
          <p:cNvSpPr/>
          <p:nvPr/>
        </p:nvSpPr>
        <p:spPr>
          <a:xfrm>
            <a:off x="4495800" y="32766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3" name="Shape 53"/>
          <p:cNvSpPr/>
          <p:nvPr/>
        </p:nvSpPr>
        <p:spPr>
          <a:xfrm>
            <a:off x="4953000" y="32766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4" name="Shape 54"/>
          <p:cNvSpPr/>
          <p:nvPr/>
        </p:nvSpPr>
        <p:spPr>
          <a:xfrm>
            <a:off x="838200" y="37338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5" name="Shape 55"/>
          <p:cNvSpPr/>
          <p:nvPr/>
        </p:nvSpPr>
        <p:spPr>
          <a:xfrm>
            <a:off x="1295400" y="37338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6" name="Shape 56"/>
          <p:cNvSpPr/>
          <p:nvPr/>
        </p:nvSpPr>
        <p:spPr>
          <a:xfrm>
            <a:off x="1752600" y="37338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7" name="Shape 57"/>
          <p:cNvSpPr/>
          <p:nvPr/>
        </p:nvSpPr>
        <p:spPr>
          <a:xfrm>
            <a:off x="2209800" y="37338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8" name="Shape 58"/>
          <p:cNvSpPr/>
          <p:nvPr/>
        </p:nvSpPr>
        <p:spPr>
          <a:xfrm>
            <a:off x="2667000" y="37338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59" name="Shape 59"/>
          <p:cNvSpPr/>
          <p:nvPr/>
        </p:nvSpPr>
        <p:spPr>
          <a:xfrm>
            <a:off x="3124200" y="37338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0" name="Shape 60"/>
          <p:cNvSpPr/>
          <p:nvPr/>
        </p:nvSpPr>
        <p:spPr>
          <a:xfrm>
            <a:off x="3581400" y="37338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1" name="Shape 61"/>
          <p:cNvSpPr/>
          <p:nvPr/>
        </p:nvSpPr>
        <p:spPr>
          <a:xfrm>
            <a:off x="4038600" y="37338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2" name="Shape 62"/>
          <p:cNvSpPr/>
          <p:nvPr/>
        </p:nvSpPr>
        <p:spPr>
          <a:xfrm>
            <a:off x="4495800" y="37338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3" name="Shape 63"/>
          <p:cNvSpPr/>
          <p:nvPr/>
        </p:nvSpPr>
        <p:spPr>
          <a:xfrm>
            <a:off x="4953000" y="37338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4" name="Shape 64"/>
          <p:cNvSpPr/>
          <p:nvPr/>
        </p:nvSpPr>
        <p:spPr>
          <a:xfrm>
            <a:off x="838200" y="41910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5" name="Shape 65"/>
          <p:cNvSpPr/>
          <p:nvPr/>
        </p:nvSpPr>
        <p:spPr>
          <a:xfrm>
            <a:off x="1295400" y="41910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6" name="Shape 66"/>
          <p:cNvSpPr/>
          <p:nvPr/>
        </p:nvSpPr>
        <p:spPr>
          <a:xfrm>
            <a:off x="1752600" y="41910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7" name="Shape 67"/>
          <p:cNvSpPr/>
          <p:nvPr/>
        </p:nvSpPr>
        <p:spPr>
          <a:xfrm>
            <a:off x="2209800" y="41910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8" name="Shape 68"/>
          <p:cNvSpPr/>
          <p:nvPr/>
        </p:nvSpPr>
        <p:spPr>
          <a:xfrm>
            <a:off x="2667000" y="41910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69" name="Shape 69"/>
          <p:cNvSpPr/>
          <p:nvPr/>
        </p:nvSpPr>
        <p:spPr>
          <a:xfrm>
            <a:off x="3124200" y="41910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70" name="Shape 70"/>
          <p:cNvSpPr/>
          <p:nvPr/>
        </p:nvSpPr>
        <p:spPr>
          <a:xfrm>
            <a:off x="3581400" y="41910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71" name="Shape 71"/>
          <p:cNvSpPr/>
          <p:nvPr/>
        </p:nvSpPr>
        <p:spPr>
          <a:xfrm>
            <a:off x="4038600" y="41910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72" name="Shape 72"/>
          <p:cNvSpPr/>
          <p:nvPr/>
        </p:nvSpPr>
        <p:spPr>
          <a:xfrm>
            <a:off x="4495800" y="41910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73" name="Shape 73"/>
          <p:cNvSpPr/>
          <p:nvPr/>
        </p:nvSpPr>
        <p:spPr>
          <a:xfrm>
            <a:off x="4953000" y="41910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74" name="Shape 74"/>
          <p:cNvSpPr/>
          <p:nvPr/>
        </p:nvSpPr>
        <p:spPr>
          <a:xfrm>
            <a:off x="838200" y="4648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75" name="Shape 75"/>
          <p:cNvSpPr/>
          <p:nvPr/>
        </p:nvSpPr>
        <p:spPr>
          <a:xfrm>
            <a:off x="1295400" y="4648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76" name="Shape 76"/>
          <p:cNvSpPr/>
          <p:nvPr/>
        </p:nvSpPr>
        <p:spPr>
          <a:xfrm>
            <a:off x="1752600" y="4648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77" name="Shape 77"/>
          <p:cNvSpPr/>
          <p:nvPr/>
        </p:nvSpPr>
        <p:spPr>
          <a:xfrm>
            <a:off x="2209800" y="4648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78" name="Shape 78"/>
          <p:cNvSpPr/>
          <p:nvPr/>
        </p:nvSpPr>
        <p:spPr>
          <a:xfrm>
            <a:off x="2667000" y="4648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79" name="Shape 79"/>
          <p:cNvSpPr/>
          <p:nvPr/>
        </p:nvSpPr>
        <p:spPr>
          <a:xfrm>
            <a:off x="3124200" y="46482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0" name="Shape 80"/>
          <p:cNvSpPr/>
          <p:nvPr/>
        </p:nvSpPr>
        <p:spPr>
          <a:xfrm>
            <a:off x="3581400" y="46482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1" name="Shape 81"/>
          <p:cNvSpPr/>
          <p:nvPr/>
        </p:nvSpPr>
        <p:spPr>
          <a:xfrm>
            <a:off x="4038600" y="46482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2" name="Shape 82"/>
          <p:cNvSpPr/>
          <p:nvPr/>
        </p:nvSpPr>
        <p:spPr>
          <a:xfrm>
            <a:off x="4495800" y="46482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3" name="Shape 83"/>
          <p:cNvSpPr/>
          <p:nvPr/>
        </p:nvSpPr>
        <p:spPr>
          <a:xfrm>
            <a:off x="4953000" y="46482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4" name="Shape 84"/>
          <p:cNvSpPr/>
          <p:nvPr/>
        </p:nvSpPr>
        <p:spPr>
          <a:xfrm>
            <a:off x="838200" y="5105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5" name="Shape 85"/>
          <p:cNvSpPr/>
          <p:nvPr/>
        </p:nvSpPr>
        <p:spPr>
          <a:xfrm>
            <a:off x="1295400" y="5105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6" name="Shape 86"/>
          <p:cNvSpPr/>
          <p:nvPr/>
        </p:nvSpPr>
        <p:spPr>
          <a:xfrm>
            <a:off x="1752600" y="5105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7" name="Shape 87"/>
          <p:cNvSpPr/>
          <p:nvPr/>
        </p:nvSpPr>
        <p:spPr>
          <a:xfrm>
            <a:off x="2209800" y="5105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8" name="Shape 88"/>
          <p:cNvSpPr/>
          <p:nvPr/>
        </p:nvSpPr>
        <p:spPr>
          <a:xfrm>
            <a:off x="2667000" y="5105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89" name="Shape 89"/>
          <p:cNvSpPr/>
          <p:nvPr/>
        </p:nvSpPr>
        <p:spPr>
          <a:xfrm>
            <a:off x="3124200" y="51054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0" name="Shape 90"/>
          <p:cNvSpPr/>
          <p:nvPr/>
        </p:nvSpPr>
        <p:spPr>
          <a:xfrm>
            <a:off x="3581400" y="51054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1" name="Shape 91"/>
          <p:cNvSpPr/>
          <p:nvPr/>
        </p:nvSpPr>
        <p:spPr>
          <a:xfrm>
            <a:off x="4038600" y="5105400"/>
            <a:ext cx="457200" cy="457200"/>
          </a:xfrm>
          <a:prstGeom prst="rect">
            <a:avLst/>
          </a:prstGeom>
          <a:solidFill>
            <a:srgbClr val="D3E5EE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2" name="Shape 92"/>
          <p:cNvSpPr/>
          <p:nvPr/>
        </p:nvSpPr>
        <p:spPr>
          <a:xfrm>
            <a:off x="4495800" y="5105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3" name="Shape 93"/>
          <p:cNvSpPr/>
          <p:nvPr/>
        </p:nvSpPr>
        <p:spPr>
          <a:xfrm>
            <a:off x="4953000" y="5105400"/>
            <a:ext cx="4572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CE1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4" name="Shape 94"/>
          <p:cNvSpPr/>
          <p:nvPr/>
        </p:nvSpPr>
        <p:spPr>
          <a:xfrm>
            <a:off x="1219200" y="2743200"/>
            <a:ext cx="1016000" cy="1016000"/>
          </a:xfrm>
          <a:prstGeom prst="ellipse">
            <a:avLst/>
          </a:prstGeom>
          <a:solidFill>
            <a:srgbClr val="E97132">
              <a:alpha val="6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5" name="Shape 95"/>
          <p:cNvSpPr/>
          <p:nvPr/>
        </p:nvSpPr>
        <p:spPr>
          <a:xfrm>
            <a:off x="1828800" y="3251200"/>
            <a:ext cx="863600" cy="863600"/>
          </a:xfrm>
          <a:prstGeom prst="ellipse">
            <a:avLst/>
          </a:prstGeom>
          <a:solidFill>
            <a:srgbClr val="E97132">
              <a:alpha val="6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6" name="Shape 96"/>
          <p:cNvSpPr/>
          <p:nvPr/>
        </p:nvSpPr>
        <p:spPr>
          <a:xfrm>
            <a:off x="1600200" y="3886200"/>
            <a:ext cx="762000" cy="762000"/>
          </a:xfrm>
          <a:prstGeom prst="ellipse">
            <a:avLst/>
          </a:prstGeom>
          <a:solidFill>
            <a:srgbClr val="E97132">
              <a:alpha val="6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7" name="Shape 97"/>
          <p:cNvSpPr/>
          <p:nvPr/>
        </p:nvSpPr>
        <p:spPr>
          <a:xfrm>
            <a:off x="3606800" y="3962400"/>
            <a:ext cx="1117600" cy="1117600"/>
          </a:xfrm>
          <a:prstGeom prst="ellipse">
            <a:avLst/>
          </a:prstGeom>
          <a:solidFill>
            <a:srgbClr val="E97132">
              <a:alpha val="6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8" name="Shape 98"/>
          <p:cNvSpPr/>
          <p:nvPr/>
        </p:nvSpPr>
        <p:spPr>
          <a:xfrm>
            <a:off x="4267200" y="3632200"/>
            <a:ext cx="762000" cy="762000"/>
          </a:xfrm>
          <a:prstGeom prst="ellipse">
            <a:avLst/>
          </a:prstGeom>
          <a:solidFill>
            <a:srgbClr val="E97132">
              <a:alpha val="6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99" name="Shape 99"/>
          <p:cNvSpPr/>
          <p:nvPr/>
        </p:nvSpPr>
        <p:spPr>
          <a:xfrm>
            <a:off x="3505200" y="4699000"/>
            <a:ext cx="660400" cy="660400"/>
          </a:xfrm>
          <a:prstGeom prst="ellipse">
            <a:avLst/>
          </a:prstGeom>
          <a:solidFill>
            <a:srgbClr val="E97132">
              <a:alpha val="65000"/>
            </a:srgbClr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00" name="Shape 100"/>
          <p:cNvSpPr/>
          <p:nvPr/>
        </p:nvSpPr>
        <p:spPr>
          <a:xfrm>
            <a:off x="457200" y="56896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파티클이 걸친 타일만 처리, 빈 타일은 건너뜀</a:t>
            </a:r>
          </a:p>
        </p:txBody>
      </p:sp>
      <p:sp>
        <p:nvSpPr>
          <p:cNvPr id="101" name="Shape 101"/>
          <p:cNvSpPr/>
          <p:nvPr/>
        </p:nvSpPr>
        <p:spPr>
          <a:xfrm>
            <a:off x="6096000" y="2235200"/>
            <a:ext cx="406400" cy="4064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j-lt"/>
                <a:ea typeface="+mj-ea"/>
              </a:rPr>
              <a:t>1</a:t>
            </a:r>
          </a:p>
        </p:txBody>
      </p:sp>
      <p:sp>
        <p:nvSpPr>
          <p:cNvPr id="102" name="Shape 102"/>
          <p:cNvSpPr/>
          <p:nvPr/>
        </p:nvSpPr>
        <p:spPr>
          <a:xfrm>
            <a:off x="6654800" y="2260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latin typeface="+mj-lt"/>
                <a:ea typeface="+mj-ea"/>
              </a:rPr>
              <a:t>화면 분할</a:t>
            </a:r>
          </a:p>
        </p:txBody>
      </p:sp>
      <p:sp>
        <p:nvSpPr>
          <p:cNvPr id="103" name="Shape 103"/>
          <p:cNvSpPr/>
          <p:nvPr/>
        </p:nvSpPr>
        <p:spPr>
          <a:xfrm>
            <a:off x="6654800" y="2641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화면을 고정 크기 타일로 나눔</a:t>
            </a:r>
          </a:p>
        </p:txBody>
      </p:sp>
      <p:sp>
        <p:nvSpPr>
          <p:cNvPr id="104" name="Shape 104"/>
          <p:cNvSpPr/>
          <p:nvPr/>
        </p:nvSpPr>
        <p:spPr>
          <a:xfrm>
            <a:off x="6096000" y="3124200"/>
            <a:ext cx="406400" cy="4064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j-lt"/>
                <a:ea typeface="+mj-ea"/>
              </a:rPr>
              <a:t>2</a:t>
            </a:r>
          </a:p>
        </p:txBody>
      </p:sp>
      <p:sp>
        <p:nvSpPr>
          <p:cNvPr id="105" name="Shape 105"/>
          <p:cNvSpPr/>
          <p:nvPr/>
        </p:nvSpPr>
        <p:spPr>
          <a:xfrm>
            <a:off x="6654800" y="3149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latin typeface="+mj-lt"/>
                <a:ea typeface="+mj-ea"/>
              </a:rPr>
              <a:t>비닝</a:t>
            </a:r>
          </a:p>
        </p:txBody>
      </p:sp>
      <p:sp>
        <p:nvSpPr>
          <p:cNvPr id="106" name="Shape 106"/>
          <p:cNvSpPr/>
          <p:nvPr/>
        </p:nvSpPr>
        <p:spPr>
          <a:xfrm>
            <a:off x="6654800" y="3530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파티클이 걸친 타일 리스트에 추가</a:t>
            </a:r>
          </a:p>
        </p:txBody>
      </p:sp>
      <p:sp>
        <p:nvSpPr>
          <p:cNvPr id="107" name="Shape 107"/>
          <p:cNvSpPr/>
          <p:nvPr/>
        </p:nvSpPr>
        <p:spPr>
          <a:xfrm>
            <a:off x="6096000" y="4013200"/>
            <a:ext cx="406400" cy="4064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+mj-lt"/>
                <a:ea typeface="+mj-ea"/>
              </a:rPr>
              <a:t>3</a:t>
            </a:r>
          </a:p>
        </p:txBody>
      </p:sp>
      <p:sp>
        <p:nvSpPr>
          <p:cNvPr id="108" name="Shape 108"/>
          <p:cNvSpPr/>
          <p:nvPr/>
        </p:nvSpPr>
        <p:spPr>
          <a:xfrm>
            <a:off x="6654800" y="40386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800" b="1" dirty="0">
                <a:latin typeface="+mj-lt"/>
                <a:ea typeface="+mj-ea"/>
              </a:rPr>
              <a:t>타일별 합성</a:t>
            </a:r>
          </a:p>
        </p:txBody>
      </p:sp>
      <p:sp>
        <p:nvSpPr>
          <p:cNvPr id="109" name="Shape 109"/>
          <p:cNvSpPr/>
          <p:nvPr/>
        </p:nvSpPr>
        <p:spPr>
          <a:xfrm>
            <a:off x="6654800" y="44196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타일 메모리에서 블렌딩 후 한 번 기록</a:t>
            </a:r>
          </a:p>
        </p:txBody>
      </p:sp>
      <p:sp>
        <p:nvSpPr>
          <p:cNvPr id="110" name="Shape 110"/>
          <p:cNvSpPr/>
          <p:nvPr/>
        </p:nvSpPr>
        <p:spPr>
          <a:xfrm>
            <a:off x="6096000" y="4978400"/>
            <a:ext cx="5638800" cy="1295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11" name="Shape 111"/>
          <p:cNvSpPr/>
          <p:nvPr/>
        </p:nvSpPr>
        <p:spPr>
          <a:xfrm>
            <a:off x="6299200" y="5105400"/>
            <a:ext cx="52324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595959"/>
                </a:solidFill>
                <a:latin typeface="+mj-lt"/>
                <a:ea typeface="+mj-ea"/>
              </a:rPr>
              <a:t>픽셀당 VRAM 쓰기 (6겹일 때)</a:t>
            </a:r>
          </a:p>
        </p:txBody>
      </p:sp>
      <p:sp>
        <p:nvSpPr>
          <p:cNvPr id="112" name="Shape 112"/>
          <p:cNvSpPr/>
          <p:nvPr/>
        </p:nvSpPr>
        <p:spPr>
          <a:xfrm>
            <a:off x="6299200" y="54864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D94F3D"/>
                </a:solidFill>
                <a:latin typeface="+mj-lt"/>
                <a:ea typeface="+mj-ea"/>
              </a:rPr>
              <a:t>기존</a:t>
            </a:r>
          </a:p>
        </p:txBody>
      </p:sp>
      <p:sp>
        <p:nvSpPr>
          <p:cNvPr id="113" name="Shape 113"/>
          <p:cNvSpPr/>
          <p:nvPr/>
        </p:nvSpPr>
        <p:spPr>
          <a:xfrm>
            <a:off x="7416800" y="5537200"/>
            <a:ext cx="203200" cy="203200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14" name="Shape 114"/>
          <p:cNvSpPr/>
          <p:nvPr/>
        </p:nvSpPr>
        <p:spPr>
          <a:xfrm>
            <a:off x="7696200" y="5537200"/>
            <a:ext cx="203200" cy="203200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15" name="Shape 115"/>
          <p:cNvSpPr/>
          <p:nvPr/>
        </p:nvSpPr>
        <p:spPr>
          <a:xfrm>
            <a:off x="7975600" y="5537200"/>
            <a:ext cx="203200" cy="203200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16" name="Shape 116"/>
          <p:cNvSpPr/>
          <p:nvPr/>
        </p:nvSpPr>
        <p:spPr>
          <a:xfrm>
            <a:off x="8255000" y="5537200"/>
            <a:ext cx="203200" cy="203200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17" name="Shape 117"/>
          <p:cNvSpPr/>
          <p:nvPr/>
        </p:nvSpPr>
        <p:spPr>
          <a:xfrm>
            <a:off x="8534400" y="5537200"/>
            <a:ext cx="203200" cy="203200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18" name="Shape 118"/>
          <p:cNvSpPr/>
          <p:nvPr/>
        </p:nvSpPr>
        <p:spPr>
          <a:xfrm>
            <a:off x="8813800" y="5537200"/>
            <a:ext cx="203200" cy="203200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19" name="Shape 119"/>
          <p:cNvSpPr/>
          <p:nvPr/>
        </p:nvSpPr>
        <p:spPr>
          <a:xfrm>
            <a:off x="9169400" y="54864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6회</a:t>
            </a:r>
          </a:p>
        </p:txBody>
      </p:sp>
      <p:sp>
        <p:nvSpPr>
          <p:cNvPr id="120" name="Shape 120"/>
          <p:cNvSpPr/>
          <p:nvPr/>
        </p:nvSpPr>
        <p:spPr>
          <a:xfrm>
            <a:off x="6299200" y="5842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b="1" dirty="0">
                <a:solidFill>
                  <a:srgbClr val="156082"/>
                </a:solidFill>
                <a:latin typeface="+mj-lt"/>
                <a:ea typeface="+mj-ea"/>
              </a:rPr>
              <a:t>Tiled</a:t>
            </a:r>
          </a:p>
        </p:txBody>
      </p:sp>
      <p:sp>
        <p:nvSpPr>
          <p:cNvPr id="121" name="Shape 121"/>
          <p:cNvSpPr/>
          <p:nvPr/>
        </p:nvSpPr>
        <p:spPr>
          <a:xfrm>
            <a:off x="7416800" y="5892800"/>
            <a:ext cx="203200" cy="2032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ko-KR"/>
          </a:p>
        </p:txBody>
      </p:sp>
      <p:sp>
        <p:nvSpPr>
          <p:cNvPr id="122" name="Shape 122"/>
          <p:cNvSpPr/>
          <p:nvPr/>
        </p:nvSpPr>
        <p:spPr>
          <a:xfrm>
            <a:off x="7772400" y="5842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ko-KR" altLang="en-US" sz="1600" dirty="0">
                <a:solidFill>
                  <a:srgbClr val="404040"/>
                </a:solidFill>
              </a:rPr>
              <a:t>1회</a:t>
            </a:r>
          </a:p>
        </p:txBody>
      </p:sp>
      <p:sp>
        <p:nvSpPr>
          <p:cNvPr id="123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 altLang="en-US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63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93191105554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aperlogy 7 Bold"/>
        <a:ea typeface="Paperlogy 7 Bold"/>
        <a:cs typeface=""/>
        <a:font script="Jpan" typeface="游ゴシック Light"/>
        <a:font script="Hang" typeface="Paperlogy 7 Bol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aperlogy 4 Regular"/>
        <a:ea typeface="Paperlogy 4 Regular"/>
        <a:cs typeface=""/>
        <a:font script="Jpan" typeface="游ゴシック"/>
        <a:font script="Hang" typeface="Paperlogy 4 Regular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8C54961-40F4-40A4-92F2-7C3CEFB27669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a8cbeeac-ae0f-426c-a6b3-d381d1ce468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621</Words>
  <Application>Microsoft Office PowerPoint</Application>
  <PresentationFormat>와이드스크린</PresentationFormat>
  <Paragraphs>147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Paperlogy 4 Regular</vt:lpstr>
      <vt:lpstr>Paperlogy 7 Bold</vt:lpstr>
      <vt:lpstr>Arial</vt:lpstr>
      <vt:lpstr>Office 테마 [1793191105554]</vt:lpstr>
      <vt:lpstr>GPU 기반 파티클 시스템 구현 및 최적화</vt:lpstr>
      <vt:lpstr>PowerPoint 프레젠테이션</vt:lpstr>
      <vt:lpstr>첫 구현: 알파 블렌딩 + GPU 소팅 (Bitonic Sort)</vt:lpstr>
      <vt:lpstr>PowerPoint 프레젠테이션</vt:lpstr>
      <vt:lpstr>WBOIT: 정렬 없이 깊이 가중치로 반투명을 합성한다</vt:lpstr>
      <vt:lpstr>WBOIT의 한계: 근사 방식이라 실제와 다르게 보일 수 있다</vt:lpstr>
      <vt:lpstr>파티클이 크고 많이 겹치면 WBOIT가 정렬 방식보다 느려진다</vt:lpstr>
      <vt:lpstr>Tiled WBOIT</vt:lpstr>
      <vt:lpstr>Tiled Rendering: 타일 안에서 모아 합성하고 결과만 한 번 쓴다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기반 파티클 시스템 구현 및 최적화</dc:title>
  <dc:creator>민용 큼</dc:creator>
  <cp:lastModifiedBy>김민용</cp:lastModifiedBy>
  <cp:revision>11</cp:revision>
  <dcterms:created xsi:type="dcterms:W3CDTF">2026-10-28T12:32:41Z</dcterms:created>
  <dcterms:modified xsi:type="dcterms:W3CDTF">2026-10-29T09:56:58Z</dcterms:modified>
</cp:coreProperties>
</file>