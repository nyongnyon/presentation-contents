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6" r:id="rId2"/>
    <p:sldId id="286" r:id="rId3"/>
    <p:sldId id="298" r:id="rId4"/>
    <p:sldId id="339" r:id="rId5"/>
    <p:sldId id="351" r:id="rId6"/>
    <p:sldId id="349" r:id="rId7"/>
    <p:sldId id="352" r:id="rId8"/>
    <p:sldId id="354" r:id="rId9"/>
    <p:sldId id="361" r:id="rId10"/>
    <p:sldId id="364" r:id="rId11"/>
    <p:sldId id="372" r:id="rId12"/>
    <p:sldId id="375" r:id="rId13"/>
    <p:sldId id="393" r:id="rId14"/>
    <p:sldId id="384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F3F7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72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8C0CA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413-47BA-B2E9-1B2C9E916673}"/>
              </c:ext>
            </c:extLst>
          </c:dPt>
          <c:dLbls>
            <c:numFmt formatCode="0.000&quot;ms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F1F1F"/>
                    </a:solidFill>
                    <a:latin typeface="Paperlogy 4 Regular"/>
                    <a:ea typeface="Paperlogy 4 Regula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2"/>
              <c:pt idx="0">
                <c:v>Bitonic Sort</c:v>
              </c:pt>
              <c:pt idx="1">
                <c:v>전체 렌더링</c:v>
              </c:pt>
            </c:strLit>
          </c:cat>
          <c:val>
            <c:numLit>
              <c:formatCode>General</c:formatCode>
              <c:ptCount val="2"/>
              <c:pt idx="0">
                <c:v>0.108</c:v>
              </c:pt>
              <c:pt idx="1">
                <c:v>0.16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413-47BA-B2E9-1B2C9E9166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C0C1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F1F1F"/>
                </a:solidFill>
                <a:latin typeface="Paperlogy 4 Regular"/>
                <a:ea typeface="Paperlogy 4 Regula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8C0CA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8C84-4042-93DA-303A478F14F4}"/>
              </c:ext>
            </c:extLst>
          </c:dPt>
          <c:dLbls>
            <c:numFmt formatCode="0.000&quot;ms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F1F1F"/>
                    </a:solidFill>
                    <a:latin typeface="Paperlogy 4 Regular"/>
                    <a:ea typeface="Paperlogy 4 Regula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2"/>
              <c:pt idx="0">
                <c:v>Bitonic Sort</c:v>
              </c:pt>
              <c:pt idx="1">
                <c:v>전체 렌더링</c:v>
              </c:pt>
            </c:strLit>
          </c:cat>
          <c:val>
            <c:numLit>
              <c:formatCode>General</c:formatCode>
              <c:ptCount val="2"/>
              <c:pt idx="0">
                <c:v>0.53400000000000003</c:v>
              </c:pt>
              <c:pt idx="1">
                <c:v>0.99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8C84-4042-93DA-303A478F14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C0C1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F1F1F"/>
                </a:solidFill>
                <a:latin typeface="Paperlogy 4 Regular"/>
                <a:ea typeface="Paperlogy 4 Regula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8C96A3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solidFill>
                <a:srgbClr val="D94F3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7524-4474-B354-A5A917A579D1}"/>
              </c:ext>
            </c:extLst>
          </c:dPt>
          <c:dLbls>
            <c:numFmt formatCode="0.0&quot;ms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F1F1F"/>
                    </a:solidFill>
                    <a:latin typeface="Paperlogy 4 Regula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2"/>
              <c:pt idx="0">
                <c:v>정렬 + premultiplied</c:v>
              </c:pt>
              <c:pt idx="1">
                <c:v>WBOIT</c:v>
              </c:pt>
            </c:strLit>
          </c:cat>
          <c:val>
            <c:numLit>
              <c:formatCode>General</c:formatCode>
              <c:ptCount val="2"/>
              <c:pt idx="0">
                <c:v>9.1</c:v>
              </c:pt>
              <c:pt idx="1">
                <c:v>13.8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524-4474-B354-A5A917A579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7C7C7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F1F1F"/>
                </a:solidFill>
                <a:latin typeface="Paperlogy 4 Regula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8C0CA"/>
            </a:solidFill>
            <a:ln>
              <a:noFill/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156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BFB-4360-9CE4-1B9DD360AB0F}"/>
              </c:ext>
            </c:extLst>
          </c:dPt>
          <c:dLbls>
            <c:numFmt formatCode="0.0&quot;ms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F1F1F"/>
                    </a:solidFill>
                    <a:latin typeface="Paperlogy 4 Regula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정렬 + premultiplied</c:v>
              </c:pt>
              <c:pt idx="1">
                <c:v>WBOIT</c:v>
              </c:pt>
              <c:pt idx="2">
                <c:v>Tiled WBOIT</c:v>
              </c:pt>
            </c:strLit>
          </c:cat>
          <c:val>
            <c:numLit>
              <c:formatCode>General</c:formatCode>
              <c:ptCount val="3"/>
              <c:pt idx="0">
                <c:v>9.1</c:v>
              </c:pt>
              <c:pt idx="1">
                <c:v>13.8</c:v>
              </c:pt>
              <c:pt idx="2">
                <c:v>4.8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0BFB-4360-9CE4-1B9DD360AB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7C7C7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F1F1F"/>
                </a:solidFill>
                <a:latin typeface="Paperlogy 4 Regula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8C0CA"/>
            </a:solidFill>
            <a:ln>
              <a:noFill/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156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D5C5-4BDC-A41F-D6D54D9E4B94}"/>
              </c:ext>
            </c:extLst>
          </c:dPt>
          <c:dLbls>
            <c:numFmt formatCode="0.0&quot;ms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F1F1F"/>
                    </a:solidFill>
                    <a:latin typeface="Paperlogy 4 Regula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정렬 +
premul.</c:v>
              </c:pt>
              <c:pt idx="1">
                <c:v>WBOIT</c:v>
              </c:pt>
              <c:pt idx="2">
                <c:v>Tiled</c:v>
              </c:pt>
            </c:strLit>
          </c:cat>
          <c:val>
            <c:numLit>
              <c:formatCode>General</c:formatCode>
              <c:ptCount val="3"/>
              <c:pt idx="0">
                <c:v>9.1</c:v>
              </c:pt>
              <c:pt idx="1">
                <c:v>13.8</c:v>
              </c:pt>
              <c:pt idx="2">
                <c:v>6.2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5C5-4BDC-A41F-D6D54D9E4B9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7C7C7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F1F1F"/>
                </a:solidFill>
                <a:latin typeface="Paperlogy 4 Regula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8C0CA"/>
            </a:solidFill>
            <a:ln>
              <a:noFill/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156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ABB-4011-90D7-910DB200F40C}"/>
              </c:ext>
            </c:extLst>
          </c:dPt>
          <c:dLbls>
            <c:numFmt formatCode="0.0&quot;ms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F1F1F"/>
                    </a:solidFill>
                    <a:latin typeface="Paperlogy 4 Regula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정렬 +
premul.</c:v>
              </c:pt>
              <c:pt idx="1">
                <c:v>WBOIT</c:v>
              </c:pt>
              <c:pt idx="2">
                <c:v>Tiled</c:v>
              </c:pt>
            </c:strLit>
          </c:cat>
          <c:val>
            <c:numLit>
              <c:formatCode>General</c:formatCode>
              <c:ptCount val="3"/>
              <c:pt idx="0">
                <c:v>2.1</c:v>
              </c:pt>
              <c:pt idx="1">
                <c:v>1.4</c:v>
              </c:pt>
              <c:pt idx="2">
                <c:v>2.8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ABB-4011-90D7-910DB200F4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7C7C7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F1F1F"/>
                </a:solidFill>
                <a:latin typeface="Paperlogy 4 Regula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8C0CA"/>
            </a:solidFill>
            <a:ln>
              <a:noFill/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156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CC99-4F03-95FA-EEC843980799}"/>
              </c:ext>
            </c:extLst>
          </c:dPt>
          <c:dLbls>
            <c:numFmt formatCode="0.0&quot;ms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F1F1F"/>
                    </a:solidFill>
                    <a:latin typeface="Paperlogy 4 Regula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정렬 +
premul.</c:v>
              </c:pt>
              <c:pt idx="1">
                <c:v>WBOIT</c:v>
              </c:pt>
              <c:pt idx="2">
                <c:v>Tiled</c:v>
              </c:pt>
            </c:strLit>
          </c:cat>
          <c:val>
            <c:numLit>
              <c:formatCode>General</c:formatCode>
              <c:ptCount val="3"/>
              <c:pt idx="0">
                <c:v>5.5</c:v>
              </c:pt>
              <c:pt idx="1">
                <c:v>4.2</c:v>
              </c:pt>
              <c:pt idx="2">
                <c:v>7.4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C99-4F03-95FA-EEC8439807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7C7C7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F1F1F"/>
                </a:solidFill>
                <a:latin typeface="Paperlogy 4 Regula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D72065-EFB4-03CB-2DA7-2EB6F4466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7B682BF-83C4-DBE7-0A5C-DE59B3B789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B65626-9573-2348-F1F7-30F118051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28AAAA-135B-F0DB-82B0-CEB370822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215B4C-C801-21F7-3B6B-701F444B8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8841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EE97B6-DE9C-E6CA-E214-23BFC0300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8E3CA4-00F3-509D-7BB3-C58C0ED7B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DCC2E7-4684-C958-AA6B-0E85767F8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1D07DD-8860-FD9E-9015-1560BA2E3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3FF9DC-19B7-34C6-382B-C14FEB8A8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80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3826E4-514F-E0DA-CA04-4AB072595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FB5DE5-36C9-D1AE-FB42-C3EC72AE3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19969D-0CB0-BC99-59BD-CD2605683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C037E8-0C3C-B393-9753-895F78E42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5AA14F-A3B8-8A44-DA06-B91F40AE8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0844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2A8E25-48CE-F37A-B27E-E896428CC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D08D62-AC2F-9D3C-9CF6-60574D1350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97F4AB-AD25-EDE6-CD3B-5DAA9764F7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65FA26A-637E-550F-C79F-0585CFD23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8FF8A0-B073-3A38-D3FA-415D8FB28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031BA1-2480-F257-7A5A-638C55BB5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309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0F3E97-5BB9-1397-09F3-530C5DE45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82FE54B-6220-66E9-CFEA-0703A859D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74D543-7D6C-7EA4-F43D-444E942CAA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86CC67D-68BF-E2B1-200C-111EBA163B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8C7AAF0-AA01-4B98-59DA-6C2AC667D5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9821D15-AB69-07AD-2E0E-926738A1C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6BEA199-FA8A-7FDC-7702-5BB3BBCB0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3DF8645-12B3-542C-9D49-AB3980616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873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DF845-2FA0-2D98-BE24-F4463D12E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65E4085-6292-F265-9C28-D5D68C8E8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8BF88B-5DC7-C7BD-B2D6-B8469A779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E93051-CDDC-D7FD-E47F-70F9738A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21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F29F559-6E36-8AD2-D02C-AFB27192E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7323266-4098-4CBC-36BA-30E123320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2BB5E6-C32F-D977-6EF7-25591D812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961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8026D2-3167-1F39-2A9F-E464550A8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3C0D7-2413-B742-69D3-81250A4CE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40F753D-6E5B-DE33-04B4-832A0236AD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49ECFC-65DC-0E69-77DC-A8B9D2371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5E60E91-2DBD-765C-24B7-15A324AE0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1D3F3F4-3F9B-6F96-313A-553ED50E5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87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9727F-5D97-66A6-D4B9-80DA0A3FD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33A0CF7-34EB-924A-9253-8A37E0A9E48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40ED9F-01EC-9DCB-9079-8837CED7D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65F366-CF42-558B-0921-0673B4DDC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D5DC3C-5A2C-9B8E-1DDE-DD9298A47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562FE7-32DA-E656-CB86-2412308F7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935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C53ACF-5595-5544-64A6-9A85631B7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FF9AA3-D128-417C-9C57-B81BF8AB7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9C27EE-5AF0-3BE2-15E2-75CF55B01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6F48D8-ED71-96FA-B8DD-C9F02720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51FD87-5A2F-1C2C-CDC8-199D0468B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0688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0F9CA3A-411E-775A-964B-0C3FC91C75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97BD7A1-3B1B-FF1B-293E-081928233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692B1-74D9-6846-8928-58DB2E0D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EE1B39-F935-0CA6-8268-8FF331929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C76FD2-7A09-13D8-AE2E-A9AEC80C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696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E7FC6EB-46CD-C3B5-6BFA-05F96E42C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42900"/>
            <a:ext cx="112776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87394C-E29D-A2DE-6467-4D48FA67B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112776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F4C04-4625-6402-2AA8-69D366AF43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82A84D-035F-43B0-A5C4-872D88BE27F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401776-BF4C-8953-942C-29FA100158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6CB2C8-5B3D-21F5-C578-6804483E29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30000" y="6553200"/>
            <a:ext cx="762000" cy="304800"/>
          </a:xfrm>
          <a:prstGeom prst="rect">
            <a:avLst/>
          </a:prstGeom>
        </p:spPr>
        <p:txBody>
          <a:bodyPr vert="horz" wrap="none" lIns="0" tIns="0" rIns="0" bIns="0" rtlCol="0" anchor="b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Paperlogy 7 Bold"/>
                <a:ea typeface="Paperlogy 7 Bold"/>
              </a:defRPr>
            </a:lvl1pPr>
          </a:lstStyle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019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3FB326-FCD6-A0CF-DF21-4159B2E370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sz="4800" b="1" dirty="0"/>
              <a:t>GPU 기반 파티클 시스템</a:t>
            </a:r>
          </a:p>
          <a:p>
            <a:r>
              <a:rPr lang="ko-KR" altLang="en-US" sz="4800" b="1" dirty="0"/>
              <a:t>구현 및 최적화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1E78D5-8DAD-8AE6-8BB1-92D999DB24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sz="2200" dirty="0"/>
              <a:t>주차 진행 보고 · 렌더링 설정</a:t>
            </a:r>
          </a:p>
        </p:txBody>
      </p:sp>
      <p:sp>
        <p:nvSpPr>
          <p:cNvPr id="4" name="Slide Numb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62007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609600" y="711200"/>
            <a:ext cx="100166" cy="93277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1" name="Shape 11"/>
          <p:cNvSpPr/>
          <p:nvPr/>
        </p:nvSpPr>
        <p:spPr>
          <a:xfrm>
            <a:off x="914400" y="711200"/>
            <a:ext cx="1066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800" b="1" dirty="0" err="1">
                <a:solidFill>
                  <a:srgbClr val="156082"/>
                </a:solidFill>
                <a:latin typeface="+mj-lt"/>
                <a:ea typeface="+mj-ea"/>
              </a:rPr>
              <a:t>파티클</a:t>
            </a: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 시스템 과제의 목적</a:t>
            </a:r>
          </a:p>
        </p:txBody>
      </p:sp>
      <p:sp>
        <p:nvSpPr>
          <p:cNvPr id="12" name="Shape 12"/>
          <p:cNvSpPr/>
          <p:nvPr/>
        </p:nvSpPr>
        <p:spPr>
          <a:xfrm>
            <a:off x="914400" y="1168400"/>
            <a:ext cx="10922000" cy="6668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3200" b="1" dirty="0">
                <a:latin typeface="+mj-lt"/>
                <a:ea typeface="+mj-ea"/>
              </a:rPr>
              <a:t>상황에 따라 렌더링 방식과 버퍼를 </a:t>
            </a:r>
            <a:r>
              <a:rPr lang="ko-KR" altLang="en-US" sz="3200" b="1" dirty="0">
                <a:solidFill>
                  <a:srgbClr val="156082"/>
                </a:solidFill>
                <a:latin typeface="+mj-lt"/>
                <a:ea typeface="+mj-ea"/>
              </a:rPr>
              <a:t>골라 쓸 수 있는 구조</a:t>
            </a:r>
          </a:p>
        </p:txBody>
      </p:sp>
      <p:sp>
        <p:nvSpPr>
          <p:cNvPr id="13" name="Shape 13"/>
          <p:cNvSpPr/>
          <p:nvPr/>
        </p:nvSpPr>
        <p:spPr>
          <a:xfrm>
            <a:off x="609600" y="2177948"/>
            <a:ext cx="5334000" cy="304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4" name="Shape 14"/>
          <p:cNvSpPr/>
          <p:nvPr/>
        </p:nvSpPr>
        <p:spPr>
          <a:xfrm>
            <a:off x="863600" y="2431948"/>
            <a:ext cx="1397000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0" name="Shape 30"/>
          <p:cNvSpPr/>
          <p:nvPr/>
        </p:nvSpPr>
        <p:spPr>
          <a:xfrm>
            <a:off x="2489200" y="2558948"/>
            <a:ext cx="2286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2200" b="1" dirty="0">
                <a:latin typeface="+mj-lt"/>
                <a:ea typeface="+mj-ea"/>
              </a:rPr>
              <a:t>Burst</a:t>
            </a:r>
          </a:p>
        </p:txBody>
      </p:sp>
      <p:sp>
        <p:nvSpPr>
          <p:cNvPr id="31" name="Shape 31"/>
          <p:cNvSpPr/>
          <p:nvPr/>
        </p:nvSpPr>
        <p:spPr>
          <a:xfrm>
            <a:off x="5003800" y="2431948"/>
            <a:ext cx="685800" cy="304800"/>
          </a:xfrm>
          <a:prstGeom prst="roundRect">
            <a:avLst/>
          </a:prstGeom>
          <a:noFill/>
          <a:ln w="12700">
            <a:solidFill>
              <a:srgbClr val="156082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156082"/>
                </a:solidFill>
                <a:latin typeface="+mj-lt"/>
                <a:ea typeface="+mj-ea"/>
              </a:rPr>
              <a:t>예시</a:t>
            </a:r>
          </a:p>
        </p:txBody>
      </p:sp>
      <p:sp>
        <p:nvSpPr>
          <p:cNvPr id="32" name="Shape 32"/>
          <p:cNvSpPr/>
          <p:nvPr/>
        </p:nvSpPr>
        <p:spPr>
          <a:xfrm>
            <a:off x="2489200" y="3041548"/>
            <a:ext cx="32004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595959"/>
                </a:solidFill>
              </a:rPr>
              <a:t>폭발·스파크처럼 한 번에 대량 생성하고 빨리 사라짐</a:t>
            </a:r>
          </a:p>
        </p:txBody>
      </p:sp>
      <p:sp>
        <p:nvSpPr>
          <p:cNvPr id="33" name="Shape 33"/>
          <p:cNvSpPr/>
          <p:nvPr/>
        </p:nvSpPr>
        <p:spPr>
          <a:xfrm>
            <a:off x="863600" y="4032148"/>
            <a:ext cx="4826000" cy="1905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4" name="Shape 34"/>
          <p:cNvSpPr/>
          <p:nvPr/>
        </p:nvSpPr>
        <p:spPr>
          <a:xfrm>
            <a:off x="863600" y="4235348"/>
            <a:ext cx="812800" cy="355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156082"/>
                </a:solidFill>
                <a:latin typeface="+mj-lt"/>
                <a:ea typeface="+mj-ea"/>
              </a:rPr>
              <a:t>버퍼</a:t>
            </a:r>
          </a:p>
        </p:txBody>
      </p:sp>
      <p:sp>
        <p:nvSpPr>
          <p:cNvPr id="35" name="Shape 35"/>
          <p:cNvSpPr/>
          <p:nvPr/>
        </p:nvSpPr>
        <p:spPr>
          <a:xfrm>
            <a:off x="1828800" y="4235348"/>
            <a:ext cx="3860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dirty="0"/>
              <a:t>빠른 생성</a:t>
            </a:r>
            <a:r>
              <a:rPr lang="en-US" altLang="ko-KR" dirty="0"/>
              <a:t>/ </a:t>
            </a:r>
            <a:r>
              <a:rPr lang="ko-KR" altLang="en-US" dirty="0"/>
              <a:t>소멸에 대응할 수 있는 버퍼</a:t>
            </a:r>
            <a:endParaRPr lang="ko-KR" altLang="en-US" sz="1800" dirty="0"/>
          </a:p>
        </p:txBody>
      </p:sp>
      <p:sp>
        <p:nvSpPr>
          <p:cNvPr id="36" name="Shape 36"/>
          <p:cNvSpPr/>
          <p:nvPr/>
        </p:nvSpPr>
        <p:spPr>
          <a:xfrm>
            <a:off x="863600" y="4717948"/>
            <a:ext cx="812800" cy="3556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렌더링</a:t>
            </a:r>
          </a:p>
        </p:txBody>
      </p:sp>
      <p:sp>
        <p:nvSpPr>
          <p:cNvPr id="37" name="Shape 37"/>
          <p:cNvSpPr/>
          <p:nvPr/>
        </p:nvSpPr>
        <p:spPr>
          <a:xfrm>
            <a:off x="1828800" y="4717948"/>
            <a:ext cx="3860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dirty="0"/>
              <a:t>WBOIT: 정렬 없이 대량 처리</a:t>
            </a:r>
          </a:p>
        </p:txBody>
      </p:sp>
      <p:sp>
        <p:nvSpPr>
          <p:cNvPr id="38" name="Shape 38"/>
          <p:cNvSpPr/>
          <p:nvPr/>
        </p:nvSpPr>
        <p:spPr>
          <a:xfrm>
            <a:off x="6248400" y="2177948"/>
            <a:ext cx="5334000" cy="304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9" name="Shape 39"/>
          <p:cNvSpPr/>
          <p:nvPr/>
        </p:nvSpPr>
        <p:spPr>
          <a:xfrm>
            <a:off x="6502400" y="2431948"/>
            <a:ext cx="1397000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5" name="Shape 45"/>
          <p:cNvSpPr/>
          <p:nvPr/>
        </p:nvSpPr>
        <p:spPr>
          <a:xfrm>
            <a:off x="8128000" y="2558948"/>
            <a:ext cx="2286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2200" b="1" dirty="0">
                <a:latin typeface="+mj-lt"/>
                <a:ea typeface="+mj-ea"/>
              </a:rPr>
              <a:t>연기·구름</a:t>
            </a:r>
          </a:p>
        </p:txBody>
      </p:sp>
      <p:sp>
        <p:nvSpPr>
          <p:cNvPr id="46" name="Shape 46"/>
          <p:cNvSpPr/>
          <p:nvPr/>
        </p:nvSpPr>
        <p:spPr>
          <a:xfrm>
            <a:off x="10642600" y="2431948"/>
            <a:ext cx="685800" cy="304800"/>
          </a:xfrm>
          <a:prstGeom prst="roundRect">
            <a:avLst/>
          </a:prstGeom>
          <a:noFill/>
          <a:ln w="12700">
            <a:solidFill>
              <a:srgbClr val="156082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156082"/>
                </a:solidFill>
                <a:latin typeface="+mj-lt"/>
                <a:ea typeface="+mj-ea"/>
              </a:rPr>
              <a:t>예시</a:t>
            </a:r>
          </a:p>
        </p:txBody>
      </p:sp>
      <p:sp>
        <p:nvSpPr>
          <p:cNvPr id="47" name="Shape 47"/>
          <p:cNvSpPr/>
          <p:nvPr/>
        </p:nvSpPr>
        <p:spPr>
          <a:xfrm>
            <a:off x="8128000" y="3041548"/>
            <a:ext cx="32004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595959"/>
                </a:solidFill>
              </a:rPr>
              <a:t>여러 겹이 겹쳐져서 나타나는 구조</a:t>
            </a:r>
          </a:p>
        </p:txBody>
      </p:sp>
      <p:sp>
        <p:nvSpPr>
          <p:cNvPr id="48" name="Shape 48"/>
          <p:cNvSpPr/>
          <p:nvPr/>
        </p:nvSpPr>
        <p:spPr>
          <a:xfrm>
            <a:off x="6502400" y="4032148"/>
            <a:ext cx="4826000" cy="1905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9" name="Shape 49"/>
          <p:cNvSpPr/>
          <p:nvPr/>
        </p:nvSpPr>
        <p:spPr>
          <a:xfrm>
            <a:off x="6502400" y="4235348"/>
            <a:ext cx="812800" cy="355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156082"/>
                </a:solidFill>
                <a:latin typeface="+mj-lt"/>
                <a:ea typeface="+mj-ea"/>
              </a:rPr>
              <a:t>버퍼</a:t>
            </a:r>
          </a:p>
        </p:txBody>
      </p:sp>
      <p:sp>
        <p:nvSpPr>
          <p:cNvPr id="50" name="Shape 50"/>
          <p:cNvSpPr/>
          <p:nvPr/>
        </p:nvSpPr>
        <p:spPr>
          <a:xfrm>
            <a:off x="7467600" y="4235348"/>
            <a:ext cx="3860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dirty="0"/>
              <a:t>기본 버퍼</a:t>
            </a:r>
          </a:p>
        </p:txBody>
      </p:sp>
      <p:sp>
        <p:nvSpPr>
          <p:cNvPr id="51" name="Shape 51"/>
          <p:cNvSpPr/>
          <p:nvPr/>
        </p:nvSpPr>
        <p:spPr>
          <a:xfrm>
            <a:off x="6502400" y="4717948"/>
            <a:ext cx="812800" cy="3556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렌더링</a:t>
            </a:r>
          </a:p>
        </p:txBody>
      </p:sp>
      <p:sp>
        <p:nvSpPr>
          <p:cNvPr id="52" name="Shape 52"/>
          <p:cNvSpPr/>
          <p:nvPr/>
        </p:nvSpPr>
        <p:spPr>
          <a:xfrm>
            <a:off x="7467600" y="4717948"/>
            <a:ext cx="3860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dirty="0"/>
              <a:t>정렬 알파 블렌딩: 앞뒤 순서 유지</a:t>
            </a:r>
          </a:p>
        </p:txBody>
      </p:sp>
      <p:sp>
        <p:nvSpPr>
          <p:cNvPr id="53" name="Shape 53"/>
          <p:cNvSpPr/>
          <p:nvPr/>
        </p:nvSpPr>
        <p:spPr>
          <a:xfrm>
            <a:off x="609600" y="5403748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dirty="0" err="1">
                <a:solidFill>
                  <a:srgbClr val="404040"/>
                </a:solidFill>
              </a:rPr>
              <a:t>파티클별</a:t>
            </a:r>
            <a:r>
              <a:rPr lang="ko-KR" altLang="en-US" sz="1800" dirty="0">
                <a:solidFill>
                  <a:srgbClr val="404040"/>
                </a:solidFill>
              </a:rPr>
              <a:t> 버퍼와 렌더링 조합은 </a:t>
            </a: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연구하면서 선택</a:t>
            </a:r>
            <a:r>
              <a:rPr lang="ko-KR" altLang="en-US" sz="1800" dirty="0">
                <a:solidFill>
                  <a:srgbClr val="404040"/>
                </a:solidFill>
              </a:rPr>
              <a:t>해 나갈 예정입니다.</a:t>
            </a:r>
          </a:p>
        </p:txBody>
      </p:sp>
      <p:sp>
        <p:nvSpPr>
          <p:cNvPr id="5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2</a:t>
            </a:fld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DCFFD22-668D-5163-76CB-68A8C7B0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66"/>
          <a:stretch>
            <a:fillRect/>
          </a:stretch>
        </p:blipFill>
        <p:spPr>
          <a:xfrm>
            <a:off x="709766" y="2279548"/>
            <a:ext cx="1665134" cy="16964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5F50092-D89B-802F-1DD1-E0CB502966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151" y="2347647"/>
            <a:ext cx="1727498" cy="1538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14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31908-0A6B-7A62-BCC5-950209BB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첫 구현: 알파 블렌딩 + GPU 소팅 (Bitonic Sort)</a:t>
            </a:r>
          </a:p>
        </p:txBody>
      </p:sp>
      <p:sp>
        <p:nvSpPr>
          <p:cNvPr id="31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3</a:t>
            </a:fld>
            <a:endParaRPr lang="ko-KR" altLang="en-US"/>
          </a:p>
        </p:txBody>
      </p:sp>
      <p:sp>
        <p:nvSpPr>
          <p:cNvPr id="300" name="Shape 300"/>
          <p:cNvSpPr/>
          <p:nvPr/>
        </p:nvSpPr>
        <p:spPr>
          <a:xfrm>
            <a:off x="457200" y="1348632"/>
            <a:ext cx="4191000" cy="4064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01" name="Shape 301"/>
          <p:cNvSpPr/>
          <p:nvPr/>
        </p:nvSpPr>
        <p:spPr>
          <a:xfrm>
            <a:off x="584200" y="1424832"/>
            <a:ext cx="254000" cy="254000"/>
          </a:xfrm>
          <a:prstGeom prst="ellipse">
            <a:avLst/>
          </a:prstGeom>
          <a:solidFill>
            <a:srgbClr val="8C96A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0</a:t>
            </a:r>
          </a:p>
        </p:txBody>
      </p:sp>
      <p:sp>
        <p:nvSpPr>
          <p:cNvPr id="302" name="Shape 302"/>
          <p:cNvSpPr/>
          <p:nvPr/>
        </p:nvSpPr>
        <p:spPr>
          <a:xfrm>
            <a:off x="939800" y="1374032"/>
            <a:ext cx="1016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b="1" dirty="0">
                <a:solidFill>
                  <a:srgbClr val="404040"/>
                </a:solidFill>
                <a:latin typeface="+mj-lt"/>
                <a:ea typeface="+mj-ea"/>
              </a:rPr>
              <a:t>Update</a:t>
            </a:r>
          </a:p>
        </p:txBody>
      </p:sp>
      <p:sp>
        <p:nvSpPr>
          <p:cNvPr id="303" name="Shape 303"/>
          <p:cNvSpPr/>
          <p:nvPr/>
        </p:nvSpPr>
        <p:spPr>
          <a:xfrm>
            <a:off x="1905000" y="1437532"/>
            <a:ext cx="711200" cy="27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404040"/>
                </a:solidFill>
              </a:rPr>
              <a:t>Emit</a:t>
            </a:r>
          </a:p>
        </p:txBody>
      </p:sp>
      <p:sp>
        <p:nvSpPr>
          <p:cNvPr id="304" name="Shape 304"/>
          <p:cNvSpPr/>
          <p:nvPr/>
        </p:nvSpPr>
        <p:spPr>
          <a:xfrm>
            <a:off x="2667000" y="1437532"/>
            <a:ext cx="203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8C96A3"/>
                </a:solidFill>
              </a:rPr>
              <a:t>→</a:t>
            </a:r>
          </a:p>
        </p:txBody>
      </p:sp>
      <p:sp>
        <p:nvSpPr>
          <p:cNvPr id="305" name="Shape 305"/>
          <p:cNvSpPr/>
          <p:nvPr/>
        </p:nvSpPr>
        <p:spPr>
          <a:xfrm>
            <a:off x="2921000" y="1437532"/>
            <a:ext cx="1016000" cy="27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404040"/>
                </a:solidFill>
              </a:rPr>
              <a:t>Simulate</a:t>
            </a:r>
          </a:p>
        </p:txBody>
      </p:sp>
      <p:sp>
        <p:nvSpPr>
          <p:cNvPr id="306" name="Shape 306"/>
          <p:cNvSpPr/>
          <p:nvPr/>
        </p:nvSpPr>
        <p:spPr>
          <a:xfrm>
            <a:off x="3987800" y="1437532"/>
            <a:ext cx="558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200" dirty="0">
                <a:solidFill>
                  <a:srgbClr val="8C96A3"/>
                </a:solidFill>
              </a:rPr>
              <a:t>…</a:t>
            </a:r>
          </a:p>
        </p:txBody>
      </p:sp>
      <p:sp>
        <p:nvSpPr>
          <p:cNvPr id="308" name="Shape 308"/>
          <p:cNvSpPr/>
          <p:nvPr/>
        </p:nvSpPr>
        <p:spPr>
          <a:xfrm>
            <a:off x="457200" y="1970932"/>
            <a:ext cx="3556000" cy="2667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09" name="Shape 309"/>
          <p:cNvSpPr/>
          <p:nvPr/>
        </p:nvSpPr>
        <p:spPr>
          <a:xfrm>
            <a:off x="4089400" y="3177432"/>
            <a:ext cx="152400" cy="254000"/>
          </a:xfrm>
          <a:prstGeom prst="chevron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0" name="Shape 310"/>
          <p:cNvSpPr/>
          <p:nvPr/>
        </p:nvSpPr>
        <p:spPr>
          <a:xfrm>
            <a:off x="457200" y="4841132"/>
            <a:ext cx="406400" cy="4064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311" name="Shape 311"/>
          <p:cNvSpPr/>
          <p:nvPr/>
        </p:nvSpPr>
        <p:spPr>
          <a:xfrm>
            <a:off x="990600" y="4866532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latin typeface="+mj-lt"/>
                <a:ea typeface="+mj-ea"/>
              </a:rPr>
              <a:t>깊이 계산</a:t>
            </a:r>
          </a:p>
        </p:txBody>
      </p:sp>
      <p:sp>
        <p:nvSpPr>
          <p:cNvPr id="312" name="Shape 312"/>
          <p:cNvSpPr/>
          <p:nvPr/>
        </p:nvSpPr>
        <p:spPr>
          <a:xfrm>
            <a:off x="457200" y="5349132"/>
            <a:ext cx="355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파티클별 뷰 깊이 계산</a:t>
            </a:r>
          </a:p>
        </p:txBody>
      </p:sp>
      <p:sp>
        <p:nvSpPr>
          <p:cNvPr id="313" name="Shape 313"/>
          <p:cNvSpPr/>
          <p:nvPr/>
        </p:nvSpPr>
        <p:spPr>
          <a:xfrm>
            <a:off x="4318000" y="1970932"/>
            <a:ext cx="3556000" cy="2667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4" name="Shape 314"/>
          <p:cNvSpPr/>
          <p:nvPr/>
        </p:nvSpPr>
        <p:spPr>
          <a:xfrm>
            <a:off x="7950200" y="3177432"/>
            <a:ext cx="152400" cy="254000"/>
          </a:xfrm>
          <a:prstGeom prst="chevron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5" name="Shape 315"/>
          <p:cNvSpPr/>
          <p:nvPr/>
        </p:nvSpPr>
        <p:spPr>
          <a:xfrm>
            <a:off x="4318000" y="4841132"/>
            <a:ext cx="406400" cy="4064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316" name="Shape 316"/>
          <p:cNvSpPr/>
          <p:nvPr/>
        </p:nvSpPr>
        <p:spPr>
          <a:xfrm>
            <a:off x="4851400" y="4866532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latin typeface="+mj-lt"/>
                <a:ea typeface="+mj-ea"/>
              </a:rPr>
              <a:t>Bitonic Sort</a:t>
            </a:r>
          </a:p>
        </p:txBody>
      </p:sp>
      <p:sp>
        <p:nvSpPr>
          <p:cNvPr id="317" name="Shape 317"/>
          <p:cNvSpPr/>
          <p:nvPr/>
        </p:nvSpPr>
        <p:spPr>
          <a:xfrm>
            <a:off x="4318000" y="5349132"/>
            <a:ext cx="355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깊이 기준으로 GPU에서 정렬</a:t>
            </a:r>
          </a:p>
        </p:txBody>
      </p:sp>
      <p:sp>
        <p:nvSpPr>
          <p:cNvPr id="318" name="Shape 318"/>
          <p:cNvSpPr/>
          <p:nvPr/>
        </p:nvSpPr>
        <p:spPr>
          <a:xfrm>
            <a:off x="8178800" y="1970932"/>
            <a:ext cx="3556000" cy="2667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9" name="Shape 319"/>
          <p:cNvSpPr/>
          <p:nvPr/>
        </p:nvSpPr>
        <p:spPr>
          <a:xfrm>
            <a:off x="8178800" y="4841132"/>
            <a:ext cx="406400" cy="4064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3</a:t>
            </a:r>
          </a:p>
        </p:txBody>
      </p:sp>
      <p:sp>
        <p:nvSpPr>
          <p:cNvPr id="320" name="Shape 320"/>
          <p:cNvSpPr/>
          <p:nvPr/>
        </p:nvSpPr>
        <p:spPr>
          <a:xfrm>
            <a:off x="8712200" y="4866532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latin typeface="+mj-lt"/>
                <a:ea typeface="+mj-ea"/>
              </a:rPr>
              <a:t>드로우 + 알파 블렌딩</a:t>
            </a:r>
          </a:p>
        </p:txBody>
      </p:sp>
      <p:sp>
        <p:nvSpPr>
          <p:cNvPr id="321" name="Shape 321"/>
          <p:cNvSpPr/>
          <p:nvPr/>
        </p:nvSpPr>
        <p:spPr>
          <a:xfrm>
            <a:off x="8178800" y="5349132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정렬 순서로 그리며 premultiplied 합성</a:t>
            </a:r>
            <a:br>
              <a:rPr lang="en-US" altLang="ko-KR" sz="1600" dirty="0">
                <a:solidFill>
                  <a:srgbClr val="404040"/>
                </a:solidFill>
              </a:rPr>
            </a:br>
            <a:endParaRPr lang="en-US" altLang="ko-KR" sz="1600" dirty="0">
              <a:solidFill>
                <a:srgbClr val="404040"/>
              </a:solidFill>
            </a:endParaRPr>
          </a:p>
        </p:txBody>
      </p:sp>
      <p:sp>
        <p:nvSpPr>
          <p:cNvPr id="322" name="Shape 322"/>
          <p:cNvSpPr/>
          <p:nvPr/>
        </p:nvSpPr>
        <p:spPr>
          <a:xfrm>
            <a:off x="838200" y="3012332"/>
            <a:ext cx="254000" cy="254000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3" name="Shape 323"/>
          <p:cNvSpPr/>
          <p:nvPr/>
        </p:nvSpPr>
        <p:spPr>
          <a:xfrm rot="16200000">
            <a:off x="1066800" y="3050432"/>
            <a:ext cx="127000" cy="177800"/>
          </a:xfrm>
          <a:prstGeom prst="triangl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6" name="Shape 326"/>
          <p:cNvSpPr/>
          <p:nvPr/>
        </p:nvSpPr>
        <p:spPr>
          <a:xfrm>
            <a:off x="1600200" y="2936132"/>
            <a:ext cx="355600" cy="3556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7" name="Shape 327"/>
          <p:cNvSpPr/>
          <p:nvPr/>
        </p:nvSpPr>
        <p:spPr>
          <a:xfrm>
            <a:off x="1447800" y="3342532"/>
            <a:ext cx="66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z=0.2</a:t>
            </a:r>
          </a:p>
        </p:txBody>
      </p:sp>
      <p:sp>
        <p:nvSpPr>
          <p:cNvPr id="328" name="Shape 328"/>
          <p:cNvSpPr/>
          <p:nvPr/>
        </p:nvSpPr>
        <p:spPr>
          <a:xfrm>
            <a:off x="2438400" y="2580532"/>
            <a:ext cx="304800" cy="3048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9" name="Shape 329"/>
          <p:cNvSpPr/>
          <p:nvPr/>
        </p:nvSpPr>
        <p:spPr>
          <a:xfrm>
            <a:off x="2260600" y="2936132"/>
            <a:ext cx="66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z=0.5</a:t>
            </a:r>
          </a:p>
        </p:txBody>
      </p:sp>
      <p:sp>
        <p:nvSpPr>
          <p:cNvPr id="330" name="Shape 330"/>
          <p:cNvSpPr/>
          <p:nvPr/>
        </p:nvSpPr>
        <p:spPr>
          <a:xfrm>
            <a:off x="3225800" y="3266332"/>
            <a:ext cx="254000" cy="2540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31" name="Shape 331"/>
          <p:cNvSpPr/>
          <p:nvPr/>
        </p:nvSpPr>
        <p:spPr>
          <a:xfrm>
            <a:off x="3022600" y="3571132"/>
            <a:ext cx="66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z=0.9</a:t>
            </a:r>
          </a:p>
        </p:txBody>
      </p:sp>
      <p:sp>
        <p:nvSpPr>
          <p:cNvPr id="332" name="Shape 332"/>
          <p:cNvSpPr/>
          <p:nvPr/>
        </p:nvSpPr>
        <p:spPr>
          <a:xfrm>
            <a:off x="457200" y="4231532"/>
            <a:ext cx="355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카메라에서의 거리 = 정렬 키</a:t>
            </a:r>
          </a:p>
        </p:txBody>
      </p:sp>
      <p:sp>
        <p:nvSpPr>
          <p:cNvPr id="333" name="Shape 333"/>
          <p:cNvSpPr/>
          <p:nvPr/>
        </p:nvSpPr>
        <p:spPr>
          <a:xfrm>
            <a:off x="4318000" y="2148732"/>
            <a:ext cx="355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정렬 전</a:t>
            </a:r>
          </a:p>
        </p:txBody>
      </p:sp>
      <p:sp>
        <p:nvSpPr>
          <p:cNvPr id="334" name="Shape 334"/>
          <p:cNvSpPr/>
          <p:nvPr/>
        </p:nvSpPr>
        <p:spPr>
          <a:xfrm>
            <a:off x="4660900" y="2453532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0.5</a:t>
            </a:r>
          </a:p>
        </p:txBody>
      </p:sp>
      <p:sp>
        <p:nvSpPr>
          <p:cNvPr id="335" name="Shape 335"/>
          <p:cNvSpPr/>
          <p:nvPr/>
        </p:nvSpPr>
        <p:spPr>
          <a:xfrm>
            <a:off x="5397500" y="2453532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0.9</a:t>
            </a:r>
          </a:p>
        </p:txBody>
      </p:sp>
      <p:sp>
        <p:nvSpPr>
          <p:cNvPr id="336" name="Shape 336"/>
          <p:cNvSpPr/>
          <p:nvPr/>
        </p:nvSpPr>
        <p:spPr>
          <a:xfrm>
            <a:off x="6134100" y="2453532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0.2</a:t>
            </a:r>
          </a:p>
        </p:txBody>
      </p:sp>
      <p:sp>
        <p:nvSpPr>
          <p:cNvPr id="337" name="Shape 337"/>
          <p:cNvSpPr/>
          <p:nvPr/>
        </p:nvSpPr>
        <p:spPr>
          <a:xfrm>
            <a:off x="6870700" y="2453532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0.7</a:t>
            </a:r>
          </a:p>
        </p:txBody>
      </p:sp>
      <p:cxnSp>
        <p:nvCxnSpPr>
          <p:cNvPr id="338" name="Line 338"/>
          <p:cNvCxnSpPr/>
          <p:nvPr/>
        </p:nvCxnSpPr>
        <p:spPr>
          <a:xfrm>
            <a:off x="6096000" y="3012332"/>
            <a:ext cx="0" cy="431800"/>
          </a:xfrm>
          <a:prstGeom prst="line">
            <a:avLst/>
          </a:prstGeom>
          <a:ln w="19050">
            <a:solidFill>
              <a:srgbClr val="156082"/>
            </a:solidFill>
            <a:tailEnd type="triangle"/>
          </a:ln>
        </p:spPr>
      </p:cxnSp>
      <p:sp>
        <p:nvSpPr>
          <p:cNvPr id="339" name="Shape 339"/>
          <p:cNvSpPr/>
          <p:nvPr/>
        </p:nvSpPr>
        <p:spPr>
          <a:xfrm>
            <a:off x="4660900" y="3545732"/>
            <a:ext cx="660400" cy="457200"/>
          </a:xfrm>
          <a:prstGeom prst="rect">
            <a:avLst/>
          </a:prstGeom>
          <a:solidFill>
            <a:srgbClr val="156082"/>
          </a:solidFill>
          <a:ln w="9525">
            <a:solidFill>
              <a:srgbClr val="156082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0.9</a:t>
            </a:r>
          </a:p>
        </p:txBody>
      </p:sp>
      <p:sp>
        <p:nvSpPr>
          <p:cNvPr id="340" name="Shape 340"/>
          <p:cNvSpPr/>
          <p:nvPr/>
        </p:nvSpPr>
        <p:spPr>
          <a:xfrm>
            <a:off x="5397500" y="3545732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0.7</a:t>
            </a:r>
          </a:p>
        </p:txBody>
      </p:sp>
      <p:sp>
        <p:nvSpPr>
          <p:cNvPr id="341" name="Shape 341"/>
          <p:cNvSpPr/>
          <p:nvPr/>
        </p:nvSpPr>
        <p:spPr>
          <a:xfrm>
            <a:off x="6134100" y="3545732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0.5</a:t>
            </a:r>
          </a:p>
        </p:txBody>
      </p:sp>
      <p:sp>
        <p:nvSpPr>
          <p:cNvPr id="342" name="Shape 342"/>
          <p:cNvSpPr/>
          <p:nvPr/>
        </p:nvSpPr>
        <p:spPr>
          <a:xfrm>
            <a:off x="6870700" y="3545732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0.2</a:t>
            </a:r>
          </a:p>
        </p:txBody>
      </p:sp>
      <p:sp>
        <p:nvSpPr>
          <p:cNvPr id="343" name="Shape 343"/>
          <p:cNvSpPr/>
          <p:nvPr/>
        </p:nvSpPr>
        <p:spPr>
          <a:xfrm>
            <a:off x="4318000" y="4129932"/>
            <a:ext cx="355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정렬 후 (먼 것부터)</a:t>
            </a:r>
          </a:p>
        </p:txBody>
      </p:sp>
      <p:sp>
        <p:nvSpPr>
          <p:cNvPr id="344" name="Shape 344"/>
          <p:cNvSpPr/>
          <p:nvPr/>
        </p:nvSpPr>
        <p:spPr>
          <a:xfrm>
            <a:off x="8839200" y="2682132"/>
            <a:ext cx="660400" cy="660400"/>
          </a:xfrm>
          <a:prstGeom prst="ellipse">
            <a:avLst/>
          </a:prstGeom>
          <a:solidFill>
            <a:srgbClr val="2F6FDE">
              <a:alpha val="6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345" name="Shape 345"/>
          <p:cNvSpPr/>
          <p:nvPr/>
        </p:nvSpPr>
        <p:spPr>
          <a:xfrm>
            <a:off x="9321800" y="2834532"/>
            <a:ext cx="711200" cy="711200"/>
          </a:xfrm>
          <a:prstGeom prst="ellipse">
            <a:avLst/>
          </a:prstGeom>
          <a:solidFill>
            <a:srgbClr val="156082">
              <a:alpha val="6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346" name="Shape 346"/>
          <p:cNvSpPr/>
          <p:nvPr/>
        </p:nvSpPr>
        <p:spPr>
          <a:xfrm>
            <a:off x="9906000" y="2656732"/>
            <a:ext cx="660400" cy="660400"/>
          </a:xfrm>
          <a:prstGeom prst="ellipse">
            <a:avLst/>
          </a:prstGeom>
          <a:solidFill>
            <a:srgbClr val="E97132">
              <a:alpha val="6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3</a:t>
            </a:r>
          </a:p>
        </p:txBody>
      </p:sp>
      <p:sp>
        <p:nvSpPr>
          <p:cNvPr id="347" name="Shape 347"/>
          <p:cNvSpPr/>
          <p:nvPr/>
        </p:nvSpPr>
        <p:spPr>
          <a:xfrm>
            <a:off x="10414000" y="2859932"/>
            <a:ext cx="711200" cy="711200"/>
          </a:xfrm>
          <a:prstGeom prst="ellipse">
            <a:avLst/>
          </a:prstGeom>
          <a:solidFill>
            <a:srgbClr val="6B7480">
              <a:alpha val="6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4</a:t>
            </a:r>
          </a:p>
        </p:txBody>
      </p:sp>
      <p:sp>
        <p:nvSpPr>
          <p:cNvPr id="348" name="Shape 348"/>
          <p:cNvSpPr/>
          <p:nvPr/>
        </p:nvSpPr>
        <p:spPr>
          <a:xfrm>
            <a:off x="8178800" y="3875932"/>
            <a:ext cx="355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404040"/>
                </a:solidFill>
                <a:latin typeface="+mj-lt"/>
                <a:ea typeface="+mj-ea"/>
              </a:rPr>
              <a:t>Cs + Cd·(1 − αs)</a:t>
            </a:r>
          </a:p>
        </p:txBody>
      </p:sp>
      <p:sp>
        <p:nvSpPr>
          <p:cNvPr id="349" name="Shape 349"/>
          <p:cNvSpPr/>
          <p:nvPr/>
        </p:nvSpPr>
        <p:spPr>
          <a:xfrm>
            <a:off x="8178800" y="4231532"/>
            <a:ext cx="355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먼 것부터 1 → 4 순서로 그리며 합성</a:t>
            </a:r>
          </a:p>
        </p:txBody>
      </p:sp>
      <p:sp>
        <p:nvSpPr>
          <p:cNvPr id="4" name="Shape 309">
            <a:extLst>
              <a:ext uri="{FF2B5EF4-FFF2-40B4-BE49-F238E27FC236}">
                <a16:creationId xmlns:a16="http://schemas.microsoft.com/office/drawing/2014/main" id="{DE784736-43E7-CE77-A472-7E070A381920}"/>
              </a:ext>
            </a:extLst>
          </p:cNvPr>
          <p:cNvSpPr/>
          <p:nvPr/>
        </p:nvSpPr>
        <p:spPr>
          <a:xfrm rot="5400000">
            <a:off x="2413000" y="1758207"/>
            <a:ext cx="152400" cy="254000"/>
          </a:xfrm>
          <a:prstGeom prst="chevron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</p:spTree>
    <p:extLst>
      <p:ext uri="{BB962C8B-B14F-4D97-AF65-F5344CB8AC3E}">
        <p14:creationId xmlns:p14="http://schemas.microsoft.com/office/powerpoint/2010/main" val="3965580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0">
            <a:extLst>
              <a:ext uri="{FF2B5EF4-FFF2-40B4-BE49-F238E27FC236}">
                <a16:creationId xmlns:a16="http://schemas.microsoft.com/office/drawing/2014/main" id="{20FC280D-E22C-5733-7CCA-6C2A3088ABD9}"/>
              </a:ext>
            </a:extLst>
          </p:cNvPr>
          <p:cNvSpPr/>
          <p:nvPr/>
        </p:nvSpPr>
        <p:spPr>
          <a:xfrm>
            <a:off x="457200" y="832255"/>
            <a:ext cx="3403600" cy="5080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800" b="1" dirty="0">
                <a:solidFill>
                  <a:srgbClr val="595959"/>
                </a:solidFill>
                <a:latin typeface="+mj-lt"/>
                <a:ea typeface="+mj-ea"/>
              </a:rPr>
              <a:t>깊이 계산</a:t>
            </a:r>
          </a:p>
        </p:txBody>
      </p:sp>
      <p:sp>
        <p:nvSpPr>
          <p:cNvPr id="5" name="Shape 21">
            <a:extLst>
              <a:ext uri="{FF2B5EF4-FFF2-40B4-BE49-F238E27FC236}">
                <a16:creationId xmlns:a16="http://schemas.microsoft.com/office/drawing/2014/main" id="{28155C62-AB95-D6CC-0F76-EBFEAD595A11}"/>
              </a:ext>
            </a:extLst>
          </p:cNvPr>
          <p:cNvSpPr/>
          <p:nvPr/>
        </p:nvSpPr>
        <p:spPr>
          <a:xfrm>
            <a:off x="4051300" y="959255"/>
            <a:ext cx="152400" cy="254000"/>
          </a:xfrm>
          <a:prstGeom prst="chevron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" name="Shape 22">
            <a:extLst>
              <a:ext uri="{FF2B5EF4-FFF2-40B4-BE49-F238E27FC236}">
                <a16:creationId xmlns:a16="http://schemas.microsoft.com/office/drawing/2014/main" id="{F18A6F3D-2375-5E4F-F38F-56C0161F8441}"/>
              </a:ext>
            </a:extLst>
          </p:cNvPr>
          <p:cNvSpPr/>
          <p:nvPr/>
        </p:nvSpPr>
        <p:spPr>
          <a:xfrm>
            <a:off x="4394200" y="832255"/>
            <a:ext cx="3403600" cy="508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+mj-lt"/>
                <a:ea typeface="+mj-ea"/>
              </a:rPr>
              <a:t>Bitonic Sort</a:t>
            </a:r>
          </a:p>
        </p:txBody>
      </p:sp>
      <p:sp>
        <p:nvSpPr>
          <p:cNvPr id="9" name="Shape 23">
            <a:extLst>
              <a:ext uri="{FF2B5EF4-FFF2-40B4-BE49-F238E27FC236}">
                <a16:creationId xmlns:a16="http://schemas.microsoft.com/office/drawing/2014/main" id="{5FABD773-1916-2879-FDD5-B20945509BED}"/>
              </a:ext>
            </a:extLst>
          </p:cNvPr>
          <p:cNvSpPr/>
          <p:nvPr/>
        </p:nvSpPr>
        <p:spPr>
          <a:xfrm>
            <a:off x="7988300" y="959255"/>
            <a:ext cx="152400" cy="254000"/>
          </a:xfrm>
          <a:prstGeom prst="chevron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1" name="Shape 24">
            <a:extLst>
              <a:ext uri="{FF2B5EF4-FFF2-40B4-BE49-F238E27FC236}">
                <a16:creationId xmlns:a16="http://schemas.microsoft.com/office/drawing/2014/main" id="{6F0ACF5A-12F1-136C-3DEB-CCD71D80C2FE}"/>
              </a:ext>
            </a:extLst>
          </p:cNvPr>
          <p:cNvSpPr/>
          <p:nvPr/>
        </p:nvSpPr>
        <p:spPr>
          <a:xfrm>
            <a:off x="8331200" y="832255"/>
            <a:ext cx="3403600" cy="5080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800" b="1" dirty="0">
                <a:solidFill>
                  <a:srgbClr val="595959"/>
                </a:solidFill>
                <a:latin typeface="+mj-lt"/>
                <a:ea typeface="+mj-ea"/>
              </a:rPr>
              <a:t>드로우 + 알파 블렌딩</a:t>
            </a:r>
          </a:p>
        </p:txBody>
      </p:sp>
      <p:sp>
        <p:nvSpPr>
          <p:cNvPr id="13" name="Shape 25">
            <a:extLst>
              <a:ext uri="{FF2B5EF4-FFF2-40B4-BE49-F238E27FC236}">
                <a16:creationId xmlns:a16="http://schemas.microsoft.com/office/drawing/2014/main" id="{780FBB62-A998-E979-39A7-8DF26612F863}"/>
              </a:ext>
            </a:extLst>
          </p:cNvPr>
          <p:cNvSpPr/>
          <p:nvPr/>
        </p:nvSpPr>
        <p:spPr>
          <a:xfrm>
            <a:off x="457200" y="1594255"/>
            <a:ext cx="5334000" cy="3454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5" name="Shape 26">
            <a:extLst>
              <a:ext uri="{FF2B5EF4-FFF2-40B4-BE49-F238E27FC236}">
                <a16:creationId xmlns:a16="http://schemas.microsoft.com/office/drawing/2014/main" id="{BDE93AE1-2FB5-D86D-C88E-0258DD7EDA22}"/>
              </a:ext>
            </a:extLst>
          </p:cNvPr>
          <p:cNvSpPr/>
          <p:nvPr/>
        </p:nvSpPr>
        <p:spPr>
          <a:xfrm>
            <a:off x="711200" y="1772055"/>
            <a:ext cx="482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① 왜 정렬이 필요한가</a:t>
            </a:r>
          </a:p>
        </p:txBody>
      </p:sp>
      <p:sp>
        <p:nvSpPr>
          <p:cNvPr id="17" name="Shape 27">
            <a:extLst>
              <a:ext uri="{FF2B5EF4-FFF2-40B4-BE49-F238E27FC236}">
                <a16:creationId xmlns:a16="http://schemas.microsoft.com/office/drawing/2014/main" id="{804A06D4-5DD9-06AC-79AC-0989C0711546}"/>
              </a:ext>
            </a:extLst>
          </p:cNvPr>
          <p:cNvSpPr/>
          <p:nvPr/>
        </p:nvSpPr>
        <p:spPr>
          <a:xfrm>
            <a:off x="711200" y="2254655"/>
            <a:ext cx="2286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9" name="Shape 28">
            <a:extLst>
              <a:ext uri="{FF2B5EF4-FFF2-40B4-BE49-F238E27FC236}">
                <a16:creationId xmlns:a16="http://schemas.microsoft.com/office/drawing/2014/main" id="{4A7A540F-E14F-AEA8-888C-560A80EDAC03}"/>
              </a:ext>
            </a:extLst>
          </p:cNvPr>
          <p:cNvSpPr/>
          <p:nvPr/>
        </p:nvSpPr>
        <p:spPr>
          <a:xfrm>
            <a:off x="1143000" y="2610255"/>
            <a:ext cx="965200" cy="965200"/>
          </a:xfrm>
          <a:prstGeom prst="rect">
            <a:avLst/>
          </a:prstGeom>
          <a:solidFill>
            <a:srgbClr val="2F6FDE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1" name="Shape 29">
            <a:extLst>
              <a:ext uri="{FF2B5EF4-FFF2-40B4-BE49-F238E27FC236}">
                <a16:creationId xmlns:a16="http://schemas.microsoft.com/office/drawing/2014/main" id="{F961440E-20B7-4FCF-F6CB-379A2A7B821E}"/>
              </a:ext>
            </a:extLst>
          </p:cNvPr>
          <p:cNvSpPr/>
          <p:nvPr/>
        </p:nvSpPr>
        <p:spPr>
          <a:xfrm>
            <a:off x="1625600" y="2889655"/>
            <a:ext cx="965200" cy="965200"/>
          </a:xfrm>
          <a:prstGeom prst="rect">
            <a:avLst/>
          </a:prstGeom>
          <a:solidFill>
            <a:srgbClr val="E97132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3" name="Shape 30">
            <a:extLst>
              <a:ext uri="{FF2B5EF4-FFF2-40B4-BE49-F238E27FC236}">
                <a16:creationId xmlns:a16="http://schemas.microsoft.com/office/drawing/2014/main" id="{1A04244E-CDE3-4A90-A9A1-984F12A9F968}"/>
              </a:ext>
            </a:extLst>
          </p:cNvPr>
          <p:cNvSpPr/>
          <p:nvPr/>
        </p:nvSpPr>
        <p:spPr>
          <a:xfrm>
            <a:off x="1066800" y="3626255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멂</a:t>
            </a:r>
          </a:p>
        </p:txBody>
      </p:sp>
      <p:sp>
        <p:nvSpPr>
          <p:cNvPr id="25" name="Shape 31">
            <a:extLst>
              <a:ext uri="{FF2B5EF4-FFF2-40B4-BE49-F238E27FC236}">
                <a16:creationId xmlns:a16="http://schemas.microsoft.com/office/drawing/2014/main" id="{C7C2FD1C-FFE7-873D-B4DB-76182EB05C08}"/>
              </a:ext>
            </a:extLst>
          </p:cNvPr>
          <p:cNvSpPr/>
          <p:nvPr/>
        </p:nvSpPr>
        <p:spPr>
          <a:xfrm>
            <a:off x="2235200" y="3880255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가까움</a:t>
            </a:r>
          </a:p>
        </p:txBody>
      </p:sp>
      <p:sp>
        <p:nvSpPr>
          <p:cNvPr id="27" name="Shape 32">
            <a:extLst>
              <a:ext uri="{FF2B5EF4-FFF2-40B4-BE49-F238E27FC236}">
                <a16:creationId xmlns:a16="http://schemas.microsoft.com/office/drawing/2014/main" id="{45BD37FE-1D8C-63FB-71FE-09CEE4078080}"/>
              </a:ext>
            </a:extLst>
          </p:cNvPr>
          <p:cNvSpPr/>
          <p:nvPr/>
        </p:nvSpPr>
        <p:spPr>
          <a:xfrm>
            <a:off x="711200" y="4235855"/>
            <a:ext cx="228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먼 것부터 그림</a:t>
            </a:r>
          </a:p>
        </p:txBody>
      </p:sp>
      <p:sp>
        <p:nvSpPr>
          <p:cNvPr id="29" name="Shape 33">
            <a:extLst>
              <a:ext uri="{FF2B5EF4-FFF2-40B4-BE49-F238E27FC236}">
                <a16:creationId xmlns:a16="http://schemas.microsoft.com/office/drawing/2014/main" id="{0E3F2291-D9DE-F611-667F-F7C8F9805374}"/>
              </a:ext>
            </a:extLst>
          </p:cNvPr>
          <p:cNvSpPr/>
          <p:nvPr/>
        </p:nvSpPr>
        <p:spPr>
          <a:xfrm>
            <a:off x="3251200" y="2254655"/>
            <a:ext cx="22860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4F3D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660C0905-1AEF-5D13-6251-705B25D833B1}"/>
              </a:ext>
            </a:extLst>
          </p:cNvPr>
          <p:cNvSpPr/>
          <p:nvPr/>
        </p:nvSpPr>
        <p:spPr>
          <a:xfrm>
            <a:off x="4165600" y="2889655"/>
            <a:ext cx="965200" cy="965200"/>
          </a:xfrm>
          <a:prstGeom prst="rect">
            <a:avLst/>
          </a:prstGeom>
          <a:solidFill>
            <a:srgbClr val="E97132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3" name="Shape 35">
            <a:extLst>
              <a:ext uri="{FF2B5EF4-FFF2-40B4-BE49-F238E27FC236}">
                <a16:creationId xmlns:a16="http://schemas.microsoft.com/office/drawing/2014/main" id="{F4F63A82-3BF8-CA93-1F2B-B0FFAED80F84}"/>
              </a:ext>
            </a:extLst>
          </p:cNvPr>
          <p:cNvSpPr/>
          <p:nvPr/>
        </p:nvSpPr>
        <p:spPr>
          <a:xfrm>
            <a:off x="3683000" y="2610255"/>
            <a:ext cx="965200" cy="965200"/>
          </a:xfrm>
          <a:prstGeom prst="rect">
            <a:avLst/>
          </a:prstGeom>
          <a:solidFill>
            <a:srgbClr val="2F6FDE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5" name="Shape 36">
            <a:extLst>
              <a:ext uri="{FF2B5EF4-FFF2-40B4-BE49-F238E27FC236}">
                <a16:creationId xmlns:a16="http://schemas.microsoft.com/office/drawing/2014/main" id="{DDE6CA28-8490-ABB8-1FAE-CE190A9557F2}"/>
              </a:ext>
            </a:extLst>
          </p:cNvPr>
          <p:cNvSpPr/>
          <p:nvPr/>
        </p:nvSpPr>
        <p:spPr>
          <a:xfrm>
            <a:off x="3606800" y="3626255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멂</a:t>
            </a:r>
          </a:p>
        </p:txBody>
      </p:sp>
      <p:sp>
        <p:nvSpPr>
          <p:cNvPr id="37" name="Shape 37">
            <a:extLst>
              <a:ext uri="{FF2B5EF4-FFF2-40B4-BE49-F238E27FC236}">
                <a16:creationId xmlns:a16="http://schemas.microsoft.com/office/drawing/2014/main" id="{638DFA5C-C3E4-27F5-2485-0BBE593E8BEC}"/>
              </a:ext>
            </a:extLst>
          </p:cNvPr>
          <p:cNvSpPr/>
          <p:nvPr/>
        </p:nvSpPr>
        <p:spPr>
          <a:xfrm>
            <a:off x="4775200" y="3880255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가까움</a:t>
            </a:r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09954EFC-AC6E-9CA9-CAA9-7E9B36058C09}"/>
              </a:ext>
            </a:extLst>
          </p:cNvPr>
          <p:cNvSpPr/>
          <p:nvPr/>
        </p:nvSpPr>
        <p:spPr>
          <a:xfrm>
            <a:off x="3251200" y="4235855"/>
            <a:ext cx="228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D94F3D"/>
                </a:solidFill>
                <a:latin typeface="+mj-lt"/>
                <a:ea typeface="+mj-ea"/>
              </a:rPr>
              <a:t>순서가 뒤바뀜</a:t>
            </a: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C6E48B0F-241B-EBD3-23BC-D9970A0EFCA2}"/>
              </a:ext>
            </a:extLst>
          </p:cNvPr>
          <p:cNvSpPr/>
          <p:nvPr/>
        </p:nvSpPr>
        <p:spPr>
          <a:xfrm>
            <a:off x="711200" y="4566055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겹친 부분의 색이 그리는 순서에 따라 달라진다</a:t>
            </a: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D055EB67-B335-8290-635F-06E4C485011D}"/>
              </a:ext>
            </a:extLst>
          </p:cNvPr>
          <p:cNvSpPr/>
          <p:nvPr/>
        </p:nvSpPr>
        <p:spPr>
          <a:xfrm>
            <a:off x="6096000" y="1594255"/>
            <a:ext cx="5638800" cy="3454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5" name="Shape 41">
            <a:extLst>
              <a:ext uri="{FF2B5EF4-FFF2-40B4-BE49-F238E27FC236}">
                <a16:creationId xmlns:a16="http://schemas.microsoft.com/office/drawing/2014/main" id="{FA69C898-FC0A-202C-B161-478689FD999A}"/>
              </a:ext>
            </a:extLst>
          </p:cNvPr>
          <p:cNvSpPr/>
          <p:nvPr/>
        </p:nvSpPr>
        <p:spPr>
          <a:xfrm>
            <a:off x="6350000" y="1772055"/>
            <a:ext cx="5130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② </a:t>
            </a:r>
            <a:r>
              <a:rPr lang="ko-KR" altLang="en-US" sz="1800" b="1" dirty="0" err="1">
                <a:solidFill>
                  <a:srgbClr val="156082"/>
                </a:solidFill>
                <a:latin typeface="+mj-lt"/>
                <a:ea typeface="+mj-ea"/>
              </a:rPr>
              <a:t>파티클</a:t>
            </a: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 수가 많으면 정렬이 병목</a:t>
            </a:r>
          </a:p>
        </p:txBody>
      </p:sp>
      <p:sp>
        <p:nvSpPr>
          <p:cNvPr id="47" name="Chart Label">
            <a:extLst>
              <a:ext uri="{FF2B5EF4-FFF2-40B4-BE49-F238E27FC236}">
                <a16:creationId xmlns:a16="http://schemas.microsoft.com/office/drawing/2014/main" id="{E7FA478B-856D-93AE-396D-261EB01A2193}"/>
              </a:ext>
            </a:extLst>
          </p:cNvPr>
          <p:cNvSpPr/>
          <p:nvPr/>
        </p:nvSpPr>
        <p:spPr>
          <a:xfrm>
            <a:off x="6350000" y="2153055"/>
            <a:ext cx="5130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Bitonic Sort와 전체 렌더링 시간</a:t>
            </a:r>
          </a:p>
        </p:txBody>
      </p:sp>
      <p:sp>
        <p:nvSpPr>
          <p:cNvPr id="49" name="Shape 43">
            <a:extLst>
              <a:ext uri="{FF2B5EF4-FFF2-40B4-BE49-F238E27FC236}">
                <a16:creationId xmlns:a16="http://schemas.microsoft.com/office/drawing/2014/main" id="{84774341-F604-09F6-BFC2-050F03625503}"/>
              </a:ext>
            </a:extLst>
          </p:cNvPr>
          <p:cNvSpPr/>
          <p:nvPr/>
        </p:nvSpPr>
        <p:spPr>
          <a:xfrm>
            <a:off x="457200" y="5251855"/>
            <a:ext cx="11277600" cy="609600"/>
          </a:xfrm>
          <a:prstGeom prst="rect">
            <a:avLst/>
          </a:prstGeom>
          <a:solidFill>
            <a:srgbClr val="EAF2F6"/>
          </a:solidFill>
          <a:ln>
            <a:noFill/>
          </a:ln>
        </p:spPr>
        <p:txBody>
          <a:bodyPr wrap="square" lIns="254000" tIns="0" rIns="254000" bIns="0" anchor="ctr">
            <a:noAutofit/>
          </a:bodyPr>
          <a:lstStyle/>
          <a:p>
            <a:pPr algn="l">
              <a:buNone/>
            </a:pPr>
            <a:r>
              <a:rPr lang="ko-KR" altLang="en-US" sz="2000" dirty="0">
                <a:solidFill>
                  <a:srgbClr val="404040"/>
                </a:solidFill>
              </a:rPr>
              <a:t>파티클이 늘수록 정렬 비용도 커진다</a:t>
            </a:r>
            <a:r>
              <a:rPr lang="ko-KR" altLang="en-US" sz="2000" dirty="0">
                <a:solidFill>
                  <a:srgbClr val="8C96A3"/>
                </a:solidFill>
              </a:rPr>
              <a:t>   →   </a:t>
            </a:r>
            <a:r>
              <a:rPr lang="ko-KR" altLang="en-US" sz="2000" b="1" dirty="0">
                <a:solidFill>
                  <a:srgbClr val="156082"/>
                </a:solidFill>
                <a:latin typeface="+mj-lt"/>
                <a:ea typeface="+mj-ea"/>
              </a:rPr>
              <a:t>단순</a:t>
            </a:r>
            <a:r>
              <a:rPr lang="en-US" altLang="ko-KR" sz="2000" b="1" dirty="0">
                <a:solidFill>
                  <a:srgbClr val="156082"/>
                </a:solidFill>
                <a:latin typeface="+mj-lt"/>
                <a:ea typeface="+mj-ea"/>
              </a:rPr>
              <a:t>, </a:t>
            </a:r>
            <a:r>
              <a:rPr lang="ko-KR" altLang="en-US" sz="2000" b="1" dirty="0">
                <a:solidFill>
                  <a:srgbClr val="156082"/>
                </a:solidFill>
                <a:latin typeface="+mj-lt"/>
                <a:ea typeface="+mj-ea"/>
              </a:rPr>
              <a:t>대량의 </a:t>
            </a:r>
            <a:r>
              <a:rPr lang="ko-KR" altLang="en-US" sz="2000" b="1" dirty="0" err="1">
                <a:solidFill>
                  <a:srgbClr val="156082"/>
                </a:solidFill>
                <a:latin typeface="+mj-lt"/>
                <a:ea typeface="+mj-ea"/>
              </a:rPr>
              <a:t>파티클의</a:t>
            </a:r>
            <a:r>
              <a:rPr lang="ko-KR" altLang="en-US" sz="2000" b="1" dirty="0">
                <a:solidFill>
                  <a:srgbClr val="156082"/>
                </a:solidFill>
                <a:latin typeface="+mj-lt"/>
                <a:ea typeface="+mj-ea"/>
              </a:rPr>
              <a:t> 경우 </a:t>
            </a:r>
            <a:r>
              <a:rPr lang="ko-KR" altLang="en-US" sz="2000" b="1" dirty="0" err="1">
                <a:solidFill>
                  <a:srgbClr val="156082"/>
                </a:solidFill>
                <a:latin typeface="+mj-lt"/>
                <a:ea typeface="+mj-ea"/>
              </a:rPr>
              <a:t>정렬없이</a:t>
            </a:r>
            <a:r>
              <a:rPr lang="ko-KR" altLang="en-US" sz="2000" b="1" dirty="0">
                <a:solidFill>
                  <a:srgbClr val="156082"/>
                </a:solidFill>
                <a:latin typeface="+mj-lt"/>
                <a:ea typeface="+mj-ea"/>
              </a:rPr>
              <a:t> 렌더링하는 방식이 필요하다</a:t>
            </a:r>
            <a:r>
              <a:rPr lang="en-US" altLang="ko-KR" sz="2000" b="1" dirty="0">
                <a:solidFill>
                  <a:srgbClr val="156082"/>
                </a:solidFill>
                <a:latin typeface="+mj-lt"/>
                <a:ea typeface="+mj-ea"/>
              </a:rPr>
              <a:t>.</a:t>
            </a:r>
            <a:endParaRPr lang="ko-KR" altLang="en-US" sz="2000" b="1" dirty="0">
              <a:solidFill>
                <a:srgbClr val="1F1F1F"/>
              </a:solidFill>
              <a:latin typeface="+mj-lt"/>
              <a:ea typeface="+mj-ea"/>
            </a:endParaRPr>
          </a:p>
        </p:txBody>
      </p:sp>
      <p:sp>
        <p:nvSpPr>
          <p:cNvPr id="50" name="Group Label 파티클 50K"/>
          <p:cNvSpPr txBox="1"/>
          <p:nvPr/>
        </p:nvSpPr>
        <p:spPr>
          <a:xfrm>
            <a:off x="6299200" y="2514600"/>
            <a:ext cx="2540000" cy="27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파티클 50K</a:t>
            </a:r>
          </a:p>
        </p:txBody>
      </p:sp>
      <p:sp>
        <p:nvSpPr>
          <p:cNvPr id="51" name="Group Label 파티클 500K"/>
          <p:cNvSpPr txBox="1"/>
          <p:nvPr/>
        </p:nvSpPr>
        <p:spPr>
          <a:xfrm>
            <a:off x="8991600" y="2514600"/>
            <a:ext cx="2540000" cy="27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파티클 500K</a:t>
            </a:r>
          </a:p>
        </p:txBody>
      </p:sp>
      <p:sp>
        <p:nvSpPr>
          <p:cNvPr id="52" name="Group Divider"/>
          <p:cNvSpPr/>
          <p:nvPr/>
        </p:nvSpPr>
        <p:spPr>
          <a:xfrm>
            <a:off x="8915400" y="2590800"/>
            <a:ext cx="12700" cy="228600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3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4</a:t>
            </a:fld>
            <a:endParaRPr lang="ko-KR" altLang="en-US"/>
          </a:p>
        </p:txBody>
      </p:sp>
      <p:graphicFrame>
        <p:nvGraphicFramePr>
          <p:cNvPr id="54" name="Chart"/>
          <p:cNvGraphicFramePr/>
          <p:nvPr/>
        </p:nvGraphicFramePr>
        <p:xfrm>
          <a:off x="6299200" y="2794000"/>
          <a:ext cx="2540000" cy="2209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5" name="Chart"/>
          <p:cNvGraphicFramePr/>
          <p:nvPr/>
        </p:nvGraphicFramePr>
        <p:xfrm>
          <a:off x="8991600" y="2794000"/>
          <a:ext cx="2540000" cy="2209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174037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07FBE0-F1AD-6A7E-9E0A-DF514AE84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42900"/>
            <a:ext cx="11277600" cy="965200"/>
          </a:xfrm>
        </p:spPr>
        <p:txBody>
          <a:bodyPr/>
          <a:lstStyle/>
          <a:p>
            <a:r>
              <a:rPr lang="en-US" altLang="ko-KR" b="1" dirty="0"/>
              <a:t>WBOIT</a:t>
            </a:r>
            <a:r>
              <a:rPr lang="en-US" altLang="ko-KR" sz="2000" b="0" dirty="0">
                <a:solidFill>
                  <a:srgbClr val="8C96A3"/>
                </a:solidFill>
                <a:latin typeface="+mn-lt"/>
                <a:ea typeface="+mn-ea"/>
              </a:rPr>
              <a:t>  McGuire &amp; Bavoil (2013)</a:t>
            </a:r>
          </a:p>
        </p:txBody>
      </p:sp>
      <p:sp>
        <p:nvSpPr>
          <p:cNvPr id="20" name="Equation Panel"/>
          <p:cNvSpPr/>
          <p:nvPr/>
        </p:nvSpPr>
        <p:spPr>
          <a:xfrm>
            <a:off x="457200" y="1905000"/>
            <a:ext cx="11277600" cy="16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21" name="Shape 21"/>
          <p:cNvSpPr/>
          <p:nvPr/>
        </p:nvSpPr>
        <p:spPr>
          <a:xfrm>
            <a:off x="457200" y="3759200"/>
            <a:ext cx="3606800" cy="2692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2" name="Shape 22"/>
          <p:cNvSpPr/>
          <p:nvPr/>
        </p:nvSpPr>
        <p:spPr>
          <a:xfrm>
            <a:off x="457200" y="3759200"/>
            <a:ext cx="3606800" cy="635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3" name="Shape 23"/>
          <p:cNvSpPr/>
          <p:nvPr/>
        </p:nvSpPr>
        <p:spPr>
          <a:xfrm>
            <a:off x="660400" y="3987800"/>
            <a:ext cx="3200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① 가중 평균 색</a:t>
            </a:r>
          </a:p>
        </p:txBody>
      </p:sp>
      <p:sp>
        <p:nvSpPr>
          <p:cNvPr id="24" name="Shape 24"/>
          <p:cNvSpPr/>
          <p:nvPr/>
        </p:nvSpPr>
        <p:spPr>
          <a:xfrm>
            <a:off x="660400" y="4368800"/>
            <a:ext cx="3200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solidFill>
                  <a:srgbClr val="1F1F1F"/>
                </a:solidFill>
                <a:latin typeface="+mj-lt"/>
                <a:ea typeface="+mj-ea"/>
              </a:rPr>
              <a:t>Σ Cᵢ·w / Σ αᵢ·w</a:t>
            </a:r>
          </a:p>
        </p:txBody>
      </p:sp>
      <p:sp>
        <p:nvSpPr>
          <p:cNvPr id="25" name="Shape 25"/>
          <p:cNvSpPr/>
          <p:nvPr/>
        </p:nvSpPr>
        <p:spPr>
          <a:xfrm>
            <a:off x="660400" y="4851400"/>
            <a:ext cx="3200400" cy="81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4" name="Fig1 65"/>
          <p:cNvSpPr/>
          <p:nvPr/>
        </p:nvSpPr>
        <p:spPr>
          <a:xfrm>
            <a:off x="1524000" y="4927600"/>
            <a:ext cx="381000" cy="381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5" name="Fig1 66"/>
          <p:cNvSpPr/>
          <p:nvPr/>
        </p:nvSpPr>
        <p:spPr>
          <a:xfrm>
            <a:off x="1524000" y="5359400"/>
            <a:ext cx="381000" cy="635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6" name="Fig1 67"/>
          <p:cNvSpPr/>
          <p:nvPr/>
        </p:nvSpPr>
        <p:spPr>
          <a:xfrm>
            <a:off x="1447800" y="5448300"/>
            <a:ext cx="533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404040"/>
                </a:solidFill>
              </a:rPr>
              <a:t>가까움</a:t>
            </a:r>
          </a:p>
        </p:txBody>
      </p:sp>
      <p:sp>
        <p:nvSpPr>
          <p:cNvPr id="67" name="Fig1 68"/>
          <p:cNvSpPr/>
          <p:nvPr/>
        </p:nvSpPr>
        <p:spPr>
          <a:xfrm>
            <a:off x="2057400" y="4927600"/>
            <a:ext cx="381000" cy="381000"/>
          </a:xfrm>
          <a:prstGeom prst="ellipse">
            <a:avLst/>
          </a:prstGeom>
          <a:solidFill>
            <a:srgbClr val="2F6FDE">
              <a:alpha val="50000"/>
            </a:srgbClr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8" name="Fig1 69"/>
          <p:cNvSpPr/>
          <p:nvPr/>
        </p:nvSpPr>
        <p:spPr>
          <a:xfrm>
            <a:off x="2057400" y="5359400"/>
            <a:ext cx="190500" cy="63500"/>
          </a:xfrm>
          <a:prstGeom prst="rect">
            <a:avLst/>
          </a:prstGeom>
          <a:solidFill>
            <a:srgbClr val="2F6FDE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9" name="Fig1 70"/>
          <p:cNvSpPr/>
          <p:nvPr/>
        </p:nvSpPr>
        <p:spPr>
          <a:xfrm>
            <a:off x="2590800" y="4927600"/>
            <a:ext cx="381000" cy="381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0" name="Fig1 71"/>
          <p:cNvSpPr/>
          <p:nvPr/>
        </p:nvSpPr>
        <p:spPr>
          <a:xfrm>
            <a:off x="2590800" y="5359400"/>
            <a:ext cx="76200" cy="63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1" name="Fig1 72"/>
          <p:cNvSpPr/>
          <p:nvPr/>
        </p:nvSpPr>
        <p:spPr>
          <a:xfrm>
            <a:off x="2514600" y="5448300"/>
            <a:ext cx="533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404040"/>
                </a:solidFill>
              </a:rPr>
              <a:t>멂</a:t>
            </a:r>
          </a:p>
        </p:txBody>
      </p:sp>
      <p:sp>
        <p:nvSpPr>
          <p:cNvPr id="75" name="Fig1 76"/>
          <p:cNvSpPr/>
          <p:nvPr/>
        </p:nvSpPr>
        <p:spPr>
          <a:xfrm>
            <a:off x="787400" y="4826000"/>
            <a:ext cx="1270" cy="12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0" name="Shape 30"/>
          <p:cNvSpPr/>
          <p:nvPr/>
        </p:nvSpPr>
        <p:spPr>
          <a:xfrm>
            <a:off x="660400" y="5791200"/>
            <a:ext cx="3200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가까울수록 색이 더 많이 반영되는 </a:t>
            </a:r>
            <a:r>
              <a:rPr lang="en-US" altLang="ko-KR" sz="1600" dirty="0">
                <a:solidFill>
                  <a:srgbClr val="404040"/>
                </a:solidFill>
              </a:rPr>
              <a:t>Weight </a:t>
            </a:r>
            <a:r>
              <a:rPr lang="ko-KR" altLang="en-US" sz="1600" dirty="0">
                <a:solidFill>
                  <a:srgbClr val="404040"/>
                </a:solidFill>
              </a:rPr>
              <a:t>식이 존재한다</a:t>
            </a:r>
            <a:r>
              <a:rPr lang="en-US" altLang="ko-KR" sz="1600" dirty="0">
                <a:solidFill>
                  <a:srgbClr val="404040"/>
                </a:solidFill>
              </a:rPr>
              <a:t>.</a:t>
            </a:r>
            <a:endParaRPr lang="ko-KR" altLang="en-US" sz="1600" dirty="0">
              <a:solidFill>
                <a:srgbClr val="404040"/>
              </a:solidFill>
            </a:endParaRPr>
          </a:p>
        </p:txBody>
      </p:sp>
      <p:sp>
        <p:nvSpPr>
          <p:cNvPr id="31" name="Shape 31"/>
          <p:cNvSpPr/>
          <p:nvPr/>
        </p:nvSpPr>
        <p:spPr>
          <a:xfrm>
            <a:off x="4292600" y="3759200"/>
            <a:ext cx="3606800" cy="2692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" name="Shape 32"/>
          <p:cNvSpPr/>
          <p:nvPr/>
        </p:nvSpPr>
        <p:spPr>
          <a:xfrm>
            <a:off x="4292600" y="3759200"/>
            <a:ext cx="3606800" cy="635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3" name="Shape 33"/>
          <p:cNvSpPr/>
          <p:nvPr/>
        </p:nvSpPr>
        <p:spPr>
          <a:xfrm>
            <a:off x="4495800" y="3987800"/>
            <a:ext cx="3200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solidFill>
                  <a:srgbClr val="E97132"/>
                </a:solidFill>
                <a:latin typeface="+mj-lt"/>
                <a:ea typeface="+mj-ea"/>
              </a:rPr>
              <a:t>② 전체 불투명도</a:t>
            </a:r>
          </a:p>
        </p:txBody>
      </p:sp>
      <p:sp>
        <p:nvSpPr>
          <p:cNvPr id="34" name="Shape 34"/>
          <p:cNvSpPr/>
          <p:nvPr/>
        </p:nvSpPr>
        <p:spPr>
          <a:xfrm>
            <a:off x="4495800" y="4368800"/>
            <a:ext cx="3200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solidFill>
                  <a:srgbClr val="1F1F1F"/>
                </a:solidFill>
                <a:latin typeface="+mj-lt"/>
                <a:ea typeface="+mj-ea"/>
              </a:rPr>
              <a:t>1 − Π (1 − αᵢ)</a:t>
            </a:r>
          </a:p>
        </p:txBody>
      </p:sp>
      <p:sp>
        <p:nvSpPr>
          <p:cNvPr id="35" name="Shape 35"/>
          <p:cNvSpPr/>
          <p:nvPr/>
        </p:nvSpPr>
        <p:spPr>
          <a:xfrm>
            <a:off x="4495800" y="4851400"/>
            <a:ext cx="3200400" cy="81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6" name="Shape 36"/>
          <p:cNvSpPr/>
          <p:nvPr/>
        </p:nvSpPr>
        <p:spPr>
          <a:xfrm>
            <a:off x="4749800" y="5029200"/>
            <a:ext cx="431800" cy="4318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7" name="Shape 37"/>
          <p:cNvSpPr/>
          <p:nvPr/>
        </p:nvSpPr>
        <p:spPr>
          <a:xfrm>
            <a:off x="5791200" y="5029200"/>
            <a:ext cx="431800" cy="4318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8" name="Shape 38"/>
          <p:cNvSpPr/>
          <p:nvPr/>
        </p:nvSpPr>
        <p:spPr>
          <a:xfrm>
            <a:off x="5918200" y="5080000"/>
            <a:ext cx="431800" cy="4318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9" name="Shape 39"/>
          <p:cNvSpPr/>
          <p:nvPr/>
        </p:nvSpPr>
        <p:spPr>
          <a:xfrm>
            <a:off x="6832600" y="5029200"/>
            <a:ext cx="431800" cy="4318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0" name="Shape 40"/>
          <p:cNvSpPr/>
          <p:nvPr/>
        </p:nvSpPr>
        <p:spPr>
          <a:xfrm>
            <a:off x="6959600" y="5080000"/>
            <a:ext cx="431800" cy="4318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" name="Shape 41"/>
          <p:cNvSpPr/>
          <p:nvPr/>
        </p:nvSpPr>
        <p:spPr>
          <a:xfrm>
            <a:off x="7086600" y="5130800"/>
            <a:ext cx="431800" cy="4318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3" name="Shape 43"/>
          <p:cNvSpPr/>
          <p:nvPr/>
        </p:nvSpPr>
        <p:spPr>
          <a:xfrm>
            <a:off x="4495800" y="5791200"/>
            <a:ext cx="3200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겹칠수록 </a:t>
            </a:r>
            <a:r>
              <a:rPr lang="ko-KR" altLang="en-US" sz="1600" dirty="0" err="1">
                <a:solidFill>
                  <a:srgbClr val="404040"/>
                </a:solidFill>
              </a:rPr>
              <a:t>파티클</a:t>
            </a:r>
            <a:r>
              <a:rPr lang="ko-KR" altLang="en-US" sz="1600" dirty="0">
                <a:solidFill>
                  <a:srgbClr val="404040"/>
                </a:solidFill>
              </a:rPr>
              <a:t> 색깔 반영 비율이 더 </a:t>
            </a:r>
            <a:br>
              <a:rPr lang="en-US" altLang="ko-KR" sz="1600" dirty="0">
                <a:solidFill>
                  <a:srgbClr val="404040"/>
                </a:solidFill>
              </a:rPr>
            </a:br>
            <a:r>
              <a:rPr lang="ko-KR" altLang="en-US" sz="1600" dirty="0">
                <a:solidFill>
                  <a:srgbClr val="404040"/>
                </a:solidFill>
              </a:rPr>
              <a:t>커진다</a:t>
            </a:r>
            <a:r>
              <a:rPr lang="en-US" altLang="ko-KR" sz="1600" dirty="0">
                <a:solidFill>
                  <a:srgbClr val="404040"/>
                </a:solidFill>
              </a:rPr>
              <a:t>.</a:t>
            </a:r>
            <a:endParaRPr lang="ko-KR" altLang="en-US" sz="1600" dirty="0">
              <a:solidFill>
                <a:srgbClr val="404040"/>
              </a:solidFill>
            </a:endParaRPr>
          </a:p>
        </p:txBody>
      </p:sp>
      <p:sp>
        <p:nvSpPr>
          <p:cNvPr id="44" name="Shape 44"/>
          <p:cNvSpPr/>
          <p:nvPr/>
        </p:nvSpPr>
        <p:spPr>
          <a:xfrm>
            <a:off x="8128000" y="3759200"/>
            <a:ext cx="3606800" cy="2692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5" name="Shape 45"/>
          <p:cNvSpPr/>
          <p:nvPr/>
        </p:nvSpPr>
        <p:spPr>
          <a:xfrm>
            <a:off x="8128000" y="3759200"/>
            <a:ext cx="3606800" cy="63500"/>
          </a:xfrm>
          <a:prstGeom prst="rect">
            <a:avLst/>
          </a:prstGeom>
          <a:solidFill>
            <a:srgbClr val="2F6FD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6" name="Shape 46"/>
          <p:cNvSpPr/>
          <p:nvPr/>
        </p:nvSpPr>
        <p:spPr>
          <a:xfrm>
            <a:off x="8331200" y="3987800"/>
            <a:ext cx="3200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solidFill>
                  <a:srgbClr val="2F6FDE"/>
                </a:solidFill>
                <a:latin typeface="+mj-lt"/>
                <a:ea typeface="+mj-ea"/>
              </a:rPr>
              <a:t>③ 비쳐 보이는 원래 배경</a:t>
            </a:r>
          </a:p>
        </p:txBody>
      </p:sp>
      <p:sp>
        <p:nvSpPr>
          <p:cNvPr id="47" name="Shape 47"/>
          <p:cNvSpPr/>
          <p:nvPr/>
        </p:nvSpPr>
        <p:spPr>
          <a:xfrm>
            <a:off x="8331200" y="4368800"/>
            <a:ext cx="3200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solidFill>
                  <a:srgbClr val="1F1F1F"/>
                </a:solidFill>
                <a:latin typeface="+mj-lt"/>
                <a:ea typeface="+mj-ea"/>
              </a:rPr>
              <a:t>C₀ · Π (1 − αᵢ)</a:t>
            </a:r>
          </a:p>
        </p:txBody>
      </p:sp>
      <p:sp>
        <p:nvSpPr>
          <p:cNvPr id="48" name="Shape 48"/>
          <p:cNvSpPr/>
          <p:nvPr/>
        </p:nvSpPr>
        <p:spPr>
          <a:xfrm>
            <a:off x="8331200" y="4851400"/>
            <a:ext cx="3200400" cy="81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9" name="Shape 49"/>
          <p:cNvSpPr/>
          <p:nvPr/>
        </p:nvSpPr>
        <p:spPr>
          <a:xfrm>
            <a:off x="8331200" y="4851400"/>
            <a:ext cx="266700" cy="81280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0" name="Shape 50"/>
          <p:cNvSpPr/>
          <p:nvPr/>
        </p:nvSpPr>
        <p:spPr>
          <a:xfrm>
            <a:off x="8864600" y="4851400"/>
            <a:ext cx="266700" cy="81280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1" name="Shape 51"/>
          <p:cNvSpPr/>
          <p:nvPr/>
        </p:nvSpPr>
        <p:spPr>
          <a:xfrm>
            <a:off x="9398000" y="4851400"/>
            <a:ext cx="266700" cy="81280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2" name="Shape 52"/>
          <p:cNvSpPr/>
          <p:nvPr/>
        </p:nvSpPr>
        <p:spPr>
          <a:xfrm>
            <a:off x="9931400" y="4851400"/>
            <a:ext cx="266700" cy="81280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3" name="Shape 53"/>
          <p:cNvSpPr/>
          <p:nvPr/>
        </p:nvSpPr>
        <p:spPr>
          <a:xfrm>
            <a:off x="10464800" y="4851400"/>
            <a:ext cx="266700" cy="81280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4" name="Shape 54"/>
          <p:cNvSpPr/>
          <p:nvPr/>
        </p:nvSpPr>
        <p:spPr>
          <a:xfrm>
            <a:off x="10998200" y="4851400"/>
            <a:ext cx="266700" cy="81280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" name="Shape 55"/>
          <p:cNvSpPr/>
          <p:nvPr/>
        </p:nvSpPr>
        <p:spPr>
          <a:xfrm>
            <a:off x="9220200" y="4978400"/>
            <a:ext cx="889000" cy="558800"/>
          </a:xfrm>
          <a:prstGeom prst="ellipse">
            <a:avLst/>
          </a:prstGeom>
          <a:solidFill>
            <a:srgbClr val="E97132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" name="Shape 56"/>
          <p:cNvSpPr/>
          <p:nvPr/>
        </p:nvSpPr>
        <p:spPr>
          <a:xfrm>
            <a:off x="8331200" y="5791200"/>
            <a:ext cx="3200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통과한 만큼 원래 배경이 비친다</a:t>
            </a:r>
            <a:r>
              <a:rPr lang="en-US" altLang="ko-KR" sz="1600" dirty="0">
                <a:solidFill>
                  <a:srgbClr val="404040"/>
                </a:solidFill>
              </a:rPr>
              <a:t>.</a:t>
            </a:r>
            <a:endParaRPr lang="ko-KR" altLang="en-US" sz="1600" dirty="0">
              <a:solidFill>
                <a:srgbClr val="404040"/>
              </a:solidFill>
            </a:endParaRPr>
          </a:p>
        </p:txBody>
      </p:sp>
      <p:sp>
        <p:nvSpPr>
          <p:cNvPr id="5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5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45F868E-A347-095D-B00A-8495BBEE1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916" y="2266751"/>
            <a:ext cx="6030167" cy="952633"/>
          </a:xfrm>
          <a:prstGeom prst="rect">
            <a:avLst/>
          </a:prstGeom>
        </p:spPr>
      </p:pic>
      <p:sp>
        <p:nvSpPr>
          <p:cNvPr id="58" name="Term Underline ①"/>
          <p:cNvSpPr/>
          <p:nvPr/>
        </p:nvSpPr>
        <p:spPr>
          <a:xfrm>
            <a:off x="4381500" y="3263900"/>
            <a:ext cx="1524000" cy="508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9" name="Term Tag ①"/>
          <p:cNvSpPr txBox="1"/>
          <p:nvPr/>
        </p:nvSpPr>
        <p:spPr>
          <a:xfrm>
            <a:off x="4381500" y="3327400"/>
            <a:ext cx="152400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rgbClr val="156082"/>
                </a:solidFill>
                <a:latin typeface="+mj-lt"/>
                <a:ea typeface="+mj-ea"/>
              </a:rPr>
              <a:t>①</a:t>
            </a:r>
          </a:p>
        </p:txBody>
      </p:sp>
      <p:sp>
        <p:nvSpPr>
          <p:cNvPr id="60" name="Term Underline ②"/>
          <p:cNvSpPr/>
          <p:nvPr/>
        </p:nvSpPr>
        <p:spPr>
          <a:xfrm>
            <a:off x="5969000" y="3263900"/>
            <a:ext cx="1549400" cy="508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1" name="Term Tag ②"/>
          <p:cNvSpPr txBox="1"/>
          <p:nvPr/>
        </p:nvSpPr>
        <p:spPr>
          <a:xfrm>
            <a:off x="5969000" y="3327400"/>
            <a:ext cx="154940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rgbClr val="E97132"/>
                </a:solidFill>
                <a:latin typeface="+mj-lt"/>
                <a:ea typeface="+mj-ea"/>
              </a:rPr>
              <a:t>②</a:t>
            </a:r>
          </a:p>
        </p:txBody>
      </p:sp>
      <p:sp>
        <p:nvSpPr>
          <p:cNvPr id="62" name="Term Underline ③"/>
          <p:cNvSpPr/>
          <p:nvPr/>
        </p:nvSpPr>
        <p:spPr>
          <a:xfrm>
            <a:off x="7772400" y="3263900"/>
            <a:ext cx="1270000" cy="50800"/>
          </a:xfrm>
          <a:prstGeom prst="rect">
            <a:avLst/>
          </a:prstGeom>
          <a:solidFill>
            <a:srgbClr val="2F6FDE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3" name="Term Tag ③"/>
          <p:cNvSpPr txBox="1"/>
          <p:nvPr/>
        </p:nvSpPr>
        <p:spPr>
          <a:xfrm>
            <a:off x="7772400" y="33274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rgbClr val="2F6FDE"/>
                </a:solidFill>
                <a:latin typeface="+mj-lt"/>
                <a:ea typeface="+mj-ea"/>
              </a:rPr>
              <a:t>③</a:t>
            </a:r>
          </a:p>
        </p:txBody>
      </p:sp>
      <p:sp>
        <p:nvSpPr>
          <p:cNvPr id="76" name="Method Band"/>
          <p:cNvSpPr/>
          <p:nvPr/>
        </p:nvSpPr>
        <p:spPr>
          <a:xfrm>
            <a:off x="457200" y="1371600"/>
            <a:ext cx="11277600" cy="4318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BFD8E3"/>
                </a:solidFill>
                <a:latin typeface="+mj-lt"/>
                <a:ea typeface="+mj-ea"/>
              </a:rPr>
              <a:t>방식  </a:t>
            </a:r>
            <a:r>
              <a:rPr lang="ko-KR" altLang="en-US" sz="1600" b="1" dirty="0" err="1">
                <a:solidFill>
                  <a:srgbClr val="FFFFFF"/>
                </a:solidFill>
                <a:latin typeface="+mj-lt"/>
                <a:ea typeface="+mj-ea"/>
              </a:rPr>
              <a:t>파티클의</a:t>
            </a: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 깊이와 무관하게 합성</a:t>
            </a:r>
          </a:p>
        </p:txBody>
      </p:sp>
    </p:spTree>
    <p:extLst>
      <p:ext uri="{BB962C8B-B14F-4D97-AF65-F5344CB8AC3E}">
        <p14:creationId xmlns:p14="http://schemas.microsoft.com/office/powerpoint/2010/main" val="3212389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6</a:t>
            </a:fld>
            <a:endParaRPr lang="ko-KR" altLang="en-US"/>
          </a:p>
        </p:txBody>
      </p:sp>
      <p:sp>
        <p:nvSpPr>
          <p:cNvPr id="425" name="Shape 425"/>
          <p:cNvSpPr/>
          <p:nvPr/>
        </p:nvSpPr>
        <p:spPr>
          <a:xfrm>
            <a:off x="4194782" y="2613025"/>
            <a:ext cx="2409217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2000" b="1" dirty="0">
                <a:latin typeface="+mj-lt"/>
                <a:ea typeface="+mj-ea"/>
              </a:rPr>
              <a:t>Accum</a:t>
            </a:r>
            <a:r>
              <a:rPr lang="ko-KR" altLang="en-US" sz="1400" dirty="0">
                <a:solidFill>
                  <a:srgbClr val="8C96A3"/>
                </a:solidFill>
              </a:rPr>
              <a:t>  RGBA16F</a:t>
            </a:r>
          </a:p>
        </p:txBody>
      </p:sp>
      <p:sp>
        <p:nvSpPr>
          <p:cNvPr id="427" name="Shape 427"/>
          <p:cNvSpPr/>
          <p:nvPr/>
        </p:nvSpPr>
        <p:spPr>
          <a:xfrm>
            <a:off x="4194782" y="3000375"/>
            <a:ext cx="2409217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가중치를 곱한 색을 더한다</a:t>
            </a:r>
          </a:p>
        </p:txBody>
      </p:sp>
      <p:sp>
        <p:nvSpPr>
          <p:cNvPr id="429" name="Shape 429"/>
          <p:cNvSpPr/>
          <p:nvPr/>
        </p:nvSpPr>
        <p:spPr>
          <a:xfrm>
            <a:off x="4194782" y="4851400"/>
            <a:ext cx="2409217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2000" b="1" dirty="0">
                <a:latin typeface="+mj-lt"/>
                <a:ea typeface="+mj-ea"/>
              </a:rPr>
              <a:t>Revealage</a:t>
            </a:r>
            <a:r>
              <a:rPr lang="ko-KR" altLang="en-US" sz="1400" dirty="0">
                <a:solidFill>
                  <a:srgbClr val="8C96A3"/>
                </a:solidFill>
              </a:rPr>
              <a:t>  R8</a:t>
            </a:r>
          </a:p>
        </p:txBody>
      </p:sp>
      <p:sp>
        <p:nvSpPr>
          <p:cNvPr id="431" name="Shape 431"/>
          <p:cNvSpPr/>
          <p:nvPr/>
        </p:nvSpPr>
        <p:spPr>
          <a:xfrm>
            <a:off x="4194782" y="5257800"/>
            <a:ext cx="2409217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뒤가 비쳐 보이는 정도를 곱한다</a:t>
            </a:r>
          </a:p>
        </p:txBody>
      </p:sp>
      <p:cxnSp>
        <p:nvCxnSpPr>
          <p:cNvPr id="433" name="Line 433"/>
          <p:cNvCxnSpPr>
            <a:cxnSpLocks/>
          </p:cNvCxnSpPr>
          <p:nvPr/>
        </p:nvCxnSpPr>
        <p:spPr>
          <a:xfrm>
            <a:off x="6451600" y="2943225"/>
            <a:ext cx="736600" cy="320675"/>
          </a:xfrm>
          <a:prstGeom prst="line">
            <a:avLst/>
          </a:prstGeom>
          <a:ln w="19050">
            <a:solidFill>
              <a:srgbClr val="8C96A3"/>
            </a:solidFill>
            <a:tailEnd type="triangle" w="sm" len="sm"/>
          </a:ln>
        </p:spPr>
      </p:cxnSp>
      <p:cxnSp>
        <p:nvCxnSpPr>
          <p:cNvPr id="434" name="Line 434"/>
          <p:cNvCxnSpPr>
            <a:cxnSpLocks/>
          </p:cNvCxnSpPr>
          <p:nvPr/>
        </p:nvCxnSpPr>
        <p:spPr>
          <a:xfrm flipV="1">
            <a:off x="6451600" y="4278549"/>
            <a:ext cx="736600" cy="877651"/>
          </a:xfrm>
          <a:prstGeom prst="line">
            <a:avLst/>
          </a:prstGeom>
          <a:ln w="19050">
            <a:solidFill>
              <a:srgbClr val="8C96A3"/>
            </a:solidFill>
            <a:tailEnd type="triangle" w="sm" len="sm"/>
          </a:ln>
        </p:spPr>
      </p:cxnSp>
      <p:sp>
        <p:nvSpPr>
          <p:cNvPr id="443" name="Shape 443"/>
          <p:cNvSpPr/>
          <p:nvPr/>
        </p:nvSpPr>
        <p:spPr>
          <a:xfrm>
            <a:off x="7264400" y="5149175"/>
            <a:ext cx="447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latin typeface="+mj-lt"/>
                <a:ea typeface="+mj-ea"/>
              </a:rPr>
              <a:t>합성 결과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0E0A098-F434-D934-D361-F7CE50E73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42900"/>
            <a:ext cx="11277600" cy="762000"/>
          </a:xfrm>
        </p:spPr>
        <p:txBody>
          <a:bodyPr/>
          <a:lstStyle/>
          <a:p>
            <a:r>
              <a:rPr lang="en-US" altLang="ko-KR" b="1" dirty="0"/>
              <a:t>WBOIT</a:t>
            </a:r>
            <a:r>
              <a:rPr lang="en-US" altLang="ko-KR" sz="2000" b="0" dirty="0">
                <a:solidFill>
                  <a:srgbClr val="8C96A3"/>
                </a:solidFill>
                <a:latin typeface="+mn-lt"/>
                <a:ea typeface="+mn-ea"/>
              </a:rPr>
              <a:t>  McGuire &amp; Bavoil (2013)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F71F8EE-4D76-93BB-4C89-7DD7ADE339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0" y="1815847"/>
            <a:ext cx="3839122" cy="2159506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5627C3E-6400-45E6-41C9-C904B6E316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0" y="4114800"/>
            <a:ext cx="3839120" cy="2159506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A678F39-1186-2C16-E715-DD14623886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4400" y="2507575"/>
            <a:ext cx="4470400" cy="251460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</p:spTree>
    <p:extLst>
      <p:ext uri="{BB962C8B-B14F-4D97-AF65-F5344CB8AC3E}">
        <p14:creationId xmlns:p14="http://schemas.microsoft.com/office/powerpoint/2010/main" val="131303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30B71C-B16F-E6CD-A08C-F58AC4BC6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WBOIT의 한계: 근사 방식이라 실제와 다르게 보일 수 있다</a:t>
            </a:r>
          </a:p>
        </p:txBody>
      </p:sp>
      <p:sp>
        <p:nvSpPr>
          <p:cNvPr id="20" name="Shape 20"/>
          <p:cNvSpPr/>
          <p:nvPr/>
        </p:nvSpPr>
        <p:spPr>
          <a:xfrm>
            <a:off x="457200" y="1397000"/>
            <a:ext cx="5486400" cy="4876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1" name="Shape 21"/>
          <p:cNvSpPr/>
          <p:nvPr/>
        </p:nvSpPr>
        <p:spPr>
          <a:xfrm>
            <a:off x="711200" y="1651000"/>
            <a:ext cx="381000" cy="3810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22" name="Shape 22"/>
          <p:cNvSpPr/>
          <p:nvPr/>
        </p:nvSpPr>
        <p:spPr>
          <a:xfrm>
            <a:off x="1219200" y="1651000"/>
            <a:ext cx="4470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latin typeface="+mj-lt"/>
                <a:ea typeface="+mj-ea"/>
              </a:rPr>
              <a:t>많이 겹치면 온전한 그림이 나타나지 않는다</a:t>
            </a:r>
          </a:p>
        </p:txBody>
      </p:sp>
      <p:sp>
        <p:nvSpPr>
          <p:cNvPr id="23" name="Shape 23"/>
          <p:cNvSpPr/>
          <p:nvPr/>
        </p:nvSpPr>
        <p:spPr>
          <a:xfrm>
            <a:off x="711200" y="2286000"/>
            <a:ext cx="2362200" cy="25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4" name="Shape 24"/>
          <p:cNvSpPr/>
          <p:nvPr/>
        </p:nvSpPr>
        <p:spPr>
          <a:xfrm>
            <a:off x="711200" y="4927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정렬 블렌딩 (기준)</a:t>
            </a:r>
          </a:p>
        </p:txBody>
      </p:sp>
      <p:sp>
        <p:nvSpPr>
          <p:cNvPr id="25" name="Shape 25"/>
          <p:cNvSpPr/>
          <p:nvPr/>
        </p:nvSpPr>
        <p:spPr>
          <a:xfrm>
            <a:off x="3327400" y="2286000"/>
            <a:ext cx="2362200" cy="254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4F3D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6" name="Shape 26"/>
          <p:cNvSpPr/>
          <p:nvPr/>
        </p:nvSpPr>
        <p:spPr>
          <a:xfrm>
            <a:off x="3327400" y="4927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D94F3D"/>
                </a:solidFill>
                <a:latin typeface="+mj-lt"/>
                <a:ea typeface="+mj-ea"/>
              </a:rPr>
              <a:t>WBOIT</a:t>
            </a:r>
          </a:p>
        </p:txBody>
      </p:sp>
      <p:sp>
        <p:nvSpPr>
          <p:cNvPr id="27" name="Shape 27"/>
          <p:cNvSpPr/>
          <p:nvPr/>
        </p:nvSpPr>
        <p:spPr>
          <a:xfrm>
            <a:off x="711200" y="5562600"/>
            <a:ext cx="4978400" cy="1524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8" name="Shape 28"/>
          <p:cNvSpPr/>
          <p:nvPr/>
        </p:nvSpPr>
        <p:spPr>
          <a:xfrm>
            <a:off x="711200" y="5715000"/>
            <a:ext cx="4978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순서 정보 없이 섞여 색이 평균처럼 탁해진다</a:t>
            </a:r>
          </a:p>
        </p:txBody>
      </p:sp>
      <p:sp>
        <p:nvSpPr>
          <p:cNvPr id="29" name="Shape 29"/>
          <p:cNvSpPr/>
          <p:nvPr/>
        </p:nvSpPr>
        <p:spPr>
          <a:xfrm>
            <a:off x="6248400" y="1397000"/>
            <a:ext cx="5486400" cy="4876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0" name="Shape 30"/>
          <p:cNvSpPr/>
          <p:nvPr/>
        </p:nvSpPr>
        <p:spPr>
          <a:xfrm>
            <a:off x="6502400" y="1651000"/>
            <a:ext cx="381000" cy="3810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31" name="Shape 31"/>
          <p:cNvSpPr/>
          <p:nvPr/>
        </p:nvSpPr>
        <p:spPr>
          <a:xfrm>
            <a:off x="7010400" y="1651000"/>
            <a:ext cx="4470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latin typeface="+mj-lt"/>
                <a:ea typeface="+mj-ea"/>
              </a:rPr>
              <a:t>거리에 따라 실제와 다르게 보인다</a:t>
            </a:r>
          </a:p>
        </p:txBody>
      </p:sp>
      <p:sp>
        <p:nvSpPr>
          <p:cNvPr id="32" name="Shape 32"/>
          <p:cNvSpPr/>
          <p:nvPr/>
        </p:nvSpPr>
        <p:spPr>
          <a:xfrm>
            <a:off x="6502400" y="2286000"/>
            <a:ext cx="2362200" cy="25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3" name="Shape 33"/>
          <p:cNvSpPr/>
          <p:nvPr/>
        </p:nvSpPr>
        <p:spPr>
          <a:xfrm>
            <a:off x="6502400" y="4927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정렬 블렌딩 (기준)</a:t>
            </a:r>
          </a:p>
        </p:txBody>
      </p:sp>
      <p:sp>
        <p:nvSpPr>
          <p:cNvPr id="34" name="Shape 34"/>
          <p:cNvSpPr/>
          <p:nvPr/>
        </p:nvSpPr>
        <p:spPr>
          <a:xfrm>
            <a:off x="9118600" y="2286000"/>
            <a:ext cx="2362200" cy="254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4F3D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5" name="Shape 35"/>
          <p:cNvSpPr/>
          <p:nvPr/>
        </p:nvSpPr>
        <p:spPr>
          <a:xfrm>
            <a:off x="9118600" y="4927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D94F3D"/>
                </a:solidFill>
                <a:latin typeface="+mj-lt"/>
                <a:ea typeface="+mj-ea"/>
              </a:rPr>
              <a:t>WBOIT</a:t>
            </a:r>
          </a:p>
        </p:txBody>
      </p:sp>
      <p:sp>
        <p:nvSpPr>
          <p:cNvPr id="36" name="Shape 36"/>
          <p:cNvSpPr/>
          <p:nvPr/>
        </p:nvSpPr>
        <p:spPr>
          <a:xfrm>
            <a:off x="6502400" y="5562600"/>
            <a:ext cx="4978400" cy="1524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7" name="Shape 37"/>
          <p:cNvSpPr/>
          <p:nvPr/>
        </p:nvSpPr>
        <p:spPr>
          <a:xfrm>
            <a:off x="6502400" y="5715000"/>
            <a:ext cx="4978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가중치 w(z)가 거리마다 섞이는 비율을 바꾼다</a:t>
            </a:r>
          </a:p>
        </p:txBody>
      </p:sp>
      <p:sp>
        <p:nvSpPr>
          <p:cNvPr id="49" name="Shape 49"/>
          <p:cNvSpPr/>
          <p:nvPr/>
        </p:nvSpPr>
        <p:spPr>
          <a:xfrm>
            <a:off x="711200" y="4419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앞뒤 층이 구분됨</a:t>
            </a:r>
          </a:p>
        </p:txBody>
      </p:sp>
      <p:sp>
        <p:nvSpPr>
          <p:cNvPr id="50" name="Shape 50"/>
          <p:cNvSpPr/>
          <p:nvPr/>
        </p:nvSpPr>
        <p:spPr>
          <a:xfrm>
            <a:off x="3327400" y="4419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D94F3D"/>
                </a:solidFill>
              </a:rPr>
              <a:t>겹친 곳이 탁하게 뭉개짐</a:t>
            </a:r>
          </a:p>
        </p:txBody>
      </p:sp>
      <p:sp>
        <p:nvSpPr>
          <p:cNvPr id="59" name="Shape 59"/>
          <p:cNvSpPr/>
          <p:nvPr/>
        </p:nvSpPr>
        <p:spPr>
          <a:xfrm>
            <a:off x="6502400" y="4419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가까운 파티클이 앞을 가림</a:t>
            </a:r>
          </a:p>
        </p:txBody>
      </p:sp>
      <p:sp>
        <p:nvSpPr>
          <p:cNvPr id="60" name="Shape 60"/>
          <p:cNvSpPr/>
          <p:nvPr/>
        </p:nvSpPr>
        <p:spPr>
          <a:xfrm>
            <a:off x="9118600" y="4419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D94F3D"/>
                </a:solidFill>
              </a:rPr>
              <a:t>먼 파티클이 비쳐 올라옴</a:t>
            </a:r>
          </a:p>
        </p:txBody>
      </p:sp>
      <p:sp>
        <p:nvSpPr>
          <p:cNvPr id="61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7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3CC218C-71BC-ABF1-796D-1A136B05F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59" r="18059"/>
          <a:stretch>
            <a:fillRect/>
          </a:stretch>
        </p:blipFill>
        <p:spPr>
          <a:xfrm>
            <a:off x="3352800" y="2311400"/>
            <a:ext cx="2311400" cy="2057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9D3999F-1303-779A-9D30-E178BC38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91" r="18691"/>
          <a:stretch>
            <a:fillRect/>
          </a:stretch>
        </p:blipFill>
        <p:spPr>
          <a:xfrm>
            <a:off x="736600" y="2311400"/>
            <a:ext cx="2311400" cy="20574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FCA7C05-0BFD-7215-4CD2-92C14A2548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03" r="18403"/>
          <a:stretch>
            <a:fillRect/>
          </a:stretch>
        </p:blipFill>
        <p:spPr>
          <a:xfrm>
            <a:off x="6527800" y="2311400"/>
            <a:ext cx="2311400" cy="20574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7937E20-A8C6-2DD9-1111-4346703D45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03" r="18403"/>
          <a:stretch>
            <a:fillRect/>
          </a:stretch>
        </p:blipFill>
        <p:spPr>
          <a:xfrm>
            <a:off x="9144000" y="2311400"/>
            <a:ext cx="2311400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28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9570ED-7AFD-ABCE-E03F-0A6810CA0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파티클이 크고 많이 겹치면 WBOIT가 정렬 방식보다 느려진다</a:t>
            </a:r>
          </a:p>
        </p:txBody>
      </p:sp>
      <p:sp>
        <p:nvSpPr>
          <p:cNvPr id="111" name="Chart Label"/>
          <p:cNvSpPr/>
          <p:nvPr/>
        </p:nvSpPr>
        <p:spPr>
          <a:xfrm>
            <a:off x="6096000" y="1422400"/>
            <a:ext cx="5638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프레임 시간, 큰 파티클이 많이 겹치는 장면</a:t>
            </a:r>
          </a:p>
        </p:txBody>
      </p:sp>
      <p:sp>
        <p:nvSpPr>
          <p:cNvPr id="112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8</a:t>
            </a:fld>
            <a:endParaRPr lang="ko-KR" altLang="en-US"/>
          </a:p>
        </p:txBody>
      </p:sp>
      <p:graphicFrame>
        <p:nvGraphicFramePr>
          <p:cNvPr id="113" name="Chart"/>
          <p:cNvGraphicFramePr/>
          <p:nvPr/>
        </p:nvGraphicFramePr>
        <p:xfrm>
          <a:off x="6096000" y="1752600"/>
          <a:ext cx="5638800" cy="279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50" name="Why Explanation"/>
          <p:cNvSpPr txBox="1"/>
          <p:nvPr/>
        </p:nvSpPr>
        <p:spPr>
          <a:xfrm>
            <a:off x="457200" y="4978400"/>
            <a:ext cx="11277600" cy="1397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254000" tIns="152400" rIns="254000" bIns="152400" anchor="ctr">
            <a:noAutofit/>
          </a:bodyPr>
          <a:lstStyle/>
          <a:p>
            <a:pPr>
              <a:buNone/>
            </a:pP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왜 이런 현상이 나타나는가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ko-KR" altLang="en-US" sz="1600" dirty="0">
                <a:solidFill>
                  <a:srgbClr val="404040"/>
                </a:solidFill>
              </a:rPr>
              <a:t>큰 파티클이 많이 겹치면 픽셀마다 블렌딩 쓰기가 반복되어 </a:t>
            </a: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오버드로</a:t>
            </a:r>
            <a:r>
              <a:rPr lang="ko-KR" altLang="en-US" sz="1600" dirty="0">
                <a:solidFill>
                  <a:srgbClr val="404040"/>
                </a:solidFill>
              </a:rPr>
              <a:t>가 커진다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ko-KR" altLang="en-US" sz="1600" dirty="0">
                <a:solidFill>
                  <a:srgbClr val="404040"/>
                </a:solidFill>
              </a:rPr>
              <a:t>WBOIT는 겹칠 때마다 렌더 타깃 2장(Accum·Revealage)에 써서 </a:t>
            </a:r>
            <a:r>
              <a:rPr lang="ko-KR" altLang="en-US" sz="1600" b="1" dirty="0">
                <a:solidFill>
                  <a:srgbClr val="D94F3D"/>
                </a:solidFill>
                <a:latin typeface="+mj-lt"/>
                <a:ea typeface="+mj-ea"/>
              </a:rPr>
              <a:t>쓰기 대역폭이 2배</a:t>
            </a:r>
            <a:r>
              <a:rPr lang="ko-KR" altLang="en-US" sz="1600" dirty="0">
                <a:solidFill>
                  <a:srgbClr val="404040"/>
                </a:solidFill>
              </a:rPr>
              <a:t>로 든다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ko-KR" altLang="en-US" sz="1600" dirty="0">
                <a:solidFill>
                  <a:srgbClr val="404040"/>
                </a:solidFill>
              </a:rPr>
              <a:t>이 비용이 정렬을 없앤 이득보다 커지면서 정렬 방식보다 느려진다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549EF6F-6A3F-AFAA-72FA-E161D958B2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24000"/>
            <a:ext cx="5334000" cy="3000375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</p:spTree>
    <p:extLst>
      <p:ext uri="{BB962C8B-B14F-4D97-AF65-F5344CB8AC3E}">
        <p14:creationId xmlns:p14="http://schemas.microsoft.com/office/powerpoint/2010/main" val="3801557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E37FB5-895C-CB8F-DA12-9117CA8B9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Tiled WBOIT</a:t>
            </a:r>
          </a:p>
        </p:txBody>
      </p:sp>
      <p:sp>
        <p:nvSpPr>
          <p:cNvPr id="121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9</a:t>
            </a:fld>
            <a:endParaRPr lang="ko-KR" altLang="en-US"/>
          </a:p>
        </p:txBody>
      </p:sp>
      <p:sp>
        <p:nvSpPr>
          <p:cNvPr id="500" name="Shape 500"/>
          <p:cNvSpPr/>
          <p:nvPr/>
        </p:nvSpPr>
        <p:spPr>
          <a:xfrm>
            <a:off x="457200" y="1270000"/>
            <a:ext cx="11277600" cy="4318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BFD8E3"/>
                </a:solidFill>
                <a:latin typeface="+mj-lt"/>
                <a:ea typeface="+mj-ea"/>
              </a:rPr>
              <a:t>목적  </a:t>
            </a: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드로잉을 Compute Shader로 옮겨, 이미 채워진 곳은 더 그리지 않는다</a:t>
            </a:r>
          </a:p>
        </p:txBody>
      </p:sp>
      <p:sp>
        <p:nvSpPr>
          <p:cNvPr id="501" name="Shape 501"/>
          <p:cNvSpPr/>
          <p:nvPr/>
        </p:nvSpPr>
        <p:spPr>
          <a:xfrm>
            <a:off x="457200" y="1803400"/>
            <a:ext cx="11277600" cy="431800"/>
          </a:xfrm>
          <a:prstGeom prst="roundRect">
            <a:avLst/>
          </a:prstGeom>
          <a:solidFill>
            <a:srgbClr val="EAF2F6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56082"/>
                </a:solidFill>
                <a:latin typeface="+mj-lt"/>
                <a:ea typeface="+mj-ea"/>
              </a:rPr>
              <a:t>방식  </a:t>
            </a: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앞에서부터 그리다 충분히 채워지면 멈춘다</a:t>
            </a:r>
          </a:p>
        </p:txBody>
      </p:sp>
      <p:sp>
        <p:nvSpPr>
          <p:cNvPr id="502" name="Shape 502"/>
          <p:cNvSpPr/>
          <p:nvPr/>
        </p:nvSpPr>
        <p:spPr>
          <a:xfrm>
            <a:off x="457200" y="2438400"/>
            <a:ext cx="3606800" cy="3860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03" name="Shape 503"/>
          <p:cNvSpPr/>
          <p:nvPr/>
        </p:nvSpPr>
        <p:spPr>
          <a:xfrm>
            <a:off x="660400" y="2641600"/>
            <a:ext cx="355600" cy="3556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504" name="Shape 504"/>
          <p:cNvSpPr/>
          <p:nvPr/>
        </p:nvSpPr>
        <p:spPr>
          <a:xfrm>
            <a:off x="1143000" y="2590800"/>
            <a:ext cx="27686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카메라 기준으로</a:t>
            </a:r>
          </a:p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깊이를 N개 구간으로 나눈다</a:t>
            </a:r>
          </a:p>
        </p:txBody>
      </p:sp>
      <p:sp>
        <p:nvSpPr>
          <p:cNvPr id="505" name="Shape 505"/>
          <p:cNvSpPr/>
          <p:nvPr/>
        </p:nvSpPr>
        <p:spPr>
          <a:xfrm>
            <a:off x="4102100" y="4267200"/>
            <a:ext cx="152400" cy="203200"/>
          </a:xfrm>
          <a:prstGeom prst="chevron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06" name="Shape 506"/>
          <p:cNvSpPr/>
          <p:nvPr/>
        </p:nvSpPr>
        <p:spPr>
          <a:xfrm>
            <a:off x="4292600" y="2438400"/>
            <a:ext cx="3606800" cy="3860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07" name="Shape 507"/>
          <p:cNvSpPr/>
          <p:nvPr/>
        </p:nvSpPr>
        <p:spPr>
          <a:xfrm>
            <a:off x="4495800" y="2641600"/>
            <a:ext cx="355600" cy="3556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508" name="Shape 508"/>
          <p:cNvSpPr/>
          <p:nvPr/>
        </p:nvSpPr>
        <p:spPr>
          <a:xfrm>
            <a:off x="4978400" y="2590800"/>
            <a:ext cx="27686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파티클마다</a:t>
            </a:r>
          </a:p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몇 번째 구간인지 기록한다</a:t>
            </a:r>
          </a:p>
        </p:txBody>
      </p:sp>
      <p:sp>
        <p:nvSpPr>
          <p:cNvPr id="509" name="Shape 509"/>
          <p:cNvSpPr/>
          <p:nvPr/>
        </p:nvSpPr>
        <p:spPr>
          <a:xfrm>
            <a:off x="7937500" y="4267200"/>
            <a:ext cx="152400" cy="203200"/>
          </a:xfrm>
          <a:prstGeom prst="chevron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10" name="Shape 510"/>
          <p:cNvSpPr/>
          <p:nvPr/>
        </p:nvSpPr>
        <p:spPr>
          <a:xfrm>
            <a:off x="8128000" y="2438400"/>
            <a:ext cx="3606800" cy="3860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11" name="Shape 511"/>
          <p:cNvSpPr/>
          <p:nvPr/>
        </p:nvSpPr>
        <p:spPr>
          <a:xfrm>
            <a:off x="8331200" y="2641600"/>
            <a:ext cx="355600" cy="3556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3</a:t>
            </a:r>
          </a:p>
        </p:txBody>
      </p:sp>
      <p:sp>
        <p:nvSpPr>
          <p:cNvPr id="512" name="Shape 512"/>
          <p:cNvSpPr/>
          <p:nvPr/>
        </p:nvSpPr>
        <p:spPr>
          <a:xfrm>
            <a:off x="8813800" y="2590800"/>
            <a:ext cx="27686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화면을 x, y 타일로</a:t>
            </a:r>
          </a:p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나누어 그린다</a:t>
            </a:r>
          </a:p>
        </p:txBody>
      </p:sp>
      <p:sp>
        <p:nvSpPr>
          <p:cNvPr id="513" name="Shape 513"/>
          <p:cNvSpPr/>
          <p:nvPr/>
        </p:nvSpPr>
        <p:spPr>
          <a:xfrm>
            <a:off x="711200" y="4394200"/>
            <a:ext cx="304800" cy="228600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14" name="Shape 514"/>
          <p:cNvSpPr/>
          <p:nvPr/>
        </p:nvSpPr>
        <p:spPr>
          <a:xfrm>
            <a:off x="990600" y="4432300"/>
            <a:ext cx="114300" cy="152400"/>
          </a:xfrm>
          <a:prstGeom prst="triangl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15" name="Shape 515"/>
          <p:cNvSpPr/>
          <p:nvPr/>
        </p:nvSpPr>
        <p:spPr>
          <a:xfrm>
            <a:off x="1193800" y="3429000"/>
            <a:ext cx="508000" cy="215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16" name="Shape 516"/>
          <p:cNvSpPr/>
          <p:nvPr/>
        </p:nvSpPr>
        <p:spPr>
          <a:xfrm>
            <a:off x="1143000" y="5664200"/>
            <a:ext cx="60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595959"/>
                </a:solidFill>
              </a:rPr>
              <a:t>구간1</a:t>
            </a:r>
          </a:p>
        </p:txBody>
      </p:sp>
      <p:sp>
        <p:nvSpPr>
          <p:cNvPr id="517" name="Shape 517"/>
          <p:cNvSpPr/>
          <p:nvPr/>
        </p:nvSpPr>
        <p:spPr>
          <a:xfrm>
            <a:off x="1727200" y="3429000"/>
            <a:ext cx="508000" cy="2159000"/>
          </a:xfrm>
          <a:prstGeom prst="rect">
            <a:avLst/>
          </a:prstGeom>
          <a:solidFill>
            <a:srgbClr val="DCE9E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18" name="Shape 518"/>
          <p:cNvSpPr/>
          <p:nvPr/>
        </p:nvSpPr>
        <p:spPr>
          <a:xfrm>
            <a:off x="1676400" y="5664200"/>
            <a:ext cx="60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595959"/>
                </a:solidFill>
              </a:rPr>
              <a:t>구간2</a:t>
            </a:r>
          </a:p>
        </p:txBody>
      </p:sp>
      <p:sp>
        <p:nvSpPr>
          <p:cNvPr id="519" name="Shape 519"/>
          <p:cNvSpPr/>
          <p:nvPr/>
        </p:nvSpPr>
        <p:spPr>
          <a:xfrm>
            <a:off x="2260600" y="3429000"/>
            <a:ext cx="508000" cy="215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20" name="Shape 520"/>
          <p:cNvSpPr/>
          <p:nvPr/>
        </p:nvSpPr>
        <p:spPr>
          <a:xfrm>
            <a:off x="2209800" y="5664200"/>
            <a:ext cx="60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595959"/>
                </a:solidFill>
              </a:rPr>
              <a:t>구간3</a:t>
            </a:r>
          </a:p>
        </p:txBody>
      </p:sp>
      <p:sp>
        <p:nvSpPr>
          <p:cNvPr id="521" name="Shape 521"/>
          <p:cNvSpPr/>
          <p:nvPr/>
        </p:nvSpPr>
        <p:spPr>
          <a:xfrm>
            <a:off x="2794000" y="3429000"/>
            <a:ext cx="508000" cy="2159000"/>
          </a:xfrm>
          <a:prstGeom prst="rect">
            <a:avLst/>
          </a:prstGeom>
          <a:solidFill>
            <a:srgbClr val="DCE9E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22" name="Shape 522"/>
          <p:cNvSpPr/>
          <p:nvPr/>
        </p:nvSpPr>
        <p:spPr>
          <a:xfrm>
            <a:off x="2743200" y="5664200"/>
            <a:ext cx="60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595959"/>
                </a:solidFill>
              </a:rPr>
              <a:t>…</a:t>
            </a:r>
          </a:p>
        </p:txBody>
      </p:sp>
      <p:sp>
        <p:nvSpPr>
          <p:cNvPr id="523" name="Shape 523"/>
          <p:cNvSpPr/>
          <p:nvPr/>
        </p:nvSpPr>
        <p:spPr>
          <a:xfrm>
            <a:off x="3327400" y="3429000"/>
            <a:ext cx="508000" cy="215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24" name="Shape 524"/>
          <p:cNvSpPr/>
          <p:nvPr/>
        </p:nvSpPr>
        <p:spPr>
          <a:xfrm>
            <a:off x="3276600" y="5664200"/>
            <a:ext cx="60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595959"/>
                </a:solidFill>
              </a:rPr>
              <a:t>구간N</a:t>
            </a:r>
          </a:p>
        </p:txBody>
      </p:sp>
      <p:sp>
        <p:nvSpPr>
          <p:cNvPr id="525" name="Shape 525"/>
          <p:cNvSpPr/>
          <p:nvPr/>
        </p:nvSpPr>
        <p:spPr>
          <a:xfrm>
            <a:off x="4546600" y="4394200"/>
            <a:ext cx="304800" cy="228600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26" name="Shape 526"/>
          <p:cNvSpPr/>
          <p:nvPr/>
        </p:nvSpPr>
        <p:spPr>
          <a:xfrm>
            <a:off x="4826000" y="4432300"/>
            <a:ext cx="114300" cy="152400"/>
          </a:xfrm>
          <a:prstGeom prst="triangl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27" name="Shape 527"/>
          <p:cNvSpPr/>
          <p:nvPr/>
        </p:nvSpPr>
        <p:spPr>
          <a:xfrm>
            <a:off x="5029200" y="3429000"/>
            <a:ext cx="508000" cy="215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28" name="Shape 528"/>
          <p:cNvSpPr/>
          <p:nvPr/>
        </p:nvSpPr>
        <p:spPr>
          <a:xfrm>
            <a:off x="4978400" y="5664200"/>
            <a:ext cx="60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595959"/>
                </a:solidFill>
              </a:rPr>
              <a:t>구간1</a:t>
            </a:r>
          </a:p>
        </p:txBody>
      </p:sp>
      <p:sp>
        <p:nvSpPr>
          <p:cNvPr id="529" name="Shape 529"/>
          <p:cNvSpPr/>
          <p:nvPr/>
        </p:nvSpPr>
        <p:spPr>
          <a:xfrm>
            <a:off x="5562600" y="3429000"/>
            <a:ext cx="508000" cy="2159000"/>
          </a:xfrm>
          <a:prstGeom prst="rect">
            <a:avLst/>
          </a:prstGeom>
          <a:solidFill>
            <a:srgbClr val="DCE9E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30" name="Shape 530"/>
          <p:cNvSpPr/>
          <p:nvPr/>
        </p:nvSpPr>
        <p:spPr>
          <a:xfrm>
            <a:off x="5511800" y="5664200"/>
            <a:ext cx="60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595959"/>
                </a:solidFill>
              </a:rPr>
              <a:t>구간2</a:t>
            </a:r>
          </a:p>
        </p:txBody>
      </p:sp>
      <p:sp>
        <p:nvSpPr>
          <p:cNvPr id="531" name="Shape 531"/>
          <p:cNvSpPr/>
          <p:nvPr/>
        </p:nvSpPr>
        <p:spPr>
          <a:xfrm>
            <a:off x="6096000" y="3429000"/>
            <a:ext cx="508000" cy="215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32" name="Shape 532"/>
          <p:cNvSpPr/>
          <p:nvPr/>
        </p:nvSpPr>
        <p:spPr>
          <a:xfrm>
            <a:off x="6045200" y="5664200"/>
            <a:ext cx="60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595959"/>
                </a:solidFill>
              </a:rPr>
              <a:t>구간3</a:t>
            </a:r>
          </a:p>
        </p:txBody>
      </p:sp>
      <p:sp>
        <p:nvSpPr>
          <p:cNvPr id="533" name="Shape 533"/>
          <p:cNvSpPr/>
          <p:nvPr/>
        </p:nvSpPr>
        <p:spPr>
          <a:xfrm>
            <a:off x="6629400" y="3429000"/>
            <a:ext cx="508000" cy="2159000"/>
          </a:xfrm>
          <a:prstGeom prst="rect">
            <a:avLst/>
          </a:prstGeom>
          <a:solidFill>
            <a:srgbClr val="DCE9E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34" name="Shape 534"/>
          <p:cNvSpPr/>
          <p:nvPr/>
        </p:nvSpPr>
        <p:spPr>
          <a:xfrm>
            <a:off x="6578600" y="5664200"/>
            <a:ext cx="60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595959"/>
                </a:solidFill>
              </a:rPr>
              <a:t>…</a:t>
            </a:r>
          </a:p>
        </p:txBody>
      </p:sp>
      <p:sp>
        <p:nvSpPr>
          <p:cNvPr id="535" name="Shape 535"/>
          <p:cNvSpPr/>
          <p:nvPr/>
        </p:nvSpPr>
        <p:spPr>
          <a:xfrm>
            <a:off x="7162800" y="3429000"/>
            <a:ext cx="508000" cy="215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36" name="Shape 536"/>
          <p:cNvSpPr/>
          <p:nvPr/>
        </p:nvSpPr>
        <p:spPr>
          <a:xfrm>
            <a:off x="7112000" y="5664200"/>
            <a:ext cx="60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595959"/>
                </a:solidFill>
              </a:rPr>
              <a:t>구간N</a:t>
            </a:r>
          </a:p>
        </p:txBody>
      </p:sp>
      <p:sp>
        <p:nvSpPr>
          <p:cNvPr id="537" name="Shape 537"/>
          <p:cNvSpPr/>
          <p:nvPr/>
        </p:nvSpPr>
        <p:spPr>
          <a:xfrm>
            <a:off x="5118100" y="3810000"/>
            <a:ext cx="330200" cy="330200"/>
          </a:xfrm>
          <a:prstGeom prst="ellipse">
            <a:avLst/>
          </a:prstGeom>
          <a:solidFill>
            <a:srgbClr val="E97132">
              <a:alpha val="8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538" name="Shape 538"/>
          <p:cNvSpPr/>
          <p:nvPr/>
        </p:nvSpPr>
        <p:spPr>
          <a:xfrm>
            <a:off x="5651500" y="4572000"/>
            <a:ext cx="330200" cy="330200"/>
          </a:xfrm>
          <a:prstGeom prst="ellipse">
            <a:avLst/>
          </a:prstGeom>
          <a:solidFill>
            <a:srgbClr val="E97132">
              <a:alpha val="8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539" name="Shape 539"/>
          <p:cNvSpPr/>
          <p:nvPr/>
        </p:nvSpPr>
        <p:spPr>
          <a:xfrm>
            <a:off x="6184900" y="3937000"/>
            <a:ext cx="330200" cy="330200"/>
          </a:xfrm>
          <a:prstGeom prst="ellipse">
            <a:avLst/>
          </a:prstGeom>
          <a:solidFill>
            <a:srgbClr val="E97132">
              <a:alpha val="8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3</a:t>
            </a:r>
          </a:p>
        </p:txBody>
      </p:sp>
      <p:sp>
        <p:nvSpPr>
          <p:cNvPr id="540" name="Shape 540"/>
          <p:cNvSpPr/>
          <p:nvPr/>
        </p:nvSpPr>
        <p:spPr>
          <a:xfrm>
            <a:off x="6184900" y="4927600"/>
            <a:ext cx="330200" cy="330200"/>
          </a:xfrm>
          <a:prstGeom prst="ellipse">
            <a:avLst/>
          </a:prstGeom>
          <a:solidFill>
            <a:srgbClr val="E97132">
              <a:alpha val="8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3</a:t>
            </a:r>
          </a:p>
        </p:txBody>
      </p:sp>
      <p:sp>
        <p:nvSpPr>
          <p:cNvPr id="541" name="Shape 541"/>
          <p:cNvSpPr/>
          <p:nvPr/>
        </p:nvSpPr>
        <p:spPr>
          <a:xfrm>
            <a:off x="7251700" y="4318000"/>
            <a:ext cx="330200" cy="330200"/>
          </a:xfrm>
          <a:prstGeom prst="ellipse">
            <a:avLst/>
          </a:prstGeom>
          <a:solidFill>
            <a:srgbClr val="E97132">
              <a:alpha val="8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N</a:t>
            </a:r>
          </a:p>
        </p:txBody>
      </p:sp>
      <p:sp>
        <p:nvSpPr>
          <p:cNvPr id="542" name="Shape 542"/>
          <p:cNvSpPr/>
          <p:nvPr/>
        </p:nvSpPr>
        <p:spPr>
          <a:xfrm>
            <a:off x="84074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43" name="Shape 543"/>
          <p:cNvSpPr/>
          <p:nvPr/>
        </p:nvSpPr>
        <p:spPr>
          <a:xfrm>
            <a:off x="89154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44" name="Shape 544"/>
          <p:cNvSpPr/>
          <p:nvPr/>
        </p:nvSpPr>
        <p:spPr>
          <a:xfrm>
            <a:off x="94234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45" name="Shape 545"/>
          <p:cNvSpPr/>
          <p:nvPr/>
        </p:nvSpPr>
        <p:spPr>
          <a:xfrm>
            <a:off x="99314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46" name="Shape 546"/>
          <p:cNvSpPr/>
          <p:nvPr/>
        </p:nvSpPr>
        <p:spPr>
          <a:xfrm>
            <a:off x="104394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47" name="Shape 547"/>
          <p:cNvSpPr/>
          <p:nvPr/>
        </p:nvSpPr>
        <p:spPr>
          <a:xfrm>
            <a:off x="109474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48" name="Shape 548"/>
          <p:cNvSpPr/>
          <p:nvPr/>
        </p:nvSpPr>
        <p:spPr>
          <a:xfrm>
            <a:off x="8407400" y="3987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49" name="Shape 549"/>
          <p:cNvSpPr/>
          <p:nvPr/>
        </p:nvSpPr>
        <p:spPr>
          <a:xfrm>
            <a:off x="8915400" y="3987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0" name="Shape 550"/>
          <p:cNvSpPr/>
          <p:nvPr/>
        </p:nvSpPr>
        <p:spPr>
          <a:xfrm>
            <a:off x="9423400" y="3987800"/>
            <a:ext cx="508000" cy="508000"/>
          </a:xfrm>
          <a:prstGeom prst="rect">
            <a:avLst/>
          </a:prstGeom>
          <a:solidFill>
            <a:srgbClr val="D3E5EE"/>
          </a:solidFill>
          <a:ln w="19050">
            <a:solidFill>
              <a:srgbClr val="156082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1" name="Shape 551"/>
          <p:cNvSpPr/>
          <p:nvPr/>
        </p:nvSpPr>
        <p:spPr>
          <a:xfrm>
            <a:off x="9931400" y="3987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2" name="Shape 552"/>
          <p:cNvSpPr/>
          <p:nvPr/>
        </p:nvSpPr>
        <p:spPr>
          <a:xfrm>
            <a:off x="10439400" y="3987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3" name="Shape 553"/>
          <p:cNvSpPr/>
          <p:nvPr/>
        </p:nvSpPr>
        <p:spPr>
          <a:xfrm>
            <a:off x="10947400" y="3987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4" name="Shape 554"/>
          <p:cNvSpPr/>
          <p:nvPr/>
        </p:nvSpPr>
        <p:spPr>
          <a:xfrm>
            <a:off x="84074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5" name="Shape 555"/>
          <p:cNvSpPr/>
          <p:nvPr/>
        </p:nvSpPr>
        <p:spPr>
          <a:xfrm>
            <a:off x="89154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6" name="Shape 556"/>
          <p:cNvSpPr/>
          <p:nvPr/>
        </p:nvSpPr>
        <p:spPr>
          <a:xfrm>
            <a:off x="94234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7" name="Shape 557"/>
          <p:cNvSpPr/>
          <p:nvPr/>
        </p:nvSpPr>
        <p:spPr>
          <a:xfrm>
            <a:off x="99314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8" name="Shape 558"/>
          <p:cNvSpPr/>
          <p:nvPr/>
        </p:nvSpPr>
        <p:spPr>
          <a:xfrm>
            <a:off x="104394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9" name="Shape 559"/>
          <p:cNvSpPr/>
          <p:nvPr/>
        </p:nvSpPr>
        <p:spPr>
          <a:xfrm>
            <a:off x="109474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0" name="Shape 560"/>
          <p:cNvSpPr/>
          <p:nvPr/>
        </p:nvSpPr>
        <p:spPr>
          <a:xfrm>
            <a:off x="84074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1" name="Shape 561"/>
          <p:cNvSpPr/>
          <p:nvPr/>
        </p:nvSpPr>
        <p:spPr>
          <a:xfrm>
            <a:off x="89154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2" name="Shape 562"/>
          <p:cNvSpPr/>
          <p:nvPr/>
        </p:nvSpPr>
        <p:spPr>
          <a:xfrm>
            <a:off x="94234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3" name="Shape 563"/>
          <p:cNvSpPr/>
          <p:nvPr/>
        </p:nvSpPr>
        <p:spPr>
          <a:xfrm>
            <a:off x="99314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4" name="Shape 564"/>
          <p:cNvSpPr/>
          <p:nvPr/>
        </p:nvSpPr>
        <p:spPr>
          <a:xfrm>
            <a:off x="104394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5" name="Shape 565"/>
          <p:cNvSpPr/>
          <p:nvPr/>
        </p:nvSpPr>
        <p:spPr>
          <a:xfrm>
            <a:off x="109474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6" name="Shape 566"/>
          <p:cNvSpPr/>
          <p:nvPr/>
        </p:nvSpPr>
        <p:spPr>
          <a:xfrm>
            <a:off x="8966200" y="3784600"/>
            <a:ext cx="660400" cy="660400"/>
          </a:xfrm>
          <a:prstGeom prst="ellipse">
            <a:avLst/>
          </a:prstGeom>
          <a:solidFill>
            <a:srgbClr val="E97132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7" name="Shape 567"/>
          <p:cNvSpPr/>
          <p:nvPr/>
        </p:nvSpPr>
        <p:spPr>
          <a:xfrm>
            <a:off x="9423400" y="4114800"/>
            <a:ext cx="762000" cy="762000"/>
          </a:xfrm>
          <a:prstGeom prst="ellipse">
            <a:avLst/>
          </a:prstGeom>
          <a:solidFill>
            <a:srgbClr val="E97132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8" name="Shape 568"/>
          <p:cNvSpPr/>
          <p:nvPr/>
        </p:nvSpPr>
        <p:spPr>
          <a:xfrm>
            <a:off x="10312400" y="3987800"/>
            <a:ext cx="508000" cy="508000"/>
          </a:xfrm>
          <a:prstGeom prst="ellipse">
            <a:avLst/>
          </a:prstGeom>
          <a:solidFill>
            <a:srgbClr val="E97132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9" name="Shape 569"/>
          <p:cNvSpPr/>
          <p:nvPr/>
        </p:nvSpPr>
        <p:spPr>
          <a:xfrm>
            <a:off x="10642600" y="4572000"/>
            <a:ext cx="609600" cy="609600"/>
          </a:xfrm>
          <a:prstGeom prst="ellipse">
            <a:avLst/>
          </a:prstGeom>
          <a:solidFill>
            <a:srgbClr val="E97132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70" name="Shape 570"/>
          <p:cNvSpPr/>
          <p:nvPr/>
        </p:nvSpPr>
        <p:spPr>
          <a:xfrm>
            <a:off x="8940800" y="4775200"/>
            <a:ext cx="457200" cy="457200"/>
          </a:xfrm>
          <a:prstGeom prst="ellipse">
            <a:avLst/>
          </a:prstGeom>
          <a:solidFill>
            <a:srgbClr val="E97132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72" name="Shape 572"/>
          <p:cNvSpPr/>
          <p:nvPr/>
        </p:nvSpPr>
        <p:spPr>
          <a:xfrm>
            <a:off x="8128000" y="5627991"/>
            <a:ext cx="3606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8C96A3"/>
                </a:solidFill>
              </a:rPr>
              <a:t>(x, y 기준으로 화면 분할 렌더링)</a:t>
            </a:r>
          </a:p>
        </p:txBody>
      </p:sp>
    </p:spTree>
    <p:extLst>
      <p:ext uri="{BB962C8B-B14F-4D97-AF65-F5344CB8AC3E}">
        <p14:creationId xmlns:p14="http://schemas.microsoft.com/office/powerpoint/2010/main" val="3848441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28A045-BBCB-E46A-CD38-88B7899CA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Tiled WBOIT</a:t>
            </a:r>
          </a:p>
        </p:txBody>
      </p:sp>
      <p:sp>
        <p:nvSpPr>
          <p:cNvPr id="20" name="Shape 20"/>
          <p:cNvSpPr/>
          <p:nvPr/>
        </p:nvSpPr>
        <p:spPr>
          <a:xfrm>
            <a:off x="457200" y="1270000"/>
            <a:ext cx="406400" cy="4064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+mj-lt"/>
                <a:ea typeface="+mj-ea"/>
              </a:rPr>
              <a:t>4</a:t>
            </a:r>
          </a:p>
        </p:txBody>
      </p:sp>
      <p:sp>
        <p:nvSpPr>
          <p:cNvPr id="21" name="Shape 21"/>
          <p:cNvSpPr/>
          <p:nvPr/>
        </p:nvSpPr>
        <p:spPr>
          <a:xfrm>
            <a:off x="1016000" y="12700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solidFill>
                  <a:srgbClr val="1F1F1F"/>
                </a:solidFill>
                <a:latin typeface="+mj-lt"/>
                <a:ea typeface="+mj-ea"/>
              </a:rPr>
              <a:t>타일마다 가까운 구간부터 </a:t>
            </a:r>
            <a:r>
              <a:rPr lang="ko-KR" altLang="en-US" sz="2000" b="1" dirty="0">
                <a:solidFill>
                  <a:srgbClr val="156082"/>
                </a:solidFill>
                <a:latin typeface="+mj-lt"/>
                <a:ea typeface="+mj-ea"/>
              </a:rPr>
              <a:t>WBOIT 방식으로 그리고</a:t>
            </a:r>
            <a:r>
              <a:rPr lang="ko-KR" altLang="en-US" sz="2000" b="1" dirty="0">
                <a:solidFill>
                  <a:srgbClr val="1F1F1F"/>
                </a:solidFill>
                <a:latin typeface="+mj-lt"/>
                <a:ea typeface="+mj-ea"/>
              </a:rPr>
              <a:t>, 충분히 채워지면 멈춘다</a:t>
            </a:r>
          </a:p>
        </p:txBody>
      </p:sp>
      <p:sp>
        <p:nvSpPr>
          <p:cNvPr id="22" name="Shape 22"/>
          <p:cNvSpPr/>
          <p:nvPr/>
        </p:nvSpPr>
        <p:spPr>
          <a:xfrm>
            <a:off x="457200" y="1879600"/>
            <a:ext cx="6604000" cy="44196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3" name="Shape 23"/>
          <p:cNvSpPr/>
          <p:nvPr/>
        </p:nvSpPr>
        <p:spPr>
          <a:xfrm>
            <a:off x="711200" y="2057400"/>
            <a:ext cx="609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56082"/>
                </a:solidFill>
                <a:latin typeface="+mj-lt"/>
                <a:ea typeface="+mj-ea"/>
              </a:rPr>
              <a:t>타일 하나에서 일어나는 일</a:t>
            </a:r>
          </a:p>
        </p:txBody>
      </p:sp>
      <p:sp>
        <p:nvSpPr>
          <p:cNvPr id="24" name="Shape 24"/>
          <p:cNvSpPr/>
          <p:nvPr/>
        </p:nvSpPr>
        <p:spPr>
          <a:xfrm>
            <a:off x="711200" y="24384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b="1" dirty="0">
                <a:solidFill>
                  <a:srgbClr val="8C96A3"/>
                </a:solidFill>
                <a:latin typeface="+mj-lt"/>
                <a:ea typeface="+mj-ea"/>
              </a:rPr>
              <a:t>구간</a:t>
            </a:r>
          </a:p>
        </p:txBody>
      </p:sp>
      <p:sp>
        <p:nvSpPr>
          <p:cNvPr id="25" name="Shape 25"/>
          <p:cNvSpPr/>
          <p:nvPr/>
        </p:nvSpPr>
        <p:spPr>
          <a:xfrm>
            <a:off x="1854200" y="2438400"/>
            <a:ext cx="76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8C96A3"/>
                </a:solidFill>
                <a:latin typeface="+mj-lt"/>
                <a:ea typeface="+mj-ea"/>
              </a:rPr>
              <a:t>타일</a:t>
            </a:r>
          </a:p>
        </p:txBody>
      </p:sp>
      <p:sp>
        <p:nvSpPr>
          <p:cNvPr id="26" name="Shape 26"/>
          <p:cNvSpPr/>
          <p:nvPr/>
        </p:nvSpPr>
        <p:spPr>
          <a:xfrm>
            <a:off x="2870200" y="2438400"/>
            <a:ext cx="279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b="1" dirty="0">
                <a:solidFill>
                  <a:srgbClr val="8C96A3"/>
                </a:solidFill>
                <a:latin typeface="+mj-lt"/>
                <a:ea typeface="+mj-ea"/>
              </a:rPr>
              <a:t>누적 alpha</a:t>
            </a:r>
          </a:p>
        </p:txBody>
      </p:sp>
      <p:sp>
        <p:nvSpPr>
          <p:cNvPr id="27" name="Shape 27"/>
          <p:cNvSpPr/>
          <p:nvPr/>
        </p:nvSpPr>
        <p:spPr>
          <a:xfrm>
            <a:off x="711200" y="29083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56082"/>
                </a:solidFill>
                <a:latin typeface="+mj-lt"/>
                <a:ea typeface="+mj-ea"/>
              </a:rPr>
              <a:t>구간 1</a:t>
            </a:r>
          </a:p>
        </p:txBody>
      </p:sp>
      <p:sp>
        <p:nvSpPr>
          <p:cNvPr id="30" name="Shape 30"/>
          <p:cNvSpPr/>
          <p:nvPr/>
        </p:nvSpPr>
        <p:spPr>
          <a:xfrm>
            <a:off x="2870200" y="2959100"/>
            <a:ext cx="3048000" cy="1778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" name="Shape 31"/>
          <p:cNvSpPr/>
          <p:nvPr/>
        </p:nvSpPr>
        <p:spPr>
          <a:xfrm>
            <a:off x="2870200" y="2959100"/>
            <a:ext cx="1371600" cy="1778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" name="Shape 32"/>
          <p:cNvSpPr/>
          <p:nvPr/>
        </p:nvSpPr>
        <p:spPr>
          <a:xfrm>
            <a:off x="6045200" y="2908300"/>
            <a:ext cx="76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0.45</a:t>
            </a:r>
          </a:p>
        </p:txBody>
      </p:sp>
      <p:sp>
        <p:nvSpPr>
          <p:cNvPr id="33" name="Shape 33"/>
          <p:cNvSpPr/>
          <p:nvPr/>
        </p:nvSpPr>
        <p:spPr>
          <a:xfrm>
            <a:off x="711200" y="34925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56082"/>
                </a:solidFill>
                <a:latin typeface="+mj-lt"/>
                <a:ea typeface="+mj-ea"/>
              </a:rPr>
              <a:t>구간 2</a:t>
            </a:r>
          </a:p>
        </p:txBody>
      </p:sp>
      <p:sp>
        <p:nvSpPr>
          <p:cNvPr id="36" name="Shape 36"/>
          <p:cNvSpPr/>
          <p:nvPr/>
        </p:nvSpPr>
        <p:spPr>
          <a:xfrm>
            <a:off x="2870200" y="3543300"/>
            <a:ext cx="3048000" cy="1778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7" name="Shape 37"/>
          <p:cNvSpPr/>
          <p:nvPr/>
        </p:nvSpPr>
        <p:spPr>
          <a:xfrm>
            <a:off x="2870200" y="3543300"/>
            <a:ext cx="2286000" cy="1778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8" name="Shape 38"/>
          <p:cNvSpPr/>
          <p:nvPr/>
        </p:nvSpPr>
        <p:spPr>
          <a:xfrm>
            <a:off x="6045200" y="3492500"/>
            <a:ext cx="76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0.75</a:t>
            </a:r>
          </a:p>
        </p:txBody>
      </p:sp>
      <p:sp>
        <p:nvSpPr>
          <p:cNvPr id="39" name="Shape 39"/>
          <p:cNvSpPr/>
          <p:nvPr/>
        </p:nvSpPr>
        <p:spPr>
          <a:xfrm>
            <a:off x="711200" y="40767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56082"/>
                </a:solidFill>
                <a:latin typeface="+mj-lt"/>
                <a:ea typeface="+mj-ea"/>
              </a:rPr>
              <a:t>구간 3</a:t>
            </a:r>
          </a:p>
        </p:txBody>
      </p:sp>
      <p:sp>
        <p:nvSpPr>
          <p:cNvPr id="42" name="Shape 42"/>
          <p:cNvSpPr/>
          <p:nvPr/>
        </p:nvSpPr>
        <p:spPr>
          <a:xfrm>
            <a:off x="2870200" y="4127500"/>
            <a:ext cx="3048000" cy="1778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3" name="Shape 43"/>
          <p:cNvSpPr/>
          <p:nvPr/>
        </p:nvSpPr>
        <p:spPr>
          <a:xfrm>
            <a:off x="2870200" y="4127500"/>
            <a:ext cx="2895600" cy="1778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4" name="Shape 44"/>
          <p:cNvSpPr/>
          <p:nvPr/>
        </p:nvSpPr>
        <p:spPr>
          <a:xfrm>
            <a:off x="6045200" y="4076700"/>
            <a:ext cx="76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0.95</a:t>
            </a:r>
          </a:p>
        </p:txBody>
      </p:sp>
      <p:sp>
        <p:nvSpPr>
          <p:cNvPr id="45" name="Shape 45"/>
          <p:cNvSpPr/>
          <p:nvPr/>
        </p:nvSpPr>
        <p:spPr>
          <a:xfrm>
            <a:off x="711200" y="4597400"/>
            <a:ext cx="6096000" cy="254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6" name="Shape 46"/>
          <p:cNvSpPr/>
          <p:nvPr/>
        </p:nvSpPr>
        <p:spPr>
          <a:xfrm>
            <a:off x="711200" y="4673600"/>
            <a:ext cx="609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altLang="en-US" sz="1600" b="1" dirty="0">
                <a:solidFill>
                  <a:srgbClr val="D94F3D"/>
                </a:solidFill>
                <a:latin typeface="+mj-lt"/>
                <a:ea typeface="+mj-ea"/>
              </a:rPr>
              <a:t>충분히 채워짐 → 여기서 드로우 중단</a:t>
            </a:r>
          </a:p>
        </p:txBody>
      </p:sp>
      <p:sp>
        <p:nvSpPr>
          <p:cNvPr id="47" name="Shape 47"/>
          <p:cNvSpPr/>
          <p:nvPr/>
        </p:nvSpPr>
        <p:spPr>
          <a:xfrm>
            <a:off x="711200" y="51689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8C96A3"/>
                </a:solidFill>
                <a:latin typeface="+mj-lt"/>
                <a:ea typeface="+mj-ea"/>
              </a:rPr>
              <a:t>구간 4</a:t>
            </a:r>
          </a:p>
        </p:txBody>
      </p:sp>
      <p:sp>
        <p:nvSpPr>
          <p:cNvPr id="48" name="Shape 48"/>
          <p:cNvSpPr/>
          <p:nvPr/>
        </p:nvSpPr>
        <p:spPr>
          <a:xfrm>
            <a:off x="1981200" y="5054600"/>
            <a:ext cx="508000" cy="50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9" name="Shape 49"/>
          <p:cNvSpPr/>
          <p:nvPr/>
        </p:nvSpPr>
        <p:spPr>
          <a:xfrm>
            <a:off x="2870200" y="5219700"/>
            <a:ext cx="30480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0" name="Shape 50"/>
          <p:cNvSpPr/>
          <p:nvPr/>
        </p:nvSpPr>
        <p:spPr>
          <a:xfrm>
            <a:off x="6045200" y="5168900"/>
            <a:ext cx="889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8C96A3"/>
                </a:solidFill>
              </a:rPr>
              <a:t>건너뜀</a:t>
            </a:r>
          </a:p>
        </p:txBody>
      </p:sp>
      <p:sp>
        <p:nvSpPr>
          <p:cNvPr id="51" name="Shape 51"/>
          <p:cNvSpPr/>
          <p:nvPr/>
        </p:nvSpPr>
        <p:spPr>
          <a:xfrm>
            <a:off x="711200" y="57277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8C96A3"/>
                </a:solidFill>
                <a:latin typeface="+mj-lt"/>
                <a:ea typeface="+mj-ea"/>
              </a:rPr>
              <a:t>구간 N</a:t>
            </a:r>
          </a:p>
        </p:txBody>
      </p:sp>
      <p:sp>
        <p:nvSpPr>
          <p:cNvPr id="52" name="Shape 52"/>
          <p:cNvSpPr/>
          <p:nvPr/>
        </p:nvSpPr>
        <p:spPr>
          <a:xfrm>
            <a:off x="1981200" y="5613400"/>
            <a:ext cx="508000" cy="50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3" name="Shape 53"/>
          <p:cNvSpPr/>
          <p:nvPr/>
        </p:nvSpPr>
        <p:spPr>
          <a:xfrm>
            <a:off x="2870200" y="5778500"/>
            <a:ext cx="30480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4" name="Shape 54"/>
          <p:cNvSpPr/>
          <p:nvPr/>
        </p:nvSpPr>
        <p:spPr>
          <a:xfrm>
            <a:off x="6045200" y="5727700"/>
            <a:ext cx="889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8C96A3"/>
                </a:solidFill>
              </a:rPr>
              <a:t>건너뜀</a:t>
            </a:r>
          </a:p>
        </p:txBody>
      </p:sp>
      <p:sp>
        <p:nvSpPr>
          <p:cNvPr id="55" name="Shape 55"/>
          <p:cNvSpPr/>
          <p:nvPr/>
        </p:nvSpPr>
        <p:spPr>
          <a:xfrm>
            <a:off x="7366000" y="1879600"/>
            <a:ext cx="4368800" cy="44196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" name="Shape 56"/>
          <p:cNvSpPr/>
          <p:nvPr/>
        </p:nvSpPr>
        <p:spPr>
          <a:xfrm>
            <a:off x="7620000" y="2057400"/>
            <a:ext cx="3860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56082"/>
                </a:solidFill>
                <a:latin typeface="+mj-lt"/>
                <a:ea typeface="+mj-ea"/>
              </a:rPr>
              <a:t>화면 전체에서는</a:t>
            </a:r>
          </a:p>
        </p:txBody>
      </p:sp>
      <p:sp>
        <p:nvSpPr>
          <p:cNvPr id="57" name="Shape 57"/>
          <p:cNvSpPr/>
          <p:nvPr/>
        </p:nvSpPr>
        <p:spPr>
          <a:xfrm>
            <a:off x="7772400" y="2540000"/>
            <a:ext cx="711200" cy="711200"/>
          </a:xfrm>
          <a:prstGeom prst="rect">
            <a:avLst/>
          </a:prstGeom>
          <a:solidFill>
            <a:srgbClr val="156082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구간1</a:t>
            </a:r>
          </a:p>
        </p:txBody>
      </p:sp>
      <p:sp>
        <p:nvSpPr>
          <p:cNvPr id="58" name="Shape 58"/>
          <p:cNvSpPr/>
          <p:nvPr/>
        </p:nvSpPr>
        <p:spPr>
          <a:xfrm>
            <a:off x="8483600" y="2540000"/>
            <a:ext cx="711200" cy="711200"/>
          </a:xfrm>
          <a:prstGeom prst="rect">
            <a:avLst/>
          </a:prstGeom>
          <a:solidFill>
            <a:srgbClr val="4A86A3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구간2</a:t>
            </a:r>
          </a:p>
        </p:txBody>
      </p:sp>
      <p:sp>
        <p:nvSpPr>
          <p:cNvPr id="59" name="Shape 59"/>
          <p:cNvSpPr/>
          <p:nvPr/>
        </p:nvSpPr>
        <p:spPr>
          <a:xfrm>
            <a:off x="9194800" y="2540000"/>
            <a:ext cx="711200" cy="711200"/>
          </a:xfrm>
          <a:prstGeom prst="rect">
            <a:avLst/>
          </a:prstGeom>
          <a:solidFill>
            <a:srgbClr val="8FB6C9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구간3</a:t>
            </a:r>
          </a:p>
        </p:txBody>
      </p:sp>
      <p:sp>
        <p:nvSpPr>
          <p:cNvPr id="60" name="Shape 60"/>
          <p:cNvSpPr/>
          <p:nvPr/>
        </p:nvSpPr>
        <p:spPr>
          <a:xfrm>
            <a:off x="9906000" y="2540000"/>
            <a:ext cx="711200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8C96A3"/>
                </a:solidFill>
                <a:latin typeface="+mj-lt"/>
                <a:ea typeface="+mj-ea"/>
              </a:rPr>
              <a:t>끝까지</a:t>
            </a:r>
          </a:p>
        </p:txBody>
      </p:sp>
      <p:sp>
        <p:nvSpPr>
          <p:cNvPr id="61" name="Shape 61"/>
          <p:cNvSpPr/>
          <p:nvPr/>
        </p:nvSpPr>
        <p:spPr>
          <a:xfrm>
            <a:off x="10617200" y="2540000"/>
            <a:ext cx="711200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8C96A3"/>
                </a:solidFill>
                <a:latin typeface="+mj-lt"/>
                <a:ea typeface="+mj-ea"/>
              </a:rPr>
              <a:t>끝까지</a:t>
            </a:r>
          </a:p>
        </p:txBody>
      </p:sp>
      <p:sp>
        <p:nvSpPr>
          <p:cNvPr id="62" name="Shape 62"/>
          <p:cNvSpPr/>
          <p:nvPr/>
        </p:nvSpPr>
        <p:spPr>
          <a:xfrm>
            <a:off x="7772400" y="3251200"/>
            <a:ext cx="711200" cy="711200"/>
          </a:xfrm>
          <a:prstGeom prst="rect">
            <a:avLst/>
          </a:prstGeom>
          <a:solidFill>
            <a:srgbClr val="4A86A3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구간2</a:t>
            </a:r>
          </a:p>
        </p:txBody>
      </p:sp>
      <p:sp>
        <p:nvSpPr>
          <p:cNvPr id="63" name="Shape 63"/>
          <p:cNvSpPr/>
          <p:nvPr/>
        </p:nvSpPr>
        <p:spPr>
          <a:xfrm>
            <a:off x="8483600" y="3251200"/>
            <a:ext cx="711200" cy="711200"/>
          </a:xfrm>
          <a:prstGeom prst="rect">
            <a:avLst/>
          </a:prstGeom>
          <a:solidFill>
            <a:srgbClr val="156082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구간1</a:t>
            </a:r>
          </a:p>
        </p:txBody>
      </p:sp>
      <p:sp>
        <p:nvSpPr>
          <p:cNvPr id="64" name="Shape 64"/>
          <p:cNvSpPr/>
          <p:nvPr/>
        </p:nvSpPr>
        <p:spPr>
          <a:xfrm>
            <a:off x="9194800" y="3251200"/>
            <a:ext cx="711200" cy="711200"/>
          </a:xfrm>
          <a:prstGeom prst="rect">
            <a:avLst/>
          </a:prstGeom>
          <a:solidFill>
            <a:srgbClr val="156082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구간1</a:t>
            </a:r>
          </a:p>
        </p:txBody>
      </p:sp>
      <p:sp>
        <p:nvSpPr>
          <p:cNvPr id="65" name="Shape 65"/>
          <p:cNvSpPr/>
          <p:nvPr/>
        </p:nvSpPr>
        <p:spPr>
          <a:xfrm>
            <a:off x="9906000" y="3251200"/>
            <a:ext cx="711200" cy="711200"/>
          </a:xfrm>
          <a:prstGeom prst="rect">
            <a:avLst/>
          </a:prstGeom>
          <a:solidFill>
            <a:srgbClr val="8FB6C9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구간3</a:t>
            </a:r>
          </a:p>
        </p:txBody>
      </p:sp>
      <p:sp>
        <p:nvSpPr>
          <p:cNvPr id="66" name="Shape 66"/>
          <p:cNvSpPr/>
          <p:nvPr/>
        </p:nvSpPr>
        <p:spPr>
          <a:xfrm>
            <a:off x="10617200" y="3251200"/>
            <a:ext cx="711200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8C96A3"/>
                </a:solidFill>
                <a:latin typeface="+mj-lt"/>
                <a:ea typeface="+mj-ea"/>
              </a:rPr>
              <a:t>끝까지</a:t>
            </a:r>
          </a:p>
        </p:txBody>
      </p:sp>
      <p:sp>
        <p:nvSpPr>
          <p:cNvPr id="67" name="Shape 67"/>
          <p:cNvSpPr/>
          <p:nvPr/>
        </p:nvSpPr>
        <p:spPr>
          <a:xfrm>
            <a:off x="7772400" y="3962400"/>
            <a:ext cx="711200" cy="711200"/>
          </a:xfrm>
          <a:prstGeom prst="rect">
            <a:avLst/>
          </a:prstGeom>
          <a:solidFill>
            <a:srgbClr val="8FB6C9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구간3</a:t>
            </a:r>
          </a:p>
        </p:txBody>
      </p:sp>
      <p:sp>
        <p:nvSpPr>
          <p:cNvPr id="68" name="Shape 68"/>
          <p:cNvSpPr/>
          <p:nvPr/>
        </p:nvSpPr>
        <p:spPr>
          <a:xfrm>
            <a:off x="8483600" y="3962400"/>
            <a:ext cx="711200" cy="711200"/>
          </a:xfrm>
          <a:prstGeom prst="rect">
            <a:avLst/>
          </a:prstGeom>
          <a:solidFill>
            <a:srgbClr val="156082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구간1</a:t>
            </a:r>
          </a:p>
        </p:txBody>
      </p:sp>
      <p:sp>
        <p:nvSpPr>
          <p:cNvPr id="69" name="Shape 69"/>
          <p:cNvSpPr/>
          <p:nvPr/>
        </p:nvSpPr>
        <p:spPr>
          <a:xfrm>
            <a:off x="9194800" y="3962400"/>
            <a:ext cx="711200" cy="711200"/>
          </a:xfrm>
          <a:prstGeom prst="rect">
            <a:avLst/>
          </a:prstGeom>
          <a:solidFill>
            <a:srgbClr val="4A86A3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구간2</a:t>
            </a:r>
          </a:p>
        </p:txBody>
      </p:sp>
      <p:sp>
        <p:nvSpPr>
          <p:cNvPr id="70" name="Shape 70"/>
          <p:cNvSpPr/>
          <p:nvPr/>
        </p:nvSpPr>
        <p:spPr>
          <a:xfrm>
            <a:off x="9906000" y="3962400"/>
            <a:ext cx="711200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8C96A3"/>
                </a:solidFill>
                <a:latin typeface="+mj-lt"/>
                <a:ea typeface="+mj-ea"/>
              </a:rPr>
              <a:t>끝까지</a:t>
            </a:r>
          </a:p>
        </p:txBody>
      </p:sp>
      <p:sp>
        <p:nvSpPr>
          <p:cNvPr id="71" name="Shape 71"/>
          <p:cNvSpPr/>
          <p:nvPr/>
        </p:nvSpPr>
        <p:spPr>
          <a:xfrm>
            <a:off x="10617200" y="3962400"/>
            <a:ext cx="711200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8C96A3"/>
                </a:solidFill>
                <a:latin typeface="+mj-lt"/>
                <a:ea typeface="+mj-ea"/>
              </a:rPr>
              <a:t>끝까지</a:t>
            </a:r>
          </a:p>
        </p:txBody>
      </p:sp>
      <p:sp>
        <p:nvSpPr>
          <p:cNvPr id="72" name="Shape 72"/>
          <p:cNvSpPr/>
          <p:nvPr/>
        </p:nvSpPr>
        <p:spPr>
          <a:xfrm>
            <a:off x="7772400" y="4673600"/>
            <a:ext cx="711200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8C96A3"/>
                </a:solidFill>
                <a:latin typeface="+mj-lt"/>
                <a:ea typeface="+mj-ea"/>
              </a:rPr>
              <a:t>끝까지</a:t>
            </a:r>
          </a:p>
        </p:txBody>
      </p:sp>
      <p:sp>
        <p:nvSpPr>
          <p:cNvPr id="73" name="Shape 73"/>
          <p:cNvSpPr/>
          <p:nvPr/>
        </p:nvSpPr>
        <p:spPr>
          <a:xfrm>
            <a:off x="8483600" y="4673600"/>
            <a:ext cx="711200" cy="711200"/>
          </a:xfrm>
          <a:prstGeom prst="rect">
            <a:avLst/>
          </a:prstGeom>
          <a:solidFill>
            <a:srgbClr val="8FB6C9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구간3</a:t>
            </a:r>
          </a:p>
        </p:txBody>
      </p:sp>
      <p:sp>
        <p:nvSpPr>
          <p:cNvPr id="74" name="Shape 74"/>
          <p:cNvSpPr/>
          <p:nvPr/>
        </p:nvSpPr>
        <p:spPr>
          <a:xfrm>
            <a:off x="9194800" y="4673600"/>
            <a:ext cx="711200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8C96A3"/>
                </a:solidFill>
                <a:latin typeface="+mj-lt"/>
                <a:ea typeface="+mj-ea"/>
              </a:rPr>
              <a:t>끝까지</a:t>
            </a:r>
          </a:p>
        </p:txBody>
      </p:sp>
      <p:sp>
        <p:nvSpPr>
          <p:cNvPr id="75" name="Shape 75"/>
          <p:cNvSpPr/>
          <p:nvPr/>
        </p:nvSpPr>
        <p:spPr>
          <a:xfrm>
            <a:off x="9906000" y="4673600"/>
            <a:ext cx="711200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8C96A3"/>
                </a:solidFill>
                <a:latin typeface="+mj-lt"/>
                <a:ea typeface="+mj-ea"/>
              </a:rPr>
              <a:t>끝까지</a:t>
            </a:r>
          </a:p>
        </p:txBody>
      </p:sp>
      <p:sp>
        <p:nvSpPr>
          <p:cNvPr id="76" name="Shape 76"/>
          <p:cNvSpPr/>
          <p:nvPr/>
        </p:nvSpPr>
        <p:spPr>
          <a:xfrm>
            <a:off x="10617200" y="4673600"/>
            <a:ext cx="711200" cy="71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8C96A3"/>
                </a:solidFill>
                <a:latin typeface="+mj-lt"/>
                <a:ea typeface="+mj-ea"/>
              </a:rPr>
              <a:t>끝까지</a:t>
            </a:r>
          </a:p>
        </p:txBody>
      </p:sp>
      <p:sp>
        <p:nvSpPr>
          <p:cNvPr id="77" name="Shape 77"/>
          <p:cNvSpPr/>
          <p:nvPr/>
        </p:nvSpPr>
        <p:spPr>
          <a:xfrm>
            <a:off x="7620000" y="5537200"/>
            <a:ext cx="3860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빽빽한 타일은 일찍 멈추고,</a:t>
            </a:r>
          </a:p>
        </p:txBody>
      </p:sp>
      <p:sp>
        <p:nvSpPr>
          <p:cNvPr id="78" name="Shape 78"/>
          <p:cNvSpPr/>
          <p:nvPr/>
        </p:nvSpPr>
        <p:spPr>
          <a:xfrm>
            <a:off x="7620000" y="5816600"/>
            <a:ext cx="3860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듬성한 타일은 끝까지 그린다</a:t>
            </a:r>
          </a:p>
        </p:txBody>
      </p:sp>
      <p:sp>
        <p:nvSpPr>
          <p:cNvPr id="7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10</a:t>
            </a:fld>
            <a:endParaRPr lang="ko-KR" altLang="en-US"/>
          </a:p>
        </p:txBody>
      </p:sp>
      <p:sp>
        <p:nvSpPr>
          <p:cNvPr id="80" name="Tile Layer 80"/>
          <p:cNvSpPr/>
          <p:nvPr/>
        </p:nvSpPr>
        <p:spPr>
          <a:xfrm>
            <a:off x="1905000" y="2768600"/>
            <a:ext cx="660400" cy="55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81" name="Tile Layer 81"/>
          <p:cNvSpPr/>
          <p:nvPr/>
        </p:nvSpPr>
        <p:spPr>
          <a:xfrm>
            <a:off x="1981200" y="2832100"/>
            <a:ext cx="330200" cy="3302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2" name="Tile Layer 82"/>
          <p:cNvSpPr/>
          <p:nvPr/>
        </p:nvSpPr>
        <p:spPr>
          <a:xfrm>
            <a:off x="1905000" y="3352800"/>
            <a:ext cx="660400" cy="55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83" name="Tile Layer 83"/>
          <p:cNvSpPr/>
          <p:nvPr/>
        </p:nvSpPr>
        <p:spPr>
          <a:xfrm>
            <a:off x="1981200" y="3416300"/>
            <a:ext cx="330200" cy="3302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4" name="Tile Layer 84"/>
          <p:cNvSpPr/>
          <p:nvPr/>
        </p:nvSpPr>
        <p:spPr>
          <a:xfrm>
            <a:off x="2082800" y="3467100"/>
            <a:ext cx="330200" cy="3302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5" name="Tile Layer 85"/>
          <p:cNvSpPr/>
          <p:nvPr/>
        </p:nvSpPr>
        <p:spPr>
          <a:xfrm>
            <a:off x="1905000" y="3937000"/>
            <a:ext cx="660400" cy="55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86" name="Tile Layer 86"/>
          <p:cNvSpPr/>
          <p:nvPr/>
        </p:nvSpPr>
        <p:spPr>
          <a:xfrm>
            <a:off x="1981200" y="4000500"/>
            <a:ext cx="330200" cy="3302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7" name="Tile Layer 87"/>
          <p:cNvSpPr/>
          <p:nvPr/>
        </p:nvSpPr>
        <p:spPr>
          <a:xfrm>
            <a:off x="2082800" y="4051300"/>
            <a:ext cx="330200" cy="3302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8" name="Tile Layer 88"/>
          <p:cNvSpPr/>
          <p:nvPr/>
        </p:nvSpPr>
        <p:spPr>
          <a:xfrm>
            <a:off x="2184400" y="4102100"/>
            <a:ext cx="330200" cy="330200"/>
          </a:xfrm>
          <a:prstGeom prst="rect">
            <a:avLst/>
          </a:prstGeom>
          <a:solidFill>
            <a:srgbClr val="E97132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9" name="WBOIT Tag"/>
          <p:cNvSpPr/>
          <p:nvPr/>
        </p:nvSpPr>
        <p:spPr>
          <a:xfrm>
            <a:off x="3810000" y="2032000"/>
            <a:ext cx="3048000" cy="330200"/>
          </a:xfrm>
          <a:prstGeom prst="roundRect">
            <a:avLst>
              <a:gd name="adj" fmla="val 50000"/>
            </a:avLst>
          </a:prstGeom>
          <a:solidFill>
            <a:srgbClr val="15608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구간 안은 정렬 없이 WBOIT로 합성</a:t>
            </a:r>
          </a:p>
        </p:txBody>
      </p:sp>
    </p:spTree>
    <p:extLst>
      <p:ext uri="{BB962C8B-B14F-4D97-AF65-F5344CB8AC3E}">
        <p14:creationId xmlns:p14="http://schemas.microsoft.com/office/powerpoint/2010/main" val="39824779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9570ED-7AFD-ABCE-E03F-0A6810CA0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lt"/>
                <a:ea typeface="+mj-ea"/>
              </a:rPr>
              <a:t>Tiled WBOIT는 화면을 덮는 장면에서만 빠르다</a:t>
            </a:r>
          </a:p>
        </p:txBody>
      </p:sp>
      <p:sp>
        <p:nvSpPr>
          <p:cNvPr id="111" name="Chart Label"/>
          <p:cNvSpPr/>
          <p:nvPr/>
        </p:nvSpPr>
        <p:spPr>
          <a:xfrm>
            <a:off x="6096000" y="1422400"/>
            <a:ext cx="5638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프레임 시간, 큰 파티클이 많이 겹치는 장면</a:t>
            </a:r>
          </a:p>
        </p:txBody>
      </p:sp>
      <p:sp>
        <p:nvSpPr>
          <p:cNvPr id="112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11</a:t>
            </a:fld>
            <a:endParaRPr lang="ko-KR" altLang="en-US"/>
          </a:p>
        </p:txBody>
      </p:sp>
      <p:graphicFrame>
        <p:nvGraphicFramePr>
          <p:cNvPr id="113" name="Chart"/>
          <p:cNvGraphicFramePr/>
          <p:nvPr/>
        </p:nvGraphicFramePr>
        <p:xfrm>
          <a:off x="6096000" y="1752600"/>
          <a:ext cx="5638800" cy="279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50" name="Why Explanation"/>
          <p:cNvSpPr txBox="1"/>
          <p:nvPr/>
        </p:nvSpPr>
        <p:spPr>
          <a:xfrm>
            <a:off x="457200" y="4978400"/>
            <a:ext cx="11277600" cy="1397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254000" tIns="152400" rIns="254000" bIns="152400" anchor="ctr">
            <a:noAutofit/>
          </a:bodyPr>
          <a:lstStyle/>
          <a:p>
            <a:pPr>
              <a:spcBef>
                <a:spcPts val="500"/>
              </a:spcBef>
              <a:buNone/>
            </a:pPr>
            <a:r>
              <a:rPr lang="ko-KR" altLang="en-US" sz="1400" b="1" dirty="0">
                <a:solidFill>
                  <a:srgbClr val="156082"/>
                </a:solidFill>
                <a:latin typeface="+mj-lt"/>
                <a:ea typeface="+mj-ea"/>
              </a:rPr>
              <a:t>장점  </a:t>
            </a: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화면을 덮는 장면에서 4.8ms</a:t>
            </a:r>
            <a:r>
              <a:rPr lang="ko-KR" altLang="en-US" sz="1600" dirty="0">
                <a:solidFill>
                  <a:srgbClr val="404040"/>
                </a:solidFill>
              </a:rPr>
              <a:t>  정렬 대비 약 47%, WBOIT 대비 약 65% 단축</a:t>
            </a:r>
          </a:p>
          <a:p>
            <a:pPr>
              <a:spcBef>
                <a:spcPts val="500"/>
              </a:spcBef>
              <a:buNone/>
            </a:pPr>
            <a:r>
              <a:rPr lang="ko-KR" altLang="en-US" sz="1400" b="1" dirty="0">
                <a:solidFill>
                  <a:srgbClr val="D94F3D"/>
                </a:solidFill>
                <a:latin typeface="+mj-lt"/>
                <a:ea typeface="+mj-ea"/>
              </a:rPr>
              <a:t>단점 1  </a:t>
            </a: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일반 장면에서는 더 느리다</a:t>
            </a:r>
            <a:r>
              <a:rPr lang="ko-KR" altLang="en-US" sz="1600" dirty="0">
                <a:solidFill>
                  <a:srgbClr val="404040"/>
                </a:solidFill>
              </a:rPr>
              <a:t>  이런 특정 상황이 아니면 WBOIT, 정렬 방식보다 훨씬 느리다</a:t>
            </a:r>
          </a:p>
          <a:p>
            <a:pPr>
              <a:spcBef>
                <a:spcPts val="500"/>
              </a:spcBef>
              <a:buNone/>
            </a:pPr>
            <a:r>
              <a:rPr lang="ko-KR" altLang="en-US" sz="1400" b="1" dirty="0">
                <a:solidFill>
                  <a:srgbClr val="D94F3D"/>
                </a:solidFill>
                <a:latin typeface="+mj-lt"/>
                <a:ea typeface="+mj-ea"/>
              </a:rPr>
              <a:t>단점 2  </a:t>
            </a: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개수가 많을수록 급격히 느려진다</a:t>
            </a:r>
            <a:r>
              <a:rPr lang="ko-KR" altLang="en-US" sz="1600" dirty="0">
                <a:solidFill>
                  <a:srgbClr val="404040"/>
                </a:solidFill>
              </a:rPr>
              <a:t>  파티클 수가 늘수록 렌더링 시간이 기하급수적으로 증가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549EF6F-6A3F-AFAA-72FA-E161D958B2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24000"/>
            <a:ext cx="5334000" cy="3000375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</p:spTree>
    <p:extLst>
      <p:ext uri="{BB962C8B-B14F-4D97-AF65-F5344CB8AC3E}">
        <p14:creationId xmlns:p14="http://schemas.microsoft.com/office/powerpoint/2010/main" val="1957600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29F060-B5E0-C851-D127-FA38EEA91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Tiled Rendering</a:t>
            </a:r>
            <a:r>
              <a:rPr lang="en-US" altLang="ko-KR" sz="2000" b="0" dirty="0">
                <a:solidFill>
                  <a:srgbClr val="8C96A3"/>
                </a:solidFill>
                <a:latin typeface="+mn-lt"/>
                <a:ea typeface="+mn-ea"/>
              </a:rPr>
              <a:t>  Gareth Thomas (AMD), GDC 2014</a:t>
            </a:r>
          </a:p>
        </p:txBody>
      </p:sp>
      <p:sp>
        <p:nvSpPr>
          <p:cNvPr id="123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12</a:t>
            </a:fld>
            <a:endParaRPr lang="ko-KR" altLang="en-US"/>
          </a:p>
        </p:txBody>
      </p:sp>
      <p:sp>
        <p:nvSpPr>
          <p:cNvPr id="700" name="Shape 700"/>
          <p:cNvSpPr/>
          <p:nvPr/>
        </p:nvSpPr>
        <p:spPr>
          <a:xfrm>
            <a:off x="457200" y="1270000"/>
            <a:ext cx="11277600" cy="4318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BFD8E3"/>
                </a:solidFill>
                <a:latin typeface="+mj-lt"/>
                <a:ea typeface="+mj-ea"/>
              </a:rPr>
              <a:t>방식  </a:t>
            </a: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파티클을 먼저 정렬하고, 타일마다 카메라 앞에서부터 그린다</a:t>
            </a:r>
          </a:p>
        </p:txBody>
      </p:sp>
      <p:sp>
        <p:nvSpPr>
          <p:cNvPr id="701" name="Shape 701"/>
          <p:cNvSpPr/>
          <p:nvPr/>
        </p:nvSpPr>
        <p:spPr>
          <a:xfrm>
            <a:off x="457200" y="1803400"/>
            <a:ext cx="11277600" cy="431800"/>
          </a:xfrm>
          <a:prstGeom prst="roundRect">
            <a:avLst/>
          </a:prstGeom>
          <a:solidFill>
            <a:srgbClr val="EAF2F6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56082"/>
                </a:solidFill>
                <a:latin typeface="+mj-lt"/>
                <a:ea typeface="+mj-ea"/>
              </a:rPr>
              <a:t>특징  </a:t>
            </a: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WBOIT처럼 근사하지 않고, 순서대로 정확하게 합성된다</a:t>
            </a:r>
          </a:p>
        </p:txBody>
      </p:sp>
      <p:sp>
        <p:nvSpPr>
          <p:cNvPr id="702" name="Shape 702"/>
          <p:cNvSpPr/>
          <p:nvPr/>
        </p:nvSpPr>
        <p:spPr>
          <a:xfrm>
            <a:off x="457200" y="2438400"/>
            <a:ext cx="3606800" cy="3860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03" name="Shape 703"/>
          <p:cNvSpPr/>
          <p:nvPr/>
        </p:nvSpPr>
        <p:spPr>
          <a:xfrm>
            <a:off x="660400" y="2641600"/>
            <a:ext cx="355600" cy="3556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704" name="Shape 704"/>
          <p:cNvSpPr/>
          <p:nvPr/>
        </p:nvSpPr>
        <p:spPr>
          <a:xfrm>
            <a:off x="1143000" y="2590800"/>
            <a:ext cx="27686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렌더링 전에</a:t>
            </a:r>
          </a:p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파티클을 깊이순으로 정렬한다</a:t>
            </a:r>
          </a:p>
        </p:txBody>
      </p:sp>
      <p:sp>
        <p:nvSpPr>
          <p:cNvPr id="705" name="Shape 705"/>
          <p:cNvSpPr/>
          <p:nvPr/>
        </p:nvSpPr>
        <p:spPr>
          <a:xfrm>
            <a:off x="4102100" y="4267200"/>
            <a:ext cx="152400" cy="203200"/>
          </a:xfrm>
          <a:prstGeom prst="chevron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06" name="Shape 706"/>
          <p:cNvSpPr/>
          <p:nvPr/>
        </p:nvSpPr>
        <p:spPr>
          <a:xfrm>
            <a:off x="4292600" y="2438400"/>
            <a:ext cx="3606800" cy="3860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07" name="Shape 707"/>
          <p:cNvSpPr/>
          <p:nvPr/>
        </p:nvSpPr>
        <p:spPr>
          <a:xfrm>
            <a:off x="4495800" y="2641600"/>
            <a:ext cx="355600" cy="3556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708" name="Shape 708"/>
          <p:cNvSpPr/>
          <p:nvPr/>
        </p:nvSpPr>
        <p:spPr>
          <a:xfrm>
            <a:off x="4978400" y="2590800"/>
            <a:ext cx="27686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화면을 x, y 타일로</a:t>
            </a:r>
          </a:p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나눈다</a:t>
            </a:r>
          </a:p>
        </p:txBody>
      </p:sp>
      <p:sp>
        <p:nvSpPr>
          <p:cNvPr id="709" name="Shape 709"/>
          <p:cNvSpPr/>
          <p:nvPr/>
        </p:nvSpPr>
        <p:spPr>
          <a:xfrm>
            <a:off x="7937500" y="4267200"/>
            <a:ext cx="152400" cy="203200"/>
          </a:xfrm>
          <a:prstGeom prst="chevron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10" name="Shape 710"/>
          <p:cNvSpPr/>
          <p:nvPr/>
        </p:nvSpPr>
        <p:spPr>
          <a:xfrm>
            <a:off x="8128000" y="2438400"/>
            <a:ext cx="3606800" cy="3860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11" name="Shape 711"/>
          <p:cNvSpPr/>
          <p:nvPr/>
        </p:nvSpPr>
        <p:spPr>
          <a:xfrm>
            <a:off x="8331200" y="2641600"/>
            <a:ext cx="355600" cy="3556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3</a:t>
            </a:r>
          </a:p>
        </p:txBody>
      </p:sp>
      <p:sp>
        <p:nvSpPr>
          <p:cNvPr id="712" name="Shape 712"/>
          <p:cNvSpPr/>
          <p:nvPr/>
        </p:nvSpPr>
        <p:spPr>
          <a:xfrm>
            <a:off x="8813800" y="2590800"/>
            <a:ext cx="27686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타일마다 </a:t>
            </a:r>
            <a:r>
              <a:rPr lang="ko-KR" altLang="en-US" sz="1600" b="1" dirty="0">
                <a:solidFill>
                  <a:srgbClr val="002060"/>
                </a:solidFill>
                <a:latin typeface="+mj-lt"/>
                <a:ea typeface="+mj-ea"/>
              </a:rPr>
              <a:t>카메라 앞에서부터</a:t>
            </a:r>
          </a:p>
          <a:p>
            <a:pPr algn="l">
              <a:buNone/>
            </a:pPr>
            <a:r>
              <a:rPr lang="ko-KR" altLang="en-US" sz="1600" b="1" dirty="0">
                <a:solidFill>
                  <a:srgbClr val="002060"/>
                </a:solidFill>
                <a:latin typeface="+mj-lt"/>
                <a:ea typeface="+mj-ea"/>
              </a:rPr>
              <a:t>순서대로</a:t>
            </a: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 그린다</a:t>
            </a:r>
          </a:p>
        </p:txBody>
      </p:sp>
      <p:sp>
        <p:nvSpPr>
          <p:cNvPr id="713" name="Shape 713"/>
          <p:cNvSpPr/>
          <p:nvPr/>
        </p:nvSpPr>
        <p:spPr>
          <a:xfrm>
            <a:off x="457200" y="3454400"/>
            <a:ext cx="3606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정렬 전</a:t>
            </a:r>
          </a:p>
        </p:txBody>
      </p:sp>
      <p:sp>
        <p:nvSpPr>
          <p:cNvPr id="714" name="Shape 714"/>
          <p:cNvSpPr/>
          <p:nvPr/>
        </p:nvSpPr>
        <p:spPr>
          <a:xfrm>
            <a:off x="977900" y="3759200"/>
            <a:ext cx="584200" cy="508000"/>
          </a:xfrm>
          <a:prstGeom prst="rect">
            <a:avLst/>
          </a:prstGeom>
          <a:solidFill>
            <a:srgbClr val="2F6FDE">
              <a:alpha val="7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0.5</a:t>
            </a:r>
          </a:p>
        </p:txBody>
      </p:sp>
      <p:sp>
        <p:nvSpPr>
          <p:cNvPr id="715" name="Shape 715"/>
          <p:cNvSpPr/>
          <p:nvPr/>
        </p:nvSpPr>
        <p:spPr>
          <a:xfrm>
            <a:off x="1638300" y="3759200"/>
            <a:ext cx="584200" cy="508000"/>
          </a:xfrm>
          <a:prstGeom prst="rect">
            <a:avLst/>
          </a:prstGeom>
          <a:solidFill>
            <a:srgbClr val="E97132">
              <a:alpha val="7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0.2</a:t>
            </a:r>
          </a:p>
        </p:txBody>
      </p:sp>
      <p:sp>
        <p:nvSpPr>
          <p:cNvPr id="716" name="Shape 716"/>
          <p:cNvSpPr/>
          <p:nvPr/>
        </p:nvSpPr>
        <p:spPr>
          <a:xfrm>
            <a:off x="2298700" y="3759200"/>
            <a:ext cx="584200" cy="508000"/>
          </a:xfrm>
          <a:prstGeom prst="rect">
            <a:avLst/>
          </a:prstGeom>
          <a:solidFill>
            <a:srgbClr val="4EA72E">
              <a:alpha val="7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0.9</a:t>
            </a:r>
          </a:p>
        </p:txBody>
      </p:sp>
      <p:sp>
        <p:nvSpPr>
          <p:cNvPr id="717" name="Shape 717"/>
          <p:cNvSpPr/>
          <p:nvPr/>
        </p:nvSpPr>
        <p:spPr>
          <a:xfrm>
            <a:off x="2959100" y="3759200"/>
            <a:ext cx="584200" cy="508000"/>
          </a:xfrm>
          <a:prstGeom prst="rect">
            <a:avLst/>
          </a:prstGeom>
          <a:solidFill>
            <a:srgbClr val="A02B93">
              <a:alpha val="7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0.7</a:t>
            </a:r>
          </a:p>
        </p:txBody>
      </p:sp>
      <p:sp>
        <p:nvSpPr>
          <p:cNvPr id="718" name="Shape 718"/>
          <p:cNvSpPr/>
          <p:nvPr/>
        </p:nvSpPr>
        <p:spPr>
          <a:xfrm>
            <a:off x="2133600" y="4368800"/>
            <a:ext cx="254000" cy="330200"/>
          </a:xfrm>
          <a:prstGeom prst="downArrow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19" name="Shape 719"/>
          <p:cNvSpPr/>
          <p:nvPr/>
        </p:nvSpPr>
        <p:spPr>
          <a:xfrm>
            <a:off x="977900" y="4800600"/>
            <a:ext cx="584200" cy="508000"/>
          </a:xfrm>
          <a:prstGeom prst="rect">
            <a:avLst/>
          </a:prstGeom>
          <a:solidFill>
            <a:srgbClr val="E97132">
              <a:alpha val="7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0.2</a:t>
            </a:r>
          </a:p>
        </p:txBody>
      </p:sp>
      <p:sp>
        <p:nvSpPr>
          <p:cNvPr id="720" name="Shape 720"/>
          <p:cNvSpPr/>
          <p:nvPr/>
        </p:nvSpPr>
        <p:spPr>
          <a:xfrm>
            <a:off x="1638300" y="4800600"/>
            <a:ext cx="584200" cy="508000"/>
          </a:xfrm>
          <a:prstGeom prst="rect">
            <a:avLst/>
          </a:prstGeom>
          <a:solidFill>
            <a:srgbClr val="2F6FDE">
              <a:alpha val="7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0.5</a:t>
            </a:r>
          </a:p>
        </p:txBody>
      </p:sp>
      <p:sp>
        <p:nvSpPr>
          <p:cNvPr id="721" name="Shape 721"/>
          <p:cNvSpPr/>
          <p:nvPr/>
        </p:nvSpPr>
        <p:spPr>
          <a:xfrm>
            <a:off x="2298700" y="4800600"/>
            <a:ext cx="584200" cy="508000"/>
          </a:xfrm>
          <a:prstGeom prst="rect">
            <a:avLst/>
          </a:prstGeom>
          <a:solidFill>
            <a:srgbClr val="A02B93">
              <a:alpha val="7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0.7</a:t>
            </a:r>
          </a:p>
        </p:txBody>
      </p:sp>
      <p:sp>
        <p:nvSpPr>
          <p:cNvPr id="722" name="Shape 722"/>
          <p:cNvSpPr/>
          <p:nvPr/>
        </p:nvSpPr>
        <p:spPr>
          <a:xfrm>
            <a:off x="2959100" y="4800600"/>
            <a:ext cx="584200" cy="508000"/>
          </a:xfrm>
          <a:prstGeom prst="rect">
            <a:avLst/>
          </a:prstGeom>
          <a:solidFill>
            <a:srgbClr val="4EA72E">
              <a:alpha val="7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0.9</a:t>
            </a:r>
          </a:p>
        </p:txBody>
      </p:sp>
      <p:sp>
        <p:nvSpPr>
          <p:cNvPr id="723" name="Shape 723"/>
          <p:cNvSpPr/>
          <p:nvPr/>
        </p:nvSpPr>
        <p:spPr>
          <a:xfrm>
            <a:off x="457200" y="5410200"/>
            <a:ext cx="3606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정렬 후 (가까운 것부터)</a:t>
            </a:r>
          </a:p>
        </p:txBody>
      </p:sp>
      <p:sp>
        <p:nvSpPr>
          <p:cNvPr id="724" name="Shape 724"/>
          <p:cNvSpPr/>
          <p:nvPr/>
        </p:nvSpPr>
        <p:spPr>
          <a:xfrm>
            <a:off x="45720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25" name="Shape 725"/>
          <p:cNvSpPr/>
          <p:nvPr/>
        </p:nvSpPr>
        <p:spPr>
          <a:xfrm>
            <a:off x="50800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26" name="Shape 726"/>
          <p:cNvSpPr/>
          <p:nvPr/>
        </p:nvSpPr>
        <p:spPr>
          <a:xfrm>
            <a:off x="55880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27" name="Shape 727"/>
          <p:cNvSpPr/>
          <p:nvPr/>
        </p:nvSpPr>
        <p:spPr>
          <a:xfrm>
            <a:off x="60960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28" name="Shape 728"/>
          <p:cNvSpPr/>
          <p:nvPr/>
        </p:nvSpPr>
        <p:spPr>
          <a:xfrm>
            <a:off x="66040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29" name="Shape 729"/>
          <p:cNvSpPr/>
          <p:nvPr/>
        </p:nvSpPr>
        <p:spPr>
          <a:xfrm>
            <a:off x="7112000" y="3479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0" name="Shape 730"/>
          <p:cNvSpPr/>
          <p:nvPr/>
        </p:nvSpPr>
        <p:spPr>
          <a:xfrm>
            <a:off x="4572000" y="3987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1" name="Shape 731"/>
          <p:cNvSpPr/>
          <p:nvPr/>
        </p:nvSpPr>
        <p:spPr>
          <a:xfrm>
            <a:off x="5080000" y="3987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2" name="Shape 732"/>
          <p:cNvSpPr/>
          <p:nvPr/>
        </p:nvSpPr>
        <p:spPr>
          <a:xfrm>
            <a:off x="5588000" y="3987800"/>
            <a:ext cx="508000" cy="508000"/>
          </a:xfrm>
          <a:prstGeom prst="rect">
            <a:avLst/>
          </a:prstGeom>
          <a:solidFill>
            <a:srgbClr val="D3E5EE"/>
          </a:solidFill>
          <a:ln w="19050">
            <a:solidFill>
              <a:srgbClr val="156082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3" name="Shape 733"/>
          <p:cNvSpPr/>
          <p:nvPr/>
        </p:nvSpPr>
        <p:spPr>
          <a:xfrm>
            <a:off x="6096000" y="3987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4" name="Shape 734"/>
          <p:cNvSpPr/>
          <p:nvPr/>
        </p:nvSpPr>
        <p:spPr>
          <a:xfrm>
            <a:off x="6604000" y="3987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5" name="Shape 735"/>
          <p:cNvSpPr/>
          <p:nvPr/>
        </p:nvSpPr>
        <p:spPr>
          <a:xfrm>
            <a:off x="7112000" y="3987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6" name="Shape 736"/>
          <p:cNvSpPr/>
          <p:nvPr/>
        </p:nvSpPr>
        <p:spPr>
          <a:xfrm>
            <a:off x="45720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7" name="Shape 737"/>
          <p:cNvSpPr/>
          <p:nvPr/>
        </p:nvSpPr>
        <p:spPr>
          <a:xfrm>
            <a:off x="50800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8" name="Shape 738"/>
          <p:cNvSpPr/>
          <p:nvPr/>
        </p:nvSpPr>
        <p:spPr>
          <a:xfrm>
            <a:off x="55880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9" name="Shape 739"/>
          <p:cNvSpPr/>
          <p:nvPr/>
        </p:nvSpPr>
        <p:spPr>
          <a:xfrm>
            <a:off x="60960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0" name="Shape 740"/>
          <p:cNvSpPr/>
          <p:nvPr/>
        </p:nvSpPr>
        <p:spPr>
          <a:xfrm>
            <a:off x="66040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1" name="Shape 741"/>
          <p:cNvSpPr/>
          <p:nvPr/>
        </p:nvSpPr>
        <p:spPr>
          <a:xfrm>
            <a:off x="7112000" y="4495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2" name="Shape 742"/>
          <p:cNvSpPr/>
          <p:nvPr/>
        </p:nvSpPr>
        <p:spPr>
          <a:xfrm>
            <a:off x="45720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3" name="Shape 743"/>
          <p:cNvSpPr/>
          <p:nvPr/>
        </p:nvSpPr>
        <p:spPr>
          <a:xfrm>
            <a:off x="50800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4" name="Shape 744"/>
          <p:cNvSpPr/>
          <p:nvPr/>
        </p:nvSpPr>
        <p:spPr>
          <a:xfrm>
            <a:off x="55880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5" name="Shape 745"/>
          <p:cNvSpPr/>
          <p:nvPr/>
        </p:nvSpPr>
        <p:spPr>
          <a:xfrm>
            <a:off x="60960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6" name="Shape 746"/>
          <p:cNvSpPr/>
          <p:nvPr/>
        </p:nvSpPr>
        <p:spPr>
          <a:xfrm>
            <a:off x="66040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7" name="Shape 747"/>
          <p:cNvSpPr/>
          <p:nvPr/>
        </p:nvSpPr>
        <p:spPr>
          <a:xfrm>
            <a:off x="7112000" y="5003800"/>
            <a:ext cx="508000" cy="50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8" name="Shape 748"/>
          <p:cNvSpPr/>
          <p:nvPr/>
        </p:nvSpPr>
        <p:spPr>
          <a:xfrm>
            <a:off x="5130800" y="3784600"/>
            <a:ext cx="660400" cy="660400"/>
          </a:xfrm>
          <a:prstGeom prst="ellipse">
            <a:avLst/>
          </a:prstGeom>
          <a:solidFill>
            <a:srgbClr val="E97132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9" name="Shape 749"/>
          <p:cNvSpPr/>
          <p:nvPr/>
        </p:nvSpPr>
        <p:spPr>
          <a:xfrm>
            <a:off x="5588000" y="4114800"/>
            <a:ext cx="762000" cy="762000"/>
          </a:xfrm>
          <a:prstGeom prst="ellipse">
            <a:avLst/>
          </a:prstGeom>
          <a:solidFill>
            <a:srgbClr val="2F6FDE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50" name="Shape 750"/>
          <p:cNvSpPr/>
          <p:nvPr/>
        </p:nvSpPr>
        <p:spPr>
          <a:xfrm>
            <a:off x="6477000" y="3987800"/>
            <a:ext cx="508000" cy="508000"/>
          </a:xfrm>
          <a:prstGeom prst="ellipse">
            <a:avLst/>
          </a:prstGeom>
          <a:solidFill>
            <a:srgbClr val="4EA72E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51" name="Shape 751"/>
          <p:cNvSpPr/>
          <p:nvPr/>
        </p:nvSpPr>
        <p:spPr>
          <a:xfrm>
            <a:off x="6807200" y="4572000"/>
            <a:ext cx="609600" cy="609600"/>
          </a:xfrm>
          <a:prstGeom prst="ellipse">
            <a:avLst/>
          </a:prstGeom>
          <a:solidFill>
            <a:srgbClr val="A02B93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52" name="Shape 752"/>
          <p:cNvSpPr/>
          <p:nvPr/>
        </p:nvSpPr>
        <p:spPr>
          <a:xfrm>
            <a:off x="4292600" y="5664200"/>
            <a:ext cx="3606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타일마다 따로 그린다</a:t>
            </a:r>
          </a:p>
        </p:txBody>
      </p:sp>
      <p:sp>
        <p:nvSpPr>
          <p:cNvPr id="753" name="Shape 753"/>
          <p:cNvSpPr/>
          <p:nvPr/>
        </p:nvSpPr>
        <p:spPr>
          <a:xfrm>
            <a:off x="8509000" y="3479800"/>
            <a:ext cx="1651000" cy="1651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54" name="Shape 754"/>
          <p:cNvSpPr/>
          <p:nvPr/>
        </p:nvSpPr>
        <p:spPr>
          <a:xfrm>
            <a:off x="8636000" y="3606800"/>
            <a:ext cx="660400" cy="660400"/>
          </a:xfrm>
          <a:prstGeom prst="ellipse">
            <a:avLst/>
          </a:prstGeom>
          <a:solidFill>
            <a:srgbClr val="E97132">
              <a:alpha val="5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55" name="Shape 755"/>
          <p:cNvSpPr/>
          <p:nvPr/>
        </p:nvSpPr>
        <p:spPr>
          <a:xfrm>
            <a:off x="8839200" y="3810000"/>
            <a:ext cx="660400" cy="660400"/>
          </a:xfrm>
          <a:prstGeom prst="ellipse">
            <a:avLst/>
          </a:prstGeom>
          <a:solidFill>
            <a:srgbClr val="2F6FDE">
              <a:alpha val="5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56" name="Shape 756"/>
          <p:cNvSpPr/>
          <p:nvPr/>
        </p:nvSpPr>
        <p:spPr>
          <a:xfrm>
            <a:off x="9042400" y="4013200"/>
            <a:ext cx="660400" cy="660400"/>
          </a:xfrm>
          <a:prstGeom prst="ellipse">
            <a:avLst/>
          </a:prstGeom>
          <a:solidFill>
            <a:srgbClr val="A02B93">
              <a:alpha val="5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57" name="Shape 757"/>
          <p:cNvSpPr/>
          <p:nvPr/>
        </p:nvSpPr>
        <p:spPr>
          <a:xfrm>
            <a:off x="9245600" y="4216400"/>
            <a:ext cx="660400" cy="660400"/>
          </a:xfrm>
          <a:prstGeom prst="ellipse">
            <a:avLst/>
          </a:prstGeom>
          <a:solidFill>
            <a:srgbClr val="4EA72E">
              <a:alpha val="5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58" name="Shape 758"/>
          <p:cNvSpPr/>
          <p:nvPr/>
        </p:nvSpPr>
        <p:spPr>
          <a:xfrm>
            <a:off x="10337800" y="3530600"/>
            <a:ext cx="304800" cy="3048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759" name="Shape 759"/>
          <p:cNvSpPr/>
          <p:nvPr/>
        </p:nvSpPr>
        <p:spPr>
          <a:xfrm>
            <a:off x="10693400" y="35433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가장 가까움</a:t>
            </a:r>
          </a:p>
        </p:txBody>
      </p:sp>
      <p:sp>
        <p:nvSpPr>
          <p:cNvPr id="760" name="Shape 760"/>
          <p:cNvSpPr/>
          <p:nvPr/>
        </p:nvSpPr>
        <p:spPr>
          <a:xfrm>
            <a:off x="10337800" y="3937000"/>
            <a:ext cx="304800" cy="304800"/>
          </a:xfrm>
          <a:prstGeom prst="ellipse">
            <a:avLst/>
          </a:prstGeom>
          <a:solidFill>
            <a:srgbClr val="2F6FDE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761" name="Shape 761"/>
          <p:cNvSpPr/>
          <p:nvPr/>
        </p:nvSpPr>
        <p:spPr>
          <a:xfrm>
            <a:off x="10337800" y="4343400"/>
            <a:ext cx="304800" cy="304800"/>
          </a:xfrm>
          <a:prstGeom prst="ellipse">
            <a:avLst/>
          </a:prstGeom>
          <a:solidFill>
            <a:srgbClr val="A02B9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3</a:t>
            </a:r>
          </a:p>
        </p:txBody>
      </p:sp>
      <p:sp>
        <p:nvSpPr>
          <p:cNvPr id="762" name="Shape 762"/>
          <p:cNvSpPr/>
          <p:nvPr/>
        </p:nvSpPr>
        <p:spPr>
          <a:xfrm>
            <a:off x="10337800" y="4749800"/>
            <a:ext cx="304800" cy="304800"/>
          </a:xfrm>
          <a:prstGeom prst="ellipse">
            <a:avLst/>
          </a:prstGeom>
          <a:solidFill>
            <a:srgbClr val="4EA72E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4</a:t>
            </a:r>
          </a:p>
        </p:txBody>
      </p:sp>
      <p:sp>
        <p:nvSpPr>
          <p:cNvPr id="763" name="Shape 763"/>
          <p:cNvSpPr/>
          <p:nvPr/>
        </p:nvSpPr>
        <p:spPr>
          <a:xfrm>
            <a:off x="10693400" y="47625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가장 멂</a:t>
            </a:r>
          </a:p>
        </p:txBody>
      </p:sp>
      <p:sp>
        <p:nvSpPr>
          <p:cNvPr id="764" name="Shape 764"/>
          <p:cNvSpPr/>
          <p:nvPr/>
        </p:nvSpPr>
        <p:spPr>
          <a:xfrm>
            <a:off x="8128000" y="5334000"/>
            <a:ext cx="3606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002060"/>
                </a:solidFill>
                <a:ea typeface="+mj-ea"/>
              </a:rPr>
              <a:t>앞에서부터 차례로 합성 → 정확한 결과</a:t>
            </a:r>
          </a:p>
        </p:txBody>
      </p:sp>
      <p:sp>
        <p:nvSpPr>
          <p:cNvPr id="765" name="Source"/>
          <p:cNvSpPr txBox="1"/>
          <p:nvPr/>
        </p:nvSpPr>
        <p:spPr>
          <a:xfrm>
            <a:off x="457200" y="6400800"/>
            <a:ext cx="101600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100" dirty="0">
                <a:solidFill>
                  <a:srgbClr val="8C96A3"/>
                </a:solidFill>
              </a:rPr>
              <a:t>참고: Gareth Thomas (AMD), “Compute-based GPU Particle Systems”, GDC 2014</a:t>
            </a:r>
          </a:p>
        </p:txBody>
      </p:sp>
    </p:spTree>
    <p:extLst>
      <p:ext uri="{BB962C8B-B14F-4D97-AF65-F5344CB8AC3E}">
        <p14:creationId xmlns:p14="http://schemas.microsoft.com/office/powerpoint/2010/main" val="3135372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9570ED-7AFD-ABCE-E03F-0A6810CA0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lt"/>
                <a:ea typeface="+mj-ea"/>
              </a:rPr>
              <a:t>장면별 세 방식의 프레임 시간 비교</a:t>
            </a:r>
          </a:p>
        </p:txBody>
      </p:sp>
      <p:sp>
        <p:nvSpPr>
          <p:cNvPr id="112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13</a:t>
            </a:fld>
            <a:endParaRPr lang="ko-KR" altLang="en-US"/>
          </a:p>
        </p:txBody>
      </p:sp>
      <p:sp>
        <p:nvSpPr>
          <p:cNvPr id="113" name="Chart Label 1"/>
          <p:cNvSpPr txBox="1"/>
          <p:nvPr/>
        </p:nvSpPr>
        <p:spPr>
          <a:xfrm>
            <a:off x="457200" y="1371600"/>
            <a:ext cx="36068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400" b="1" dirty="0">
                <a:solidFill>
                  <a:srgbClr val="404040"/>
                </a:solidFill>
                <a:latin typeface="+mj-lt"/>
                <a:ea typeface="+mj-ea"/>
              </a:rPr>
              <a:t>프레임 시간, 장면 1 (임의값)</a:t>
            </a:r>
          </a:p>
        </p:txBody>
      </p:sp>
      <p:sp>
        <p:nvSpPr>
          <p:cNvPr id="114" name="Chart Label 2"/>
          <p:cNvSpPr txBox="1"/>
          <p:nvPr/>
        </p:nvSpPr>
        <p:spPr>
          <a:xfrm>
            <a:off x="4292600" y="1371600"/>
            <a:ext cx="36068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400" b="1" dirty="0">
                <a:solidFill>
                  <a:srgbClr val="404040"/>
                </a:solidFill>
                <a:latin typeface="+mj-lt"/>
                <a:ea typeface="+mj-ea"/>
              </a:rPr>
              <a:t>프레임 시간, 장면 2 (임의값)</a:t>
            </a:r>
          </a:p>
        </p:txBody>
      </p:sp>
      <p:sp>
        <p:nvSpPr>
          <p:cNvPr id="115" name="Chart Label 3"/>
          <p:cNvSpPr txBox="1"/>
          <p:nvPr/>
        </p:nvSpPr>
        <p:spPr>
          <a:xfrm>
            <a:off x="8128000" y="1371600"/>
            <a:ext cx="36068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400" b="1" dirty="0">
                <a:solidFill>
                  <a:srgbClr val="404040"/>
                </a:solidFill>
                <a:latin typeface="+mj-lt"/>
                <a:ea typeface="+mj-ea"/>
              </a:rPr>
              <a:t>프레임 시간, 장면 3 (임의값)</a:t>
            </a:r>
          </a:p>
        </p:txBody>
      </p:sp>
      <p:sp>
        <p:nvSpPr>
          <p:cNvPr id="116" name="Note Area"/>
          <p:cNvSpPr txBox="1"/>
          <p:nvPr/>
        </p:nvSpPr>
        <p:spPr>
          <a:xfrm>
            <a:off x="457200" y="5080000"/>
            <a:ext cx="11277600" cy="1270000"/>
          </a:xfrm>
          <a:prstGeom prst="rect">
            <a:avLst/>
          </a:prstGeom>
          <a:solidFill>
            <a:srgbClr val="F4F5F7"/>
          </a:solidFill>
        </p:spPr>
        <p:txBody>
          <a:bodyPr wrap="square" lIns="254000" tIns="127000" rIns="254000" bIns="127000" anchor="t">
            <a:noAutofit/>
          </a:bodyPr>
          <a:lstStyle/>
          <a:p>
            <a:r>
              <a:rPr lang="ko-KR" altLang="en-US" sz="1600" dirty="0">
                <a:solidFill>
                  <a:srgbClr val="1F1F1F"/>
                </a:solidFill>
              </a:rPr>
              <a:t>Tiled Rendering은 장면이 바뀌어도 일관적으로 프레임을 유지한다</a:t>
            </a:r>
          </a:p>
        </p:txBody>
      </p:sp>
      <p:graphicFrame>
        <p:nvGraphicFramePr>
          <p:cNvPr id="117" name="Chart"/>
          <p:cNvGraphicFramePr/>
          <p:nvPr/>
        </p:nvGraphicFramePr>
        <p:xfrm>
          <a:off x="457200" y="1714500"/>
          <a:ext cx="3606800" cy="325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8" name="Chart"/>
          <p:cNvGraphicFramePr/>
          <p:nvPr/>
        </p:nvGraphicFramePr>
        <p:xfrm>
          <a:off x="4292600" y="1714500"/>
          <a:ext cx="3606800" cy="325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9" name="Chart"/>
          <p:cNvGraphicFramePr/>
          <p:nvPr/>
        </p:nvGraphicFramePr>
        <p:xfrm>
          <a:off x="8128000" y="1714500"/>
          <a:ext cx="3606800" cy="325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846544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4C27AC-028B-1AF2-351E-08C61A8B1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Tiled Rendering은 정확하지만 정렬 비용이 다시 생긴다</a:t>
            </a:r>
          </a:p>
        </p:txBody>
      </p:sp>
      <p:sp>
        <p:nvSpPr>
          <p:cNvPr id="20" name="Shape 20"/>
          <p:cNvSpPr/>
          <p:nvPr/>
        </p:nvSpPr>
        <p:spPr>
          <a:xfrm>
            <a:off x="457200" y="1320800"/>
            <a:ext cx="5486400" cy="4978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1" name="Shape 21"/>
          <p:cNvSpPr/>
          <p:nvPr/>
        </p:nvSpPr>
        <p:spPr>
          <a:xfrm>
            <a:off x="711200" y="1524000"/>
            <a:ext cx="812800" cy="3302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장점</a:t>
            </a:r>
          </a:p>
        </p:txBody>
      </p:sp>
      <p:sp>
        <p:nvSpPr>
          <p:cNvPr id="22" name="Shape 22"/>
          <p:cNvSpPr/>
          <p:nvPr/>
        </p:nvSpPr>
        <p:spPr>
          <a:xfrm>
            <a:off x="711200" y="2133600"/>
            <a:ext cx="76200" cy="15748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3" name="Shape 23"/>
          <p:cNvSpPr/>
          <p:nvPr/>
        </p:nvSpPr>
        <p:spPr>
          <a:xfrm>
            <a:off x="990600" y="21844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solidFill>
                  <a:srgbClr val="1F1F1F"/>
                </a:solidFill>
                <a:latin typeface="+mj-lt"/>
                <a:ea typeface="+mj-ea"/>
              </a:rPr>
              <a:t>1. 순서대로 정확하게 합성</a:t>
            </a:r>
          </a:p>
        </p:txBody>
      </p:sp>
      <p:sp>
        <p:nvSpPr>
          <p:cNvPr id="24" name="Shape 24"/>
          <p:cNvSpPr/>
          <p:nvPr/>
        </p:nvSpPr>
        <p:spPr>
          <a:xfrm>
            <a:off x="990600" y="2692400"/>
            <a:ext cx="4699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WBOIT와 달리 색이 뭉개지거나 거리 왜곡이 없다</a:t>
            </a:r>
          </a:p>
        </p:txBody>
      </p:sp>
      <p:sp>
        <p:nvSpPr>
          <p:cNvPr id="25" name="Shape 25"/>
          <p:cNvSpPr/>
          <p:nvPr/>
        </p:nvSpPr>
        <p:spPr>
          <a:xfrm>
            <a:off x="711200" y="4165600"/>
            <a:ext cx="76200" cy="15748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6" name="Shape 26"/>
          <p:cNvSpPr/>
          <p:nvPr/>
        </p:nvSpPr>
        <p:spPr>
          <a:xfrm>
            <a:off x="990600" y="42164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solidFill>
                  <a:srgbClr val="1F1F1F"/>
                </a:solidFill>
                <a:latin typeface="+mj-lt"/>
                <a:ea typeface="+mj-ea"/>
              </a:rPr>
              <a:t>2. 겹친 곳만 타일 단위로 처리</a:t>
            </a:r>
          </a:p>
        </p:txBody>
      </p:sp>
      <p:sp>
        <p:nvSpPr>
          <p:cNvPr id="27" name="Shape 27"/>
          <p:cNvSpPr/>
          <p:nvPr/>
        </p:nvSpPr>
        <p:spPr>
          <a:xfrm>
            <a:off x="990600" y="4724400"/>
            <a:ext cx="4699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파티클이 있는 타일만 그려 빈 영역의 작업이 줄어든다</a:t>
            </a:r>
          </a:p>
        </p:txBody>
      </p:sp>
      <p:sp>
        <p:nvSpPr>
          <p:cNvPr id="28" name="Shape 28"/>
          <p:cNvSpPr/>
          <p:nvPr/>
        </p:nvSpPr>
        <p:spPr>
          <a:xfrm>
            <a:off x="6248400" y="1320800"/>
            <a:ext cx="5486400" cy="4978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9" name="Shape 29"/>
          <p:cNvSpPr/>
          <p:nvPr/>
        </p:nvSpPr>
        <p:spPr>
          <a:xfrm>
            <a:off x="6502400" y="1524000"/>
            <a:ext cx="812800" cy="330200"/>
          </a:xfrm>
          <a:prstGeom prst="roundRect">
            <a:avLst/>
          </a:prstGeom>
          <a:solidFill>
            <a:srgbClr val="D94F3D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단점</a:t>
            </a:r>
          </a:p>
        </p:txBody>
      </p:sp>
      <p:sp>
        <p:nvSpPr>
          <p:cNvPr id="30" name="Shape 30"/>
          <p:cNvSpPr/>
          <p:nvPr/>
        </p:nvSpPr>
        <p:spPr>
          <a:xfrm>
            <a:off x="6502400" y="2133600"/>
            <a:ext cx="76200" cy="15748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" name="Shape 31"/>
          <p:cNvSpPr/>
          <p:nvPr/>
        </p:nvSpPr>
        <p:spPr>
          <a:xfrm>
            <a:off x="6781800" y="21844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solidFill>
                  <a:srgbClr val="1F1F1F"/>
                </a:solidFill>
                <a:latin typeface="+mj-lt"/>
                <a:ea typeface="+mj-ea"/>
              </a:rPr>
              <a:t>1. 정렬 비용이 다시 생긴다</a:t>
            </a:r>
          </a:p>
        </p:txBody>
      </p:sp>
      <p:sp>
        <p:nvSpPr>
          <p:cNvPr id="32" name="Shape 32"/>
          <p:cNvSpPr/>
          <p:nvPr/>
        </p:nvSpPr>
        <p:spPr>
          <a:xfrm>
            <a:off x="6781800" y="2692400"/>
            <a:ext cx="4699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그리기 전에 모두 정렬해야 해, 수가 많으면 느려진다</a:t>
            </a:r>
          </a:p>
        </p:txBody>
      </p:sp>
      <p:sp>
        <p:nvSpPr>
          <p:cNvPr id="33" name="Shape 33"/>
          <p:cNvSpPr/>
          <p:nvPr/>
        </p:nvSpPr>
        <p:spPr>
          <a:xfrm>
            <a:off x="6502400" y="4165600"/>
            <a:ext cx="76200" cy="15748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4" name="Shape 34"/>
          <p:cNvSpPr/>
          <p:nvPr/>
        </p:nvSpPr>
        <p:spPr>
          <a:xfrm>
            <a:off x="6781800" y="42164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solidFill>
                  <a:srgbClr val="1F1F1F"/>
                </a:solidFill>
                <a:latin typeface="+mj-lt"/>
                <a:ea typeface="+mj-ea"/>
              </a:rPr>
              <a:t>2. 타일 분류 단계가 추가된다</a:t>
            </a:r>
          </a:p>
        </p:txBody>
      </p:sp>
      <p:sp>
        <p:nvSpPr>
          <p:cNvPr id="35" name="Shape 35"/>
          <p:cNvSpPr/>
          <p:nvPr/>
        </p:nvSpPr>
        <p:spPr>
          <a:xfrm>
            <a:off x="6781800" y="4724400"/>
            <a:ext cx="4699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파티클을 타일로 나누는 작업이 더 들고, 한 타일에 몰리면 그 타일만 느려진다</a:t>
            </a:r>
          </a:p>
        </p:txBody>
      </p:sp>
      <p:sp>
        <p:nvSpPr>
          <p:cNvPr id="3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67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 [1793191105554]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Paperlogy 7 Bold"/>
        <a:ea typeface="Paperlogy 7 Bold"/>
        <a:cs typeface=""/>
        <a:font script="Jpan" typeface="游ゴシック Light"/>
        <a:font script="Hang" typeface="Paperlogy 7 Bol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4 Regular"/>
        <a:ea typeface="Paperlogy 4 Regular"/>
        <a:cs typeface=""/>
        <a:font script="Jpan" typeface="游ゴシック"/>
        <a:font script="Hang" typeface="Paperlogy 4 Regular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18C54961-40F4-40A4-92F2-7C3CEFB27669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a8cbeeac-ae0f-426c-a6b3-d381d1ce468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9277141E-726F-4947-931F-C365A012340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640be94a-2aea-4390-80d3-d30f2368f30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414</TotalTime>
  <Words>910</Words>
  <Application>Microsoft Office PowerPoint</Application>
  <PresentationFormat>와이드스크린</PresentationFormat>
  <Paragraphs>251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Paperlogy 4 Regular</vt:lpstr>
      <vt:lpstr>Paperlogy 7 Bold</vt:lpstr>
      <vt:lpstr>Arial</vt:lpstr>
      <vt:lpstr>Office 테마 [1793191105554]</vt:lpstr>
      <vt:lpstr>GPU 기반 파티클 시스템 구현 및 최적화</vt:lpstr>
      <vt:lpstr>PowerPoint 프레젠테이션</vt:lpstr>
      <vt:lpstr>첫 구현: 알파 블렌딩 + GPU 소팅 (Bitonic Sort)</vt:lpstr>
      <vt:lpstr>PowerPoint 프레젠테이션</vt:lpstr>
      <vt:lpstr>WBOIT  McGuire &amp; Bavoil (2013)</vt:lpstr>
      <vt:lpstr>WBOIT  McGuire &amp; Bavoil (2013)</vt:lpstr>
      <vt:lpstr>WBOIT의 한계: 근사 방식이라 실제와 다르게 보일 수 있다</vt:lpstr>
      <vt:lpstr>파티클이 크고 많이 겹치면 WBOIT가 정렬 방식보다 느려진다</vt:lpstr>
      <vt:lpstr>Tiled WBOIT</vt:lpstr>
      <vt:lpstr>Tiled WBOIT</vt:lpstr>
      <vt:lpstr>Tiled WBOIT는 화면을 덮는 장면에서만 빠르다</vt:lpstr>
      <vt:lpstr>Tiled Rendering  Gareth Thomas (AMD), GDC 2014</vt:lpstr>
      <vt:lpstr>장면별 세 방식의 프레임 시간 비교</vt:lpstr>
      <vt:lpstr>Tiled Rendering은 정확하지만 정렬 비용이 다시 생긴다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민용 큼</dc:creator>
  <cp:lastModifiedBy>민용 큼</cp:lastModifiedBy>
  <cp:revision>8</cp:revision>
  <dcterms:created xsi:type="dcterms:W3CDTF">2026-10-28T12:32:41Z</dcterms:created>
  <dcterms:modified xsi:type="dcterms:W3CDTF">2026-10-29T16:15:07Z</dcterms:modified>
</cp:coreProperties>
</file>