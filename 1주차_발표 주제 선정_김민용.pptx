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  <p:sldId id="267" r:id="rId13"/>
  </p:sldIdLst>
  <p:sldSz cx="12192000" cy="6858000"/>
  <p:notesSz cx="6858000" cy="9144000"/>
  <p:embeddedFontLst>
    <p:embeddedFont>
      <p:font typeface="나눔바른고딕" panose="020B0603020101020101" pitchFamily="50" charset="-127"/>
      <p:regular r:id="rId15"/>
      <p:bold r:id="rId16"/>
    </p:embeddedFont>
    <p:embeddedFont>
      <p:font typeface="Cambria Math" panose="02040503050406030204" pitchFamily="18" charset="0"/>
      <p:regular r:id="rId17"/>
    </p:embeddedFont>
    <p:embeddedFont>
      <p:font typeface="나눔스퀘어" panose="020B0600000101010101" pitchFamily="50" charset="-127"/>
      <p:regular r:id="rId18"/>
    </p:embeddedFont>
    <p:embeddedFont>
      <p:font typeface="나눔스퀘어 Bold" panose="020B0600000101010101" pitchFamily="50" charset="-127"/>
      <p:bold r:id="rId19"/>
    </p:embeddedFont>
    <p:embeddedFont>
      <p:font typeface="맑은 고딕" panose="020B0503020000020004" pitchFamily="50" charset="-127"/>
      <p:regular r:id="rId20"/>
      <p:bold r:id="rId2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F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98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8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348A3-555B-4632-ACDD-9B44C2A33516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C52B06-7358-4226-9967-FF54C814E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969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1FB08C-AB04-44B5-9E25-0A0A76B5C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540996-D710-4A39-BCFF-825E5AF4D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6728A1-6762-4DE4-B115-1106842C8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1C9C-DBCA-4226-9D31-9BEB85C6A3B1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A1F013-F509-4BB7-936C-02C9B7320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7251AC-2A7B-499C-83EC-EBC67DE48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A6D8C51-7E1C-4870-B2BB-3BFF1E44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981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D8AA9D-D948-4938-8D06-E872CC9DD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491B3F-9351-4435-9596-3C236C51F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448247-E626-496E-9293-6FAFCC3E5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248C0-B0C7-4F33-ADE7-8201F53502F8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EEAD4F-12CB-4DEE-8615-F29F443A0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200B15-2E31-48DD-9391-4EBE1E7BA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40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D32154-1C48-4AC5-AD54-174C2BB04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671690-2AAD-4FF1-87D2-1A6675997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844314-95A3-410C-A2D3-AEE6E9D68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D3534-BF9D-4B49-84C0-D43276B69AF3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38647D-EA0E-4480-B886-E5BFF34E1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4898A7-57ED-4C5F-891E-D5C96E119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17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0C2CEC-5DD8-48ED-87B6-4B30850CA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16C34F-0A9E-48BD-85C2-F3B1B2B560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A8C0B01-ADC4-4878-9D4A-1B6631BE92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A44A81-D82D-4E43-9BFF-B6125D234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7199-9A02-4D02-8F93-72EE1A79BC07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030563-C8C4-4A44-AE73-510558E80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DEF5DB-5E4D-4CCE-9AEF-169111A50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890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93B384-9E31-40EF-A31D-B3FA35B6F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D2543A-8450-40F8-885A-68912FC52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CD6437-F493-4AFD-A022-DFDDEF5B1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35F635-3CD4-4335-A903-5A20E66D0A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72304A3-4F9F-4818-856C-802E1D022B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B23F0C6-4E83-4275-B99F-105C76D74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0B2B-88FD-4E3E-8F17-5D6A449C1D45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E4AD2CF-5817-43D8-9B1B-3F96BD6B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FDDE332-D9AA-4F0C-9180-27F3BD624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536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D7A4EE-9A5D-4590-B106-724C7053F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1" y="16042"/>
            <a:ext cx="11353800" cy="741780"/>
          </a:xfrm>
        </p:spPr>
        <p:txBody>
          <a:bodyPr>
            <a:normAutofit/>
          </a:bodyPr>
          <a:lstStyle>
            <a:lvl1pPr>
              <a:defRPr sz="36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34ECD32-E885-480B-B74E-793A5FDEB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19D-31F5-4E45-A92B-D9D76DAEE096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5243688-83A8-4E33-944F-693DC5A7B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FE3188-7A26-4A66-8ED2-42F298C24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4572"/>
            <a:ext cx="2743200" cy="365125"/>
          </a:xfrm>
        </p:spPr>
        <p:txBody>
          <a:bodyPr/>
          <a:lstStyle>
            <a:lvl1pPr>
              <a:defRPr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6A6D8C51-7E1C-4870-B2BB-3BFF1E443F5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611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5C9C77-357A-478D-BEEE-66DC4C7F0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B5459-FD2D-4AAB-8C0B-EB08E31BEE11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F7BED9B-A612-4B6B-8E42-8E79217CF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8CAC13-82E3-420E-AB7B-43C3CC4C7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877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DC3AF8-D59F-4842-B02C-BDF9ECBBA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4038F4-FB8D-4E32-A19A-1803B2F12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CD2810-62C2-49DB-B46E-D3DDAD82B7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9ADE84-D336-4557-9088-A0158D35A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79DF2-FB9C-48C5-9703-637EFCE4D192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D3A7B9-4669-4595-A033-E1EB6590F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B38EE2-2B70-4765-AA03-4AB672AD2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812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B25795-DB7E-4619-9D52-DA2FA6D2E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D5F6F44-6EB6-407D-991E-8BD52F22EF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C6D4CA-3ECF-4A99-A2AF-CFA428A4A4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B090D2-E1E8-48C2-86D6-2FE5EC63A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729B-9ACA-4E8A-A8B1-34727813112F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34200F-FE3E-4BFD-9330-2C3580AA9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FC06C2-9E4E-45FB-8274-C5576A5A0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937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1090BA-79A5-47C9-B1B5-9E97E3DEB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1B1CCB-357E-46D9-8FC6-7732CB15B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CBA0E6-34DB-41A0-A53C-27284CC77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A0355-6AFC-475A-A063-F8DA9442638C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D1E829-AECB-4D89-B142-F8302A153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54D6A7-C463-486C-83F0-43DD78A5F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84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D6778F9-A54E-4EF0-93E5-B35CBAE5AB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00DAEF4-3EF1-41AC-8964-6C5A3FBA3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4F93B7-6248-4CCC-8C40-038E3FAEE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AD67D-F4F2-4B4E-A332-1994F67D1DFA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B3D7D7-EA44-49FC-94A4-4CFD09C83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8CDE31-F241-4FD0-9E21-3E1F0C5CC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136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0A184BE-4C12-4548-B4E4-1833EFC77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48F320-877C-439F-88D9-963DA3AA3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B40274-7D58-4C15-B671-74E8316DC9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53A30-4534-4662-9938-E1A4C55BD387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133448-61A2-4838-B99D-B70A982211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36444D-1565-40A9-9830-FDF2BB12C6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6D8C51-7E1C-4870-B2BB-3BFF1E44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2821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E2975-C1EC-4BE9-8EE8-7F5682CBC8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발표 주제 선정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B33DACC-1DDD-4A8C-8AAA-A19A5CB0F1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GPU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기반 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파티클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시스템 구현 및 최적화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부제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환경 상호작용으로의 확장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4F827B-C94A-42AB-98BF-876410EA8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2953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799E18-8F55-4C59-A6D8-D73BB65C9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개요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9E3A9D0-1C48-467A-8898-50E0E7AB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2C476A-95FE-4C0C-B446-4AF9BFA5555C}"/>
              </a:ext>
            </a:extLst>
          </p:cNvPr>
          <p:cNvSpPr txBox="1"/>
          <p:nvPr/>
        </p:nvSpPr>
        <p:spPr>
          <a:xfrm>
            <a:off x="1556083" y="1023852"/>
            <a:ext cx="279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1) GPU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기반 </a:t>
            </a:r>
            <a:r>
              <a:rPr lang="ko-KR" altLang="en-US" sz="16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파티클과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최적화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8DF081B-D912-458F-9CF7-5B0F56C0505F}"/>
              </a:ext>
            </a:extLst>
          </p:cNvPr>
          <p:cNvCxnSpPr>
            <a:cxnSpLocks/>
          </p:cNvCxnSpPr>
          <p:nvPr/>
        </p:nvCxnSpPr>
        <p:spPr>
          <a:xfrm flipV="1">
            <a:off x="6096000" y="0"/>
            <a:ext cx="0" cy="684195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0A2670E-7624-4FB2-93E8-FF2F2BC06C98}"/>
              </a:ext>
            </a:extLst>
          </p:cNvPr>
          <p:cNvSpPr txBox="1"/>
          <p:nvPr/>
        </p:nvSpPr>
        <p:spPr>
          <a:xfrm>
            <a:off x="7892718" y="1100219"/>
            <a:ext cx="279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2)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환경과 상호작용하는 </a:t>
            </a:r>
            <a:r>
              <a:rPr lang="ko-KR" altLang="en-US" sz="16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파티클</a:t>
            </a:r>
            <a:endParaRPr lang="ko-KR" altLang="en-US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11AEE21-D774-4AF1-8C93-9A91FDFE6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571" y="1641808"/>
            <a:ext cx="4544556" cy="31602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341C869-0086-4A3F-9F21-ED948D32CBB8}"/>
              </a:ext>
            </a:extLst>
          </p:cNvPr>
          <p:cNvSpPr txBox="1"/>
          <p:nvPr/>
        </p:nvSpPr>
        <p:spPr>
          <a:xfrm>
            <a:off x="6708766" y="5393700"/>
            <a:ext cx="499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1)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지형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객체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 충돌하는 </a:t>
            </a:r>
            <a:r>
              <a:rPr lang="ko-KR" altLang="en-US" sz="16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파티클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2)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충돌한 </a:t>
            </a:r>
            <a:r>
              <a:rPr lang="ko-KR" altLang="en-US" sz="16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파티클에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따라서 반응을 하는 지형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객체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ko-KR" altLang="en-US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9FB6E44-AEDC-43D0-8912-EF4D92A09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443" y="1641808"/>
            <a:ext cx="4048626" cy="2927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E210DCD-2164-4EE9-BA6D-003D74F49533}"/>
              </a:ext>
            </a:extLst>
          </p:cNvPr>
          <p:cNvSpPr txBox="1"/>
          <p:nvPr/>
        </p:nvSpPr>
        <p:spPr>
          <a:xfrm>
            <a:off x="1459722" y="4802102"/>
            <a:ext cx="29920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1) </a:t>
            </a:r>
            <a:r>
              <a:rPr lang="ko-KR" altLang="en-US" sz="16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파티클의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메모리 관리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2) </a:t>
            </a:r>
            <a:r>
              <a:rPr lang="ko-KR" altLang="en-US" sz="16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파티클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업데이트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3)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거리기반 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LOD</a:t>
            </a:r>
          </a:p>
          <a:p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4)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렌더링 기법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5) </a:t>
            </a:r>
            <a:r>
              <a:rPr lang="ko-KR" altLang="en-US" sz="16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그외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431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4740810-AE2B-4986-AFD5-37647E3D7E6C}"/>
              </a:ext>
            </a:extLst>
          </p:cNvPr>
          <p:cNvSpPr/>
          <p:nvPr/>
        </p:nvSpPr>
        <p:spPr>
          <a:xfrm>
            <a:off x="7559604" y="2351839"/>
            <a:ext cx="1857112" cy="417094"/>
          </a:xfrm>
          <a:prstGeom prst="roundRect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6788F3EE-AE60-4F39-AC41-BA39150A5B9E}"/>
              </a:ext>
            </a:extLst>
          </p:cNvPr>
          <p:cNvSpPr/>
          <p:nvPr/>
        </p:nvSpPr>
        <p:spPr>
          <a:xfrm>
            <a:off x="3843943" y="2351839"/>
            <a:ext cx="3242127" cy="417094"/>
          </a:xfrm>
          <a:prstGeom prst="roundRect">
            <a:avLst/>
          </a:prstGeom>
          <a:solidFill>
            <a:srgbClr val="00B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2A795D8-3EFB-40FC-BAA5-324581A82039}"/>
              </a:ext>
            </a:extLst>
          </p:cNvPr>
          <p:cNvSpPr/>
          <p:nvPr/>
        </p:nvSpPr>
        <p:spPr>
          <a:xfrm>
            <a:off x="152400" y="1965160"/>
            <a:ext cx="11855116" cy="2810014"/>
          </a:xfrm>
          <a:prstGeom prst="roundRect">
            <a:avLst>
              <a:gd name="adj" fmla="val 4609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D799E18-8F55-4C59-A6D8-D73BB65C9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파티클의</a:t>
            </a:r>
            <a:r>
              <a:rPr lang="ko-KR" altLang="en-US" dirty="0"/>
              <a:t> 메모리 관리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9E3A9D0-1C48-467A-8898-50E0E7AB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01075F-6B7F-4CE1-A6CC-5043BE11D7A4}"/>
              </a:ext>
            </a:extLst>
          </p:cNvPr>
          <p:cNvSpPr txBox="1"/>
          <p:nvPr/>
        </p:nvSpPr>
        <p:spPr>
          <a:xfrm>
            <a:off x="4419603" y="217655"/>
            <a:ext cx="279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GPU 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기반 </a:t>
            </a:r>
            <a:r>
              <a:rPr lang="ko-KR" altLang="en-US" sz="1600" dirty="0" err="1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파티클과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최적화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385AC6-0C1E-46DE-AE7F-C6092A13253A}"/>
              </a:ext>
            </a:extLst>
          </p:cNvPr>
          <p:cNvSpPr txBox="1"/>
          <p:nvPr/>
        </p:nvSpPr>
        <p:spPr>
          <a:xfrm>
            <a:off x="1514996" y="2406679"/>
            <a:ext cx="19491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Particle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Emitter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1756DEF-BABB-44F4-AE66-2F6AA0E5AA76}"/>
              </a:ext>
            </a:extLst>
          </p:cNvPr>
          <p:cNvCxnSpPr>
            <a:cxnSpLocks/>
          </p:cNvCxnSpPr>
          <p:nvPr/>
        </p:nvCxnSpPr>
        <p:spPr>
          <a:xfrm>
            <a:off x="3312694" y="2560386"/>
            <a:ext cx="45266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5353E40-79EA-4267-A7B4-017F05394D36}"/>
              </a:ext>
            </a:extLst>
          </p:cNvPr>
          <p:cNvGrpSpPr/>
          <p:nvPr/>
        </p:nvGrpSpPr>
        <p:grpSpPr>
          <a:xfrm>
            <a:off x="3845568" y="2346829"/>
            <a:ext cx="5571148" cy="422104"/>
            <a:chOff x="3845568" y="1223881"/>
            <a:chExt cx="5571148" cy="422104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E703677F-DDFF-4643-B830-C43C773E1431}"/>
                </a:ext>
              </a:extLst>
            </p:cNvPr>
            <p:cNvSpPr/>
            <p:nvPr/>
          </p:nvSpPr>
          <p:spPr>
            <a:xfrm>
              <a:off x="3845568" y="1228891"/>
              <a:ext cx="5571148" cy="417094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49CC141-60CD-4927-83B0-6927D2175037}"/>
                </a:ext>
              </a:extLst>
            </p:cNvPr>
            <p:cNvCxnSpPr>
              <a:cxnSpLocks/>
            </p:cNvCxnSpPr>
            <p:nvPr/>
          </p:nvCxnSpPr>
          <p:spPr>
            <a:xfrm>
              <a:off x="4347411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AFA13BDB-B36A-4CAA-812A-CDDB14CEA42A}"/>
                </a:ext>
              </a:extLst>
            </p:cNvPr>
            <p:cNvCxnSpPr>
              <a:cxnSpLocks/>
            </p:cNvCxnSpPr>
            <p:nvPr/>
          </p:nvCxnSpPr>
          <p:spPr>
            <a:xfrm>
              <a:off x="4804247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D357B762-D7E6-4025-9258-462731D52031}"/>
                </a:ext>
              </a:extLst>
            </p:cNvPr>
            <p:cNvCxnSpPr>
              <a:cxnSpLocks/>
            </p:cNvCxnSpPr>
            <p:nvPr/>
          </p:nvCxnSpPr>
          <p:spPr>
            <a:xfrm>
              <a:off x="5261083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A6DE2BE4-6838-4325-8D82-AECA6943B6B1}"/>
                </a:ext>
              </a:extLst>
            </p:cNvPr>
            <p:cNvCxnSpPr>
              <a:cxnSpLocks/>
            </p:cNvCxnSpPr>
            <p:nvPr/>
          </p:nvCxnSpPr>
          <p:spPr>
            <a:xfrm>
              <a:off x="5717919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1DBBD467-7E12-413E-AB33-BB4B44653BAB}"/>
                </a:ext>
              </a:extLst>
            </p:cNvPr>
            <p:cNvCxnSpPr>
              <a:cxnSpLocks/>
            </p:cNvCxnSpPr>
            <p:nvPr/>
          </p:nvCxnSpPr>
          <p:spPr>
            <a:xfrm>
              <a:off x="6174755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7DFAF869-C809-49E3-8E1E-64EA8FA9505D}"/>
                </a:ext>
              </a:extLst>
            </p:cNvPr>
            <p:cNvCxnSpPr>
              <a:cxnSpLocks/>
            </p:cNvCxnSpPr>
            <p:nvPr/>
          </p:nvCxnSpPr>
          <p:spPr>
            <a:xfrm>
              <a:off x="6631591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872098DD-E13C-4497-B2CF-FA573EDD7606}"/>
                </a:ext>
              </a:extLst>
            </p:cNvPr>
            <p:cNvCxnSpPr>
              <a:cxnSpLocks/>
            </p:cNvCxnSpPr>
            <p:nvPr/>
          </p:nvCxnSpPr>
          <p:spPr>
            <a:xfrm>
              <a:off x="7088427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D2502B1-6572-421A-AC95-DC67DE974D92}"/>
                </a:ext>
              </a:extLst>
            </p:cNvPr>
            <p:cNvCxnSpPr>
              <a:cxnSpLocks/>
            </p:cNvCxnSpPr>
            <p:nvPr/>
          </p:nvCxnSpPr>
          <p:spPr>
            <a:xfrm>
              <a:off x="7545263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FAA50C63-EECF-40E8-8930-5088F2EEE8B8}"/>
                </a:ext>
              </a:extLst>
            </p:cNvPr>
            <p:cNvCxnSpPr>
              <a:cxnSpLocks/>
            </p:cNvCxnSpPr>
            <p:nvPr/>
          </p:nvCxnSpPr>
          <p:spPr>
            <a:xfrm>
              <a:off x="8002099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36F96996-740A-499A-8F89-86F07E6EC329}"/>
                </a:ext>
              </a:extLst>
            </p:cNvPr>
            <p:cNvCxnSpPr>
              <a:cxnSpLocks/>
            </p:cNvCxnSpPr>
            <p:nvPr/>
          </p:nvCxnSpPr>
          <p:spPr>
            <a:xfrm>
              <a:off x="8458935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F6A59081-9183-451E-8EED-8C02AF0FCD54}"/>
                </a:ext>
              </a:extLst>
            </p:cNvPr>
            <p:cNvCxnSpPr>
              <a:cxnSpLocks/>
            </p:cNvCxnSpPr>
            <p:nvPr/>
          </p:nvCxnSpPr>
          <p:spPr>
            <a:xfrm>
              <a:off x="8915771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BE28DEC1-8B60-41C6-9763-6B4BE67B15DE}"/>
              </a:ext>
            </a:extLst>
          </p:cNvPr>
          <p:cNvSpPr txBox="1"/>
          <p:nvPr/>
        </p:nvSpPr>
        <p:spPr>
          <a:xfrm>
            <a:off x="9446121" y="2280478"/>
            <a:ext cx="1331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Total Count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BEC491-026A-40C9-A810-7FB720C46B52}"/>
              </a:ext>
            </a:extLst>
          </p:cNvPr>
          <p:cNvSpPr txBox="1"/>
          <p:nvPr/>
        </p:nvSpPr>
        <p:spPr>
          <a:xfrm>
            <a:off x="7112129" y="2391109"/>
            <a:ext cx="433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…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80BF43-D8EB-4B49-AF23-8D5604FF3642}"/>
              </a:ext>
            </a:extLst>
          </p:cNvPr>
          <p:cNvSpPr txBox="1"/>
          <p:nvPr/>
        </p:nvSpPr>
        <p:spPr>
          <a:xfrm>
            <a:off x="4840356" y="2803698"/>
            <a:ext cx="1331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Alive : 200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5BB95BC-41D5-40D3-A616-48EEA231F82C}"/>
              </a:ext>
            </a:extLst>
          </p:cNvPr>
          <p:cNvSpPr txBox="1"/>
          <p:nvPr/>
        </p:nvSpPr>
        <p:spPr>
          <a:xfrm>
            <a:off x="7793189" y="2828885"/>
            <a:ext cx="1331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Dead : 156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0390C2FC-FA25-4957-BE34-C37116681306}"/>
              </a:ext>
            </a:extLst>
          </p:cNvPr>
          <p:cNvSpPr/>
          <p:nvPr/>
        </p:nvSpPr>
        <p:spPr>
          <a:xfrm>
            <a:off x="5726463" y="3452764"/>
            <a:ext cx="3690253" cy="417094"/>
          </a:xfrm>
          <a:prstGeom prst="roundRect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2B5520D2-DA77-4966-A410-2F0733AC76C6}"/>
              </a:ext>
            </a:extLst>
          </p:cNvPr>
          <p:cNvSpPr/>
          <p:nvPr/>
        </p:nvSpPr>
        <p:spPr>
          <a:xfrm>
            <a:off x="3843943" y="3452764"/>
            <a:ext cx="1425681" cy="417094"/>
          </a:xfrm>
          <a:prstGeom prst="roundRect">
            <a:avLst/>
          </a:prstGeom>
          <a:solidFill>
            <a:srgbClr val="00B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63878D-6CDC-4C95-A029-492AF0F02DA5}"/>
              </a:ext>
            </a:extLst>
          </p:cNvPr>
          <p:cNvSpPr txBox="1"/>
          <p:nvPr/>
        </p:nvSpPr>
        <p:spPr>
          <a:xfrm>
            <a:off x="1514996" y="3502412"/>
            <a:ext cx="19491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Particle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Emitter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E855A2CD-96E0-4FAD-85E5-DD17E0B6D253}"/>
              </a:ext>
            </a:extLst>
          </p:cNvPr>
          <p:cNvCxnSpPr>
            <a:cxnSpLocks/>
          </p:cNvCxnSpPr>
          <p:nvPr/>
        </p:nvCxnSpPr>
        <p:spPr>
          <a:xfrm>
            <a:off x="3312694" y="3661311"/>
            <a:ext cx="45266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CE99087-D5DA-4D90-8049-D1F57D42DB27}"/>
              </a:ext>
            </a:extLst>
          </p:cNvPr>
          <p:cNvGrpSpPr/>
          <p:nvPr/>
        </p:nvGrpSpPr>
        <p:grpSpPr>
          <a:xfrm>
            <a:off x="3845568" y="3447754"/>
            <a:ext cx="5571148" cy="422104"/>
            <a:chOff x="3845568" y="1223881"/>
            <a:chExt cx="5571148" cy="422104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24211719-0C93-40BB-85C2-6265343E2C9C}"/>
                </a:ext>
              </a:extLst>
            </p:cNvPr>
            <p:cNvSpPr/>
            <p:nvPr/>
          </p:nvSpPr>
          <p:spPr>
            <a:xfrm>
              <a:off x="3845568" y="1228891"/>
              <a:ext cx="5571148" cy="417094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871F94C4-B508-4C34-A650-0C902D609363}"/>
                </a:ext>
              </a:extLst>
            </p:cNvPr>
            <p:cNvCxnSpPr>
              <a:cxnSpLocks/>
            </p:cNvCxnSpPr>
            <p:nvPr/>
          </p:nvCxnSpPr>
          <p:spPr>
            <a:xfrm>
              <a:off x="4347411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4AB3964D-386E-4A94-BF6E-3C54CD4075BE}"/>
                </a:ext>
              </a:extLst>
            </p:cNvPr>
            <p:cNvCxnSpPr>
              <a:cxnSpLocks/>
            </p:cNvCxnSpPr>
            <p:nvPr/>
          </p:nvCxnSpPr>
          <p:spPr>
            <a:xfrm>
              <a:off x="4804247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7F4B1BB8-BB34-488E-B849-E80840A9B2E6}"/>
                </a:ext>
              </a:extLst>
            </p:cNvPr>
            <p:cNvCxnSpPr>
              <a:cxnSpLocks/>
            </p:cNvCxnSpPr>
            <p:nvPr/>
          </p:nvCxnSpPr>
          <p:spPr>
            <a:xfrm>
              <a:off x="5261083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D7993725-4A9C-44A8-A6A5-5D4512F1F6B7}"/>
                </a:ext>
              </a:extLst>
            </p:cNvPr>
            <p:cNvCxnSpPr>
              <a:cxnSpLocks/>
            </p:cNvCxnSpPr>
            <p:nvPr/>
          </p:nvCxnSpPr>
          <p:spPr>
            <a:xfrm>
              <a:off x="5717919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3060FBF-C7E2-4FD6-A0DD-58697D91CFB8}"/>
                </a:ext>
              </a:extLst>
            </p:cNvPr>
            <p:cNvCxnSpPr>
              <a:cxnSpLocks/>
            </p:cNvCxnSpPr>
            <p:nvPr/>
          </p:nvCxnSpPr>
          <p:spPr>
            <a:xfrm>
              <a:off x="6174755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6AD3882F-82D5-497B-97D5-4FECDAA25BFF}"/>
                </a:ext>
              </a:extLst>
            </p:cNvPr>
            <p:cNvCxnSpPr>
              <a:cxnSpLocks/>
            </p:cNvCxnSpPr>
            <p:nvPr/>
          </p:nvCxnSpPr>
          <p:spPr>
            <a:xfrm>
              <a:off x="6631591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9A96FD18-6419-4445-AF3C-0E1CA79E6782}"/>
                </a:ext>
              </a:extLst>
            </p:cNvPr>
            <p:cNvCxnSpPr>
              <a:cxnSpLocks/>
            </p:cNvCxnSpPr>
            <p:nvPr/>
          </p:nvCxnSpPr>
          <p:spPr>
            <a:xfrm>
              <a:off x="7088427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DA47B6FA-98C2-4BDD-B332-27245E0AF9D9}"/>
                </a:ext>
              </a:extLst>
            </p:cNvPr>
            <p:cNvCxnSpPr>
              <a:cxnSpLocks/>
            </p:cNvCxnSpPr>
            <p:nvPr/>
          </p:nvCxnSpPr>
          <p:spPr>
            <a:xfrm>
              <a:off x="7545263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855546FD-8AF1-48CC-91A9-F3E6217C6AB5}"/>
                </a:ext>
              </a:extLst>
            </p:cNvPr>
            <p:cNvCxnSpPr>
              <a:cxnSpLocks/>
            </p:cNvCxnSpPr>
            <p:nvPr/>
          </p:nvCxnSpPr>
          <p:spPr>
            <a:xfrm>
              <a:off x="8002099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8C060812-EBD4-48FE-855A-9CE029A92824}"/>
                </a:ext>
              </a:extLst>
            </p:cNvPr>
            <p:cNvCxnSpPr>
              <a:cxnSpLocks/>
            </p:cNvCxnSpPr>
            <p:nvPr/>
          </p:nvCxnSpPr>
          <p:spPr>
            <a:xfrm>
              <a:off x="8458935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B2FE4A9A-EBC4-4D6D-A810-3CDF2B1B0957}"/>
                </a:ext>
              </a:extLst>
            </p:cNvPr>
            <p:cNvCxnSpPr>
              <a:cxnSpLocks/>
            </p:cNvCxnSpPr>
            <p:nvPr/>
          </p:nvCxnSpPr>
          <p:spPr>
            <a:xfrm>
              <a:off x="8915771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C5D12295-A003-4456-ACC7-7490C0CA686E}"/>
              </a:ext>
            </a:extLst>
          </p:cNvPr>
          <p:cNvSpPr txBox="1"/>
          <p:nvPr/>
        </p:nvSpPr>
        <p:spPr>
          <a:xfrm>
            <a:off x="9446121" y="3387534"/>
            <a:ext cx="1331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Total Count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256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AFE129D-DD32-44C2-B551-673AC7AC0721}"/>
              </a:ext>
            </a:extLst>
          </p:cNvPr>
          <p:cNvSpPr txBox="1"/>
          <p:nvPr/>
        </p:nvSpPr>
        <p:spPr>
          <a:xfrm>
            <a:off x="5300908" y="3492034"/>
            <a:ext cx="433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…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48BCF96-15F7-4B44-BA0D-0FD1147D0871}"/>
              </a:ext>
            </a:extLst>
          </p:cNvPr>
          <p:cNvSpPr txBox="1"/>
          <p:nvPr/>
        </p:nvSpPr>
        <p:spPr>
          <a:xfrm>
            <a:off x="3891037" y="3909890"/>
            <a:ext cx="1331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Alive : 20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E2F28D6-CD84-48B6-85C2-4F746B497F8F}"/>
              </a:ext>
            </a:extLst>
          </p:cNvPr>
          <p:cNvSpPr txBox="1"/>
          <p:nvPr/>
        </p:nvSpPr>
        <p:spPr>
          <a:xfrm>
            <a:off x="6905843" y="3881191"/>
            <a:ext cx="1331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Dead : 236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03F32C3-DB9F-458A-A397-DABC93B10C8A}"/>
              </a:ext>
            </a:extLst>
          </p:cNvPr>
          <p:cNvSpPr txBox="1"/>
          <p:nvPr/>
        </p:nvSpPr>
        <p:spPr>
          <a:xfrm>
            <a:off x="2772011" y="4415617"/>
            <a:ext cx="66479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화면에 나타나지 않은 </a:t>
            </a:r>
            <a:r>
              <a:rPr lang="ko-KR" altLang="en-US" sz="16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파티클</a:t>
            </a:r>
            <a:r>
              <a:rPr lang="en-US" altLang="ko-KR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(Dead)</a:t>
            </a:r>
            <a:r>
              <a:rPr lang="ko-KR" altLang="en-US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또한 업데이트 및 렌더링의 흐름을 탄다</a:t>
            </a:r>
            <a:r>
              <a:rPr lang="en-US" altLang="ko-KR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B074CBEC-3B35-4F14-992E-686B461E13E1}"/>
              </a:ext>
            </a:extLst>
          </p:cNvPr>
          <p:cNvSpPr/>
          <p:nvPr/>
        </p:nvSpPr>
        <p:spPr>
          <a:xfrm>
            <a:off x="144379" y="1957139"/>
            <a:ext cx="762000" cy="28708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기존</a:t>
            </a:r>
          </a:p>
        </p:txBody>
      </p:sp>
    </p:spTree>
    <p:extLst>
      <p:ext uri="{BB962C8B-B14F-4D97-AF65-F5344CB8AC3E}">
        <p14:creationId xmlns:p14="http://schemas.microsoft.com/office/powerpoint/2010/main" val="2740670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D97C6A73-EE20-4159-B321-889E8BFF77F4}"/>
              </a:ext>
            </a:extLst>
          </p:cNvPr>
          <p:cNvSpPr/>
          <p:nvPr/>
        </p:nvSpPr>
        <p:spPr>
          <a:xfrm>
            <a:off x="7925292" y="4238718"/>
            <a:ext cx="940240" cy="776108"/>
          </a:xfrm>
          <a:prstGeom prst="roundRect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CFA86E2B-85D1-47FF-AF98-5E4910D8D62C}"/>
              </a:ext>
            </a:extLst>
          </p:cNvPr>
          <p:cNvSpPr/>
          <p:nvPr/>
        </p:nvSpPr>
        <p:spPr>
          <a:xfrm>
            <a:off x="3304929" y="4241510"/>
            <a:ext cx="4602373" cy="773316"/>
          </a:xfrm>
          <a:prstGeom prst="roundRect">
            <a:avLst/>
          </a:prstGeom>
          <a:solidFill>
            <a:srgbClr val="00B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2A795D8-3EFB-40FC-BAA5-324581A82039}"/>
              </a:ext>
            </a:extLst>
          </p:cNvPr>
          <p:cNvSpPr/>
          <p:nvPr/>
        </p:nvSpPr>
        <p:spPr>
          <a:xfrm>
            <a:off x="152400" y="940134"/>
            <a:ext cx="11855116" cy="2810014"/>
          </a:xfrm>
          <a:prstGeom prst="roundRect">
            <a:avLst>
              <a:gd name="adj" fmla="val 4609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D799E18-8F55-4C59-A6D8-D73BB65C9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파티클의</a:t>
            </a:r>
            <a:r>
              <a:rPr lang="ko-KR" altLang="en-US" dirty="0"/>
              <a:t> 메모리 관리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9E3A9D0-1C48-467A-8898-50E0E7AB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01075F-6B7F-4CE1-A6CC-5043BE11D7A4}"/>
              </a:ext>
            </a:extLst>
          </p:cNvPr>
          <p:cNvSpPr txBox="1"/>
          <p:nvPr/>
        </p:nvSpPr>
        <p:spPr>
          <a:xfrm>
            <a:off x="4419603" y="217655"/>
            <a:ext cx="279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GPU 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기반 </a:t>
            </a:r>
            <a:r>
              <a:rPr lang="ko-KR" altLang="en-US" sz="1600" dirty="0" err="1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파티클과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최적화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03F32C3-DB9F-458A-A397-DABC93B10C8A}"/>
              </a:ext>
            </a:extLst>
          </p:cNvPr>
          <p:cNvSpPr txBox="1"/>
          <p:nvPr/>
        </p:nvSpPr>
        <p:spPr>
          <a:xfrm>
            <a:off x="2772011" y="3390591"/>
            <a:ext cx="66479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활성화된 </a:t>
            </a:r>
            <a:r>
              <a:rPr lang="ko-KR" altLang="en-US" sz="16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파티클만</a:t>
            </a:r>
            <a:r>
              <a:rPr lang="ko-KR" altLang="en-US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업데이트 및 렌더링을 거친다</a:t>
            </a:r>
            <a:r>
              <a:rPr lang="en-US" altLang="ko-KR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B074CBEC-3B35-4F14-992E-686B461E13E1}"/>
              </a:ext>
            </a:extLst>
          </p:cNvPr>
          <p:cNvSpPr/>
          <p:nvPr/>
        </p:nvSpPr>
        <p:spPr>
          <a:xfrm>
            <a:off x="144379" y="932113"/>
            <a:ext cx="762000" cy="28708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변경</a:t>
            </a: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CB5F49D1-04B0-4D1B-9CDA-640CEBBBE88E}"/>
              </a:ext>
            </a:extLst>
          </p:cNvPr>
          <p:cNvSpPr/>
          <p:nvPr/>
        </p:nvSpPr>
        <p:spPr>
          <a:xfrm>
            <a:off x="160421" y="3828367"/>
            <a:ext cx="11855116" cy="2501913"/>
          </a:xfrm>
          <a:prstGeom prst="roundRect">
            <a:avLst>
              <a:gd name="adj" fmla="val 4609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DEE0AA67-AA19-4545-BC76-721C8FB0CAD7}"/>
              </a:ext>
            </a:extLst>
          </p:cNvPr>
          <p:cNvSpPr/>
          <p:nvPr/>
        </p:nvSpPr>
        <p:spPr>
          <a:xfrm>
            <a:off x="152400" y="3820346"/>
            <a:ext cx="762000" cy="28708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변경</a:t>
            </a: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AB4BBFA-F087-433B-8A9E-E7C799A622D7}"/>
              </a:ext>
            </a:extLst>
          </p:cNvPr>
          <p:cNvSpPr txBox="1"/>
          <p:nvPr/>
        </p:nvSpPr>
        <p:spPr>
          <a:xfrm>
            <a:off x="5269832" y="3886373"/>
            <a:ext cx="1652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Particle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Pool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3BAC9031-CFE7-46DF-A3F2-B3E088503783}"/>
              </a:ext>
            </a:extLst>
          </p:cNvPr>
          <p:cNvSpPr/>
          <p:nvPr/>
        </p:nvSpPr>
        <p:spPr>
          <a:xfrm>
            <a:off x="3294384" y="4224927"/>
            <a:ext cx="5571148" cy="1309373"/>
          </a:xfrm>
          <a:prstGeom prst="roundRect">
            <a:avLst>
              <a:gd name="adj" fmla="val 575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D49EA719-0334-4FF0-A595-97FF2D1463FB}"/>
              </a:ext>
            </a:extLst>
          </p:cNvPr>
          <p:cNvCxnSpPr>
            <a:cxnSpLocks/>
          </p:cNvCxnSpPr>
          <p:nvPr/>
        </p:nvCxnSpPr>
        <p:spPr>
          <a:xfrm>
            <a:off x="3796227" y="4224927"/>
            <a:ext cx="0" cy="130937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EA61C5F2-6AE7-473A-9E36-E4A7BB16560A}"/>
              </a:ext>
            </a:extLst>
          </p:cNvPr>
          <p:cNvCxnSpPr>
            <a:cxnSpLocks/>
          </p:cNvCxnSpPr>
          <p:nvPr/>
        </p:nvCxnSpPr>
        <p:spPr>
          <a:xfrm>
            <a:off x="4253063" y="4224927"/>
            <a:ext cx="0" cy="130937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8A3C09AB-CD11-4494-8BB6-4B7D269F0705}"/>
              </a:ext>
            </a:extLst>
          </p:cNvPr>
          <p:cNvCxnSpPr>
            <a:cxnSpLocks/>
          </p:cNvCxnSpPr>
          <p:nvPr/>
        </p:nvCxnSpPr>
        <p:spPr>
          <a:xfrm>
            <a:off x="4709899" y="4224927"/>
            <a:ext cx="0" cy="130937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D8CA6E99-E9ED-401E-91BF-3A7FE6F12B8E}"/>
              </a:ext>
            </a:extLst>
          </p:cNvPr>
          <p:cNvCxnSpPr>
            <a:cxnSpLocks/>
          </p:cNvCxnSpPr>
          <p:nvPr/>
        </p:nvCxnSpPr>
        <p:spPr>
          <a:xfrm>
            <a:off x="5166735" y="4224927"/>
            <a:ext cx="0" cy="130937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F4E71819-2A09-4A21-8C57-EACA7D250A08}"/>
              </a:ext>
            </a:extLst>
          </p:cNvPr>
          <p:cNvCxnSpPr>
            <a:cxnSpLocks/>
          </p:cNvCxnSpPr>
          <p:nvPr/>
        </p:nvCxnSpPr>
        <p:spPr>
          <a:xfrm>
            <a:off x="5623571" y="4224927"/>
            <a:ext cx="0" cy="130937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49116E04-7B6C-48BB-BDD1-578341AA90EC}"/>
              </a:ext>
            </a:extLst>
          </p:cNvPr>
          <p:cNvCxnSpPr>
            <a:cxnSpLocks/>
          </p:cNvCxnSpPr>
          <p:nvPr/>
        </p:nvCxnSpPr>
        <p:spPr>
          <a:xfrm>
            <a:off x="6080407" y="4224927"/>
            <a:ext cx="0" cy="130937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3C86882F-7E85-4C02-A960-70E6B0EC3199}"/>
              </a:ext>
            </a:extLst>
          </p:cNvPr>
          <p:cNvCxnSpPr>
            <a:cxnSpLocks/>
          </p:cNvCxnSpPr>
          <p:nvPr/>
        </p:nvCxnSpPr>
        <p:spPr>
          <a:xfrm>
            <a:off x="6537243" y="4224927"/>
            <a:ext cx="0" cy="130937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331F9906-2DFC-4DA6-92C8-4F99D55561FC}"/>
              </a:ext>
            </a:extLst>
          </p:cNvPr>
          <p:cNvCxnSpPr>
            <a:cxnSpLocks/>
          </p:cNvCxnSpPr>
          <p:nvPr/>
        </p:nvCxnSpPr>
        <p:spPr>
          <a:xfrm>
            <a:off x="6994079" y="4224927"/>
            <a:ext cx="0" cy="130937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D2B704E4-D9C4-4F7A-8804-A671BE5B6BCC}"/>
              </a:ext>
            </a:extLst>
          </p:cNvPr>
          <p:cNvCxnSpPr>
            <a:cxnSpLocks/>
          </p:cNvCxnSpPr>
          <p:nvPr/>
        </p:nvCxnSpPr>
        <p:spPr>
          <a:xfrm>
            <a:off x="7450915" y="4224927"/>
            <a:ext cx="0" cy="130937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7E73F03F-A25A-477B-B469-17092EB21669}"/>
              </a:ext>
            </a:extLst>
          </p:cNvPr>
          <p:cNvCxnSpPr>
            <a:cxnSpLocks/>
          </p:cNvCxnSpPr>
          <p:nvPr/>
        </p:nvCxnSpPr>
        <p:spPr>
          <a:xfrm>
            <a:off x="7907751" y="4224927"/>
            <a:ext cx="0" cy="130937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21705BF2-DB01-42FF-A99D-5BD20A5AB520}"/>
              </a:ext>
            </a:extLst>
          </p:cNvPr>
          <p:cNvCxnSpPr>
            <a:cxnSpLocks/>
          </p:cNvCxnSpPr>
          <p:nvPr/>
        </p:nvCxnSpPr>
        <p:spPr>
          <a:xfrm>
            <a:off x="8364587" y="4224927"/>
            <a:ext cx="0" cy="130937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F1C16C79-5FC7-4D0F-9DAA-F27E66F54B61}"/>
              </a:ext>
            </a:extLst>
          </p:cNvPr>
          <p:cNvCxnSpPr>
            <a:cxnSpLocks/>
          </p:cNvCxnSpPr>
          <p:nvPr/>
        </p:nvCxnSpPr>
        <p:spPr>
          <a:xfrm>
            <a:off x="3294384" y="4462207"/>
            <a:ext cx="55711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BFA78D6A-28A4-4021-B4C4-0EC46A16192A}"/>
              </a:ext>
            </a:extLst>
          </p:cNvPr>
          <p:cNvCxnSpPr>
            <a:cxnSpLocks/>
          </p:cNvCxnSpPr>
          <p:nvPr/>
        </p:nvCxnSpPr>
        <p:spPr>
          <a:xfrm>
            <a:off x="3294833" y="4727677"/>
            <a:ext cx="55711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0B4BBA15-F015-4EB5-8984-F77976375C47}"/>
              </a:ext>
            </a:extLst>
          </p:cNvPr>
          <p:cNvCxnSpPr>
            <a:cxnSpLocks/>
          </p:cNvCxnSpPr>
          <p:nvPr/>
        </p:nvCxnSpPr>
        <p:spPr>
          <a:xfrm>
            <a:off x="3285801" y="4998253"/>
            <a:ext cx="55711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71177212-F39C-47DA-BC0B-26A2257F369A}"/>
              </a:ext>
            </a:extLst>
          </p:cNvPr>
          <p:cNvCxnSpPr>
            <a:cxnSpLocks/>
          </p:cNvCxnSpPr>
          <p:nvPr/>
        </p:nvCxnSpPr>
        <p:spPr>
          <a:xfrm>
            <a:off x="3294833" y="5268828"/>
            <a:ext cx="55711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137">
            <a:extLst>
              <a:ext uri="{FF2B5EF4-FFF2-40B4-BE49-F238E27FC236}">
                <a16:creationId xmlns:a16="http://schemas.microsoft.com/office/drawing/2014/main" id="{1485CCFA-2A35-44FA-B16E-4E698AE87403}"/>
              </a:ext>
            </a:extLst>
          </p:cNvPr>
          <p:cNvCxnSpPr>
            <a:cxnSpLocks/>
          </p:cNvCxnSpPr>
          <p:nvPr/>
        </p:nvCxnSpPr>
        <p:spPr>
          <a:xfrm flipH="1">
            <a:off x="2863516" y="4591380"/>
            <a:ext cx="32659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3D15AAC0-9A73-4491-B9A2-E403D3B87B81}"/>
              </a:ext>
            </a:extLst>
          </p:cNvPr>
          <p:cNvSpPr txBox="1"/>
          <p:nvPr/>
        </p:nvSpPr>
        <p:spPr>
          <a:xfrm>
            <a:off x="981288" y="4437491"/>
            <a:ext cx="19491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Particle Group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</a:p>
        </p:txBody>
      </p: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97838D5D-36AB-449F-99F3-56C624B4BD36}"/>
              </a:ext>
            </a:extLst>
          </p:cNvPr>
          <p:cNvCxnSpPr>
            <a:cxnSpLocks/>
          </p:cNvCxnSpPr>
          <p:nvPr/>
        </p:nvCxnSpPr>
        <p:spPr>
          <a:xfrm>
            <a:off x="8915771" y="4615442"/>
            <a:ext cx="44706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87D82185-3EB8-463B-AD13-0072034581E3}"/>
              </a:ext>
            </a:extLst>
          </p:cNvPr>
          <p:cNvSpPr txBox="1"/>
          <p:nvPr/>
        </p:nvSpPr>
        <p:spPr>
          <a:xfrm>
            <a:off x="9304827" y="4440338"/>
            <a:ext cx="19491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Particle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Group 2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CA524B9F-A8F3-41B8-BE0E-1BA12360210A}"/>
              </a:ext>
            </a:extLst>
          </p:cNvPr>
          <p:cNvSpPr/>
          <p:nvPr/>
        </p:nvSpPr>
        <p:spPr>
          <a:xfrm>
            <a:off x="3843943" y="1337463"/>
            <a:ext cx="3242127" cy="417094"/>
          </a:xfrm>
          <a:prstGeom prst="roundRect">
            <a:avLst/>
          </a:prstGeom>
          <a:solidFill>
            <a:srgbClr val="00B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0AFAA10-C43E-461F-AA9B-E86C2F3ED0AA}"/>
              </a:ext>
            </a:extLst>
          </p:cNvPr>
          <p:cNvSpPr txBox="1"/>
          <p:nvPr/>
        </p:nvSpPr>
        <p:spPr>
          <a:xfrm>
            <a:off x="1514996" y="1392303"/>
            <a:ext cx="19491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Particle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Emitter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B926A057-A20D-4203-B4F8-CBFD8AE29FFB}"/>
              </a:ext>
            </a:extLst>
          </p:cNvPr>
          <p:cNvCxnSpPr>
            <a:cxnSpLocks/>
          </p:cNvCxnSpPr>
          <p:nvPr/>
        </p:nvCxnSpPr>
        <p:spPr>
          <a:xfrm>
            <a:off x="3312694" y="1546010"/>
            <a:ext cx="45266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D7118394-D5EC-46DD-80AE-8427BE1E8248}"/>
              </a:ext>
            </a:extLst>
          </p:cNvPr>
          <p:cNvGrpSpPr/>
          <p:nvPr/>
        </p:nvGrpSpPr>
        <p:grpSpPr>
          <a:xfrm>
            <a:off x="3845568" y="1332453"/>
            <a:ext cx="5571148" cy="422104"/>
            <a:chOff x="3845568" y="1223881"/>
            <a:chExt cx="5571148" cy="422104"/>
          </a:xfrm>
        </p:grpSpPr>
        <p:sp>
          <p:nvSpPr>
            <p:cNvPr id="84" name="사각형: 둥근 모서리 83">
              <a:extLst>
                <a:ext uri="{FF2B5EF4-FFF2-40B4-BE49-F238E27FC236}">
                  <a16:creationId xmlns:a16="http://schemas.microsoft.com/office/drawing/2014/main" id="{3757517D-EF3B-444C-817E-DDA93D8B03C1}"/>
                </a:ext>
              </a:extLst>
            </p:cNvPr>
            <p:cNvSpPr/>
            <p:nvPr/>
          </p:nvSpPr>
          <p:spPr>
            <a:xfrm>
              <a:off x="3845568" y="1228891"/>
              <a:ext cx="5571148" cy="417094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8A3B823B-F36F-43B5-8A42-CEC7BFC7F191}"/>
                </a:ext>
              </a:extLst>
            </p:cNvPr>
            <p:cNvCxnSpPr>
              <a:cxnSpLocks/>
            </p:cNvCxnSpPr>
            <p:nvPr/>
          </p:nvCxnSpPr>
          <p:spPr>
            <a:xfrm>
              <a:off x="4347411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7DA3DF07-95CE-42D8-A94F-E5695C2F360A}"/>
                </a:ext>
              </a:extLst>
            </p:cNvPr>
            <p:cNvCxnSpPr>
              <a:cxnSpLocks/>
            </p:cNvCxnSpPr>
            <p:nvPr/>
          </p:nvCxnSpPr>
          <p:spPr>
            <a:xfrm>
              <a:off x="4804247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AFB28CCD-F6F3-4ED7-9615-A283AAD1C8A5}"/>
                </a:ext>
              </a:extLst>
            </p:cNvPr>
            <p:cNvCxnSpPr>
              <a:cxnSpLocks/>
            </p:cNvCxnSpPr>
            <p:nvPr/>
          </p:nvCxnSpPr>
          <p:spPr>
            <a:xfrm>
              <a:off x="5261083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D0614B1A-A8A2-4066-8C6E-F5834ABB8CCE}"/>
                </a:ext>
              </a:extLst>
            </p:cNvPr>
            <p:cNvCxnSpPr>
              <a:cxnSpLocks/>
            </p:cNvCxnSpPr>
            <p:nvPr/>
          </p:nvCxnSpPr>
          <p:spPr>
            <a:xfrm>
              <a:off x="5717919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933F8012-FA8B-446B-8526-227FE05632E4}"/>
                </a:ext>
              </a:extLst>
            </p:cNvPr>
            <p:cNvCxnSpPr>
              <a:cxnSpLocks/>
            </p:cNvCxnSpPr>
            <p:nvPr/>
          </p:nvCxnSpPr>
          <p:spPr>
            <a:xfrm>
              <a:off x="6174755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F339CCD3-119B-468F-A400-39326B25DD06}"/>
                </a:ext>
              </a:extLst>
            </p:cNvPr>
            <p:cNvCxnSpPr>
              <a:cxnSpLocks/>
            </p:cNvCxnSpPr>
            <p:nvPr/>
          </p:nvCxnSpPr>
          <p:spPr>
            <a:xfrm>
              <a:off x="6631591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D3F4FD2C-81D5-4AB0-B900-516C3F48F9EE}"/>
                </a:ext>
              </a:extLst>
            </p:cNvPr>
            <p:cNvCxnSpPr>
              <a:cxnSpLocks/>
            </p:cNvCxnSpPr>
            <p:nvPr/>
          </p:nvCxnSpPr>
          <p:spPr>
            <a:xfrm>
              <a:off x="7088427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23BD8AC6-EDF7-42D4-854F-5B8CAA9757E7}"/>
                </a:ext>
              </a:extLst>
            </p:cNvPr>
            <p:cNvCxnSpPr>
              <a:cxnSpLocks/>
            </p:cNvCxnSpPr>
            <p:nvPr/>
          </p:nvCxnSpPr>
          <p:spPr>
            <a:xfrm>
              <a:off x="7545263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331B110B-B0B5-4140-B529-546731496E05}"/>
                </a:ext>
              </a:extLst>
            </p:cNvPr>
            <p:cNvCxnSpPr>
              <a:cxnSpLocks/>
            </p:cNvCxnSpPr>
            <p:nvPr/>
          </p:nvCxnSpPr>
          <p:spPr>
            <a:xfrm>
              <a:off x="8002099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4CBB9597-E2DD-47AF-8C06-83E5B1CD24C5}"/>
                </a:ext>
              </a:extLst>
            </p:cNvPr>
            <p:cNvCxnSpPr>
              <a:cxnSpLocks/>
            </p:cNvCxnSpPr>
            <p:nvPr/>
          </p:nvCxnSpPr>
          <p:spPr>
            <a:xfrm>
              <a:off x="8458935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963E9D9C-F2C8-4222-9DBC-1A7EB8A7A5B4}"/>
                </a:ext>
              </a:extLst>
            </p:cNvPr>
            <p:cNvCxnSpPr>
              <a:cxnSpLocks/>
            </p:cNvCxnSpPr>
            <p:nvPr/>
          </p:nvCxnSpPr>
          <p:spPr>
            <a:xfrm>
              <a:off x="8915771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50C988CF-412D-4ADD-A104-7A4CD46E3BE1}"/>
              </a:ext>
            </a:extLst>
          </p:cNvPr>
          <p:cNvSpPr txBox="1"/>
          <p:nvPr/>
        </p:nvSpPr>
        <p:spPr>
          <a:xfrm>
            <a:off x="9446121" y="1266102"/>
            <a:ext cx="1331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Total Count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256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8BF41B4-F8D5-4239-BD7C-6702A42B6D06}"/>
              </a:ext>
            </a:extLst>
          </p:cNvPr>
          <p:cNvSpPr txBox="1"/>
          <p:nvPr/>
        </p:nvSpPr>
        <p:spPr>
          <a:xfrm>
            <a:off x="4840356" y="1789322"/>
            <a:ext cx="1331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Alive : 200</a:t>
            </a: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CAD3F904-53AF-4E1E-A982-394BB167052A}"/>
              </a:ext>
            </a:extLst>
          </p:cNvPr>
          <p:cNvSpPr/>
          <p:nvPr/>
        </p:nvSpPr>
        <p:spPr>
          <a:xfrm>
            <a:off x="3843943" y="2438388"/>
            <a:ext cx="1425681" cy="417094"/>
          </a:xfrm>
          <a:prstGeom prst="roundRect">
            <a:avLst/>
          </a:prstGeom>
          <a:solidFill>
            <a:srgbClr val="00B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AA27874-2F31-465B-AFA8-58DC19896D31}"/>
              </a:ext>
            </a:extLst>
          </p:cNvPr>
          <p:cNvSpPr txBox="1"/>
          <p:nvPr/>
        </p:nvSpPr>
        <p:spPr>
          <a:xfrm>
            <a:off x="1514996" y="2488036"/>
            <a:ext cx="19491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Particle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Emitter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8172FBCC-38B2-44C2-9EF4-D69D5F6E8919}"/>
              </a:ext>
            </a:extLst>
          </p:cNvPr>
          <p:cNvCxnSpPr>
            <a:cxnSpLocks/>
          </p:cNvCxnSpPr>
          <p:nvPr/>
        </p:nvCxnSpPr>
        <p:spPr>
          <a:xfrm>
            <a:off x="3312694" y="2646935"/>
            <a:ext cx="45266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4E0ADA04-F630-4F4D-826B-91B87EC59A54}"/>
              </a:ext>
            </a:extLst>
          </p:cNvPr>
          <p:cNvGrpSpPr/>
          <p:nvPr/>
        </p:nvGrpSpPr>
        <p:grpSpPr>
          <a:xfrm>
            <a:off x="3845568" y="2433378"/>
            <a:ext cx="5571148" cy="422104"/>
            <a:chOff x="3845568" y="1223881"/>
            <a:chExt cx="5571148" cy="422104"/>
          </a:xfrm>
        </p:grpSpPr>
        <p:sp>
          <p:nvSpPr>
            <p:cNvPr id="105" name="사각형: 둥근 모서리 104">
              <a:extLst>
                <a:ext uri="{FF2B5EF4-FFF2-40B4-BE49-F238E27FC236}">
                  <a16:creationId xmlns:a16="http://schemas.microsoft.com/office/drawing/2014/main" id="{B32D0123-4AFC-4D7E-BBE3-12C292662AFE}"/>
                </a:ext>
              </a:extLst>
            </p:cNvPr>
            <p:cNvSpPr/>
            <p:nvPr/>
          </p:nvSpPr>
          <p:spPr>
            <a:xfrm>
              <a:off x="3845568" y="1228891"/>
              <a:ext cx="5571148" cy="417094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6E536E38-1458-424C-9B50-889E20EAF9F9}"/>
                </a:ext>
              </a:extLst>
            </p:cNvPr>
            <p:cNvCxnSpPr>
              <a:cxnSpLocks/>
            </p:cNvCxnSpPr>
            <p:nvPr/>
          </p:nvCxnSpPr>
          <p:spPr>
            <a:xfrm>
              <a:off x="4347411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29A76790-28A3-4C4E-9296-6039936D63CF}"/>
                </a:ext>
              </a:extLst>
            </p:cNvPr>
            <p:cNvCxnSpPr>
              <a:cxnSpLocks/>
            </p:cNvCxnSpPr>
            <p:nvPr/>
          </p:nvCxnSpPr>
          <p:spPr>
            <a:xfrm>
              <a:off x="4804247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id="{4414C660-1A46-4ED3-8838-C5C655C44A22}"/>
                </a:ext>
              </a:extLst>
            </p:cNvPr>
            <p:cNvCxnSpPr>
              <a:cxnSpLocks/>
            </p:cNvCxnSpPr>
            <p:nvPr/>
          </p:nvCxnSpPr>
          <p:spPr>
            <a:xfrm>
              <a:off x="5261083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3967CB2F-7F75-4FB1-83AC-F97BAE3D47AC}"/>
                </a:ext>
              </a:extLst>
            </p:cNvPr>
            <p:cNvCxnSpPr>
              <a:cxnSpLocks/>
            </p:cNvCxnSpPr>
            <p:nvPr/>
          </p:nvCxnSpPr>
          <p:spPr>
            <a:xfrm>
              <a:off x="5717919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F781CE1D-2303-41AC-9C3A-67F329321BDD}"/>
                </a:ext>
              </a:extLst>
            </p:cNvPr>
            <p:cNvCxnSpPr>
              <a:cxnSpLocks/>
            </p:cNvCxnSpPr>
            <p:nvPr/>
          </p:nvCxnSpPr>
          <p:spPr>
            <a:xfrm>
              <a:off x="6174755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직선 연결선 122">
              <a:extLst>
                <a:ext uri="{FF2B5EF4-FFF2-40B4-BE49-F238E27FC236}">
                  <a16:creationId xmlns:a16="http://schemas.microsoft.com/office/drawing/2014/main" id="{68BF9A13-CA14-4321-85C0-2266992492A7}"/>
                </a:ext>
              </a:extLst>
            </p:cNvPr>
            <p:cNvCxnSpPr>
              <a:cxnSpLocks/>
            </p:cNvCxnSpPr>
            <p:nvPr/>
          </p:nvCxnSpPr>
          <p:spPr>
            <a:xfrm>
              <a:off x="6631591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3CF43E79-268F-41AD-B523-40F4BE865BD1}"/>
                </a:ext>
              </a:extLst>
            </p:cNvPr>
            <p:cNvCxnSpPr>
              <a:cxnSpLocks/>
            </p:cNvCxnSpPr>
            <p:nvPr/>
          </p:nvCxnSpPr>
          <p:spPr>
            <a:xfrm>
              <a:off x="7088427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2C8E8CCC-C2BC-4FBF-ABDC-CC449DDA6E08}"/>
                </a:ext>
              </a:extLst>
            </p:cNvPr>
            <p:cNvCxnSpPr>
              <a:cxnSpLocks/>
            </p:cNvCxnSpPr>
            <p:nvPr/>
          </p:nvCxnSpPr>
          <p:spPr>
            <a:xfrm>
              <a:off x="7545263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직선 연결선 125">
              <a:extLst>
                <a:ext uri="{FF2B5EF4-FFF2-40B4-BE49-F238E27FC236}">
                  <a16:creationId xmlns:a16="http://schemas.microsoft.com/office/drawing/2014/main" id="{B7208A38-568B-4A28-87D8-6ED432616DC5}"/>
                </a:ext>
              </a:extLst>
            </p:cNvPr>
            <p:cNvCxnSpPr>
              <a:cxnSpLocks/>
            </p:cNvCxnSpPr>
            <p:nvPr/>
          </p:nvCxnSpPr>
          <p:spPr>
            <a:xfrm>
              <a:off x="8002099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356D77AB-7B71-4FE9-B95D-4C6A5B9C1F77}"/>
                </a:ext>
              </a:extLst>
            </p:cNvPr>
            <p:cNvCxnSpPr>
              <a:cxnSpLocks/>
            </p:cNvCxnSpPr>
            <p:nvPr/>
          </p:nvCxnSpPr>
          <p:spPr>
            <a:xfrm>
              <a:off x="8458935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7174E058-5D61-41E4-9E9B-DCCC29F03C07}"/>
                </a:ext>
              </a:extLst>
            </p:cNvPr>
            <p:cNvCxnSpPr>
              <a:cxnSpLocks/>
            </p:cNvCxnSpPr>
            <p:nvPr/>
          </p:nvCxnSpPr>
          <p:spPr>
            <a:xfrm>
              <a:off x="8915771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BAE7EF41-09BA-420B-B7B9-0C830FFD6F2A}"/>
              </a:ext>
            </a:extLst>
          </p:cNvPr>
          <p:cNvSpPr txBox="1"/>
          <p:nvPr/>
        </p:nvSpPr>
        <p:spPr>
          <a:xfrm>
            <a:off x="9446121" y="2373158"/>
            <a:ext cx="1331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Total Count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256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9D1AE13-DA80-48DA-BF76-A3287A3BD59E}"/>
              </a:ext>
            </a:extLst>
          </p:cNvPr>
          <p:cNvSpPr txBox="1"/>
          <p:nvPr/>
        </p:nvSpPr>
        <p:spPr>
          <a:xfrm>
            <a:off x="3891037" y="2895514"/>
            <a:ext cx="1331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Alive : 20</a:t>
            </a:r>
          </a:p>
        </p:txBody>
      </p: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85292BA1-7DFB-4ECE-B731-FAC7D5E6F26E}"/>
              </a:ext>
            </a:extLst>
          </p:cNvPr>
          <p:cNvCxnSpPr>
            <a:cxnSpLocks/>
          </p:cNvCxnSpPr>
          <p:nvPr/>
        </p:nvCxnSpPr>
        <p:spPr>
          <a:xfrm>
            <a:off x="6726144" y="1755492"/>
            <a:ext cx="285281" cy="2273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DEA110F4-4362-4262-A379-41F37FBD6216}"/>
              </a:ext>
            </a:extLst>
          </p:cNvPr>
          <p:cNvSpPr txBox="1"/>
          <p:nvPr/>
        </p:nvSpPr>
        <p:spPr>
          <a:xfrm>
            <a:off x="6990826" y="1853138"/>
            <a:ext cx="19455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Compute &amp; Render</a:t>
            </a:r>
          </a:p>
        </p:txBody>
      </p: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F6C1B37F-24B1-482D-BECC-68FB1144572B}"/>
              </a:ext>
            </a:extLst>
          </p:cNvPr>
          <p:cNvCxnSpPr>
            <a:cxnSpLocks/>
          </p:cNvCxnSpPr>
          <p:nvPr/>
        </p:nvCxnSpPr>
        <p:spPr>
          <a:xfrm>
            <a:off x="5194279" y="2856529"/>
            <a:ext cx="285281" cy="2273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A81E492E-D1E7-45D2-84E5-4045DAA640EF}"/>
              </a:ext>
            </a:extLst>
          </p:cNvPr>
          <p:cNvSpPr txBox="1"/>
          <p:nvPr/>
        </p:nvSpPr>
        <p:spPr>
          <a:xfrm>
            <a:off x="5458961" y="2954175"/>
            <a:ext cx="19455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Compute &amp; Render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6EA16944-CCF5-4C0F-85AD-D9460BF75900}"/>
              </a:ext>
            </a:extLst>
          </p:cNvPr>
          <p:cNvSpPr txBox="1"/>
          <p:nvPr/>
        </p:nvSpPr>
        <p:spPr>
          <a:xfrm>
            <a:off x="2772011" y="5862051"/>
            <a:ext cx="66479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Global Particle Pool</a:t>
            </a:r>
            <a:r>
              <a:rPr lang="ko-KR" altLang="en-US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통해 </a:t>
            </a:r>
            <a:r>
              <a:rPr lang="en-US" altLang="ko-KR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GPU </a:t>
            </a:r>
            <a:r>
              <a:rPr lang="ko-KR" altLang="en-US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메모리 공간을 줄인다</a:t>
            </a:r>
            <a:r>
              <a:rPr lang="en-US" altLang="ko-KR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9310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799E18-8F55-4C59-A6D8-D73BB65C9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파티클</a:t>
            </a:r>
            <a:r>
              <a:rPr lang="ko-KR" altLang="en-US" dirty="0"/>
              <a:t> 업데이트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9E3A9D0-1C48-467A-8898-50E0E7AB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01075F-6B7F-4CE1-A6CC-5043BE11D7A4}"/>
              </a:ext>
            </a:extLst>
          </p:cNvPr>
          <p:cNvSpPr txBox="1"/>
          <p:nvPr/>
        </p:nvSpPr>
        <p:spPr>
          <a:xfrm>
            <a:off x="4419603" y="217655"/>
            <a:ext cx="279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GPU 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기반 </a:t>
            </a:r>
            <a:r>
              <a:rPr lang="ko-KR" altLang="en-US" sz="1600" dirty="0" err="1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파티클과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최적화</a:t>
            </a: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3A578A0A-6AFB-4CAD-B29A-F5D6242640D1}"/>
              </a:ext>
            </a:extLst>
          </p:cNvPr>
          <p:cNvCxnSpPr>
            <a:cxnSpLocks/>
          </p:cNvCxnSpPr>
          <p:nvPr/>
        </p:nvCxnSpPr>
        <p:spPr>
          <a:xfrm flipV="1">
            <a:off x="3914275" y="1215191"/>
            <a:ext cx="0" cy="416208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C54C0150-C16C-41A0-B62B-B8603828F2F2}"/>
              </a:ext>
            </a:extLst>
          </p:cNvPr>
          <p:cNvCxnSpPr>
            <a:cxnSpLocks/>
          </p:cNvCxnSpPr>
          <p:nvPr/>
        </p:nvCxnSpPr>
        <p:spPr>
          <a:xfrm flipV="1">
            <a:off x="7628022" y="1215191"/>
            <a:ext cx="0" cy="416208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2B69F4A5-F954-42D1-B972-61567389D9E5}"/>
              </a:ext>
            </a:extLst>
          </p:cNvPr>
          <p:cNvSpPr/>
          <p:nvPr/>
        </p:nvSpPr>
        <p:spPr>
          <a:xfrm>
            <a:off x="849235" y="2367599"/>
            <a:ext cx="2341142" cy="2093315"/>
          </a:xfrm>
          <a:prstGeom prst="roundRect">
            <a:avLst>
              <a:gd name="adj" fmla="val 4609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A8D7353F-0202-467C-9A99-C6BD6637F7A3}"/>
              </a:ext>
            </a:extLst>
          </p:cNvPr>
          <p:cNvSpPr/>
          <p:nvPr/>
        </p:nvSpPr>
        <p:spPr>
          <a:xfrm>
            <a:off x="1211684" y="2080513"/>
            <a:ext cx="1618246" cy="28708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파티클</a:t>
            </a: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특성 변경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1FE68D0-A278-40E8-AC32-9671C6CDBD59}"/>
              </a:ext>
            </a:extLst>
          </p:cNvPr>
          <p:cNvSpPr txBox="1"/>
          <p:nvPr/>
        </p:nvSpPr>
        <p:spPr>
          <a:xfrm>
            <a:off x="1049760" y="2500796"/>
            <a:ext cx="9590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Particle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E12F9E9-D9A6-497A-991E-DD46B41A47A0}"/>
              </a:ext>
            </a:extLst>
          </p:cNvPr>
          <p:cNvCxnSpPr>
            <a:cxnSpLocks/>
          </p:cNvCxnSpPr>
          <p:nvPr/>
        </p:nvCxnSpPr>
        <p:spPr>
          <a:xfrm>
            <a:off x="1322474" y="2808573"/>
            <a:ext cx="0" cy="119004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F289D76-099E-41DF-BF92-3C08FA48D015}"/>
              </a:ext>
            </a:extLst>
          </p:cNvPr>
          <p:cNvCxnSpPr>
            <a:cxnSpLocks/>
          </p:cNvCxnSpPr>
          <p:nvPr/>
        </p:nvCxnSpPr>
        <p:spPr>
          <a:xfrm>
            <a:off x="1322474" y="3009103"/>
            <a:ext cx="2669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11EECB8F-9811-48FC-AA21-EC38F6991C0C}"/>
              </a:ext>
            </a:extLst>
          </p:cNvPr>
          <p:cNvCxnSpPr>
            <a:cxnSpLocks/>
          </p:cNvCxnSpPr>
          <p:nvPr/>
        </p:nvCxnSpPr>
        <p:spPr>
          <a:xfrm>
            <a:off x="1322474" y="3289840"/>
            <a:ext cx="2669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8DD5414C-CD0C-4E0A-9F5B-E1490D9FF8F1}"/>
              </a:ext>
            </a:extLst>
          </p:cNvPr>
          <p:cNvCxnSpPr>
            <a:cxnSpLocks/>
          </p:cNvCxnSpPr>
          <p:nvPr/>
        </p:nvCxnSpPr>
        <p:spPr>
          <a:xfrm>
            <a:off x="1322474" y="3589769"/>
            <a:ext cx="2669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76C8ADF2-9890-4B60-BC59-F31C39134B97}"/>
              </a:ext>
            </a:extLst>
          </p:cNvPr>
          <p:cNvSpPr txBox="1"/>
          <p:nvPr/>
        </p:nvSpPr>
        <p:spPr>
          <a:xfrm>
            <a:off x="1772656" y="3998615"/>
            <a:ext cx="433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…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462D6C9-945E-4B3D-8916-0C954198FF6E}"/>
              </a:ext>
            </a:extLst>
          </p:cNvPr>
          <p:cNvSpPr txBox="1"/>
          <p:nvPr/>
        </p:nvSpPr>
        <p:spPr>
          <a:xfrm>
            <a:off x="1561901" y="3154416"/>
            <a:ext cx="931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크기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회전</a:t>
            </a:r>
            <a:endParaRPr lang="en-US" altLang="ko-KR" sz="1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966C6CB1-8CC4-45C7-BFA5-8E1E9B05C77A}"/>
              </a:ext>
            </a:extLst>
          </p:cNvPr>
          <p:cNvSpPr txBox="1"/>
          <p:nvPr/>
        </p:nvSpPr>
        <p:spPr>
          <a:xfrm>
            <a:off x="1561901" y="2840907"/>
            <a:ext cx="931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위치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속도</a:t>
            </a:r>
            <a:endParaRPr lang="en-US" altLang="ko-KR" sz="1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76DB5018-2C02-46A8-9346-8EC4448E05C2}"/>
              </a:ext>
            </a:extLst>
          </p:cNvPr>
          <p:cNvSpPr txBox="1"/>
          <p:nvPr/>
        </p:nvSpPr>
        <p:spPr>
          <a:xfrm>
            <a:off x="1561901" y="3459904"/>
            <a:ext cx="931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색상</a:t>
            </a:r>
            <a:endParaRPr lang="en-US" altLang="ko-KR" sz="1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F489A186-8153-45ED-B2D8-A4947B7CB974}"/>
              </a:ext>
            </a:extLst>
          </p:cNvPr>
          <p:cNvSpPr/>
          <p:nvPr/>
        </p:nvSpPr>
        <p:spPr>
          <a:xfrm>
            <a:off x="4255171" y="2367599"/>
            <a:ext cx="3064039" cy="2093315"/>
          </a:xfrm>
          <a:prstGeom prst="roundRect">
            <a:avLst>
              <a:gd name="adj" fmla="val 4609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695D1527-76E1-4F22-A2AD-172CC039FBA9}"/>
              </a:ext>
            </a:extLst>
          </p:cNvPr>
          <p:cNvSpPr/>
          <p:nvPr/>
        </p:nvSpPr>
        <p:spPr>
          <a:xfrm>
            <a:off x="4807620" y="2080513"/>
            <a:ext cx="1959141" cy="28708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수명 관리 </a:t>
            </a: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&amp; Spawn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AC1854B9-08C0-4D28-A756-0D6585ED9DBE}"/>
              </a:ext>
            </a:extLst>
          </p:cNvPr>
          <p:cNvCxnSpPr>
            <a:cxnSpLocks/>
          </p:cNvCxnSpPr>
          <p:nvPr/>
        </p:nvCxnSpPr>
        <p:spPr>
          <a:xfrm>
            <a:off x="1322474" y="3865674"/>
            <a:ext cx="2669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D227FFD3-AECD-49AD-8E2A-748CB65DAEA5}"/>
              </a:ext>
            </a:extLst>
          </p:cNvPr>
          <p:cNvSpPr txBox="1"/>
          <p:nvPr/>
        </p:nvSpPr>
        <p:spPr>
          <a:xfrm>
            <a:off x="1561900" y="3735809"/>
            <a:ext cx="1448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수명 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1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LifeTime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8462413F-9AE8-480E-BC39-22A99BBAD149}"/>
              </a:ext>
            </a:extLst>
          </p:cNvPr>
          <p:cNvSpPr txBox="1"/>
          <p:nvPr/>
        </p:nvSpPr>
        <p:spPr>
          <a:xfrm>
            <a:off x="4296029" y="2840907"/>
            <a:ext cx="30231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altLang="ko-KR" sz="1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LifeTime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 끝났을 경우 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erase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b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방식</a:t>
            </a:r>
            <a:endParaRPr lang="en-US" altLang="ko-KR" sz="1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buAutoNum type="arabicParenR"/>
            </a:pPr>
            <a:r>
              <a:rPr lang="ko-KR" altLang="en-US" sz="1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파티클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Spawn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 특성 초기화 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&amp; 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할당 방식</a:t>
            </a:r>
            <a:endParaRPr lang="en-US" altLang="ko-KR" sz="1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4F6355DB-35D0-430E-8D41-866085E461D7}"/>
              </a:ext>
            </a:extLst>
          </p:cNvPr>
          <p:cNvSpPr/>
          <p:nvPr/>
        </p:nvSpPr>
        <p:spPr>
          <a:xfrm>
            <a:off x="8489284" y="2367599"/>
            <a:ext cx="2801344" cy="2093315"/>
          </a:xfrm>
          <a:prstGeom prst="roundRect">
            <a:avLst>
              <a:gd name="adj" fmla="val 4609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0" name="사각형: 둥근 모서리 179">
            <a:extLst>
              <a:ext uri="{FF2B5EF4-FFF2-40B4-BE49-F238E27FC236}">
                <a16:creationId xmlns:a16="http://schemas.microsoft.com/office/drawing/2014/main" id="{0277DD5B-C75B-4C54-84C4-C923B63BB9A7}"/>
              </a:ext>
            </a:extLst>
          </p:cNvPr>
          <p:cNvSpPr/>
          <p:nvPr/>
        </p:nvSpPr>
        <p:spPr>
          <a:xfrm>
            <a:off x="8910385" y="2080513"/>
            <a:ext cx="1959141" cy="28708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 외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BD2842CF-F4FB-4141-83CD-1D5BAFF66564}"/>
              </a:ext>
            </a:extLst>
          </p:cNvPr>
          <p:cNvSpPr txBox="1"/>
          <p:nvPr/>
        </p:nvSpPr>
        <p:spPr>
          <a:xfrm>
            <a:off x="8843583" y="2948628"/>
            <a:ext cx="20927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Burst 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방식</a:t>
            </a:r>
            <a:endParaRPr lang="en-US" altLang="ko-KR" sz="1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buAutoNum type="arabicParenR"/>
            </a:pPr>
            <a:r>
              <a:rPr lang="ko-KR" altLang="en-US" sz="1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파티클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애니메이션</a:t>
            </a:r>
            <a:endParaRPr lang="en-US" altLang="ko-KR" sz="1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74800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799E18-8F55-4C59-A6D8-D73BB65C9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파티클</a:t>
            </a:r>
            <a:r>
              <a:rPr lang="ko-KR" altLang="en-US" dirty="0"/>
              <a:t> 업데이트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9E3A9D0-1C48-467A-8898-50E0E7AB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01075F-6B7F-4CE1-A6CC-5043BE11D7A4}"/>
              </a:ext>
            </a:extLst>
          </p:cNvPr>
          <p:cNvSpPr txBox="1"/>
          <p:nvPr/>
        </p:nvSpPr>
        <p:spPr>
          <a:xfrm>
            <a:off x="4419603" y="217655"/>
            <a:ext cx="279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GPU 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기반 </a:t>
            </a:r>
            <a:r>
              <a:rPr lang="ko-KR" altLang="en-US" sz="1600" dirty="0" err="1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파티클과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최적화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ED41995-4C37-49DE-B456-B6D1F86AF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486" y="977988"/>
            <a:ext cx="2047514" cy="5306418"/>
          </a:xfrm>
          <a:prstGeom prst="rect">
            <a:avLst/>
          </a:prstGeom>
        </p:spPr>
      </p:pic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42CCB53-89A3-4387-8564-5ED7FB99CB38}"/>
              </a:ext>
            </a:extLst>
          </p:cNvPr>
          <p:cNvSpPr/>
          <p:nvPr/>
        </p:nvSpPr>
        <p:spPr>
          <a:xfrm>
            <a:off x="5025192" y="986009"/>
            <a:ext cx="5867398" cy="2957949"/>
          </a:xfrm>
          <a:prstGeom prst="roundRect">
            <a:avLst>
              <a:gd name="adj" fmla="val 4609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47BE4A2D-72D8-4ACE-A761-61D252865F82}"/>
              </a:ext>
            </a:extLst>
          </p:cNvPr>
          <p:cNvSpPr/>
          <p:nvPr/>
        </p:nvSpPr>
        <p:spPr>
          <a:xfrm>
            <a:off x="5017171" y="977988"/>
            <a:ext cx="762000" cy="28708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기존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8510D20-C5BE-4B87-83DD-A54694F367EB}"/>
              </a:ext>
            </a:extLst>
          </p:cNvPr>
          <p:cNvSpPr/>
          <p:nvPr/>
        </p:nvSpPr>
        <p:spPr>
          <a:xfrm>
            <a:off x="1443789" y="3866147"/>
            <a:ext cx="2622885" cy="1451811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0B099C-6E7B-4FDC-BC35-4ECE9F591FAE}"/>
              </a:ext>
            </a:extLst>
          </p:cNvPr>
          <p:cNvSpPr txBox="1"/>
          <p:nvPr/>
        </p:nvSpPr>
        <p:spPr>
          <a:xfrm>
            <a:off x="5358433" y="1323984"/>
            <a:ext cx="52009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모듈 업데이트와 </a:t>
            </a:r>
            <a:r>
              <a:rPr lang="en-US" altLang="ko-KR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dispatch(compute)</a:t>
            </a:r>
            <a:r>
              <a:rPr lang="ko-KR" altLang="en-US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</a:t>
            </a:r>
            <a:r>
              <a:rPr lang="en-US" altLang="ko-KR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</a:t>
            </a:r>
            <a:r>
              <a:rPr lang="en-US" altLang="ko-KR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 </a:t>
            </a:r>
            <a:r>
              <a:rPr lang="ko-KR" altLang="en-US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대응관계</a:t>
            </a:r>
            <a:endParaRPr lang="en-US" altLang="ko-KR" sz="16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61DD63-0FFD-4523-90BE-8CAE2280A4CE}"/>
              </a:ext>
            </a:extLst>
          </p:cNvPr>
          <p:cNvSpPr txBox="1"/>
          <p:nvPr/>
        </p:nvSpPr>
        <p:spPr>
          <a:xfrm>
            <a:off x="5157041" y="2034187"/>
            <a:ext cx="1628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Particle Emitter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49B6993-7A55-43D7-BEB6-5A8369BD9A91}"/>
              </a:ext>
            </a:extLst>
          </p:cNvPr>
          <p:cNvCxnSpPr>
            <a:cxnSpLocks/>
          </p:cNvCxnSpPr>
          <p:nvPr/>
        </p:nvCxnSpPr>
        <p:spPr>
          <a:xfrm flipH="1">
            <a:off x="5017171" y="1909011"/>
            <a:ext cx="586739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411A1A3F-AC39-4C92-8C5C-EF73347D6A16}"/>
              </a:ext>
            </a:extLst>
          </p:cNvPr>
          <p:cNvCxnSpPr>
            <a:cxnSpLocks/>
          </p:cNvCxnSpPr>
          <p:nvPr/>
        </p:nvCxnSpPr>
        <p:spPr>
          <a:xfrm>
            <a:off x="5469358" y="2341964"/>
            <a:ext cx="0" cy="6579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ED5DA393-BC6C-470E-AB21-4B93C9AA5C02}"/>
              </a:ext>
            </a:extLst>
          </p:cNvPr>
          <p:cNvCxnSpPr>
            <a:cxnSpLocks/>
          </p:cNvCxnSpPr>
          <p:nvPr/>
        </p:nvCxnSpPr>
        <p:spPr>
          <a:xfrm>
            <a:off x="5469358" y="2575966"/>
            <a:ext cx="2669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75EB811B-6C70-43D9-A3E2-1375ADC390E2}"/>
              </a:ext>
            </a:extLst>
          </p:cNvPr>
          <p:cNvCxnSpPr>
            <a:cxnSpLocks/>
          </p:cNvCxnSpPr>
          <p:nvPr/>
        </p:nvCxnSpPr>
        <p:spPr>
          <a:xfrm>
            <a:off x="5469358" y="2856703"/>
            <a:ext cx="2669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8615C67-63A8-47A3-BD65-92060B0363C4}"/>
              </a:ext>
            </a:extLst>
          </p:cNvPr>
          <p:cNvSpPr txBox="1"/>
          <p:nvPr/>
        </p:nvSpPr>
        <p:spPr>
          <a:xfrm>
            <a:off x="5735436" y="2416262"/>
            <a:ext cx="1050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Gravity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EECB47-5F70-465A-9897-70A83458A310}"/>
              </a:ext>
            </a:extLst>
          </p:cNvPr>
          <p:cNvSpPr txBox="1"/>
          <p:nvPr/>
        </p:nvSpPr>
        <p:spPr>
          <a:xfrm>
            <a:off x="5735436" y="2732060"/>
            <a:ext cx="1050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Drag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44598F2F-5283-4086-8E71-1867FA249195}"/>
              </a:ext>
            </a:extLst>
          </p:cNvPr>
          <p:cNvSpPr/>
          <p:nvPr/>
        </p:nvSpPr>
        <p:spPr>
          <a:xfrm>
            <a:off x="7435516" y="2488513"/>
            <a:ext cx="193713" cy="1937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E6D1C558-A380-4C91-91C9-E555CC719CD6}"/>
              </a:ext>
            </a:extLst>
          </p:cNvPr>
          <p:cNvCxnSpPr>
            <a:cxnSpLocks/>
          </p:cNvCxnSpPr>
          <p:nvPr/>
        </p:nvCxnSpPr>
        <p:spPr>
          <a:xfrm flipV="1">
            <a:off x="6866021" y="1909013"/>
            <a:ext cx="0" cy="203494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5522066A-2440-4A39-A677-8D7529563A57}"/>
              </a:ext>
            </a:extLst>
          </p:cNvPr>
          <p:cNvCxnSpPr>
            <a:cxnSpLocks/>
          </p:cNvCxnSpPr>
          <p:nvPr/>
        </p:nvCxnSpPr>
        <p:spPr>
          <a:xfrm flipV="1">
            <a:off x="7546749" y="2277528"/>
            <a:ext cx="242298" cy="2109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0F911B9-48F6-487C-894B-EC12AA4C1DC3}"/>
                  </a:ext>
                </a:extLst>
              </p:cNvPr>
              <p:cNvSpPr txBox="1"/>
              <p:nvPr/>
            </p:nvSpPr>
            <p:spPr>
              <a:xfrm>
                <a:off x="7762498" y="2000529"/>
                <a:ext cx="2135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0F911B9-48F6-487C-894B-EC12AA4C1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2498" y="2000529"/>
                <a:ext cx="213520" cy="276999"/>
              </a:xfrm>
              <a:prstGeom prst="rect">
                <a:avLst/>
              </a:prstGeom>
              <a:blipFill>
                <a:blip r:embed="rId3"/>
                <a:stretch>
                  <a:fillRect l="-8571" r="-8571" b="-21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타원 54">
            <a:extLst>
              <a:ext uri="{FF2B5EF4-FFF2-40B4-BE49-F238E27FC236}">
                <a16:creationId xmlns:a16="http://schemas.microsoft.com/office/drawing/2014/main" id="{AD499D51-DC64-48B8-B14F-1B022D8B1F65}"/>
              </a:ext>
            </a:extLst>
          </p:cNvPr>
          <p:cNvSpPr/>
          <p:nvPr/>
        </p:nvSpPr>
        <p:spPr>
          <a:xfrm>
            <a:off x="8604459" y="2482205"/>
            <a:ext cx="193713" cy="1937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31187292-1733-4B89-A199-D65F08C995F4}"/>
              </a:ext>
            </a:extLst>
          </p:cNvPr>
          <p:cNvCxnSpPr>
            <a:cxnSpLocks/>
          </p:cNvCxnSpPr>
          <p:nvPr/>
        </p:nvCxnSpPr>
        <p:spPr>
          <a:xfrm>
            <a:off x="8783404" y="2606756"/>
            <a:ext cx="219767" cy="1573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1E77FD5-8E4B-4BED-A6C3-44F6A603FB39}"/>
                  </a:ext>
                </a:extLst>
              </p:cNvPr>
              <p:cNvSpPr txBox="1"/>
              <p:nvPr/>
            </p:nvSpPr>
            <p:spPr>
              <a:xfrm>
                <a:off x="8968596" y="2410949"/>
                <a:ext cx="2660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1E77FD5-8E4B-4BED-A6C3-44F6A603F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8596" y="2410949"/>
                <a:ext cx="266098" cy="276999"/>
              </a:xfrm>
              <a:prstGeom prst="rect">
                <a:avLst/>
              </a:prstGeom>
              <a:blipFill>
                <a:blip r:embed="rId4"/>
                <a:stretch>
                  <a:fillRect l="-18182" r="-20455" b="-130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타원 60">
            <a:extLst>
              <a:ext uri="{FF2B5EF4-FFF2-40B4-BE49-F238E27FC236}">
                <a16:creationId xmlns:a16="http://schemas.microsoft.com/office/drawing/2014/main" id="{2AA84493-AC94-4403-B4F4-606AD9CA2A81}"/>
              </a:ext>
            </a:extLst>
          </p:cNvPr>
          <p:cNvSpPr/>
          <p:nvPr/>
        </p:nvSpPr>
        <p:spPr>
          <a:xfrm>
            <a:off x="9884631" y="2488513"/>
            <a:ext cx="193713" cy="1937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C3080398-6AA3-4804-B233-024F2D148511}"/>
              </a:ext>
            </a:extLst>
          </p:cNvPr>
          <p:cNvCxnSpPr>
            <a:cxnSpLocks/>
          </p:cNvCxnSpPr>
          <p:nvPr/>
        </p:nvCxnSpPr>
        <p:spPr>
          <a:xfrm>
            <a:off x="10063576" y="2613064"/>
            <a:ext cx="136158" cy="1071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B26B10A-A9DE-438E-B4CA-1C7805E70CFD}"/>
                  </a:ext>
                </a:extLst>
              </p:cNvPr>
              <p:cNvSpPr txBox="1"/>
              <p:nvPr/>
            </p:nvSpPr>
            <p:spPr>
              <a:xfrm>
                <a:off x="10194666" y="2402786"/>
                <a:ext cx="3254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′′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B26B10A-A9DE-438E-B4CA-1C7805E70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4666" y="2402786"/>
                <a:ext cx="325409" cy="276999"/>
              </a:xfrm>
              <a:prstGeom prst="rect">
                <a:avLst/>
              </a:prstGeom>
              <a:blipFill>
                <a:blip r:embed="rId5"/>
                <a:stretch>
                  <a:fillRect l="-14815" r="-14815" b="-130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5F81E8DD-EB94-4BAE-A269-4A39FF21238A}"/>
              </a:ext>
            </a:extLst>
          </p:cNvPr>
          <p:cNvCxnSpPr>
            <a:cxnSpLocks/>
          </p:cNvCxnSpPr>
          <p:nvPr/>
        </p:nvCxnSpPr>
        <p:spPr>
          <a:xfrm flipV="1">
            <a:off x="7850778" y="2579052"/>
            <a:ext cx="547320" cy="1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479E513D-C8D9-4856-A87B-05D26058AE5A}"/>
              </a:ext>
            </a:extLst>
          </p:cNvPr>
          <p:cNvSpPr txBox="1"/>
          <p:nvPr/>
        </p:nvSpPr>
        <p:spPr>
          <a:xfrm>
            <a:off x="7600707" y="2621661"/>
            <a:ext cx="1050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Gravity</a:t>
            </a: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EC2266F8-E164-4C96-848F-A316D18945A3}"/>
              </a:ext>
            </a:extLst>
          </p:cNvPr>
          <p:cNvCxnSpPr>
            <a:cxnSpLocks/>
          </p:cNvCxnSpPr>
          <p:nvPr/>
        </p:nvCxnSpPr>
        <p:spPr>
          <a:xfrm flipV="1">
            <a:off x="9253242" y="2579052"/>
            <a:ext cx="547320" cy="1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49AE39B2-0A80-44B9-A22B-71B22A2F2B63}"/>
              </a:ext>
            </a:extLst>
          </p:cNvPr>
          <p:cNvSpPr txBox="1"/>
          <p:nvPr/>
        </p:nvSpPr>
        <p:spPr>
          <a:xfrm>
            <a:off x="9003171" y="2621661"/>
            <a:ext cx="1050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Drag</a:t>
            </a: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0F52094D-D831-49FC-B649-30092318B71E}"/>
              </a:ext>
            </a:extLst>
          </p:cNvPr>
          <p:cNvCxnSpPr>
            <a:cxnSpLocks/>
          </p:cNvCxnSpPr>
          <p:nvPr/>
        </p:nvCxnSpPr>
        <p:spPr>
          <a:xfrm>
            <a:off x="8124438" y="2999874"/>
            <a:ext cx="0" cy="358156"/>
          </a:xfrm>
          <a:prstGeom prst="straightConnector1">
            <a:avLst/>
          </a:prstGeom>
          <a:ln w="12700">
            <a:solidFill>
              <a:srgbClr val="C00000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9A7E2490-941D-4F7C-A4AA-6D1B15024DE8}"/>
              </a:ext>
            </a:extLst>
          </p:cNvPr>
          <p:cNvSpPr txBox="1"/>
          <p:nvPr/>
        </p:nvSpPr>
        <p:spPr>
          <a:xfrm>
            <a:off x="7616183" y="3420738"/>
            <a:ext cx="1050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C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Dispatch</a:t>
            </a:r>
            <a:br>
              <a:rPr lang="en-US" altLang="ko-KR" sz="1400" dirty="0">
                <a:solidFill>
                  <a:srgbClr val="C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400" dirty="0">
                <a:solidFill>
                  <a:srgbClr val="C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(Compute)</a:t>
            </a: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15C01859-AD6B-4CB5-A98A-94D76EE8F77E}"/>
              </a:ext>
            </a:extLst>
          </p:cNvPr>
          <p:cNvCxnSpPr>
            <a:cxnSpLocks/>
          </p:cNvCxnSpPr>
          <p:nvPr/>
        </p:nvCxnSpPr>
        <p:spPr>
          <a:xfrm>
            <a:off x="9521456" y="2999874"/>
            <a:ext cx="0" cy="358156"/>
          </a:xfrm>
          <a:prstGeom prst="straightConnector1">
            <a:avLst/>
          </a:prstGeom>
          <a:ln w="12700">
            <a:solidFill>
              <a:srgbClr val="C00000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79D0EA63-9232-42E7-AAC1-9EEB9CC29BE2}"/>
              </a:ext>
            </a:extLst>
          </p:cNvPr>
          <p:cNvSpPr txBox="1"/>
          <p:nvPr/>
        </p:nvSpPr>
        <p:spPr>
          <a:xfrm>
            <a:off x="9013201" y="3420738"/>
            <a:ext cx="1050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C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Dispatch</a:t>
            </a:r>
            <a:br>
              <a:rPr lang="en-US" altLang="ko-KR" sz="1400" dirty="0">
                <a:solidFill>
                  <a:srgbClr val="C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400" dirty="0">
                <a:solidFill>
                  <a:srgbClr val="C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(Compute)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7044E035-819A-4C99-BE74-2C0E6B2AD1D9}"/>
              </a:ext>
            </a:extLst>
          </p:cNvPr>
          <p:cNvSpPr/>
          <p:nvPr/>
        </p:nvSpPr>
        <p:spPr>
          <a:xfrm>
            <a:off x="5017171" y="4047986"/>
            <a:ext cx="5875419" cy="2529276"/>
          </a:xfrm>
          <a:prstGeom prst="roundRect">
            <a:avLst>
              <a:gd name="adj" fmla="val 4609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21ABCF16-1E9D-4E58-848F-880887B4778D}"/>
              </a:ext>
            </a:extLst>
          </p:cNvPr>
          <p:cNvSpPr/>
          <p:nvPr/>
        </p:nvSpPr>
        <p:spPr>
          <a:xfrm>
            <a:off x="5009150" y="4039965"/>
            <a:ext cx="726286" cy="28708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변경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C33240D-9A1B-4DC2-A142-B14EEB857444}"/>
              </a:ext>
            </a:extLst>
          </p:cNvPr>
          <p:cNvSpPr txBox="1"/>
          <p:nvPr/>
        </p:nvSpPr>
        <p:spPr>
          <a:xfrm>
            <a:off x="5084851" y="4445694"/>
            <a:ext cx="1628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Particle Emitter</a:t>
            </a: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481BB6CF-A8EA-4564-B622-4BF0F6181984}"/>
              </a:ext>
            </a:extLst>
          </p:cNvPr>
          <p:cNvCxnSpPr>
            <a:cxnSpLocks/>
          </p:cNvCxnSpPr>
          <p:nvPr/>
        </p:nvCxnSpPr>
        <p:spPr>
          <a:xfrm>
            <a:off x="5397168" y="4753471"/>
            <a:ext cx="0" cy="11099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3704BA7B-43D2-4E9A-9381-7D994AC94A2C}"/>
              </a:ext>
            </a:extLst>
          </p:cNvPr>
          <p:cNvCxnSpPr>
            <a:cxnSpLocks/>
          </p:cNvCxnSpPr>
          <p:nvPr/>
        </p:nvCxnSpPr>
        <p:spPr>
          <a:xfrm>
            <a:off x="5397168" y="4987473"/>
            <a:ext cx="2669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541C8A1E-712B-44C0-9E4E-67C21639DA6B}"/>
              </a:ext>
            </a:extLst>
          </p:cNvPr>
          <p:cNvCxnSpPr>
            <a:cxnSpLocks/>
          </p:cNvCxnSpPr>
          <p:nvPr/>
        </p:nvCxnSpPr>
        <p:spPr>
          <a:xfrm>
            <a:off x="5397168" y="5268210"/>
            <a:ext cx="2669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CDF49564-D13D-452A-A19F-E8B8498E7895}"/>
              </a:ext>
            </a:extLst>
          </p:cNvPr>
          <p:cNvSpPr txBox="1"/>
          <p:nvPr/>
        </p:nvSpPr>
        <p:spPr>
          <a:xfrm>
            <a:off x="5663246" y="4827769"/>
            <a:ext cx="1050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Gravity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FF4AA68-3692-4A75-AE86-67A1EAEF788A}"/>
              </a:ext>
            </a:extLst>
          </p:cNvPr>
          <p:cNvSpPr txBox="1"/>
          <p:nvPr/>
        </p:nvSpPr>
        <p:spPr>
          <a:xfrm>
            <a:off x="5663246" y="5143567"/>
            <a:ext cx="1050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Drag</a:t>
            </a: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2DC33AD2-F302-4EB7-9B49-77CBE5478ECA}"/>
              </a:ext>
            </a:extLst>
          </p:cNvPr>
          <p:cNvCxnSpPr>
            <a:cxnSpLocks/>
          </p:cNvCxnSpPr>
          <p:nvPr/>
        </p:nvCxnSpPr>
        <p:spPr>
          <a:xfrm>
            <a:off x="5397168" y="5554762"/>
            <a:ext cx="2669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42B27B57-87FF-47AB-8630-380A4FCA2A3A}"/>
              </a:ext>
            </a:extLst>
          </p:cNvPr>
          <p:cNvSpPr txBox="1"/>
          <p:nvPr/>
        </p:nvSpPr>
        <p:spPr>
          <a:xfrm>
            <a:off x="5663246" y="5430119"/>
            <a:ext cx="1491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Vortex Force</a:t>
            </a:r>
          </a:p>
        </p:txBody>
      </p:sp>
      <p:sp>
        <p:nvSpPr>
          <p:cNvPr id="48" name="오른쪽 중괄호 47">
            <a:extLst>
              <a:ext uri="{FF2B5EF4-FFF2-40B4-BE49-F238E27FC236}">
                <a16:creationId xmlns:a16="http://schemas.microsoft.com/office/drawing/2014/main" id="{3CFC0A8C-7E6C-4C5C-8361-996DBCDA4380}"/>
              </a:ext>
            </a:extLst>
          </p:cNvPr>
          <p:cNvSpPr/>
          <p:nvPr/>
        </p:nvSpPr>
        <p:spPr>
          <a:xfrm>
            <a:off x="6866021" y="4787527"/>
            <a:ext cx="296782" cy="1036338"/>
          </a:xfrm>
          <a:prstGeom prst="rightBrace">
            <a:avLst>
              <a:gd name="adj1" fmla="val 78602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ECA9B3C-4679-41EC-AADA-4F12D40D449C}"/>
              </a:ext>
            </a:extLst>
          </p:cNvPr>
          <p:cNvSpPr txBox="1"/>
          <p:nvPr/>
        </p:nvSpPr>
        <p:spPr>
          <a:xfrm>
            <a:off x="7132970" y="5158735"/>
            <a:ext cx="1671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한번에 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dispatch</a:t>
            </a:r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5BBDFD70-66A8-49F6-B690-7131455DA7CC}"/>
              </a:ext>
            </a:extLst>
          </p:cNvPr>
          <p:cNvSpPr/>
          <p:nvPr/>
        </p:nvSpPr>
        <p:spPr>
          <a:xfrm>
            <a:off x="8871739" y="5354487"/>
            <a:ext cx="193713" cy="1937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8F1F667D-42A2-4028-83FA-71F7A611CEDC}"/>
              </a:ext>
            </a:extLst>
          </p:cNvPr>
          <p:cNvCxnSpPr>
            <a:cxnSpLocks/>
          </p:cNvCxnSpPr>
          <p:nvPr/>
        </p:nvCxnSpPr>
        <p:spPr>
          <a:xfrm flipV="1">
            <a:off x="8982972" y="5143502"/>
            <a:ext cx="242298" cy="2109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E46EF29-2897-47EE-A455-131BDAE36BA5}"/>
                  </a:ext>
                </a:extLst>
              </p:cNvPr>
              <p:cNvSpPr txBox="1"/>
              <p:nvPr/>
            </p:nvSpPr>
            <p:spPr>
              <a:xfrm>
                <a:off x="9198721" y="4866503"/>
                <a:ext cx="2135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E46EF29-2897-47EE-A455-131BDAE36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8721" y="4866503"/>
                <a:ext cx="213520" cy="276999"/>
              </a:xfrm>
              <a:prstGeom prst="rect">
                <a:avLst/>
              </a:prstGeom>
              <a:blipFill>
                <a:blip r:embed="rId6"/>
                <a:stretch>
                  <a:fillRect l="-8571" r="-8571" b="-21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타원 100">
            <a:extLst>
              <a:ext uri="{FF2B5EF4-FFF2-40B4-BE49-F238E27FC236}">
                <a16:creationId xmlns:a16="http://schemas.microsoft.com/office/drawing/2014/main" id="{2B2EEE3E-70E1-4FB4-B36E-D2D39435D687}"/>
              </a:ext>
            </a:extLst>
          </p:cNvPr>
          <p:cNvSpPr/>
          <p:nvPr/>
        </p:nvSpPr>
        <p:spPr>
          <a:xfrm>
            <a:off x="10016896" y="5280778"/>
            <a:ext cx="193713" cy="1937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D2B2C0C7-DD28-4DC9-88F7-856052AB4FE3}"/>
              </a:ext>
            </a:extLst>
          </p:cNvPr>
          <p:cNvCxnSpPr>
            <a:cxnSpLocks/>
          </p:cNvCxnSpPr>
          <p:nvPr/>
        </p:nvCxnSpPr>
        <p:spPr>
          <a:xfrm>
            <a:off x="10192624" y="5411996"/>
            <a:ext cx="286729" cy="6906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5E64265E-8F61-4A7C-91E8-91489FBE6246}"/>
                  </a:ext>
                </a:extLst>
              </p:cNvPr>
              <p:cNvSpPr txBox="1"/>
              <p:nvPr/>
            </p:nvSpPr>
            <p:spPr>
              <a:xfrm>
                <a:off x="10415915" y="5169531"/>
                <a:ext cx="2660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5E64265E-8F61-4A7C-91E8-91489FBE6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5915" y="5169531"/>
                <a:ext cx="266098" cy="276999"/>
              </a:xfrm>
              <a:prstGeom prst="rect">
                <a:avLst/>
              </a:prstGeom>
              <a:blipFill>
                <a:blip r:embed="rId7"/>
                <a:stretch>
                  <a:fillRect l="-18605" r="-23256" b="-1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33220317-5A8D-4D42-9EEE-4EAE71545005}"/>
              </a:ext>
            </a:extLst>
          </p:cNvPr>
          <p:cNvCxnSpPr>
            <a:cxnSpLocks/>
          </p:cNvCxnSpPr>
          <p:nvPr/>
        </p:nvCxnSpPr>
        <p:spPr>
          <a:xfrm flipV="1">
            <a:off x="9357028" y="5386024"/>
            <a:ext cx="547320" cy="1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0091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9DB59E60-AE99-4047-8588-868ADBBF1C5F}"/>
              </a:ext>
            </a:extLst>
          </p:cNvPr>
          <p:cNvCxnSpPr>
            <a:cxnSpLocks/>
          </p:cNvCxnSpPr>
          <p:nvPr/>
        </p:nvCxnSpPr>
        <p:spPr>
          <a:xfrm flipV="1">
            <a:off x="5454317" y="556209"/>
            <a:ext cx="0" cy="3061286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7D799E18-8F55-4C59-A6D8-D73BB65C9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거리기반 </a:t>
            </a:r>
            <a:r>
              <a:rPr lang="en-US" altLang="ko-KR" dirty="0"/>
              <a:t>LOD + </a:t>
            </a:r>
            <a:r>
              <a:rPr lang="ko-KR" altLang="en-US" dirty="0" err="1"/>
              <a:t>컬링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9E3A9D0-1C48-467A-8898-50E0E7AB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01075F-6B7F-4CE1-A6CC-5043BE11D7A4}"/>
              </a:ext>
            </a:extLst>
          </p:cNvPr>
          <p:cNvSpPr txBox="1"/>
          <p:nvPr/>
        </p:nvSpPr>
        <p:spPr>
          <a:xfrm>
            <a:off x="5093372" y="217655"/>
            <a:ext cx="279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GPU 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기반 </a:t>
            </a:r>
            <a:r>
              <a:rPr lang="ko-KR" altLang="en-US" sz="1600" dirty="0" err="1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파티클과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최적화</a:t>
            </a:r>
          </a:p>
        </p:txBody>
      </p:sp>
      <p:pic>
        <p:nvPicPr>
          <p:cNvPr id="5" name="그래픽 4" descr="비디오 카메라 단색으로 채워진">
            <a:extLst>
              <a:ext uri="{FF2B5EF4-FFF2-40B4-BE49-F238E27FC236}">
                <a16:creationId xmlns:a16="http://schemas.microsoft.com/office/drawing/2014/main" id="{0163CDAC-2F0C-4B18-ACD5-3910C4F503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1860" y="1540335"/>
            <a:ext cx="741780" cy="74178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9AD9108-6834-4D99-A856-AADF4C8AE8B9}"/>
              </a:ext>
            </a:extLst>
          </p:cNvPr>
          <p:cNvCxnSpPr>
            <a:cxnSpLocks/>
          </p:cNvCxnSpPr>
          <p:nvPr/>
        </p:nvCxnSpPr>
        <p:spPr>
          <a:xfrm flipV="1">
            <a:off x="2783640" y="894976"/>
            <a:ext cx="2077329" cy="9448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CAA189A0-E9B9-4826-86BC-521041DAAE17}"/>
              </a:ext>
            </a:extLst>
          </p:cNvPr>
          <p:cNvCxnSpPr>
            <a:cxnSpLocks/>
          </p:cNvCxnSpPr>
          <p:nvPr/>
        </p:nvCxnSpPr>
        <p:spPr>
          <a:xfrm flipH="1" flipV="1">
            <a:off x="2783643" y="2161802"/>
            <a:ext cx="2077328" cy="9532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D593263-6245-426A-A2B9-8D27D660C7E1}"/>
              </a:ext>
            </a:extLst>
          </p:cNvPr>
          <p:cNvGrpSpPr/>
          <p:nvPr/>
        </p:nvGrpSpPr>
        <p:grpSpPr>
          <a:xfrm>
            <a:off x="3657935" y="1445545"/>
            <a:ext cx="609600" cy="1106071"/>
            <a:chOff x="2687053" y="2456073"/>
            <a:chExt cx="609600" cy="1106071"/>
          </a:xfrm>
        </p:grpSpPr>
        <p:sp>
          <p:nvSpPr>
            <p:cNvPr id="16" name="원형: 비어 있음 15">
              <a:extLst>
                <a:ext uri="{FF2B5EF4-FFF2-40B4-BE49-F238E27FC236}">
                  <a16:creationId xmlns:a16="http://schemas.microsoft.com/office/drawing/2014/main" id="{1EBF6453-CFCF-4DA9-BD8F-793F2B37AB2F}"/>
                </a:ext>
              </a:extLst>
            </p:cNvPr>
            <p:cNvSpPr/>
            <p:nvPr/>
          </p:nvSpPr>
          <p:spPr>
            <a:xfrm>
              <a:off x="2687053" y="3341564"/>
              <a:ext cx="593558" cy="220580"/>
            </a:xfrm>
            <a:prstGeom prst="donu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별: 꼭짓점 4개 16">
              <a:extLst>
                <a:ext uri="{FF2B5EF4-FFF2-40B4-BE49-F238E27FC236}">
                  <a16:creationId xmlns:a16="http://schemas.microsoft.com/office/drawing/2014/main" id="{F2EDC80E-F74E-4F9A-8E14-BB4D52B95A2E}"/>
                </a:ext>
              </a:extLst>
            </p:cNvPr>
            <p:cNvSpPr/>
            <p:nvPr/>
          </p:nvSpPr>
          <p:spPr>
            <a:xfrm>
              <a:off x="2687053" y="2794545"/>
              <a:ext cx="240631" cy="240631"/>
            </a:xfrm>
            <a:prstGeom prst="star4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별: 꼭짓점 4개 38">
              <a:extLst>
                <a:ext uri="{FF2B5EF4-FFF2-40B4-BE49-F238E27FC236}">
                  <a16:creationId xmlns:a16="http://schemas.microsoft.com/office/drawing/2014/main" id="{E4F7B77F-5391-48CF-BEDD-C08B21DC3C85}"/>
                </a:ext>
              </a:extLst>
            </p:cNvPr>
            <p:cNvSpPr/>
            <p:nvPr/>
          </p:nvSpPr>
          <p:spPr>
            <a:xfrm>
              <a:off x="2863516" y="3052012"/>
              <a:ext cx="240631" cy="240631"/>
            </a:xfrm>
            <a:prstGeom prst="star4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별: 꼭짓점 4개 39">
              <a:extLst>
                <a:ext uri="{FF2B5EF4-FFF2-40B4-BE49-F238E27FC236}">
                  <a16:creationId xmlns:a16="http://schemas.microsoft.com/office/drawing/2014/main" id="{3900BA6F-1317-4D73-8C0E-2F3A300D168D}"/>
                </a:ext>
              </a:extLst>
            </p:cNvPr>
            <p:cNvSpPr/>
            <p:nvPr/>
          </p:nvSpPr>
          <p:spPr>
            <a:xfrm>
              <a:off x="2983831" y="2456073"/>
              <a:ext cx="240631" cy="240631"/>
            </a:xfrm>
            <a:prstGeom prst="star4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별: 꼭짓점 4개 40">
              <a:extLst>
                <a:ext uri="{FF2B5EF4-FFF2-40B4-BE49-F238E27FC236}">
                  <a16:creationId xmlns:a16="http://schemas.microsoft.com/office/drawing/2014/main" id="{382C439F-B087-47DC-B3FF-6D6C79FA169A}"/>
                </a:ext>
              </a:extLst>
            </p:cNvPr>
            <p:cNvSpPr/>
            <p:nvPr/>
          </p:nvSpPr>
          <p:spPr>
            <a:xfrm>
              <a:off x="3056022" y="2754042"/>
              <a:ext cx="240631" cy="240631"/>
            </a:xfrm>
            <a:prstGeom prst="star4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5" name="그래픽 74" descr="비디오 카메라 단색으로 채워진">
            <a:extLst>
              <a:ext uri="{FF2B5EF4-FFF2-40B4-BE49-F238E27FC236}">
                <a16:creationId xmlns:a16="http://schemas.microsoft.com/office/drawing/2014/main" id="{D15B4B7E-6351-4378-91AB-B0677A76AA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8134" y="1540335"/>
            <a:ext cx="741780" cy="741780"/>
          </a:xfrm>
          <a:prstGeom prst="rect">
            <a:avLst/>
          </a:prstGeom>
        </p:spPr>
      </p:pic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4C37981E-85A6-4692-9A32-7191A43B6C4E}"/>
              </a:ext>
            </a:extLst>
          </p:cNvPr>
          <p:cNvCxnSpPr>
            <a:cxnSpLocks/>
          </p:cNvCxnSpPr>
          <p:nvPr/>
        </p:nvCxnSpPr>
        <p:spPr>
          <a:xfrm flipV="1">
            <a:off x="7459914" y="894976"/>
            <a:ext cx="2077329" cy="9448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D0E298CF-4B09-445E-BEA3-884036F1F37A}"/>
              </a:ext>
            </a:extLst>
          </p:cNvPr>
          <p:cNvCxnSpPr>
            <a:cxnSpLocks/>
          </p:cNvCxnSpPr>
          <p:nvPr/>
        </p:nvCxnSpPr>
        <p:spPr>
          <a:xfrm flipH="1" flipV="1">
            <a:off x="7459917" y="2161802"/>
            <a:ext cx="2077328" cy="9532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원형: 비어 있음 80">
            <a:extLst>
              <a:ext uri="{FF2B5EF4-FFF2-40B4-BE49-F238E27FC236}">
                <a16:creationId xmlns:a16="http://schemas.microsoft.com/office/drawing/2014/main" id="{4AA76DEA-78EF-451F-8EC6-9868A38E46BF}"/>
              </a:ext>
            </a:extLst>
          </p:cNvPr>
          <p:cNvSpPr/>
          <p:nvPr/>
        </p:nvSpPr>
        <p:spPr>
          <a:xfrm>
            <a:off x="9424737" y="2261773"/>
            <a:ext cx="593558" cy="220580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3" name="별: 꼭짓점 4개 82">
            <a:extLst>
              <a:ext uri="{FF2B5EF4-FFF2-40B4-BE49-F238E27FC236}">
                <a16:creationId xmlns:a16="http://schemas.microsoft.com/office/drawing/2014/main" id="{CD4D7AB9-372D-4AE6-83EA-AABCEA86E055}"/>
              </a:ext>
            </a:extLst>
          </p:cNvPr>
          <p:cNvSpPr/>
          <p:nvPr/>
        </p:nvSpPr>
        <p:spPr>
          <a:xfrm>
            <a:off x="9721516" y="1930508"/>
            <a:ext cx="240631" cy="240631"/>
          </a:xfrm>
          <a:prstGeom prst="star4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별: 꼭짓점 4개 83">
            <a:extLst>
              <a:ext uri="{FF2B5EF4-FFF2-40B4-BE49-F238E27FC236}">
                <a16:creationId xmlns:a16="http://schemas.microsoft.com/office/drawing/2014/main" id="{3C2ABC2D-6E33-47D3-A8B0-3D46D86C4380}"/>
              </a:ext>
            </a:extLst>
          </p:cNvPr>
          <p:cNvSpPr/>
          <p:nvPr/>
        </p:nvSpPr>
        <p:spPr>
          <a:xfrm>
            <a:off x="9560092" y="1565860"/>
            <a:ext cx="240631" cy="240631"/>
          </a:xfrm>
          <a:prstGeom prst="star4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68EFD1CC-3515-4573-BAD2-87DC1C314A9B}"/>
              </a:ext>
            </a:extLst>
          </p:cNvPr>
          <p:cNvCxnSpPr>
            <a:cxnSpLocks/>
          </p:cNvCxnSpPr>
          <p:nvPr/>
        </p:nvCxnSpPr>
        <p:spPr>
          <a:xfrm>
            <a:off x="5309937" y="1982806"/>
            <a:ext cx="994610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0CAF4E69-C520-4113-AB43-8F579539E291}"/>
              </a:ext>
            </a:extLst>
          </p:cNvPr>
          <p:cNvSpPr txBox="1"/>
          <p:nvPr/>
        </p:nvSpPr>
        <p:spPr>
          <a:xfrm>
            <a:off x="5401928" y="2157121"/>
            <a:ext cx="16287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Frame rate 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감소</a:t>
            </a:r>
            <a:endParaRPr lang="en-US" altLang="ko-KR" sz="1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+</a:t>
            </a:r>
          </a:p>
          <a:p>
            <a:pPr algn="ctr"/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Spawn rate 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감소</a:t>
            </a:r>
            <a:endParaRPr lang="en-US" altLang="ko-KR" sz="1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… 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033EFDBE-DC83-4193-93A2-75A1A392D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6611" y="3860941"/>
            <a:ext cx="4451684" cy="2562648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D58228CA-4B35-4BA0-855C-8A302260E9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268" y="3782994"/>
            <a:ext cx="4378962" cy="2640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170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799E18-8F55-4C59-A6D8-D73BB65C9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렌더링 기법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9E3A9D0-1C48-467A-8898-50E0E7AB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01075F-6B7F-4CE1-A6CC-5043BE11D7A4}"/>
              </a:ext>
            </a:extLst>
          </p:cNvPr>
          <p:cNvSpPr txBox="1"/>
          <p:nvPr/>
        </p:nvSpPr>
        <p:spPr>
          <a:xfrm>
            <a:off x="4419603" y="217655"/>
            <a:ext cx="279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GPU 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기반 </a:t>
            </a:r>
            <a:r>
              <a:rPr lang="ko-KR" altLang="en-US" sz="1600" dirty="0" err="1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파티클과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최적화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C4E4812E-9107-4140-BFF7-96E7DD67EE28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6" r="16182"/>
          <a:stretch>
            <a:fillRect/>
          </a:stretch>
        </p:blipFill>
        <p:spPr bwMode="auto">
          <a:xfrm>
            <a:off x="1014011" y="1619353"/>
            <a:ext cx="4055552" cy="291254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E61BCB6-DDD8-40EE-8C19-09BB8202BF4A}"/>
              </a:ext>
            </a:extLst>
          </p:cNvPr>
          <p:cNvSpPr txBox="1"/>
          <p:nvPr/>
        </p:nvSpPr>
        <p:spPr>
          <a:xfrm>
            <a:off x="-12426" y="1280799"/>
            <a:ext cx="6108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WBOIT (</a:t>
            </a:r>
            <a:r>
              <a:rPr lang="en-US" altLang="ko-KR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Weighted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Blended Order Independent Transparency)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76A30E7-4033-4058-A60B-CAB9230A36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68" t="7832" r="38276" b="32837"/>
          <a:stretch/>
        </p:blipFill>
        <p:spPr>
          <a:xfrm>
            <a:off x="6336631" y="1427296"/>
            <a:ext cx="4209572" cy="3296654"/>
          </a:xfrm>
          <a:prstGeom prst="rect">
            <a:avLst/>
          </a:prstGeom>
        </p:spPr>
      </p:pic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90E845BF-813C-45A3-84EF-F732E101CAB7}"/>
              </a:ext>
            </a:extLst>
          </p:cNvPr>
          <p:cNvCxnSpPr>
            <a:cxnSpLocks/>
          </p:cNvCxnSpPr>
          <p:nvPr/>
        </p:nvCxnSpPr>
        <p:spPr>
          <a:xfrm flipV="1">
            <a:off x="5149516" y="3023937"/>
            <a:ext cx="1082842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B5ECD48-5C1C-42BD-BA1C-E70BE8CFFF29}"/>
              </a:ext>
            </a:extLst>
          </p:cNvPr>
          <p:cNvSpPr txBox="1"/>
          <p:nvPr/>
        </p:nvSpPr>
        <p:spPr>
          <a:xfrm>
            <a:off x="5406189" y="4804068"/>
            <a:ext cx="60704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DXGI_FORMAT </a:t>
            </a:r>
            <a:r>
              <a:rPr lang="ko-KR" altLang="en-US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 범위 초과로 인해 일부가 검정색으로 보이게 된다</a:t>
            </a:r>
            <a:r>
              <a:rPr lang="en-US" altLang="ko-KR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r>
              <a:rPr lang="ko-KR" altLang="en-US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16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DC54199-A4FC-4769-8AB9-7FA9B1A6AB71}"/>
              </a:ext>
            </a:extLst>
          </p:cNvPr>
          <p:cNvSpPr txBox="1"/>
          <p:nvPr/>
        </p:nvSpPr>
        <p:spPr>
          <a:xfrm>
            <a:off x="1604211" y="5862846"/>
            <a:ext cx="84301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WBOIT</a:t>
            </a:r>
            <a:r>
              <a:rPr lang="ko-KR" altLang="en-US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발전 방식 탐구 </a:t>
            </a:r>
            <a:r>
              <a:rPr lang="en-US" altLang="ko-KR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&amp; </a:t>
            </a:r>
            <a:r>
              <a:rPr lang="ko-KR" altLang="en-US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다른 렌더링 기법을 적용하여 성능 비교</a:t>
            </a:r>
            <a:r>
              <a:rPr lang="en-US" altLang="ko-KR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렌더링 결과 비교 </a:t>
            </a:r>
            <a:endParaRPr lang="en-US" altLang="ko-KR" sz="16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635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799E18-8F55-4C59-A6D8-D73BB65C9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지형</a:t>
            </a:r>
            <a:r>
              <a:rPr lang="en-US" altLang="ko-KR" dirty="0"/>
              <a:t>(</a:t>
            </a:r>
            <a:r>
              <a:rPr lang="ko-KR" altLang="en-US" dirty="0"/>
              <a:t>객체</a:t>
            </a:r>
            <a:r>
              <a:rPr lang="en-US" altLang="ko-KR" dirty="0"/>
              <a:t>) </a:t>
            </a:r>
            <a:r>
              <a:rPr lang="ko-KR" altLang="en-US" dirty="0"/>
              <a:t>충돌 </a:t>
            </a:r>
            <a:r>
              <a:rPr lang="ko-KR" altLang="en-US" dirty="0" err="1"/>
              <a:t>파티클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9E3A9D0-1C48-467A-8898-50E0E7AB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01075F-6B7F-4CE1-A6CC-5043BE11D7A4}"/>
              </a:ext>
            </a:extLst>
          </p:cNvPr>
          <p:cNvSpPr txBox="1"/>
          <p:nvPr/>
        </p:nvSpPr>
        <p:spPr>
          <a:xfrm>
            <a:off x="4419603" y="217655"/>
            <a:ext cx="279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환경과 상호작용하는 </a:t>
            </a:r>
            <a:r>
              <a:rPr lang="ko-KR" altLang="en-US" sz="1600" dirty="0" err="1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파티클</a:t>
            </a:r>
            <a:endParaRPr lang="ko-KR" altLang="en-US" sz="1600" dirty="0">
              <a:solidFill>
                <a:schemeClr val="bg1">
                  <a:lumMod val="6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D82A490-836C-4BB5-B47D-A4E90A049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1" y="1881775"/>
            <a:ext cx="4478840" cy="3250586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CED33DD-D931-4F3C-A9CF-ADF174F66026}"/>
              </a:ext>
            </a:extLst>
          </p:cNvPr>
          <p:cNvSpPr/>
          <p:nvPr/>
        </p:nvSpPr>
        <p:spPr>
          <a:xfrm>
            <a:off x="1409701" y="3760761"/>
            <a:ext cx="3017921" cy="1371600"/>
          </a:xfrm>
          <a:prstGeom prst="roundRect">
            <a:avLst>
              <a:gd name="adj" fmla="val 4727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7075F6-61ED-408B-964C-00DBD9BF631E}"/>
              </a:ext>
            </a:extLst>
          </p:cNvPr>
          <p:cNvSpPr txBox="1"/>
          <p:nvPr/>
        </p:nvSpPr>
        <p:spPr>
          <a:xfrm>
            <a:off x="6589299" y="3030015"/>
            <a:ext cx="42914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파티클과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지면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객체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 충돌하여 </a:t>
            </a:r>
            <a:r>
              <a:rPr lang="ko-KR" altLang="en-US" sz="1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파티클이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튕겨난다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GPU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지면의 정보를 알아야 한다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화면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혹은 플레이어의 시야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밖에서 </a:t>
            </a:r>
            <a:r>
              <a:rPr lang="ko-KR" altLang="en-US" sz="1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파티클의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충돌도</a:t>
            </a:r>
            <a:b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고려해야 한다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1113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다리꼴 4">
            <a:extLst>
              <a:ext uri="{FF2B5EF4-FFF2-40B4-BE49-F238E27FC236}">
                <a16:creationId xmlns:a16="http://schemas.microsoft.com/office/drawing/2014/main" id="{18AE2274-FA7B-4B38-A708-03E8A3C78D9A}"/>
              </a:ext>
            </a:extLst>
          </p:cNvPr>
          <p:cNvSpPr/>
          <p:nvPr/>
        </p:nvSpPr>
        <p:spPr>
          <a:xfrm>
            <a:off x="1543750" y="2401909"/>
            <a:ext cx="2823411" cy="376989"/>
          </a:xfrm>
          <a:prstGeom prst="trapezoid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D799E18-8F55-4C59-A6D8-D73BB65C9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파티클에</a:t>
            </a:r>
            <a:r>
              <a:rPr lang="ko-KR" altLang="en-US" dirty="0"/>
              <a:t> 반응하는 지형</a:t>
            </a:r>
            <a:r>
              <a:rPr lang="en-US" altLang="ko-KR" dirty="0"/>
              <a:t>(</a:t>
            </a:r>
            <a:r>
              <a:rPr lang="ko-KR" altLang="en-US" dirty="0"/>
              <a:t>객체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9E3A9D0-1C48-467A-8898-50E0E7AB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01075F-6B7F-4CE1-A6CC-5043BE11D7A4}"/>
              </a:ext>
            </a:extLst>
          </p:cNvPr>
          <p:cNvSpPr txBox="1"/>
          <p:nvPr/>
        </p:nvSpPr>
        <p:spPr>
          <a:xfrm>
            <a:off x="7146760" y="217655"/>
            <a:ext cx="279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환경과 상호작용하는 </a:t>
            </a:r>
            <a:r>
              <a:rPr lang="ko-KR" altLang="en-US" sz="1600" dirty="0" err="1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파티클</a:t>
            </a:r>
            <a:endParaRPr lang="ko-KR" altLang="en-US" sz="1600" dirty="0">
              <a:solidFill>
                <a:schemeClr val="bg1">
                  <a:lumMod val="6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70BABFE-104A-4802-A5CD-D222E79C04DD}"/>
              </a:ext>
            </a:extLst>
          </p:cNvPr>
          <p:cNvSpPr/>
          <p:nvPr/>
        </p:nvSpPr>
        <p:spPr>
          <a:xfrm>
            <a:off x="7774984" y="2501096"/>
            <a:ext cx="193713" cy="193713"/>
          </a:xfrm>
          <a:prstGeom prst="ellipse">
            <a:avLst/>
          </a:prstGeom>
          <a:solidFill>
            <a:srgbClr val="F2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F9E5F40-DC18-470A-813D-28A8336AAB70}"/>
              </a:ext>
            </a:extLst>
          </p:cNvPr>
          <p:cNvSpPr/>
          <p:nvPr/>
        </p:nvSpPr>
        <p:spPr>
          <a:xfrm>
            <a:off x="2153350" y="2295135"/>
            <a:ext cx="193713" cy="1937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4E2A1D85-7CE1-4B91-99FF-D7A6BAB3EABE}"/>
              </a:ext>
            </a:extLst>
          </p:cNvPr>
          <p:cNvCxnSpPr>
            <a:cxnSpLocks/>
          </p:cNvCxnSpPr>
          <p:nvPr/>
        </p:nvCxnSpPr>
        <p:spPr>
          <a:xfrm>
            <a:off x="2282364" y="2488848"/>
            <a:ext cx="64699" cy="1015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사다리꼴 14">
            <a:extLst>
              <a:ext uri="{FF2B5EF4-FFF2-40B4-BE49-F238E27FC236}">
                <a16:creationId xmlns:a16="http://schemas.microsoft.com/office/drawing/2014/main" id="{0733A31E-88EF-4976-80A8-D1669BE4C790}"/>
              </a:ext>
            </a:extLst>
          </p:cNvPr>
          <p:cNvSpPr/>
          <p:nvPr/>
        </p:nvSpPr>
        <p:spPr>
          <a:xfrm>
            <a:off x="1543750" y="3942034"/>
            <a:ext cx="2823411" cy="376989"/>
          </a:xfrm>
          <a:prstGeom prst="trapezoid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DE9248C7-31BB-4BE4-9DFF-4CFEBA861A63}"/>
              </a:ext>
            </a:extLst>
          </p:cNvPr>
          <p:cNvSpPr/>
          <p:nvPr/>
        </p:nvSpPr>
        <p:spPr>
          <a:xfrm>
            <a:off x="2185095" y="4055893"/>
            <a:ext cx="323935" cy="12346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0F3292-BA48-4D0A-9B58-C9592CB6320C}"/>
              </a:ext>
            </a:extLst>
          </p:cNvPr>
          <p:cNvSpPr txBox="1"/>
          <p:nvPr/>
        </p:nvSpPr>
        <p:spPr>
          <a:xfrm>
            <a:off x="1419423" y="4643938"/>
            <a:ext cx="30239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데칼</a:t>
            </a:r>
            <a:r>
              <a:rPr lang="ko-KR" altLang="en-US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생성</a:t>
            </a:r>
            <a:r>
              <a:rPr lang="en-US" altLang="ko-KR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20C9FBBC-0F22-4A33-A87D-D4182D242F6C}"/>
              </a:ext>
            </a:extLst>
          </p:cNvPr>
          <p:cNvCxnSpPr>
            <a:cxnSpLocks/>
          </p:cNvCxnSpPr>
          <p:nvPr/>
        </p:nvCxnSpPr>
        <p:spPr>
          <a:xfrm>
            <a:off x="2931392" y="3112462"/>
            <a:ext cx="0" cy="42206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3C045CE-1CE8-4117-BC72-ABC9FC8F7101}"/>
              </a:ext>
            </a:extLst>
          </p:cNvPr>
          <p:cNvCxnSpPr>
            <a:cxnSpLocks/>
          </p:cNvCxnSpPr>
          <p:nvPr/>
        </p:nvCxnSpPr>
        <p:spPr>
          <a:xfrm>
            <a:off x="7921777" y="2688306"/>
            <a:ext cx="46920" cy="1080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FD067A82-0FDB-47AD-ACEF-A628D28D7176}"/>
              </a:ext>
            </a:extLst>
          </p:cNvPr>
          <p:cNvSpPr/>
          <p:nvPr/>
        </p:nvSpPr>
        <p:spPr>
          <a:xfrm>
            <a:off x="8015009" y="2778895"/>
            <a:ext cx="99867" cy="1033289"/>
          </a:xfrm>
          <a:prstGeom prst="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234EE5C7-629B-4934-944C-D66084ED69FE}"/>
              </a:ext>
            </a:extLst>
          </p:cNvPr>
          <p:cNvSpPr/>
          <p:nvPr/>
        </p:nvSpPr>
        <p:spPr>
          <a:xfrm>
            <a:off x="8116098" y="2778898"/>
            <a:ext cx="99867" cy="1033289"/>
          </a:xfrm>
          <a:prstGeom prst="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이등변 삼각형 29">
            <a:extLst>
              <a:ext uri="{FF2B5EF4-FFF2-40B4-BE49-F238E27FC236}">
                <a16:creationId xmlns:a16="http://schemas.microsoft.com/office/drawing/2014/main" id="{A745EF16-7118-4568-80F7-DA6AD1A7E541}"/>
              </a:ext>
            </a:extLst>
          </p:cNvPr>
          <p:cNvSpPr/>
          <p:nvPr/>
        </p:nvSpPr>
        <p:spPr>
          <a:xfrm>
            <a:off x="8215965" y="2778895"/>
            <a:ext cx="99867" cy="1033289"/>
          </a:xfrm>
          <a:prstGeom prst="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이등변 삼각형 32">
            <a:extLst>
              <a:ext uri="{FF2B5EF4-FFF2-40B4-BE49-F238E27FC236}">
                <a16:creationId xmlns:a16="http://schemas.microsoft.com/office/drawing/2014/main" id="{1FEB95C2-0D92-4F18-B122-D52125F2715B}"/>
              </a:ext>
            </a:extLst>
          </p:cNvPr>
          <p:cNvSpPr/>
          <p:nvPr/>
        </p:nvSpPr>
        <p:spPr>
          <a:xfrm>
            <a:off x="10181298" y="2778895"/>
            <a:ext cx="99867" cy="1033289"/>
          </a:xfrm>
          <a:prstGeom prst="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이등변 삼각형 33">
            <a:extLst>
              <a:ext uri="{FF2B5EF4-FFF2-40B4-BE49-F238E27FC236}">
                <a16:creationId xmlns:a16="http://schemas.microsoft.com/office/drawing/2014/main" id="{740438F8-1F62-4390-BEC1-0C1ED6833984}"/>
              </a:ext>
            </a:extLst>
          </p:cNvPr>
          <p:cNvSpPr/>
          <p:nvPr/>
        </p:nvSpPr>
        <p:spPr>
          <a:xfrm>
            <a:off x="10282387" y="2778898"/>
            <a:ext cx="99867" cy="1033289"/>
          </a:xfrm>
          <a:prstGeom prst="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이등변 삼각형 34">
            <a:extLst>
              <a:ext uri="{FF2B5EF4-FFF2-40B4-BE49-F238E27FC236}">
                <a16:creationId xmlns:a16="http://schemas.microsoft.com/office/drawing/2014/main" id="{CCE35C2E-DAC0-4586-A99A-9EE887A818EB}"/>
              </a:ext>
            </a:extLst>
          </p:cNvPr>
          <p:cNvSpPr/>
          <p:nvPr/>
        </p:nvSpPr>
        <p:spPr>
          <a:xfrm>
            <a:off x="10382254" y="2778895"/>
            <a:ext cx="99867" cy="1033289"/>
          </a:xfrm>
          <a:prstGeom prst="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96093321-B02C-4B22-B1FF-EC7BDFB37409}"/>
              </a:ext>
            </a:extLst>
          </p:cNvPr>
          <p:cNvCxnSpPr>
            <a:cxnSpLocks/>
          </p:cNvCxnSpPr>
          <p:nvPr/>
        </p:nvCxnSpPr>
        <p:spPr>
          <a:xfrm flipV="1">
            <a:off x="6096000" y="1203158"/>
            <a:ext cx="0" cy="415490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그래픽 41" descr="불꽃 단색으로 채워진">
            <a:extLst>
              <a:ext uri="{FF2B5EF4-FFF2-40B4-BE49-F238E27FC236}">
                <a16:creationId xmlns:a16="http://schemas.microsoft.com/office/drawing/2014/main" id="{F9D9D70D-7F59-4565-ACD8-89264D1B61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11756" y="2567567"/>
            <a:ext cx="420431" cy="420431"/>
          </a:xfrm>
          <a:prstGeom prst="rect">
            <a:avLst/>
          </a:prstGeom>
        </p:spPr>
      </p:pic>
      <p:cxnSp>
        <p:nvCxnSpPr>
          <p:cNvPr id="44" name="연결선: 구부러짐 43">
            <a:extLst>
              <a:ext uri="{FF2B5EF4-FFF2-40B4-BE49-F238E27FC236}">
                <a16:creationId xmlns:a16="http://schemas.microsoft.com/office/drawing/2014/main" id="{4EF81E4E-24C0-4FEF-9990-B56B2611734C}"/>
              </a:ext>
            </a:extLst>
          </p:cNvPr>
          <p:cNvCxnSpPr>
            <a:cxnSpLocks/>
          </p:cNvCxnSpPr>
          <p:nvPr/>
        </p:nvCxnSpPr>
        <p:spPr>
          <a:xfrm rot="5400000">
            <a:off x="9847411" y="2248924"/>
            <a:ext cx="515374" cy="152399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구부러짐 50">
            <a:extLst>
              <a:ext uri="{FF2B5EF4-FFF2-40B4-BE49-F238E27FC236}">
                <a16:creationId xmlns:a16="http://schemas.microsoft.com/office/drawing/2014/main" id="{2ECF0871-0BAF-48C3-995F-E8AFF9572BD3}"/>
              </a:ext>
            </a:extLst>
          </p:cNvPr>
          <p:cNvCxnSpPr>
            <a:cxnSpLocks/>
          </p:cNvCxnSpPr>
          <p:nvPr/>
        </p:nvCxnSpPr>
        <p:spPr>
          <a:xfrm rot="5400000">
            <a:off x="9961942" y="2264066"/>
            <a:ext cx="515374" cy="152399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연결선: 구부러짐 51">
            <a:extLst>
              <a:ext uri="{FF2B5EF4-FFF2-40B4-BE49-F238E27FC236}">
                <a16:creationId xmlns:a16="http://schemas.microsoft.com/office/drawing/2014/main" id="{A263AC15-C053-4B96-A220-1B3E31E0F09E}"/>
              </a:ext>
            </a:extLst>
          </p:cNvPr>
          <p:cNvCxnSpPr>
            <a:cxnSpLocks/>
          </p:cNvCxnSpPr>
          <p:nvPr/>
        </p:nvCxnSpPr>
        <p:spPr>
          <a:xfrm rot="5400000">
            <a:off x="10090280" y="2247715"/>
            <a:ext cx="515374" cy="152399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434087C-2E13-485C-8BC3-8A09D56A0815}"/>
              </a:ext>
            </a:extLst>
          </p:cNvPr>
          <p:cNvSpPr txBox="1"/>
          <p:nvPr/>
        </p:nvSpPr>
        <p:spPr>
          <a:xfrm>
            <a:off x="7688178" y="4103724"/>
            <a:ext cx="30239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연쇄 반응을 일으키는 </a:t>
            </a:r>
            <a:r>
              <a:rPr lang="ko-KR" altLang="en-US" sz="16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파티클</a:t>
            </a:r>
            <a:endParaRPr lang="en-US" altLang="ko-KR" sz="16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3707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799E18-8F55-4C59-A6D8-D73BB65C9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 외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9E3A9D0-1C48-467A-8898-50E0E7AB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pPr/>
              <a:t>11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FF957FB-070E-49AD-9E7E-65CB7F7D1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993" y="1525151"/>
            <a:ext cx="2530473" cy="358310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DDCA7C3-B8DB-4D3E-8F68-671839E3BC1E}"/>
              </a:ext>
            </a:extLst>
          </p:cNvPr>
          <p:cNvSpPr txBox="1"/>
          <p:nvPr/>
        </p:nvSpPr>
        <p:spPr>
          <a:xfrm>
            <a:off x="6633440" y="5195073"/>
            <a:ext cx="20815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curl noise particle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13F219-2EE9-421F-95AD-C22C6E6A3161}"/>
              </a:ext>
            </a:extLst>
          </p:cNvPr>
          <p:cNvSpPr txBox="1"/>
          <p:nvPr/>
        </p:nvSpPr>
        <p:spPr>
          <a:xfrm>
            <a:off x="2999736" y="5195073"/>
            <a:ext cx="2081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Static Mesh Location particle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3BE3C03-9090-45F4-AB65-1AFF26E5A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5287" y="1525151"/>
            <a:ext cx="2530473" cy="351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756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799E18-8F55-4C59-A6D8-D73BB65C9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계획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9E3A9D0-1C48-467A-8898-50E0E7AB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pPr/>
              <a:t>12</a:t>
            </a:fld>
            <a:endParaRPr lang="ko-KR" altLang="en-US"/>
          </a:p>
        </p:txBody>
      </p:sp>
      <p:graphicFrame>
        <p:nvGraphicFramePr>
          <p:cNvPr id="4" name="표 5">
            <a:extLst>
              <a:ext uri="{FF2B5EF4-FFF2-40B4-BE49-F238E27FC236}">
                <a16:creationId xmlns:a16="http://schemas.microsoft.com/office/drawing/2014/main" id="{DEFCD8E4-9048-49EA-999A-847806A0B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863569"/>
              </p:ext>
            </p:extLst>
          </p:nvPr>
        </p:nvGraphicFramePr>
        <p:xfrm>
          <a:off x="753972" y="1400208"/>
          <a:ext cx="10684055" cy="3916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76863">
                  <a:extLst>
                    <a:ext uri="{9D8B030D-6E8A-4147-A177-3AD203B41FA5}">
                      <a16:colId xmlns:a16="http://schemas.microsoft.com/office/drawing/2014/main" val="3727803867"/>
                    </a:ext>
                  </a:extLst>
                </a:gridCol>
                <a:gridCol w="913399">
                  <a:extLst>
                    <a:ext uri="{9D8B030D-6E8A-4147-A177-3AD203B41FA5}">
                      <a16:colId xmlns:a16="http://schemas.microsoft.com/office/drawing/2014/main" val="355324341"/>
                    </a:ext>
                  </a:extLst>
                </a:gridCol>
                <a:gridCol w="913399">
                  <a:extLst>
                    <a:ext uri="{9D8B030D-6E8A-4147-A177-3AD203B41FA5}">
                      <a16:colId xmlns:a16="http://schemas.microsoft.com/office/drawing/2014/main" val="4200024222"/>
                    </a:ext>
                  </a:extLst>
                </a:gridCol>
                <a:gridCol w="913399">
                  <a:extLst>
                    <a:ext uri="{9D8B030D-6E8A-4147-A177-3AD203B41FA5}">
                      <a16:colId xmlns:a16="http://schemas.microsoft.com/office/drawing/2014/main" val="3148206326"/>
                    </a:ext>
                  </a:extLst>
                </a:gridCol>
                <a:gridCol w="913399">
                  <a:extLst>
                    <a:ext uri="{9D8B030D-6E8A-4147-A177-3AD203B41FA5}">
                      <a16:colId xmlns:a16="http://schemas.microsoft.com/office/drawing/2014/main" val="2383875957"/>
                    </a:ext>
                  </a:extLst>
                </a:gridCol>
                <a:gridCol w="913399">
                  <a:extLst>
                    <a:ext uri="{9D8B030D-6E8A-4147-A177-3AD203B41FA5}">
                      <a16:colId xmlns:a16="http://schemas.microsoft.com/office/drawing/2014/main" val="2477846152"/>
                    </a:ext>
                  </a:extLst>
                </a:gridCol>
                <a:gridCol w="913399">
                  <a:extLst>
                    <a:ext uri="{9D8B030D-6E8A-4147-A177-3AD203B41FA5}">
                      <a16:colId xmlns:a16="http://schemas.microsoft.com/office/drawing/2014/main" val="1000197456"/>
                    </a:ext>
                  </a:extLst>
                </a:gridCol>
                <a:gridCol w="913399">
                  <a:extLst>
                    <a:ext uri="{9D8B030D-6E8A-4147-A177-3AD203B41FA5}">
                      <a16:colId xmlns:a16="http://schemas.microsoft.com/office/drawing/2014/main" val="764284991"/>
                    </a:ext>
                  </a:extLst>
                </a:gridCol>
                <a:gridCol w="913399">
                  <a:extLst>
                    <a:ext uri="{9D8B030D-6E8A-4147-A177-3AD203B41FA5}">
                      <a16:colId xmlns:a16="http://schemas.microsoft.com/office/drawing/2014/main" val="14003929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</a:t>
                      </a:r>
                      <a:r>
                        <a:rPr lang="ko-KR" altLang="en-US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</a:t>
                      </a:r>
                      <a:r>
                        <a:rPr lang="ko-KR" altLang="en-US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</a:t>
                      </a:r>
                      <a:r>
                        <a:rPr lang="ko-KR" altLang="en-US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4</a:t>
                      </a:r>
                      <a:r>
                        <a:rPr lang="ko-KR" altLang="en-US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5</a:t>
                      </a:r>
                      <a:r>
                        <a:rPr lang="ko-KR" altLang="en-US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6</a:t>
                      </a:r>
                      <a:r>
                        <a:rPr lang="ko-KR" altLang="en-US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7</a:t>
                      </a:r>
                      <a:r>
                        <a:rPr lang="ko-KR" altLang="en-US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8</a:t>
                      </a:r>
                      <a:r>
                        <a:rPr lang="ko-KR" altLang="en-US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3167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MiniEngine</a:t>
                      </a:r>
                      <a:r>
                        <a:rPr lang="ko-KR" altLang="en-US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및 </a:t>
                      </a:r>
                      <a:r>
                        <a:rPr lang="en-US" altLang="ko-KR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dx12 </a:t>
                      </a:r>
                      <a:r>
                        <a:rPr lang="ko-KR" altLang="en-US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학습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8467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파티클</a:t>
                      </a:r>
                      <a:r>
                        <a:rPr lang="ko-KR" altLang="en-US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메모리 설정과 관리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1305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파티클</a:t>
                      </a:r>
                      <a:r>
                        <a:rPr lang="ko-KR" altLang="en-US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업데이트 </a:t>
                      </a:r>
                      <a:r>
                        <a:rPr lang="en-US" altLang="ko-KR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– </a:t>
                      </a:r>
                      <a:r>
                        <a:rPr lang="ko-KR" altLang="en-US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수명</a:t>
                      </a:r>
                      <a:r>
                        <a:rPr lang="en-US" altLang="ko-KR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/Spawn</a:t>
                      </a:r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5077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파티클</a:t>
                      </a:r>
                      <a:r>
                        <a:rPr lang="ko-KR" altLang="en-US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업데이트</a:t>
                      </a:r>
                      <a:r>
                        <a:rPr lang="en-US" altLang="ko-KR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+ dispatch </a:t>
                      </a:r>
                      <a:r>
                        <a:rPr lang="ko-KR" altLang="en-US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최적화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0244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거리기반 </a:t>
                      </a:r>
                      <a:r>
                        <a:rPr lang="en-US" altLang="ko-KR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LOD + </a:t>
                      </a:r>
                      <a:r>
                        <a:rPr lang="ko-KR" altLang="en-US" sz="16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컬링</a:t>
                      </a:r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292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렌더링 기법 연구 </a:t>
                      </a:r>
                      <a:r>
                        <a:rPr lang="en-US" altLang="ko-KR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 </a:t>
                      </a:r>
                      <a:r>
                        <a:rPr lang="ko-KR" altLang="en-US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다른 렌더링 기법 도입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6253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파티클과</a:t>
                      </a:r>
                      <a:r>
                        <a:rPr lang="ko-KR" altLang="en-US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지형</a:t>
                      </a:r>
                      <a:r>
                        <a:rPr lang="en-US" altLang="ko-KR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ko-KR" altLang="en-US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객체</a:t>
                      </a:r>
                      <a:r>
                        <a:rPr lang="en-US" altLang="ko-KR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 </a:t>
                      </a:r>
                      <a:r>
                        <a:rPr lang="ko-KR" altLang="en-US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충돌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7968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파티클에</a:t>
                      </a:r>
                      <a:r>
                        <a:rPr lang="ko-KR" altLang="en-US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반응하는 지형</a:t>
                      </a:r>
                      <a:r>
                        <a:rPr lang="en-US" altLang="ko-KR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ko-KR" altLang="en-US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객체</a:t>
                      </a:r>
                      <a:r>
                        <a:rPr lang="en-US" altLang="ko-KR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003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그 외 구현 </a:t>
                      </a:r>
                      <a:r>
                        <a:rPr lang="en-US" altLang="ko-KR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+ </a:t>
                      </a:r>
                      <a:r>
                        <a:rPr lang="ko-KR" altLang="en-US" sz="16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버퍼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52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2909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488</Words>
  <Application>Microsoft Office PowerPoint</Application>
  <PresentationFormat>와이드스크린</PresentationFormat>
  <Paragraphs>135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맑은 고딕</vt:lpstr>
      <vt:lpstr>나눔바른고딕</vt:lpstr>
      <vt:lpstr>Arial</vt:lpstr>
      <vt:lpstr>나눔스퀘어</vt:lpstr>
      <vt:lpstr>Cambria Math</vt:lpstr>
      <vt:lpstr>나눔스퀘어 Bold</vt:lpstr>
      <vt:lpstr>Office 테마</vt:lpstr>
      <vt:lpstr>발표 주제 선정</vt:lpstr>
      <vt:lpstr>프로젝트 개요</vt:lpstr>
      <vt:lpstr>파티클의 메모리 관리</vt:lpstr>
      <vt:lpstr>파티클의 메모리 관리</vt:lpstr>
      <vt:lpstr>파티클 업데이트</vt:lpstr>
      <vt:lpstr>파티클 업데이트</vt:lpstr>
      <vt:lpstr>거리기반 LOD + 컬링</vt:lpstr>
      <vt:lpstr>렌더링 기법</vt:lpstr>
      <vt:lpstr>지형(객체) 충돌 파티클</vt:lpstr>
      <vt:lpstr>파티클에 반응하는 지형(객체) </vt:lpstr>
      <vt:lpstr>그 외</vt:lpstr>
      <vt:lpstr>구현 계획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발표 주제 선정</dc:title>
  <dc:creator>김민용</dc:creator>
  <cp:lastModifiedBy>김민용</cp:lastModifiedBy>
  <cp:revision>29</cp:revision>
  <dcterms:created xsi:type="dcterms:W3CDTF">2026-10-16T01:37:09Z</dcterms:created>
  <dcterms:modified xsi:type="dcterms:W3CDTF">2026-10-16T06:49:08Z</dcterms:modified>
</cp:coreProperties>
</file>